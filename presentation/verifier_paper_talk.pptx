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282" r:id="rId33"/>
    <p:sldId id="270" r:id="rId16"/>
    <p:sldId id="271" r:id="rId17"/>
    <p:sldId id="287" r:id="rId38"/>
    <p:sldId id="310" r:id="rId61"/>
    <p:sldId id="311" r:id="rId62"/>
    <p:sldId id="276" r:id="rId22"/>
    <p:sldId id="277" r:id="rId23"/>
    <p:sldId id="285" r:id="rId36"/>
    <p:sldId id="284" r:id="rId35"/>
    <p:sldId id="286" r:id="rId37"/>
    <p:sldId id="312" r:id="rId63"/>
    <p:sldId id="283" r:id="rId34"/>
    <p:sldId id="288" r:id="rId39"/>
    <p:sldId id="274" r:id="rId20"/>
    <p:sldId id="275" r:id="rId21"/>
    <p:sldId id="266" r:id="rId12"/>
    <p:sldId id="289" r:id="rId40"/>
    <p:sldId id="290" r:id="rId41"/>
    <p:sldId id="291" r:id="rId42"/>
    <p:sldId id="313" r:id="rId64"/>
    <p:sldId id="314" r:id="rId65"/>
    <p:sldId id="315" r:id="rId66"/>
    <p:sldId id="316" r:id="rId67"/>
    <p:sldId id="317" r:id="rId68"/>
    <p:sldId id="318" r:id="rId69"/>
    <p:sldId id="319" r:id="rId70"/>
    <p:sldId id="280" r:id="rId26"/>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slide" Target="slides/slide11.xml"/><Relationship Id="rId16" Type="http://schemas.openxmlformats.org/officeDocument/2006/relationships/slide" Target="slides/slide15.xml"/><Relationship Id="rId17" Type="http://schemas.openxmlformats.org/officeDocument/2006/relationships/slide" Target="slides/slide16.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6" Type="http://schemas.openxmlformats.org/officeDocument/2006/relationships/slide" Target="slides/slide25.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on transport: the consequence of the wide bounds, as a picture.</a:t>
            </a:r>
          </a:p>
          <a:p/>
          <a:p>
            <a:r>
              <a:t>PRESENTER NOTES</a:t>
            </a:r>
          </a:p>
          <a:p>
            <a:r>
              <a:t>The thin segment is the vocabulary certified transport excludes, the rest what still has to be scored: with the best tiles, 0.59% for DFlash-4B and 0.64% for MTP-4B are skipped, about what the static screen skips with no draft at all.</a:t>
            </a:r>
          </a:p>
          <a:p/>
          <a:p>
            <a:r>
              <a:t>LIKELY QUESTION</a:t>
            </a:r>
          </a:p>
          <a:p>
            <a:r>
              <a:t>And across a batch? A verify batch needs the union of its positions’ tiles: at least 99.4%.</a:t>
            </a:r>
          </a:p>
          <a:p/>
          <a:p>
            <a:r>
              <a:t>SOURCE AND LIMITS</a:t>
            </a:r>
          </a:p>
          <a:p>
            <a:r>
              <a:t>evidence/head_geometry/transport_dflash4b.json and transport_mtp4b.json. Paper §5.3.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on the contract: the three references for one decision and why the third is the one held.</a:t>
            </a:r>
          </a:p>
          <a:p/>
          <a:p>
            <a:r>
              <a:t>PRESENTER NOTES</a:t>
            </a:r>
          </a:p>
          <a:p>
            <a:r>
              <a:t>R-real takes the first maximal index of the exact logits, R-bf16 of their BF16 roundings, R-stock of the stock kernel’s outputs. The stock path accumulates in FP32, rounds to BF16, widens exactly to FP32 and takes the first maximal index; exact widening does not undo the rounding. An exact emulation of a sequential FP32 kernel finds a three-element example where R-bf16 and R-stock differ. The certified head is held to R-stock at the same inputs, batch shape and configuration; its proof needs a bound on the stock kernel’s error, which is assumed under two named models.</a:t>
            </a:r>
          </a:p>
          <a:p/>
          <a:p>
            <a:r>
              <a:t>LIKELY QUESTION</a:t>
            </a:r>
          </a:p>
          <a:p>
            <a:r>
              <a:t>Is the proof a guarantee about cuBLAS on every input? No: it is conditional on the error model, which the probes support on this GPU and do not prove.</a:t>
            </a:r>
          </a:p>
          <a:p/>
          <a:p>
            <a:r>
              <a:t>SOURCE AND LIMITS</a:t>
            </a:r>
          </a:p>
          <a:p>
            <a:r>
              <a:t>Paper §2.2, the assumptions table in Appendix A.1, Appendix D.1 (the witnesses).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on the interval condition: why a tie can be certified and when it falls back.</a:t>
            </a:r>
          </a:p>
          <a:p/>
          <a:p>
            <a:r>
              <a:t>PRESENTER NOTES</a:t>
            </a:r>
          </a:p>
          <a:p>
            <a:r>
              <a:t>Each row lists the BF16 outputs the stock kernel could produce for two entries once accumulation error and rounding are enclosed; every other entry is assumed excluded. A tie that holds under every admissible accumulation is certified, because the lower index wins; an earlier competitor must lose strictly and a later one may tie. Only a tie the accumulation error could make or unmake stays open and goes to the stock head. This is why the interval condition certifies positions that the gap condition, which asks for a margin above one BF16 spacing, cannot: the gap condition never leaves fewer than about 2% of positions.</a:t>
            </a:r>
          </a:p>
          <a:p/>
          <a:p>
            <a:r>
              <a:t>LIKELY QUESTION</a:t>
            </a:r>
          </a:p>
          <a:p>
            <a:r>
              <a:t>Do the exact intervals have to be disjoint? No: both accumulators can lie in one BF16 rounding cell and still give a fixed tie.</a:t>
            </a:r>
          </a:p>
          <a:p/>
          <a:p>
            <a:r>
              <a:t>SOURCE AND LIMITS</a:t>
            </a:r>
          </a:p>
          <a:p>
            <a:r>
              <a:t>Paper §2.3 (Proposition: interval condition). Illustrative, not captured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on transport: where the bound and the crossover threshold come from.</a:t>
            </a:r>
          </a:p>
          <a:p/>
          <a:p>
            <a:r>
              <a:t>PRESENTER NOTES</a:t>
            </a:r>
          </a:p>
          <a:p>
            <a:r>
              <a:t>All norms are Euclidean. For an entry i in tile g, the change in its score from the draft head input to the target’s is ⟨w_i, Δ⟩ = ⟨μ_g, Δ⟩ + ⟨w_i − μ_g, Δ⟩, and Cauchy–Schwarz bounds the second term by r_g‖Δ‖. The int8 copy’s error for the same entry is bounded by ‖e_i‖‖h‖. Transport is narrower exactly when ‖Δ‖/‖h‖ &lt; ‖e_i‖/r_g, the entry’s threshold; with 64-entry contiguous tiles its median is 0.00854, against measured drifts of 0.917 and 0.954.</a:t>
            </a:r>
          </a:p>
          <a:p/>
          <a:p>
            <a:r>
              <a:t>LIKELY QUESTION</a:t>
            </a:r>
          </a:p>
          <a:p>
            <a:r>
              <a:t>Are these confidence intervals? No: the threshold varies over entries and the drift over pairs; both are distributions, compared at their medians.</a:t>
            </a:r>
          </a:p>
          <a:p/>
          <a:p>
            <a:r>
              <a:t>SOURCE AND LIMITS</a:t>
            </a:r>
          </a:p>
          <a:p>
            <a:r>
              <a:t>Paper §§5.1–5.2; evidence/head_geometry/rho_*_quantiles.csv, precision/head_constants.json.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on transport: the tilings tested, transport against the static screen.</a:t>
            </a:r>
          </a:p>
          <a:p/>
          <a:p>
            <a:r>
              <a:t>PRESENTER NOTES</a:t>
            </a:r>
          </a:p>
          <a:p>
            <a:r>
              <a:t>Each cell is the best certified bound family on that tiling, the elementwise minimum of the families. T is transport, S the static screen with no draft scores. The best tiling, k-means tiles of 64 entries, skips 0.59% (DFlash-4B) and 0.64% (MTP-4B); the static screen alone skips 0.58% and 0.64%, so the drafts add almost nothing. A row-level variant reaches 0.65% for MTP-4B.</a:t>
            </a:r>
          </a:p>
          <a:p/>
          <a:p>
            <a:r>
              <a:t>LIKELY QUESTION</a:t>
            </a:r>
          </a:p>
          <a:p>
            <a:r>
              <a:t>What does a batch need? The union of every position’s unresolved tiles: at least 99.4% of the vocabulary.</a:t>
            </a:r>
          </a:p>
          <a:p/>
          <a:p>
            <a:r>
              <a:t>SOURCE AND LIMITS</a:t>
            </a:r>
          </a:p>
          <a:p>
            <a:r>
              <a:t>evidence/head_geometry/transport_dflash4b.json and transport_mtp4b.json (4,020 and 16,016 pairs). Paper Appendix C.6.</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for “did quality change?”: the task check and what it can resolve.</a:t>
            </a:r>
          </a:p>
          <a:p/>
          <a:p>
            <a:r>
              <a:t>PRESENTER NOTES</a:t>
            </a:r>
          </a:p>
          <a:p>
            <a:r>
              <a:t>GSM8K uses the full test split, thinking on, temperature 0.6, top-p 0.95, top-k 20. The exact arms lie within plain decoding’s own spread across two runs. Paired 95% intervals on the discordant problems still allow losses of about 3.3 points, so this check rules out large losses only.</a:t>
            </a:r>
          </a:p>
          <a:p/>
          <a:p>
            <a:r>
              <a:t>LIKELY QUESTION</a:t>
            </a:r>
          </a:p>
          <a:p>
            <a:r>
              <a:t>Does GSM8K show equivalence? No; greedy-output equality comes from the token comparisons (backup B06).</a:t>
            </a:r>
          </a:p>
          <a:p/>
          <a:p>
            <a:r>
              <a:t>SOURCE AND LIMITS</a:t>
            </a:r>
          </a:p>
          <a:p>
            <a:r>
              <a:t>evidence/bench/quality/comparisons.json (exact McNemar; Wald interval derived from the committed counts). Paper §4.5.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for “what about sampling?”: the seeded extension and what was measured.</a:t>
            </a:r>
          </a:p>
          <a:p/>
          <a:p>
            <a:r>
              <a:t>PRESENTER NOTES</a:t>
            </a:r>
          </a:p>
          <a:p>
            <a:r>
              <a:t>With a seed and no top-k or top-p, SGLang samples by adding Gumbel noise, computed from a hash of the seed, the position and the token, to the log-probabilities and taking the argmax. The noise is fixed before any score is known, so the same five steps applied to the noisy scores certify the race’s winner. SGLang’s seeded sampler exists only in its deterministic-inference mode, whose head kernel is DeepGEMM’s: by code reading the conservative model covers it; the Hopper model is unchecked for it. With its fallback the certified decision matched the sampler on every replayed and engine position tested.</a:t>
            </a:r>
          </a:p>
          <a:p/>
          <a:p>
            <a:r>
              <a:t>LIKELY QUESTION</a:t>
            </a:r>
          </a:p>
          <a:p>
            <a:r>
              <a:t>Is fixed-noise verification the same as SGLang’s rejection sampling? No: it accepts deterministic drafts as often and sampled drafts at least half as often; its acceptance on real drafts was not measured.</a:t>
            </a:r>
          </a:p>
          <a:p/>
          <a:p>
            <a:r>
              <a:t>SOURCE AND LIMITS</a:t>
            </a:r>
          </a:p>
          <a:p>
            <a:r>
              <a:t>Paper §3.2 and Appendix B. evidence/certified_head/replay_decisions.json and engine_v2.json.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a:t>
            </a:r>
          </a:p>
          <a:p>
            <a:r>
              <a:t>Backup: the CPU checks and their entry points.</a:t>
            </a:r>
          </a:p>
          <a:p/>
          <a:p>
            <a:r>
              <a:t>PRESENTER NOTES</a:t>
            </a:r>
          </a:p>
          <a:p>
            <a:r>
              <a:t>The CPU reference environment is Python 3.13, NumPy and Lean 4. These are the commands of the paper’s reproduction appendix; full GPU reproduction needs the pinned engine and the evidence runbooks.</a:t>
            </a:r>
          </a:p>
          <a:p/>
          <a:p>
            <a:r>
              <a:t>LIKELY QUESTION</a:t>
            </a:r>
          </a:p>
          <a:p>
            <a:r>
              <a:t>Can the serving frontier be regenerated? Its points are committed in evidence/bench/confirm with the commands in evidence/bench/README.md; rerunning the sweeps needs the GH200 and the pinned engine.</a:t>
            </a:r>
          </a:p>
          <a:p/>
          <a:p>
            <a:r>
              <a:t>SOURCE AND LIMITS</a:t>
            </a:r>
          </a:p>
          <a:p>
            <a:r>
              <a:t>Paper Appendix F.2 and Appendix F.3.</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the certification rule and the fallback in plain terms, with the assumption it rests on kept in view.</a:t>
            </a:r>
          </a:p>
          <a:p/>
          <a:p>
            <a:r>
              <a:t>PRESENTER NOTES</a:t>
            </a:r>
          </a:p>
          <a:p>
            <a:r>
              <a:t>The certified head intervals each candidate’s FP32 accumulator under an assumed bound on the stock kernel’s error, rounds both ends to BF16 (rounding is monotone), and applies the first-index rule: an earlier entry must lose strictly, a later one may tie. If every accumulation the model admits gives the same token, it is certified; a BF16 tie that holds under every admissible accumulation is certified too, and the lower index wins. Otherwise the position runs the stock head, a conditional node of the CUDA graph paid only when it runs. The whole-batch fallback needs no error model; the per-position one, which the served runs used, needs batch-invariant logits, which held bitwise at 20 batch sizes on this build and is re-checked at start-up. A failed certificate therefore costs time, not agreement; a certified token can be wrong only if an assumption fails.</a:t>
            </a:r>
          </a:p>
          <a:p/>
          <a:p>
            <a:r>
              <a:t>LIKELY QUESTION</a:t>
            </a:r>
          </a:p>
          <a:p>
            <a:r>
              <a:t>Is the bound a guarantee about cuBLAS? No. It is an error model, tested and not proved: crafted-input probes read through the BF16 epilogue and the FP32-output variant’s largest error support it on this GPU. The closing slide (slide 17) lists the limits; the notes there say what the probes did not reach.</a:t>
            </a:r>
          </a:p>
          <a:p/>
          <a:p>
            <a:r>
              <a:t>SOURCE AND LIMITS</a:t>
            </a:r>
          </a:p>
          <a:p>
            <a:r>
              <a:t>Paper §§2.2–2.3 (gap condition, interval condition, the two fallbacks) and the assumptions table in Appendix A.1. evidence/profiles/wgmma_precision.json and head_tensor_instructions.json (the probes); evidence/certified_head/stock_invariance.json (1/58; batch invariance).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 the method: what the certified head computes, the one bound it relies on, and how the kernel guards its own arithmetic.</a:t>
            </a:r>
          </a:p>
          <a:p/>
          <a:p>
            <a:r>
              <a:t>PRESENTER NOTES</a:t>
            </a:r>
          </a:p>
          <a:p>
            <a:r>
              <a:t>For every vocabulary entry the int8 pass gives an interval that contains the real logit under the stated assumptions. The screen keeps every entry whose upper end reaches the best lower end minus δmax, a margin for the stock kernel’s modelled error and rounding, so a dropped entry loses under every admissible accumulation; the screen changes which entries are recomputed, never which decisions stay open. Candidates are recomputed exactly from their BF16 rows in FP64 and widened by the stock kernel’s error bound, the bounds are rounded to BF16, and the interval condition of the previous slide either fixes the token or sends the position to the fallback. The bound has a quantization term, ‖e‖‖h‖, and an accumulation term. The quantization term assumes the worst alignment and is loose: on captured states its median is 1.00 logit, about 75 times the median realized error of 0.013. Because the gap between the two largest logits is usually several logits, a looser bound than needed still leaves few candidates (slide B11).</a:t>
            </a:r>
          </a:p>
          <a:p/>
          <a:p>
            <a:r>
              <a:t>LIKELY QUESTION</a:t>
            </a:r>
          </a:p>
          <a:p>
            <a:r>
              <a:t>Is the kernel proved to compute the modelled arithmetic? No: each compiled variant must pass a self-test before it certifies, and every call checks eight exactly computed entries per position. Those checks caught two faults, among them wrong products from int8 tiles that Triton 3.7.1 loads through the TMA in 64-byte boxes; both configurations are refused.</a:t>
            </a:r>
          </a:p>
          <a:p/>
          <a:p>
            <a:r>
              <a:t>SOURCE AND LIMITS</a:t>
            </a:r>
          </a:p>
          <a:p>
            <a:r>
              <a:t>Paper §3 (§3.1 the bound, §3.2 seeded sampling and fixed-noise verification, §3.3 the kernel) and Figure 2. evidence/head_geometry/stats_plain4b.json (quantization.int8_row: row_cs_halfwidth_median, halfwidth_over_realized_median); evidence/certified_head (README; replay_decisions.json and engine_v2.json for the seeded runs); evidence/triton_tma. The 0.64 GB is derived (int8 codes and one FP32 scale per entry). Acceptance of fixed-noise verification on real drafts: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the two numbers that decide the head’s cost: how few entries survive the screen, and how fast the share of calls with a fallback grows with the batch.</a:t>
            </a:r>
          </a:p>
          <a:p/>
          <a:p>
            <a:r>
              <a:t>PRESENTER NOTES</a:t>
            </a:r>
          </a:p>
          <a:p>
            <a:r>
              <a:t>On 6,005 held-out plain-decode positions, an int8 copy with one scale per entry leaves 1.55 candidates per decision on average; finer scales leave fewer; FP8 leaves about three times as many, and int4 tens of thousands. Int8 is enough because the margins are wide: its intervals are about two logits wide, while the median gap between the two largest logits is 7.3 logits, so a tighter bound would help little. Against the stock token, the interval condition leaves 0.35% or 1.40% of held-out positions to the stock head; the gap condition, which asks for a margin above one BF16 spacing, never leaves fewer than about 2%. With the whole-batch fallback one open position sends a whole call to the stock head, so the share of calls with a fallback grows with the positions per call: on calls of 128 consecutive positions the kernel replay measures 27% and 77%, where independent positions at the held-out rates would give 36% and 84%. At serving batch sizes the head therefore depends on the per-position fallback.</a:t>
            </a:r>
          </a:p>
          <a:p/>
          <a:p>
            <a:r>
              <a:t>LIKELY QUESTION</a:t>
            </a:r>
          </a:p>
          <a:p>
            <a:r>
              <a:t>Why does the measured growth sit below the independent curve at 128? Open positions cluster in some steps, so they share calls; above 16 the replay batches are consecutive positions, not the engine’s batches, so the right half of the chart is indicative.</a:t>
            </a:r>
          </a:p>
          <a:p/>
          <a:p>
            <a:r>
              <a:t>SOURCE AND LIMITS</a:t>
            </a:r>
          </a:p>
          <a:p>
            <a:r>
              <a:t>evidence/head_geometry/selfevidence_plain4b.csv (greedy, conservative accumulation; Cauchy–Schwarz bound for int8 per entry, blockwise ℓ2 otherwise; bytes relative to the BF16 head), rstock_plain4b.json (interval and gap conditions), stats_plain4b.json (top-two margin); evidence/certified_head/head_path_time.csv (batch_fallback_rate, hopper_batch_fallback_rate). Paper §§4.2–4.3, Figure 3 (a, b) and Appendix A.8.</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where the saving comes from and where it ends: the certified head alone, against the stock head, before any serving effects.</a:t>
            </a:r>
          </a:p>
          <a:p/>
          <a:p>
            <a:r>
              <a:t>PRESENTER NOTES</a:t>
            </a:r>
          </a:p>
          <a:p>
            <a:r>
              <a:t>In the head-only microbenchmark (CUDA graphs, warm L2, medians of 30 replays) a fully certified call at one position takes 239.6 µs against 370.5 µs for the stock head. Adding each fallback’s measured cost at its measured rate gives 0.67 to 0.70 of the stock head’s time up to 16 positions with the per-position fallback. From 128 positions every mode is slower, because the int8 pass alone is: its directed-rounding epilogue keeps the SMs 79% busy while it draws only 62–63% of DRAM bandwidth, so it is not bound by memory and its time grows with M faster than the stock GEMM’s; with the whole-batch fallback, 77% of calls at 128 also pay for the stock head. At one position the expected time is 0.66–0.67 of the stock head’s with either fallback, so with the head at 10.3% of a batch-1 plain step a step could shorten by at most 3.4–3.5%. Served, plain decoding gained 2.5% at one request (slide 10).</a:t>
            </a:r>
          </a:p>
          <a:p/>
          <a:p>
            <a:r>
              <a:t>LIKELY QUESTION</a:t>
            </a:r>
          </a:p>
          <a:p>
            <a:r>
              <a:t>Why not read half the bytes at half the time? The stock GEMM already runs near the read bandwidth at small batch; the certified pass spends its time in the epilogue that makes the bounds sound, not in reading weights.</a:t>
            </a:r>
          </a:p>
          <a:p/>
          <a:p>
            <a:r>
              <a:t>SOURCE AND LIMITS</a:t>
            </a:r>
          </a:p>
          <a:p>
            <a:r>
              <a:t>evidence/certified_head/head_path_time.csv (stock_us, w8a16_us, columns_expected_us, w8a16_expected_us), head_path_table.md, ncu_gemv_summary.json (M = 1). Paper §4.4 and Figure 3c. Head alone, not decoding.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The paper’s method served: its measured effect on each tuned arm, against the prediction written down before the runs.</a:t>
            </a:r>
          </a:p>
          <a:p/>
          <a:p>
            <a:r>
              <a:t>PRESENTER NOTES</a:t>
            </a:r>
          </a:p>
          <a:p>
            <a:r>
              <a:t>Each panel is one tuned arm with and without the certified head (per-position fallback, conservative model), three sessions, the two launches of a pair back to back. At one request throughput rises +2.5% for plain decoding, +4.6% for MTP and +1.3% for 16-token DFlash, 28% to 71% of the saving the head-only times predicted, with identical tokens in every session. Plain decoding keeps gaining up to c = 32 and MTP up to 8. Both DFlash arms lose 1.0–3.0% above one request where the head is active: their verify calls carry 28 to 64 positions and 54% to 82% of those calls fall back in check mode. MTP loses 3.3% at 64, where its 64-position draft calls fall back 76% of the time. Plain decoding at 32 and 64 and MTP at 8 to 32 run such calls without a detectable loss. Above 64 positions the head is gated off by design, and the gate itself still costs 0.6% to 1.2%. On the envelope, the best arm at each c, the head gains only at c = 1 and loses 1.0–3.0% at 2 to 8.</a:t>
            </a:r>
          </a:p>
          <a:p/>
          <a:p>
            <a:r>
              <a:t>LIKELY QUESTION</a:t>
            </a:r>
          </a:p>
          <a:p>
            <a:r>
              <a:t>Why were the predictions too high everywhere? They assumed plain decoding’s fallback rate on every path; drafted positions fall back more, and the cost of a fallback inside the served graph was not timed, so attributing the shortfall to fallbacks is a hypothesis (slide 11). Every served point with its prediction is backup B13.</a:t>
            </a:r>
          </a:p>
          <a:p/>
          <a:p>
            <a:r>
              <a:t>SOURCE AND LIMITS</a:t>
            </a:r>
          </a:p>
          <a:p>
            <a:r>
              <a:t>evidence/certified_head/served: summary.json (decisions: geometric mean of three session ratios, 95% t interval; predicted_y_ratio written by analyze.py predict before the runs), check.csv (check2: verify and draft calls falling back), README. Paper §4.5 and Appendix E.5. The MTP arm is MTP with Triton attention.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questions on exactness: what was checked token by token, what closed-loop runs can and cannot show, and what the head costs to deploy.</a:t>
            </a:r>
          </a:p>
          <a:p/>
          <a:p>
            <a:r>
              <a:t>PRESENTER NOTES</a:t>
            </a:r>
          </a:p>
          <a:p>
            <a:r>
              <a:t>Check mode runs the stock head beside the certified one and counts differing positions on the device; in the served benchmark’s check launches, at each arm’s tuned flags, none of 592,433 checked positions differed (fallback rows included). Timed runs at one request gave identical tokens in all three sessions. Above one request a closed loop lets batches evolve differently from run to run, so even two stock runs diverge; certified against stock diverges at 1.03 to 1.21 times the stock-against-stock rate, and under fixed batch evolution MTP is identical (512 of 512). The one large divergence, in a certified MTP run at c = 64, commits the token that stock BF16 decoding at batch 1 also puts first, 8.9 nats below FP32’s top, at a position past the model’s end of text (backup B07). No observation requires an error in the certified head: the certified graphs with the head never deciding committed that token too, and the head matched the stock argmax at every check-mode position.</a:t>
            </a:r>
          </a:p>
          <a:p/>
          <a:p>
            <a:r>
              <a:t>LIKELY QUESTION</a:t>
            </a:r>
          </a:p>
          <a:p>
            <a:r>
              <a:t>Why so much graph memory? SGLang sizes its pools before graph capture, and the certified head’s work buffers are allocated during capture for every graph up to 256 positions; capturing only the graphs it certifies would save most of it.</a:t>
            </a:r>
          </a:p>
          <a:p/>
          <a:p>
            <a:r>
              <a:t>SOURCE AND LIMITS</a:t>
            </a:r>
          </a:p>
          <a:p>
            <a:r>
              <a:t>evidence/certified_head/served: check.csv (check2), equality.csv (divergence rates; wave controls), capture_memory.csv (certified minus stock per graph family, mean of three launches), README (Memory, the 60,000-token pin); evidence/bf16_paths. Paper §4.5 and Appendix E.5 (the one large divergence).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questions on transport: the mechanism behind the drift, not just its size.</a:t>
            </a:r>
          </a:p>
          <a:p/>
          <a:p>
            <a:r>
              <a:t>PRESENTER NOTES</a:t>
            </a:r>
          </a:p>
          <a:p>
            <a:r>
              <a:t>Two properties of DFlash-4B set its drift. Its final RMSNorm has unit gain, so its head input always has norm √D ≈ 50.6, about a third of the target’s median of 159, which alone gives ρ ≥ 0.68 by the triangle inequality. The angle is large too: even the best scalar rescaling of the draft input leaves ρ near 0.91, plausibly because the drafter is trained to rank the right token first under W h_d, not to reproduce the target’s head input. The drift is as large where the draft token was accepted (0.909 and 0.986), so agreeing on the argmax does not put the draft input near the target’s. MTP-4B’s head input is slightly longer than the target’s, so its drift is mainly in direction. The scaled-drift numbers replace the draft input by h_t − sΔ; they model a better-aligned drafter, they do not measure one.</a:t>
            </a:r>
          </a:p>
          <a:p/>
          <a:p>
            <a:r>
              <a:t>LIKELY QUESTION</a:t>
            </a:r>
          </a:p>
          <a:p>
            <a:r>
              <a:t>Could a drafter be trained to make transport work? Untested; the paper lists it as the open route. It would need drift about a hundred times smaller and would still face the batch union.</a:t>
            </a:r>
          </a:p>
          <a:p/>
          <a:p>
            <a:r>
              <a:t>SOURCE AND LIMITS</a:t>
            </a:r>
          </a:p>
          <a:p>
            <a:r>
              <a:t>evidence/head_geometry: stats_dflash4b.json (draft and verify head-input norms, cos_hd_ht), rho_dflash4b.json and rho_mtp4b.json (drift by outcome), transport_*.json (logit drift; real batch unions), transport_dflash4b.csv (drift-scaled rows), README. Paper §5.3 and Appendix C.5–C.8.</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Put the certified head beside the engine changes that moved the serving frontier more, each against the tuned arm it modifies.</a:t>
            </a:r>
          </a:p>
          <a:p/>
          <a:p>
            <a:r>
              <a:t>PRESENTER NOTES</a:t>
            </a:r>
          </a:p>
          <a:p>
            <a:r>
              <a:t>Removing per-request state traffic pays as the batch grows: replayed GDN decoding, SGLang’s implementation of ReplaySSM, gains +8.1% at 128 (one run pair); the fold verifies DFlash blocks without per-position state snapshots, costing 3.2% at one request and gaining +6.1% at 8 in one session. The fold gains most combined with narrow verify tiles at one or two requests and FA4 attention for the target and, on 16-token blocks, the drafter: on the envelope’s DFlash arms the three together raise the per-request rate 8.4–9.3% at c = 1–4 and throughput 12.4–13.7% at 8–32 over three sessions. From 48, a prefill delay with a 16-request cap lets MTP serve 1.18–1.32 times the best non-speculative arm. The host-gap patches remove blocking reads from FlashInfer’s planning and raise MTP 9.4–9.6% at 1–8, still short of stock MTP with Triton attention; backbone GEMM routing gains 3.4–3.5% for plain decoding at one request but nothing for MTP. The certified head’s rows are the previous section’s: small gains at one request, losses on DFlash above it. Two declared approximations, outside this table, miss their quality budget (backup B22).</a:t>
            </a:r>
          </a:p>
          <a:p/>
          <a:p>
            <a:r>
              <a:t>LIKELY QUESTION</a:t>
            </a:r>
          </a:p>
          <a:p>
            <a:r>
              <a:t>Why not multiply these into one speedup? They modify different arms and were measured one at a time; multiplying isolated ratios is not a measurement. The one composition of the fold, routing and the certified head fell below the range declared before its runs at 2–8 requests (backup B23).</a:t>
            </a:r>
          </a:p>
          <a:p/>
          <a:p>
            <a:r>
              <a:t>SOURCE AND LIMITS</a:t>
            </a:r>
          </a:p>
          <a:p>
            <a:r>
              <a:t>evidence/hostgap/hold4/ab_mtp.json; evidence/admission/confirm_points.csv and confirm_analysis.csv; evidence/backbone/served/plain_v1/pairs.csv; evidence/bench/confirm/pairs.csv (replayed GDN, n = 1); evidence/drafter/fold_timing/summary.json; evidence/speed_lowc/confirm/ratios.json; evidence/certified_head/served/summary.json. Paper §6 (its table of engine changes) and §4.5 (its table of the certified head served). Rows with one session are the first served A/B of each change, two interleaved runs per arm. The host-gap patches are against MTP with FlashInfer attention, which they leave below stock MTP with Triton attention.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The low-concurrency change that moved the frontier: why attention, the bug that blocked FA4 on this model, and what it gives on the envelope’s own DFlash arms.</a:t>
            </a:r>
          </a:p>
          <a:p/>
          <a:p>
            <a:r>
              <a:t>PRESENTER NOTES</a:t>
            </a:r>
          </a:p>
          <a:p>
            <a:r>
              <a:t>At small batches SGLang’s Triton extend attention takes a large share of the 16-token DFlash cycle: one program per request and head walks the whole context. FA4 worked at once for the drafter (head dim 128) but never compiled for the target: Qwen3.5’s full-attention layers have head dim 256, whose sm_90 tile is 128 by 80, and the paged-KV loader computed page-table entries per thread as 80 // 128 = 0. flash-attention had already changed that to a ceiling division and an open SGLang PR carries the same fix; with it backported, FA4 saves 233 µs per target forward at one request and 512 tokens, past the 200 µs we required before serving it, while SGLang’s split-KV kernel saved 7.6 µs and was dropped. Confirmed over three sessions against stock DFlash in the same sessions, the fold with narrow verify tiles and FA4 for drafter and target raise the per-request rate of 16-token DFlash 1.084–1.093 times at c = 1–4 (lowest 95% interval end 1.056), and the fold with FA4 target attention raises the throughput of 8-token DFlash, which already drafts with FA4, 1.124–1.137 times at 8–32. Stock DFlash in these sessions was within 0.7% of the confirmed envelope. Most of the gain is a shorter cycle: accepted tokens per cycle rose by at most 1.2%.</a:t>
            </a:r>
          </a:p>
          <a:p/>
          <a:p>
            <a:r>
              <a:t>LIKELY QUESTION</a:t>
            </a:r>
          </a:p>
          <a:p>
            <a:r>
              <a:t>Is it exact? Up to rounding, at one request: on 320 prompts with top-5 log-probabilities the fold is bitwise equal to stock, and with FA4 every first divergence is a tie, one BF16 step or a near tie (143 and 131 of 320 prompts token-identical on the two arms); batched equality was not tested. Is the upstream fix complete? For Qwen3.5’s head dims, yes; checking it found a separate loader bug at head dims 80, 96, 160 and 224, reported upstream with a fix (backup B27).</a:t>
            </a:r>
          </a:p>
          <a:p/>
          <a:p>
            <a:r>
              <a:t>SOURCE AND LIMITS</a:t>
            </a:r>
          </a:p>
          <a:p>
            <a:r>
              <a:t>evidence/speed_lowc: probe1/attn_microbench.json and probe3/attn_microbench.json (microbenchmarks), confirm/ratios.json (geometric mean and 95% interval of three session ratios), confirm/accept.json, confirm/equality/ (c = 1, 320 prompts), confirm/README.md. engine/sglang/README.md (speed-lowc). Paper §6 (narrow verify tiles, FA4 target and drafter attention). The two arms are not bench arms; the confirmed envelope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The high-concurrency change: most of speculation’s loss from 48 is admissions, not drafting.</a:t>
            </a:r>
          </a:p>
          <a:p/>
          <a:p>
            <a:r>
              <a:t>PRESENTER NOTES</a:t>
            </a:r>
          </a:p>
          <a:p>
            <a:r>
              <a:t>The served MTP cycle at high load was longer than the same batch held without arrivals, by about 14 to 21 ms per admitted request (derived). The workload explains why only speculation pays it: with 512-token outputs in a closed loop, plain decoding’s requests finish together and the next wave is admitted in one prefill, while speculative requests finish when their acceptance says and arrive one or two at a time. A lone prefill costs about 33 ms on this server, only 9 ms of it GPU work. SGLang already has a prefill delayer that holds new prefills while the waiting queue is short or few slots are free, and a flag that caps each prefill batch; with a cap of 16, confirmed over three sessions, MTP serves 1.18–1.32 times the best arm without speculation at c = 48–128 in every session, and 1.19–1.48 times MTP without it at 32–128.</a:t>
            </a:r>
          </a:p>
          <a:p/>
          <a:p>
            <a:r>
              <a:t>LIKELY QUESTION</a:t>
            </a:r>
          </a:p>
          <a:p>
            <a:r>
              <a:t>What does it cost? First tokens: the 99th-percentile time to first token is 2.6–3.1 times plain decoding’s at 48–128. At 1 and 8 it passes the declared no-harm rule but the median first token comes 0.6–2.7 ms later in all six session pairs; plain decoding itself loses 0.8%–1.6% with it, because the cap splits its synchronized waves. What is weak? One setting, not tuned; and the 512-token closed loop flatters plain decoding: with natural output lengths, in one session, MTP led plain decoding even without the delay.</a:t>
            </a:r>
          </a:p>
          <a:p/>
          <a:p>
            <a:r>
              <a:t>SOURCE AND LIMITS</a:t>
            </a:r>
          </a:p>
          <a:p>
            <a:r>
              <a:t>evidence/admission: confirm_analysis.csv (declared comparisons and verdicts), confirm_arms.csv (means over three sessions; TTFT; prefill batches), confirm_points.csv, logprob_classes.json, prefill_requests.json, prefill_trace.json, probe3_natural_lengths.csv, README. The design was declared before the first session. Paper §6.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Navigation for questions: each group answers one likely question.</a:t>
            </a:r>
          </a:p>
          <a:p/>
          <a:p>
            <a:r>
              <a:t>PRESENTER NOTES</a:t>
            </a:r>
          </a:p>
          <a:p>
            <a:r>
              <a:t>Exactness and the error model; why the served gain is small; transport; the engine changes and their exactness classes; the profile in detail, related work, upstream fixes and code.</a:t>
            </a:r>
          </a:p>
          <a:p/>
          <a:p>
            <a:r>
              <a:t>LIKELY QUESTION</a:t>
            </a:r>
          </a:p>
          <a:p>
            <a:r>
              <a:t>Where is the evidence for a number? Each backup’s footer names the committed files; the speaker notes give the details.</a:t>
            </a:r>
          </a:p>
          <a:p/>
          <a:p>
            <a:r>
              <a:t>SOURCE AND LIMITS</a:t>
            </a:r>
          </a:p>
          <a:p>
            <a:r>
              <a:t>This deck.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“is every change exact?”: what each comparison against stock shows, and what a task benchmark cannot show.</a:t>
            </a:r>
          </a:p>
          <a:p/>
          <a:p>
            <a:r>
              <a:t>PRESENTER NOTES</a:t>
            </a:r>
          </a:p>
          <a:p>
            <a:r>
              <a:t>Every comparison holds the configuration fixed (slide 07). Host-gap patches leave tokens, verify-step counts and draft histograms identical on 192 of 192 requests. The fold is bitwise equal to stock verification once both servers have the same pools and batches. Changes that alter the target’s arithmetic (routing, replayed GDN decoding, Triton or FA4 attention, the prefill delay) first diverge from a matched stock reference only at exact BF16 ties, one BF16 step or near ties, never in output length; the fold with FA4 was classed at one request, the prefill delay at 64 and 128 requests, and batched outputs of the fold with FA4 were not compared. The certified head changed no position in check mode.</a:t>
            </a:r>
          </a:p>
          <a:p/>
          <a:p>
            <a:r>
              <a:t>LIKELY QUESTION</a:t>
            </a:r>
          </a:p>
          <a:p>
            <a:r>
              <a:t>Does GSM8K show the arms are equivalent? No: its paired intervals reach about 3.3 points, so it rules out only large losses. Greedy output equality comes from the comparisons above.</a:t>
            </a:r>
          </a:p>
          <a:p/>
          <a:p>
            <a:r>
              <a:t>SOURCE AND LIMITS</a:t>
            </a:r>
          </a:p>
          <a:p>
            <a:r>
              <a:t>evidence/hostgap (hold4, hold5 equality), drafter (matched pools), backbone, bench/equality, speed_lowc/confirm/equality, admission/logprob_classes.json, certified_head/served (check.csv, equality.csv), bench/quality/comparisons.json. Paper §6 (the exactness column of its table of engine changes).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“is the 8.9-nat miss an SGLang bug?”: the check that decided not to file an issue.</a:t>
            </a:r>
          </a:p>
          <a:p/>
          <a:p>
            <a:r>
              <a:t>PRESENTER NOTES</a:t>
            </a:r>
          </a:p>
          <a:p>
            <a:r>
              <a:t>The served benchmark found two positions where stock SGLang’s BF16 paths miss FP32 badly, both in text the model wrote after its own end-of-text token. At 579ae7ce position 439 SGLang’s decode misses by 8.9 nats while transformers keeps FP32’s top in 16 of 16 readings: an SGLang outlier, which no single kernel swap removed. At a4db11ff position 333 SGLang’s prefills miss by 13–15 nats and transformers by up to 17, and FP32’s own top token flips in 8 of 16 noisy draws: ill-conditioned. On 15,360 positions per path that nobody selected, SGLang’s mean error is no larger than transformers’, and the only miss above 2 nats is shared by every implementation’s prefill. The rule declared before the runs needed at least five SGLang misses above 2 nats and three times transformers’ count; neither sample came close.</a:t>
            </a:r>
          </a:p>
          <a:p/>
          <a:p>
            <a:r>
              <a:t>LIKELY QUESTION</a:t>
            </a:r>
          </a:p>
          <a:p>
            <a:r>
              <a:t>So is the outlier a bug? Possibly, but one position cannot show that SGLang misses more often, and with about one large miss per path in 15,360 positions a several-fold difference would go undetected.</a:t>
            </a:r>
          </a:p>
          <a:p/>
          <a:p>
            <a:r>
              <a:t>SOURCE AND LIMITS</a:t>
            </a:r>
          </a:p>
          <a:p>
            <a:r>
              <a:t>evidence/bf16_paths: rates.json, rates_eot.json, positions.json, README. Paper §4.5 mentions the outlier as the served benchmark’s one large divergence.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“how far below the prediction?”: every served point with its prediction.</a:t>
            </a:r>
          </a:p>
          <a:p/>
          <a:p>
            <a:r>
              <a:t>PRESENTER NOTES</a:t>
            </a:r>
          </a:p>
          <a:p>
            <a:r>
              <a:t>Bold values are the declared primary points, one per arm, with Holm correction across four. Above 64 positions per call the head is gated off by design, so the italic points measure the cost of carrying the certified graph. MTP at 64 loses 3.3%: its certified calls there are 64-position draft calls.</a:t>
            </a:r>
          </a:p>
          <a:p/>
          <a:p>
            <a:r>
              <a:t>LIKELY QUESTION</a:t>
            </a:r>
          </a:p>
          <a:p>
            <a:r>
              <a:t>Why were the predictions too high everywhere? They used plain decoding’s fallback rate for every path and did not time the fallback inside the served graph.</a:t>
            </a:r>
          </a:p>
          <a:p/>
          <a:p>
            <a:r>
              <a:t>SOURCE AND LIMITS</a:t>
            </a:r>
          </a:p>
          <a:p>
            <a:r>
              <a:t>evidence/certified_head/served/summary.json (decisions: y_ratio, y_low, y_high, predicted_y_ratio). Paper Appendix E.5.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“what about lossy options?”: two declared approximations against a budget set in advance.</a:t>
            </a:r>
          </a:p>
          <a:p/>
          <a:p>
            <a:r>
              <a:t>PRESENTER NOTES</a:t>
            </a:r>
          </a:p>
          <a:p>
            <a:r>
              <a:t>FP16 recurrent state serves 1.163, 1.158 and 1.171 times the best non-lossy arm timed with it at 64, 128 and 256 requests, for −0.99 to −1.36 GSM8K points below plain decoding’s reference runs, which misses the 1-point rule but lies within the exact arms’ own spread. The probe passes, though on the decode path it sees 4.1 to 6.5 times the reference’s divergence. The int4 target with its int4 drafter fails the probe and is slower above one request: Marlin’s W4A16 GEMM takes 1.19 times BF16’s time at 32 rows and 1.76 at 64, and the int4 drafter accepts fewer tokens.</a:t>
            </a:r>
          </a:p>
          <a:p/>
          <a:p>
            <a:r>
              <a:t>LIKELY QUESTION</a:t>
            </a:r>
          </a:p>
          <a:p>
            <a:r>
              <a:t>Would you ship FP16 state? Only with a quality test that can resolve one point; GSM8K’s paired intervals reach about −3 points.</a:t>
            </a:r>
          </a:p>
          <a:p/>
          <a:p>
            <a:r>
              <a:t>SOURCE AND LIMITS</a:t>
            </a:r>
          </a:p>
          <a:p>
            <a:r>
              <a:t>evidence/lossy: ratios.csv (envelope-fp16-state, envelope-int4), decisions.json, gemm_w4a16.json, README. Paper §6.</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“did the changes compose?”: the first composed stack, lever by lever.</a:t>
            </a:r>
          </a:p>
          <a:p/>
          <a:p>
            <a:r>
              <a:t>PRESENTER NOTES</a:t>
            </a:r>
          </a:p>
          <a:p>
            <a:r>
              <a:t>The fold costs at one and two requests and gains at eight; the routing table moves mostly through acceptance; the patched tree with every switch off costs nothing detectable. The full stack fell below the range declared before its runs at two to eight requests; at one request the verify with fold and routing was 0.14 ms longer. Narrow verify tiles target exactly that small-batch cost, and the later composition with FA4 gained +9.3% at one request.</a:t>
            </a:r>
          </a:p>
          <a:p/>
          <a:p>
            <a:r>
              <a:t>LIKELY QUESTION</a:t>
            </a:r>
          </a:p>
          <a:p>
            <a:r>
              <a:t>Why is the certified head alone missing? Its server ran out of memory at start-up in every session: its verify graphs need about 3.2 GB more than stock.</a:t>
            </a:r>
          </a:p>
          <a:p/>
          <a:p>
            <a:r>
              <a:t>SOURCE AND LIMITS</a:t>
            </a:r>
          </a:p>
          <a:p>
            <a:r>
              <a:t>evidence/stack/ratios.csv, README. Paper Appendix E.4.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“did you try FP8?”: a negative result with its mechanism; research notes only.</a:t>
            </a:r>
          </a:p>
          <a:p/>
          <a:p>
            <a:r>
              <a:t>PRESENTER NOTES</a:t>
            </a:r>
          </a:p>
          <a:p>
            <a:r>
              <a:t>At one request a decode step is bound by reading weights, so FP8 weights looked like the obvious lever. The GEMMs did get faster: 931 µs per step, 0.60 of BF16’s time in the served graph. But quantizing each layer’s activations and multiplying the row scales back are two new kernels per layer, 252 and 485 µs per step, and with launch gaps and lost overlap they took back 880 µs. Served, plain decoding gained +3.5% at one request, and the decode rate at 64 was 1.014 against a rule of 1.05. The variants without the row-scale kernel reach 1.120–1.260×, but neither is shown inside the quality budget: the static-scale arm is outside it on held-out prompts (top-1 0.978 against 0.98), the CUTLASS arm sits on the floor.</a:t>
            </a:r>
          </a:p>
          <a:p/>
          <a:p>
            <a:r>
              <a:t>LIKELY QUESTION</a:t>
            </a:r>
          </a:p>
          <a:p>
            <a:r>
              <a:t>Why did SGLang’s own FP8 path not work? The aarch64 sgl-kernel wheel ships no sm_90a code, so its CUTLASS FP8 GEMM computed nothing on GH200; we sent a fix upstream (backup B27).</a:t>
            </a:r>
          </a:p>
          <a:p/>
          <a:p>
            <a:r>
              <a:t>SOURCE AND LIMITS</a:t>
            </a:r>
          </a:p>
          <a:p>
            <a:r>
              <a:t>evidence/speed_bytes: step_budget.csv, served.csv, gemm_probe.csv, probes.json, gsm8k.json, README. Exploratory, one session per measurement; cited by the research notes, not the paper.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“where does the time go?”: the full breakdown behind the head-share slide.</a:t>
            </a:r>
          </a:p>
          <a:p/>
          <a:p>
            <a:r>
              <a:t>PRESENTER NOTES</a:t>
            </a:r>
          </a:p>
          <a:p>
            <a:r>
              <a:t>Plain decoding: the head chain is 10.3% of a step at batch 1 and 6.1% at 128; the weight GEMMs fall from 68.0% to 34.5%; the GDN kernels grow to 45% because every request carries 50.3 MB of FP32 state that each step reads and writes. In MTP the drafter’s head projections make the heads 17.2% of a batch-1 cycle. In tuned 16-token DFlash attention is large at small batch: SGLang’s Triton extend attention launches one program per query tile and head, each walking the whole context, which is why FA4 paid there (backup B20).</a:t>
            </a:r>
          </a:p>
          <a:p/>
          <a:p>
            <a:r>
              <a:t>LIKELY QUESTION</a:t>
            </a:r>
          </a:p>
          <a:p>
            <a:r>
              <a:t>Does the profiler distort these shares? Plain steps are within 1.4% of unprofiled ones; the host-bound MTP cycle is lengthened mostly as idle time; 16-token DFlash is GPU-bound.</a:t>
            </a:r>
          </a:p>
          <a:p/>
          <a:p>
            <a:r>
              <a:t>SOURCE AND LIMITS</a:t>
            </a:r>
          </a:p>
          <a:p>
            <a:r>
              <a:t>evidence/profiles: breakdown.csv, dflash_breakdown.csv, tables.md, README. Paper Appendix E.2.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“what is new?”: the boundary with prior work, at the paper’s own strength.</a:t>
            </a:r>
          </a:p>
          <a:p/>
          <a:p>
            <a:r>
              <a:t>PRESENTER NOTES</a:t>
            </a:r>
          </a:p>
          <a:p>
            <a:r>
              <a:t>Norm or quantization bounds, bound-and-refine search, certified greedy screening of an LM head, sampling from bounded scores and drafter-invariant verification are prior art. Sparkpipe, for a model with the same vocabulary, screens with an E4M3 copy and recomputes survivors exactly; dgpp bounds logits from the high bit planes of an int8 head, with the quantized head as reference; a Metal implementation recomputes candidates with a replica of its engine’s kernel. cuBLAS is closed and undocumented, so we bound its error with a model instead. Du et al. show why the reference must be named: BF16 and FP16 greedy decoding diverge on 49–100% of prompts.</a:t>
            </a:r>
          </a:p>
          <a:p/>
          <a:p>
            <a:r>
              <a:t>LIKELY QUESTION</a:t>
            </a:r>
          </a:p>
          <a:p>
            <a:r>
              <a:t>Is transport new? It is the one mechanism without a precedent we found, and it is a negative result.</a:t>
            </a:r>
          </a:p>
          <a:p/>
          <a:p>
            <a:r>
              <a:t>SOURCE AND LIMITS</a:t>
            </a:r>
          </a:p>
          <a:p>
            <a:r>
              <a:t>Paper §7; the literature review and citation audit are committed in sources/.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“did any of this go upstream?”: fixes and reports for bugs found along the way.</a:t>
            </a:r>
          </a:p>
          <a:p/>
          <a:p>
            <a:r>
              <a:t>PRESENTER NOTES</a:t>
            </a:r>
          </a:p>
          <a:p>
            <a:r>
              <a:t>The newest came out of checking the FA4 fix that slide 13 relies on. That fix makes FA4 compile for Qwen3.5’s head-dim-256 attention on SM90; checking it before commenting on SGLang #35757 (89 cases on four SGLang trees and flash-attention’s main) also found wrong outputs at head dims 80, 96, 160 and 224. We traced them to FA4’s cp.async paged-KV loader: in the last pass of a partial tile, threads still copy rows past the tile, and a predicated-off cp.async zero-fills its destination. Reported as flash-attention issue #2957 with the fix in PR #2958, and on #35757 with the same change for SGLang’s vendored copy. Qwen3.5’s head dims, 256 and 128, are not affected. On SGLang #42019, another contributor’s PR for FA4 on SM90, we noted that its max(1, floor) leaves tile_n 144 one page-table entry short. Its author has since adopted the ceiling division, confirmed on an H200 that this alone does not fix tile_n 144, and asked whether we are fixing the loader’s partial last pass in SGLang. We answered: not yet; the fix is flash-attention #2958, which awaits review, the vendored diff is in the #35757 follow-up, and we offered it.</a:t>
            </a:r>
          </a:p>
          <a:p/>
          <a:p>
            <a:r>
              <a:t>LIKELY QUESTION</a:t>
            </a:r>
          </a:p>
          <a:p>
            <a:r>
              <a:t>Were any merged or reviewed? Not yet: all are open and no PR has a review (status and replies checked 2026-10-03); the replies are the #42019 author’s and another contributor’s fix for #42085 (#42124, also open).</a:t>
            </a:r>
          </a:p>
          <a:p/>
          <a:p>
            <a:r>
              <a:t>SOURCE AND LIMITS</a:t>
            </a:r>
          </a:p>
          <a:p>
            <a:r>
              <a:t>github.com/sgl-project/sglang and github.com/Dao-AILab/flash-attention (issue 2957, pull 2958); the #42019 thread (issuecomment-5966557361, 5971156195, 5971202392); evidence/upstream_fa4/README.md; engine/sglang/README.md; evidence/speed_bytes/README.md (the missing sm_90a code).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Backup for “can I rerun it?”: where the code, the harness and the evidence are.</a:t>
            </a:r>
          </a:p>
          <a:p/>
          <a:p>
            <a:r>
              <a:t>PRESENTER NOTES</a:t>
            </a:r>
          </a:p>
          <a:p>
            <a:r>
              <a:t>Everything is in one public repository. The certified head is a Python package with Triton kernels for the int8 pass and its error-bound epilogue, and a self-test each compiled variant must pass before it certifies. Engine changes are patch series against the pinned SGLang commit, each off unless its flag is set. Every evidence directory’s README gives the command behind each file and the commits that produced it.</a:t>
            </a:r>
          </a:p>
          <a:p/>
          <a:p>
            <a:r>
              <a:t>LIKELY QUESTION</a:t>
            </a:r>
          </a:p>
          <a:p>
            <a:r>
              <a:t>Can the CPU checks run without a GPU? Yes (backup B29); the GPU sweeps need a GH200, the pinned engine and the commands in each evidence README.</a:t>
            </a:r>
          </a:p>
          <a:p/>
          <a:p>
            <a:r>
              <a:t>SOURCE AND LIMITS</a:t>
            </a:r>
          </a:p>
          <a:p>
            <a:r>
              <a:t>README.md, bench/README.md, engine/sglang/README.md, RUNBOOK.md, SETUP.md; paper Appendix F.2–F.3.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 section 0:00–2:30 · this slide 0:00–1:00 (about 1 min)</a:t>
            </a:r>
          </a:p>
          <a:p/>
          <a:p>
            <a:r>
              <a:t>This talk is about one narrow question in speculative decoding: when the target model checks a drafted token, how much of its output head does it need to compute, if it must return exactly the token the engine would? I will start with the setup and the stock baseline, then where the time goes and what “exact” has to mean, the certified head we built and what it bought when served, transport, which is where the project started, the engine changes that gained more, what fell short, and the quality checks. Everything is Qwen3.5-4B in SGLang on one GH200. Please interrupt whenever something is unclear.</a:t>
            </a:r>
          </a:p>
          <a:p/>
          <a:p>
            <a:r>
              <a:t>Sources: paper title page; the AI disclosure line is the paper’s first-page footnote.</a:t>
            </a:r>
          </a:p>
          <a:p/>
          <a:p>
            <a:r>
              <a:t>Numbers in this deck are computed from the paper and the evidence committed at 02b9c5f; no experiment was rerun for the talk.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 section 0:00–2:30 · this slide 1:00–2:30 (about 1.5 min)</a:t>
            </a:r>
          </a:p>
          <a:p/>
          <a:p>
            <a:r>
              <a:t>Speculative decoding works like this: a cheap drafter proposes a few tokens, and the target model checks all of them in one forward pass. At each checked position the target multiplies its final hidden state, which I will call the head input, by the output head, and gets a score for every vocabulary entry: 248,320 of them for Qwen3.5-4B. A greedy verifier needs one fact from all that work: is the drafted token the top-scoring entry? Plain greedy decoding needs the same fact. So the paper asks how little of the head’s work you can get away with if you insist on returning exactly the token the engine would have returned. Most entries cannot win; the hard part is the word “exactly”. There are two candidate sources of shortcuts: a cheaper copy of the head, which is what we built, and the scores the drafter has already computed, which is where the project started and which does not work. The scope throughout is one model, one engine commit and one GPU.</a:t>
            </a:r>
          </a:p>
          <a:p/>
          <a:p>
            <a:r>
              <a:t>Sources: paper §1.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and the stock baseline · section 2:30–5:30 · this slide 2:30–4:00 (about 1.5 min)</a:t>
            </a:r>
          </a:p>
          <a:p/>
          <a:p>
            <a:r>
              <a:t>Here is how everything was measured. One model, Qwen3.5-4B in BF16, with its two public drafters: MTP-4B, the model’s own multi-token-prediction layer, and DFlash-4B, a block drafter. SGLang is pinned at one commit, on one GH200. There are two kinds of evidence. For decisions, which token the head returns, we recorded the engine’s own head inputs on 320 public prompts and replayed them: in FP64, through our GPU kernel at the batch shapes the engine used, and inside SGLang in a check mode. For speed, we served. An arm is one tuned serving configuration. Each session launches every compared arm afresh, and the harness refuses to measure unless CUDA graphs were captured to full capacity and the overlap scheduler is on. A closed-loop client keeps c requests in flight, from 1 to 128, on 1,152 held-out prompts with 512-token outputs, and every confirmed result has three sessions. The fixed output length matters later, for admission.</a:t>
            </a:r>
          </a:p>
          <a:p/>
          <a:p>
            <a:r>
              <a:t>Sources: paper §4.1 and §4.5; pins in Appendix F.3. bench/README.md (launch checks); evidence/bench/confirm/launches.csv (25 launches, no check failed); evidence/head_geometry/README.md (captures: 384 tokens, split by prompt into analysis and held-out halves; the FP64 argmax of a captured head input equals the engine’s token at 99.51%). PyTorch 2.13 for CUDA 13.0; FlashInfer attention unless an arm names another. Why fixed 512-token outputs: acceptance depends on the text, and a fixed length makes points comparable; equal-length requests finish together, which matters for admission (backup B21).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and the stock baseline · section 2:30–5:30 · this slide 4:00–5:30 (about 1.5 min)</a:t>
            </a:r>
          </a:p>
          <a:p/>
          <a:p>
            <a:r>
              <a:t>This is the stock baseline everything later is measured against. Each line is a tuned arm swept from one request in flight, lower right, to 128, upper left: tokens per second each request sees, against tokens per second on the GPU. The grey band is the envelope, the best arm at each concurrency over all nine tuned arms. Over three sessions the best arm of each drafter serves more than plain decoding up to c = 32; with SGLang’s default admission, plain decoding leads from 48. At one request, 16-token DFlash gives 3.06 times plain decoding’s throughput, both with Triton attention. That is a public drafter we tuned, not this paper’s method. On the right is acceptance: the mean number of tokens a verify cycle accepts, the target’s own next token included. It is flat across concurrency: 3.24 to 3.28 for MTP’s three draft steps, 4.7 to 4.8 for 8-token DFlash and 5.6 to 5.8 for 16-token blocks, so the trailing from 48 is not a loss of acceptance; it comes back with admission. Standard deviations across sessions are under 2% of each mean.</a:t>
            </a:r>
          </a:p>
          <a:p/>
          <a:p>
            <a:r>
              <a:t>Sources: evidence/bench/confirm: frontier.csv (x_e2e_mean, y_mean; accept_length_min and _max, the range over every session and concurrency: MTP 3.24–3.28, DFlash-8 4.66–4.81, DFlash-16 5.59–5.77), envelope-all.dat, pairs.csv (16-token DFlash over plain with Triton attention at c = 1: throughput 3.061, per request 3.451), README (accept length flat across concurrency, 3.24-3.28 for MTP and 4.66-4.81 for DFlash block 8 over all points). Accepted length is SGLang’s committed tokens per verify step, the bonus token included (research notes, glossary); a cycle commits at most 4, 8 or 16. Arms drawn: plain-tuned, dflash-tuned, dflash-tuned-b16, mtp-tuned; 3–4 sessions per point (hollow: one). Paper §4.5, Fig. 4; Appendix E.4 quotes 5.7–5.8 tokens per verify cycle for 16-token DFlash at c = 1 and 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time goes, and what exact means · section 5:30–10:00 · this slide 5:30–7:00 (about 1.5 min)</a:t>
            </a:r>
          </a:p>
          <a:p/>
          <a:p>
            <a:r>
              <a:t>How much is there to win? Each bar is the stock engine held at a fixed batch, profiled with Nsight Systems. In plain decoding the head, meaning the GEMM, the copy of the logits and the argmax, is 10.3% of a step at batch 1 and only 6.1% at batch 128, so even a head that cost nothing would make a batch-1 step only about 11% faster. At batch 1 the step is mostly weight GEMMs. At batch 128 the grey GDN segment dominates. GDN, Gated DeltaNet, is the linear attention in three of this model’s four layers, and every request carries a recurrent state that each step reads and writes; those kernels take 45% of the step there, the recurrent kernel alone 42%. So the stakes are modest from the start, and the paper says so. The question still matters, because it forces a precise answer to what “exact” means inside an engine.</a:t>
            </a:r>
          </a:p>
          <a:p/>
          <a:p>
            <a:r>
              <a:t>(Optional) With MTP the target’s head is 4.4% of a batch-1 cycle and the drafter’s projections through the same head another 12.9%; a certified head could serve those too, because it returns the drafter’s own tokens.</a:t>
            </a:r>
          </a:p>
          <a:p/>
          <a:p>
            <a:r>
              <a:t>Sources: evidence/profiles/breakdown.csv (plain B = 1, 8, 32, 128; MTP B = 1; gdn_state: every GDN kernel), dflash_breakdown.csv (16-token DFlash, B = 1), README (method; tracing inflates the host-bound MTP cycle’s idle, barely its kernels). Paper §1, Fig. 1; Appendix E.2 (the GDN recurrent kernel 41.6% and the other GDN kernels 3.8% at batch 128). The detailed breakdown is backup B25.</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time goes, and what exact means · section 5:30–10:00 · this slide 7:00–8:30 (about 1.5 min)</a:t>
            </a:r>
          </a:p>
          <a:p/>
          <a:p>
            <a:r>
              <a:t>The engine does not compute exact scores. cuBLAS sums each logit in FP32, in an order the kernel picks for the batch shape, rounds the sum to BF16, and greedy decoding takes torch.argmax, which returns the first index among equal maxima. BF16 keeps eight significant bits, so between 16 and 32 the representable logits are 0.125 apart. Take two entries with exact logits 20.02 and 20.05, a made-up example. The exact winner is entry 42, but both round to 20.0 and the engine returns entry 17, the lower index. On this model that is not a corner case: on 105,269 captured greedy positions the two largest logits tie in BF16 at 1.0% of them, and the exact-arithmetic winner differs from the engine’s token at about 0.5%, always within one BF16 spacing. A shortcut held to exact arithmetic would change roughly one token in two hundred. We hold it instead to the engine’s own head: the certified head must return the token the stock head returns for the same head input at the same batch shape. Correctness then becomes a bit-equality test against the stock engine.</a:t>
            </a:r>
          </a:p>
          <a:p/>
          <a:p>
            <a:r>
              <a:t>Sources: evidence/head_geometry/alignment_plain4b.json (105,269 captured positions; decode: fp64_argmax_equals_engine_token 99.51%; engine_top2_tied_fraction; mismatches all within one BF16 spacing). Paper §1 and §§2.1–2.2; the three references are backup B03.</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the time goes, and what exact means · section 5:30–10:00 · this slide 8:30–10:00 (about 1.5 min)</a:t>
            </a:r>
          </a:p>
          <a:p/>
          <a:p>
            <a:r>
              <a:t>The reference has to name the configuration too, because stock SGLang is not one function of the prompt. On one stock server that runs at most 16 requests at once, we sent the same 320 prompts with one request in flight and with 32. Greedy outputs differ within 256 tokens on 167 of them, 52%. A bit-exact tap of every module places the first differences upstream of the head, in kernels whose reduction order depends on the batch or the memory pools: the GDN gated norm, FlashInfer’s plan, cuBLAS’s choice of GEMM. Never in the head GEMM or its tie rule, and every first divergence is a tie, one BF16 step or a near tie. None of this is a bug in the head; the head’s inputs already differ. The consequence is practical: bit-equality is a meaningful test only inside one configuration, so every comparison fixes the serving configuration and compares speculative runs with stock speculative verification.</a:t>
            </a:r>
          </a:p>
          <a:p/>
          <a:p>
            <a:r>
              <a:t>(Optional) That is also why the contract names the batch shape: change the number of positions in the head call and cuBLAS may pick another kernel and another summation order.</a:t>
            </a:r>
          </a:p>
          <a:p/>
          <a:p>
            <a:r>
              <a:t>Sources: evidence/state_safety/noise_floor.csv (concurrency 1 vs 32, cap 16: 167 of 320 diverge; 151 ties, 14 one BF16 step, 2 near), README (mechanism), targeted.json (radix-cache history also changes log-probabilities). Paper §4.1; Appendix D.4–D.6.</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certified head · section 10:00–17:00 · this slide 10:00–12:00 (about 2 min)</a:t>
            </a:r>
          </a:p>
          <a:p/>
          <a:p>
            <a:r>
              <a:t>Here is the method; the paper calls it a certified head. Step one: evaluate an int8 copy of the head for every entry. That copy has a known error per entry, so each entry gets an interval that contains its exact score. Any entry whose upper end is below the best lower end, minus a margin for the stock kernel’s own error and rounding, cannot be the engine’s token under any admissible accumulation, and we drop it. Step two: the few survivors, the candidates, are recomputed from their BF16 weights in FP64, and each exact score is widened by a bound on the error the stock kernel could make in its FP32 sum. Step three: round those intervals to BF16 and apply the engine’s tie rule. If every admissible accumulation gives the same first maximum, return that token. If not, run the stock head for that position, as a branch inside the CUDA graph that is paid only when it runs. A failed certificate costs time, never agreement. The weak point is the bound on cuBLAS: it is closed source, so we assume an error model and test it; I come back to that at the end.</a:t>
            </a:r>
          </a:p>
          <a:p/>
          <a:p>
            <a:r>
              <a:t>Sources: paper §3 (the five steps, the error bound of the copy, the kernel) and §2.3 (the interval condition and the fallbacks), Figure 2 (schematic; values illustrative). The rule and the error models in more detail: backup B02; the five steps with the kernel: backup B14.</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certified head · section 10:00–17:00 · this slide 12:00–13:30 (about 1.5 min)</a:t>
            </a:r>
          </a:p>
          <a:p/>
          <a:p>
            <a:r>
              <a:t>Does it work? On states recorded from the engine, yes. We ran the GPU kernel on the first 60,000 captured greedy positions at the batch shapes the engine used. It recomputes about 1.8 entries per decision on average and one at the median, because the int8 intervals are about two logits wide while the gap between the two best logits has a median of 7.3. The interval condition leaves 0.28% of positions to the stock head under the tighter Hopper error model and 1.46% under the conservative one, and with that fallback every token equals the engine’s. Then we put it inside SGLang in a check mode that also runs the stock head and counts differing positions on the device. In the served benchmark’s check launches, none of 592,433 checked positions differed, and none of 196,734 in an earlier engine check. One caution: agreement on replayed positions cannot prove the error model, because even a far smaller error constant gets every held-out token right. So the offline answer is: one or two exact entries per decision, as long as the fallback can be afforded.</a:t>
            </a:r>
          </a:p>
          <a:p/>
          <a:p>
            <a:r>
              <a:t>Sources: evidence/certified_head/replay_decisions.json (kernel replay: 1.84 candidates conservative, 1.78 Hopper), engine_v2.json (engine check), served/check.csv (check2); head_geometry/stats_plain4b.json (top-two gap). Paper §§4.2–4.3. Candidates per copy and fallback growth: backup B11.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certified head · section 10:00–17:00 · this slide 13:30–15:00 (about 1.5 min)</a:t>
            </a:r>
          </a:p>
          <a:p/>
          <a:p>
            <a:r>
              <a:t>Now served. Each line is one tuned arm with and without the certified head, the ratio of throughputs over three sessions. At one request it helps: +2.5% for plain decoding, +4.6% for MTP and +1.3% for 16-token DFlash, with identical tokens in every session. That is 28% to 71% of what the head-only timings predicted, and the predictions were written down before these runs. Plain decoding keeps gaining up to 32 requests and MTP up to 8. Both DFlash arms lose 1 to 3% above one request, wherever the head is active, and MTP loses 3.3% at 64. What matters for serving is the envelope, the fastest arm at each concurrency: there the head gains only at one request and costs 1.0–3.0% at 2 to 8 requests. So the result is exact, with a small gain at one request and a loss on the arms that are fastest at two to eight requests. The next slide is about why.</a:t>
            </a:r>
          </a:p>
          <a:p/>
          <a:p>
            <a:r>
              <a:t>(Optional) Above 64 positions per call the head is switched off by design, and the captured graph still costs 0.6% to 1.2%.</a:t>
            </a:r>
          </a:p>
          <a:p/>
          <a:p>
            <a:r>
              <a:t>Sources: evidence/certified_head/served/summary.json (decisions: geometric mean of three session ratios, 95% t interval; ratios.csv prints them to four decimals, which would round 16-token DFlash’s 1.0125016 twice), predictions.json (written before the runs), README. The MTP arm uses Triton attention; per-position fallback, conservative model; the head certifies calls of at most 64 positions. Paper §4.5 and Appendix E.5. Panels with predictions: backup B12; every point: backup B13; exactness and memory: backup B05.</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certified head · section 10:00–17:00 · this slide 15:00–17:00 (about 2 min)</a:t>
            </a:r>
          </a:p>
          <a:p/>
          <a:p>
            <a:r>
              <a:t>Three things eat the saving. The served runs use the per-position fallback: an open position reruns only its own candidates. Alone that costs about 45 to 56 microseconds, against about 370 to 450 for the stock head, but the call still pays for the extra work inside the graph, and the share of calls that need it grows with the positions per call. That is the chart: in the served check launches plain decoding falls back on 1.49% of positions, and the share of its calls with a fallback climbs from 1.6% at one position to 61% at 64. 16-token DFlash verify positions are open more often, 4.09%, and one block is already 16 positions, so at two to eight requests 54% to 82% of DFlash verify calls need a fallback. The other two reasons: the head is only a tenth of the step, and the int8 pass is not bound by memory bandwidth, so a fully certified call at one position takes 0.65 of the stock head’s time rather than half, and from 128 positions the head alone is slower. One caveat: we did not time the fallbacks inside the served graph, so this is a hypothesis consistent with the losses, not a measured decomposition.</a:t>
            </a:r>
          </a:p>
          <a:p/>
          <a:p>
            <a:r>
              <a:t>Sources: evidence/certified_head/served/check.csv (check2: fallback_calls over calls by family, path and concurrency; 8-token DFlash verify positions open at 2.95%); certified_head/head_path_time.csv (columns_fallback_cost_us 44.7–55.9 µs against stock_us 370.5–451.6 µs at M = 1–64; w8a16_us over stock_us at M = 1) and ncu_gemv_summary.json (M = 1: SMs 79% busy, DRAM 62–63%). Paper §4.3, §4.4 and §4.5. Head-only timing: backup B10; fallback growth in replay (whole-batch fallback): backup B11.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Transport · section 17:00–19:00 · this slide 17:00–19:00 (about 2 min)</a:t>
            </a:r>
          </a:p>
          <a:p/>
          <a:p>
            <a:r>
              <a:t>Now the idea the project started from, which we call transport. Both drafters project through the target’s own head, so by the time the target verifies, the drafter has already scored the whole vocabulary, at its own head input instead of the target’s. Group the vocabulary into tiles and keep each tile’s largest draft score. Moving to the target’s head input shifts every score in a tile by the tile centre dotted with the change, plus at most an allowance, the tile radius times the length of the change; that is Cauchy–Schwarz. If the draft maximum plus both is below a score we already know, the tile cannot win. The numbers on top are made up; the bound is sound. Whether it helps depends on one ratio, the drift: the distance between draft and target head inputs over the target’s length. Transport beats the int8 copy only when the drift is below a threshold the weights set, 0.00854 at the median. The measured median drift is 0.917 for DFlash-4B and 0.954 for MTP-4B, about a hundred times too large. So across every bound family and tiling we tested, certified transport skips at most 0.59% and 0.64% of the vocabulary, about what bounds with no draft at all give.</a:t>
            </a:r>
          </a:p>
          <a:p/>
          <a:p>
            <a:r>
              <a:t>(Optional) Why so far apart? DFlash’s final norm has unit gain, so its head input always has length 50.6 against the target’s 159, which alone forces a drift of at least 0.68, and the angle is large too. The drafts agree with the target on tokens, not on head inputs.</a:t>
            </a:r>
          </a:p>
          <a:p/>
          <a:p>
            <a:r>
              <a:t>Sources: paper §5.1 (Theorem: transported certificates; the replay favours transport by treating draft logits as exact), §§5.2–5.3, Fig. 5. evidence/precision/head_constants.json (thresholds, 64-entry contiguous tiles against int8 with one scale per entry), head_geometry/rho_dflash4b.json and rho_mtp4b.json (40,000 and 40,000 pairs), stats_dflash4b.json, transport_*.csv (kmeans64 best, tile level; a row-level variant reaches 0.65%), transport_*.json (batch unions: a verify batch still reads at least 99.4%). The definitions: backup B16; why the drift is large: backup B15.</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moved the frontier · section 19:00–21:00 · this slide 19:00–21:00 (about 2 min)</a:t>
            </a:r>
          </a:p>
          <a:p/>
          <a:p>
            <a:r>
              <a:t>So where does speed on this model come from? Each bar is a change measured against the tuned arm it modifies, light up to its smallest gain and dark across concurrencies, or for the certified head across its three arms. The certified head’s +1.3% to +4.6% at one request is the smallest. SGLang’s replayed GDN decoding, which writes the recurrent state only every 16 tokens, gave +8.1% at 128 in one run pair. The two confirmed changes are the large ones. The fold is SGLang’s fold-every-commit verify: it checks DFlash blocks without writing a recurrent-state snapshot per position. With narrow verify tiles and FA4, FlashAttention 4, it raises the per-request rate of 16-token DFlash +8.4–9.3% at one to four requests, and with FA4 target attention the throughput of 8-token DFlash +12.4–13.7% at 8 to 32. FA4 needed a backported fix to compile at this model’s head dimension. Below the line, a prefill delay with a 16-request cap lets MTP serve 1.18–1.32 times the best arm without speculation from 48 requests, at the price of a later first token. Not on the chart: host-gap patches gained 9.4 to 9.6% on MTP with FlashInfer attention, but that arm stays below stock MTP with Triton attention.</a:t>
            </a:r>
          </a:p>
          <a:p/>
          <a:p>
            <a:r>
              <a:t>Sources: paper §6 and its table of engine changes (with intervals); the certified head’s ratios are in the table of the head served in §4.5; evidence/certified_head/served/summary.json, bench/confirm/pairs.csv (replayed GDN, one pair), speed_lowc/confirm/ratios.json, admission/confirm_analysis.csv; hostgap/hold4/ab_mtp.json (patched MTP with FlashInfer: 500 tok/s at c = 1, against 532 for stock MTP with Triton in bench/confirm/frontier.csv). Every change with brackets and exactness classes: backup B19; FA4: backup B20; admission: backup B21; declared approximations: backup B22.</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fell short · section 21:00–23:00 · this slide 21:00–23:00 (about 2 min)</a:t>
            </a:r>
          </a:p>
          <a:p/>
          <a:p>
            <a:r>
              <a:t>Besides transport, five more approaches did not pay, each against a rule declared before its runs. FP8 for the dense layers halved the weight bytes, but the per-row arm’s quantization and row-scale kernels took back almost all of the saving: at 64 requests its decode rate was 1.014 times BF16’s, against the 1.05 its kill rule required. Two faster variants exist, but neither was shown to be inside the quality budget; this is exploratory work in the research notes, one session per measurement. An int4 target with its int4 drafter fails the logit probe, and above one request it serves 0.715 to 0.870 times the best exact arm’s throughput. FP16 recurrent state is the closest call: 1.16 to 1.17 times the best exact arm at 64 to 256 requests, but 1.0 to 1.4 GSM8K points below plain decoding, which misses the one-point budget declared in advance, though it sits inside the exact arms’ own spread. Our first composition, the fold with GEMM routing and the certified head on 16-token DFlash, is exact up to rounding but fell below the range declared before its runs at two to eight requests. And SGLang’s split-KV verify kernel saved 7.6 of the 200 microseconds its rule asked for, so it was dropped.</a:t>
            </a:r>
          </a:p>
          <a:p/>
          <a:p>
            <a:r>
              <a:t>Sources: scope: FP8 one session per measurement; int4, FP16 state and the first composition three sessions each; split-KV a microbenchmark. FP8: evidence/speed_bytes/README.md, served.csv (kill rule: at least 5% in decode rate; per-row 1.014 at c = 64 is the decode rate, throughput 1.013), probes.json, gsm8k.json (static and CUTLASS arms: neither shown inside the budget); research notes only, backup B24. Int4 and FP16 state: evidence/lossy/README.md (int4: y 0.715–0.870 against the best exact arm above c = 1), ratios.csv, decisions.json (budget: GSM8K within 1.0 point, probe top-1 at least 0.98 and KL at most 0.01), backup B22; paper §6. First composition: evidence/stack/README.md (exact up to rounding against stock DFlash block 16), ratios.csv (FULL = fold + routing + certified head against tuned DFlash-16: 0.972 at c = 2 against a declared 1.007–1.077; 1.013 at 4 against 1.067–1.151; throughput 1.073 at 8 against 1.148–1.220), backup B23; paper Appendix E.4. Split-KV: evidence/speed_lowc/README.md (probe1/attn_microbench.json; rule: at least 200 µs per target forward at one request and 512 tokens of context), research notes, backup B20. Transport, the sixth, is slide 12.</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stock envelope, before and after · section 23:00–25:00 · this slide 23:00–25:00 (about 2 min)</a:t>
            </a:r>
          </a:p>
          <a:p/>
          <a:p>
            <a:r>
              <a:t>This is the same frontier before and after. The dark line is the stock envelope from the setup: 16-token DFlash at one to four requests, 8-token DFlash from 8 to 32, plain decoding from 48. The squares are the fold with narrow tiles and FA4 on those same DFlash arms; the triangles are MTP with the prefill delay and cap. Every point lies up and to the right of the envelope at its concurrency, more tokens per request and more per GPU at once. The two DFlash arms were declared on different measures: 16-token DFlash gains 8.4–9.3% in the rate each request sees at one to four requests, and 8-token DFlash gains 12.4–13.7% in throughput at 8 to 32. Two cautions. The ratios on the right are measured within each confirmation’s own sessions; this plot combines sessions, so it shows where the gains land, not a new confirmed envelope. And MTP’s users wait longer for their first token: the 99th percentile is 2.6–3.1 times plain decoding’s.</a:t>
            </a:r>
          </a:p>
          <a:p/>
          <a:p>
            <a:r>
              <a:t>(Optional) Most of the loss from 48 was admissions, not drafting. With fixed-length outputs, plain decoding’s requests finish together and share one prefill, while speculative requests finish one or two at a time and each is prefilled alone, about 33 ms of which 9 is GPU work. Batching those prefills recovers it.</a:t>
            </a:r>
          </a:p>
          <a:p/>
          <a:p>
            <a:r>
              <a:t>Sources: evidence/bench/confirm/envelope.csv; speed_lowc/confirm/points.csv (six launches per point), README; admission/confirm_arms.csv, prefill_requests.json, prefill_trace.json, README (with natural output lengths, in one session, MTP led plain decoding even without the delay). Stock DFlash in the low-concurrency sessions was within 0.7% of the envelope, plain decoding in the admission sessions within 0.4% of its confirmed throughput. Paper §6.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quality check · section 25:00–27:00 · this slide 25:00–27:00 (about 2 min)</a:t>
            </a:r>
          </a:p>
          <a:p/>
          <a:p>
            <a:r>
              <a:t>Quality has two checks, and they answer different questions. On the left is exactness: greedy outputs against a matched stock run in the same configuration. In check mode none of the certified head’s 592,433 checked positions differed from the stock head, and its tokens were identical at one request. The fold is bitwise equal to stock verification once both servers have the same pools and batches. The fold with FA4 and the prefill delay change the target’s rounding or its batches, so they are exact up to rounding: every first divergence from a matched stock reference is a tie, one BF16 step or a near tie, never a difference in output length. Note the scope: those classes were fixed at one request for the fold with FA4 and at 64 and 128 for the prefill delay; batched outputs of the fold with FA4 were not compared. On the right is a task check, GSM8K, sampled, on four other arms: two MTP arms, 8-token DFlash, and plain decoding with the replayed GDN decoding of slide 13. They land within −1.36 to +1.06 points of plain decoding, and plain decoding against itself moved +0.30. That is plain decoding’s noise, and its paired intervals rule out losses above about 3.3 points, not smaller ones. The certified head, the fold and the prefill delay were not run on GSM8K; their quality claim is the output comparison on the left.</a:t>
            </a:r>
          </a:p>
          <a:p/>
          <a:p>
            <a:r>
              <a:t>Sources: equality: evidence/certified_head/served (check.csv, equality.csv), drafter (matched pools), speed_lowc/confirm/equality (c = 1, 320 prompts), admission/logprob_classes.json, bench/equality (the tuned arms: stock or exact up to rounding). Scope of the classes: the certified head identical in check mode and in tokens at c = 1; the fold bitwise with matched pools and fixed batch composition; the fold with narrow tiles and FA4 classed at c = 1; the prefill delay classed at c = 64 and 128. Up to rounding: each first divergence from a matched stock reference is an exact tie, one BF16 step or a near tie within two, and no output differs in length. GSM8K: evidence/bench/quality/comparisons.json and README (the four arms are dflash-tuned, mtp-stockverify, mtp-tuned, plain-tuned-replayssm; thinking on, temperature 0.6, top-p 0.95, top-k 20, request seed 0; exact McNemar; the 3.3-point bound is a Wald interval derived from the committed counts). Paper §4.5 and §6. Every change against stock: backup B06; GSM8K per arm: backup B08.</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Takeaway, limits and next steps · section 27:00–29:00 · this slide 27:00–29:00 (about 2 min)</a:t>
            </a:r>
          </a:p>
          <a:p/>
          <a:p>
            <a:r>
              <a:t>A verifier does not need every logit, but the token it needs is the engine’s own, rounding and tie rule included. An int8 copy of the head finds it with about 1.8 exact recomputations per decision, and every token checked against the stock head on the same batch matched. Served, it gains +1.3% to +4.6% at one request with identical tokens, loses on DFlash above one request and on MTP at 64, and costs 0.6 to 1.2% switched off. Transport fails because draft and target head inputs are far apart, and on this hybrid model the attention, recurrent-state and admission changes gained more. The limits are on the slide: the error model is tested on one GPU, not proved; the fallbacks inside the served graph were not timed; and this is one model, commit, GPU and workload. The next steps close the nearest of them; the delay-only arm separates the prefill delay’s gain and cost from the cap’s. Two more are open: a drafter trained to reproduce the target’s head input, which the transport tests did not cover, and natural output lengths at 32 and 128 requests. The design is the part I would keep: other approximate fast paths can be held to the engine’s own output the same way, if their error can be bounded and the fallback paid for. The backup slides are grouped by question.</a:t>
            </a:r>
          </a:p>
          <a:p/>
          <a:p>
            <a:r>
              <a:t>(Optional) On the error model: the probes used products with one exact operand, reached no subnormals and no other GPU, and neither model covers split-K partial sums stored in BF16.</a:t>
            </a:r>
          </a:p>
          <a:p/>
          <a:p>
            <a:r>
              <a:t>Sources: paper §8 (limits: the error model, untimed in-graph fallbacks, one greedy workload, and “a drafter trained to reproduce the target’s head input is untested”) and §9 (conclusion); TASKS.md (open: a delay-only admission arm, to divide the gain and the TTFT cost between the delay and the cap; batched output equality at c &gt; 1 for the low-concurrency confirmation’s arms; the natural-output-length workload at c = 32 and 128). github.com/SamMausberg/verified-progress. Backup slides from B01 are grouped by question (index on B01); the error models and the probes: backup B02.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SamMausberg/verified-progress"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Transport leaves over 99% of vocabulary entries to check</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§5.3 · evidence/head_geometry (transport_dflash4b.json, transport_mtp4b.json) · best tiles, one position at a time</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B18</a:t>
            </a:r>
            <a:endParaRPr lang="en-US" sz="1200" dirty="0"/>
          </a:p>
        </p:txBody>
      </p:sp>
      <p:sp>
        <p:nvSpPr>
          <p:cNvPr id="6" name="Text 4"/>
          <p:cNvSpPr/>
          <p:nvPr/>
        </p:nvSpPr>
        <p:spPr>
          <a:xfrm>
            <a:off x="731520" y="2734056"/>
            <a:ext cx="1920240" cy="548640"/>
          </a:xfrm>
          <a:prstGeom prst="rect">
            <a:avLst/>
          </a:prstGeom>
          <a:noFill/>
          <a:ln/>
        </p:spPr>
        <p:txBody>
          <a:bodyPr wrap="square" lIns="0" tIns="0" rIns="0" bIns="0" rtlCol="0" anchor="t"/>
          <a:lstStyle/>
          <a:p>
            <a:pPr indent="0" marL="0">
              <a:buNone/>
            </a:pPr>
            <a:r>
              <a:rPr lang="en-US" sz="2900" b="1" dirty="0">
                <a:solidFill>
                  <a:srgbClr val="CC79A7"/>
                </a:solidFill>
                <a:latin typeface="Arial" pitchFamily="34" charset="0"/>
                <a:ea typeface="Arial" pitchFamily="34" charset="-122"/>
                <a:cs typeface="Arial" pitchFamily="34" charset="-120"/>
              </a:rPr>
              <a:t>DFlash</a:t>
            </a:r>
            <a:endParaRPr lang="en-US" sz="2900" dirty="0"/>
          </a:p>
        </p:txBody>
      </p:sp>
      <p:sp>
        <p:nvSpPr>
          <p:cNvPr id="7" name="Shape 5"/>
          <p:cNvSpPr/>
          <p:nvPr/>
        </p:nvSpPr>
        <p:spPr>
          <a:xfrm>
            <a:off x="2834640" y="2587752"/>
            <a:ext cx="8339328" cy="786384"/>
          </a:xfrm>
          <a:prstGeom prst="rect">
            <a:avLst/>
          </a:prstGeom>
          <a:solidFill>
            <a:srgbClr val="CC79A7"/>
          </a:solidFill>
          <a:ln w="12700">
            <a:solidFill>
              <a:srgbClr val="CC79A7"/>
            </a:solidFill>
            <a:prstDash val="solid"/>
          </a:ln>
        </p:spPr>
        <p:txBody>
          <a:bodyPr/>
          <a:p/>
        </p:txBody>
      </p:sp>
      <p:sp>
        <p:nvSpPr>
          <p:cNvPr id="8" name="Shape 6"/>
          <p:cNvSpPr/>
          <p:nvPr/>
        </p:nvSpPr>
        <p:spPr>
          <a:xfrm>
            <a:off x="2834640" y="2587752"/>
            <a:ext cx="49202" cy="786384"/>
          </a:xfrm>
          <a:prstGeom prst="rect">
            <a:avLst/>
          </a:prstGeom>
          <a:solidFill>
            <a:srgbClr val="6B7780"/>
          </a:solidFill>
          <a:ln w="12700">
            <a:solidFill>
              <a:srgbClr val="6B7780"/>
            </a:solidFill>
            <a:prstDash val="solid"/>
          </a:ln>
        </p:spPr>
        <p:txBody>
          <a:bodyPr/>
          <a:p/>
        </p:txBody>
      </p:sp>
      <p:sp>
        <p:nvSpPr>
          <p:cNvPr id="9" name="Text 7"/>
          <p:cNvSpPr/>
          <p:nvPr/>
        </p:nvSpPr>
        <p:spPr>
          <a:xfrm>
            <a:off x="3035808" y="2770632"/>
            <a:ext cx="7936992" cy="548640"/>
          </a:xfrm>
          <a:prstGeom prst="rect">
            <a:avLst/>
          </a:prstGeom>
          <a:noFill/>
          <a:ln/>
        </p:spPr>
        <p:txBody>
          <a:bodyPr wrap="square" lIns="0" tIns="0" rIns="0" bIns="0" rtlCol="0" anchor="t"/>
          <a:lstStyle/>
          <a:p>
            <a:pPr indent="0" marL="0">
              <a:buNone/>
            </a:pPr>
            <a:r>
              <a:rPr lang="en-US" sz="2900" b="1" dirty="0">
                <a:solidFill>
                  <a:srgbClr val="1B3A57"/>
                </a:solidFill>
                <a:latin typeface="Arial" pitchFamily="34" charset="0"/>
                <a:ea typeface="Arial" pitchFamily="34" charset="-122"/>
                <a:cs typeface="Arial" pitchFamily="34" charset="-120"/>
              </a:rPr>
              <a:t>99.4% remain</a:t>
            </a:r>
            <a:endParaRPr lang="en-US" sz="2900" dirty="0"/>
          </a:p>
        </p:txBody>
      </p:sp>
      <p:sp>
        <p:nvSpPr>
          <p:cNvPr id="10" name="Text 8"/>
          <p:cNvSpPr/>
          <p:nvPr/>
        </p:nvSpPr>
        <p:spPr>
          <a:xfrm>
            <a:off x="731520" y="3941064"/>
            <a:ext cx="1920240" cy="548640"/>
          </a:xfrm>
          <a:prstGeom prst="rect">
            <a:avLst/>
          </a:prstGeom>
          <a:noFill/>
          <a:ln/>
        </p:spPr>
        <p:txBody>
          <a:bodyPr wrap="square" lIns="0" tIns="0" rIns="0" bIns="0" rtlCol="0" anchor="t"/>
          <a:lstStyle/>
          <a:p>
            <a:pPr indent="0" marL="0">
              <a:buNone/>
            </a:pPr>
            <a:r>
              <a:rPr lang="en-US" sz="2900" b="1" dirty="0">
                <a:solidFill>
                  <a:srgbClr val="1C6402"/>
                </a:solidFill>
                <a:latin typeface="Arial" pitchFamily="34" charset="0"/>
                <a:ea typeface="Arial" pitchFamily="34" charset="-122"/>
                <a:cs typeface="Arial" pitchFamily="34" charset="-120"/>
              </a:rPr>
              <a:t>MTP</a:t>
            </a:r>
            <a:endParaRPr lang="en-US" sz="2900" dirty="0"/>
          </a:p>
        </p:txBody>
      </p:sp>
      <p:sp>
        <p:nvSpPr>
          <p:cNvPr id="11" name="Shape 9"/>
          <p:cNvSpPr/>
          <p:nvPr/>
        </p:nvSpPr>
        <p:spPr>
          <a:xfrm>
            <a:off x="2834640" y="3794760"/>
            <a:ext cx="8339328" cy="786384"/>
          </a:xfrm>
          <a:prstGeom prst="rect">
            <a:avLst/>
          </a:prstGeom>
          <a:solidFill>
            <a:srgbClr val="1C6402"/>
          </a:solidFill>
          <a:ln w="12700">
            <a:solidFill>
              <a:srgbClr val="1C6402"/>
            </a:solidFill>
            <a:prstDash val="solid"/>
          </a:ln>
        </p:spPr>
        <p:txBody>
          <a:bodyPr/>
          <a:p/>
        </p:txBody>
      </p:sp>
      <p:sp>
        <p:nvSpPr>
          <p:cNvPr id="12" name="Shape 10"/>
          <p:cNvSpPr/>
          <p:nvPr/>
        </p:nvSpPr>
        <p:spPr>
          <a:xfrm>
            <a:off x="2834640" y="3794760"/>
            <a:ext cx="53372" cy="786384"/>
          </a:xfrm>
          <a:prstGeom prst="rect">
            <a:avLst/>
          </a:prstGeom>
          <a:solidFill>
            <a:srgbClr val="6B7780"/>
          </a:solidFill>
          <a:ln w="12700">
            <a:solidFill>
              <a:srgbClr val="6B7780"/>
            </a:solidFill>
            <a:prstDash val="solid"/>
          </a:ln>
        </p:spPr>
        <p:txBody>
          <a:bodyPr/>
          <a:p/>
        </p:txBody>
      </p:sp>
      <p:sp>
        <p:nvSpPr>
          <p:cNvPr id="13" name="Text 11"/>
          <p:cNvSpPr/>
          <p:nvPr/>
        </p:nvSpPr>
        <p:spPr>
          <a:xfrm>
            <a:off x="3035808" y="3977640"/>
            <a:ext cx="7936992" cy="548640"/>
          </a:xfrm>
          <a:prstGeom prst="rect">
            <a:avLst/>
          </a:prstGeom>
          <a:noFill/>
          <a:ln/>
        </p:spPr>
        <p:txBody>
          <a:bodyPr wrap="square" lIns="0" tIns="0" rIns="0" bIns="0" rtlCol="0" anchor="t"/>
          <a:lstStyle/>
          <a:p>
            <a:pPr indent="0" marL="0">
              <a:buNone/>
            </a:pPr>
            <a:r>
              <a:rPr lang="en-US" sz="2900" b="1" dirty="0">
                <a:solidFill>
                  <a:srgbClr val="FFFFFF"/>
                </a:solidFill>
                <a:latin typeface="Arial" pitchFamily="34" charset="0"/>
                <a:ea typeface="Arial" pitchFamily="34" charset="-122"/>
                <a:cs typeface="Arial" pitchFamily="34" charset="-120"/>
              </a:rPr>
              <a:t>99.4% remain</a:t>
            </a:r>
            <a:endParaRPr lang="en-US" sz="2900" dirty="0"/>
          </a:p>
        </p:txBody>
      </p:sp>
      <p:sp>
        <p:nvSpPr>
          <p:cNvPr id="14" name="Text 12"/>
          <p:cNvSpPr/>
          <p:nvPr/>
        </p:nvSpPr>
        <p:spPr>
          <a:xfrm>
            <a:off x="731520" y="5330952"/>
            <a:ext cx="10698480" cy="640080"/>
          </a:xfrm>
          <a:prstGeom prst="rect">
            <a:avLst/>
          </a:prstGeom>
          <a:noFill/>
          <a:ln/>
        </p:spPr>
        <p:txBody>
          <a:bodyPr wrap="square" lIns="0" tIns="0" rIns="0" bIns="0" rtlCol="0" anchor="t"/>
          <a:lstStyle/>
          <a:p>
            <a:pPr indent="0" marL="0">
              <a:buNone/>
            </a:pPr>
            <a:r>
              <a:rPr lang="en-US" sz="2800" b="1" dirty="0">
                <a:solidFill>
                  <a:srgbClr val="1B3A57"/>
                </a:solidFill>
                <a:latin typeface="Arial" pitchFamily="34" charset="0"/>
                <a:ea typeface="Arial" pitchFamily="34" charset="-122"/>
                <a:cs typeface="Arial" pitchFamily="34" charset="-120"/>
              </a:rPr>
              <a:t>Little benefit beyond bounds without draft scores.</a:t>
            </a:r>
            <a:endParaRPr lang="en-US" sz="2800" dirty="0"/>
          </a:p>
        </p:txBody>
      </p:sp>
      <p:sp>
        <p:nvSpPr>
          <p:cNvPr id="15" name="Text 13"/>
          <p:cNvSpPr/>
          <p:nvPr/>
        </p:nvSpPr>
        <p:spPr>
          <a:xfrm>
            <a:off x="731520" y="5934456"/>
            <a:ext cx="10698480" cy="365760"/>
          </a:xfrm>
          <a:prstGeom prst="rect">
            <a:avLst/>
          </a:prstGeom>
          <a:noFill/>
          <a:ln/>
        </p:spPr>
        <p:txBody>
          <a:bodyPr wrap="square" lIns="0" tIns="0" rIns="0" bIns="0" rtlCol="0" anchor="t"/>
          <a:lstStyle/>
          <a:p>
            <a:pPr indent="0" marL="0">
              <a:buNone/>
            </a:pPr>
            <a:r>
              <a:rPr lang="en-US" sz="2100" dirty="0">
                <a:solidFill>
                  <a:srgbClr val="586B73"/>
                </a:solidFill>
                <a:latin typeface="Arial" pitchFamily="34" charset="0"/>
                <a:ea typeface="Arial" pitchFamily="34" charset="-122"/>
                <a:cs typeface="Arial" pitchFamily="34" charset="-120"/>
              </a:rPr>
              <a:t>Best tiles on the two tested drafters</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The reference is the engine’s actual result</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§2.2 (references for one decision), Appendix A.1 (assumptions)</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B03</a:t>
            </a:r>
            <a:endParaRPr lang="en-US" sz="1200" dirty="0"/>
          </a:p>
        </p:txBody>
      </p:sp>
      <p:sp>
        <p:nvSpPr>
          <p:cNvPr id="6" name="Shape 4"/>
          <p:cNvSpPr/>
          <p:nvPr/>
        </p:nvSpPr>
        <p:spPr>
          <a:xfrm>
            <a:off x="731520" y="1920240"/>
            <a:ext cx="10744200" cy="594360"/>
          </a:xfrm>
          <a:prstGeom prst="rect">
            <a:avLst/>
          </a:prstGeom>
          <a:solidFill>
            <a:srgbClr val="F1F5F5"/>
          </a:solidFill>
          <a:ln w="12700">
            <a:solidFill>
              <a:srgbClr val="F1F5F5"/>
            </a:solidFill>
            <a:prstDash val="solid"/>
          </a:ln>
        </p:spPr>
      </p:sp>
      <p:sp>
        <p:nvSpPr>
          <p:cNvPr id="7" name="Text 5"/>
          <p:cNvSpPr/>
          <p:nvPr/>
        </p:nvSpPr>
        <p:spPr>
          <a:xfrm>
            <a:off x="841248" y="2011680"/>
            <a:ext cx="215798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Reference</a:t>
            </a:r>
            <a:endParaRPr lang="en-US" sz="1700" dirty="0"/>
          </a:p>
        </p:txBody>
      </p:sp>
      <p:sp>
        <p:nvSpPr>
          <p:cNvPr id="8" name="Text 6"/>
          <p:cNvSpPr/>
          <p:nvPr/>
        </p:nvSpPr>
        <p:spPr>
          <a:xfrm>
            <a:off x="3218688" y="2011680"/>
            <a:ext cx="814730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Computation</a:t>
            </a:r>
            <a:endParaRPr lang="en-US" sz="1700" dirty="0"/>
          </a:p>
        </p:txBody>
      </p:sp>
      <p:sp>
        <p:nvSpPr>
          <p:cNvPr id="9" name="Shape 7"/>
          <p:cNvSpPr/>
          <p:nvPr/>
        </p:nvSpPr>
        <p:spPr>
          <a:xfrm>
            <a:off x="731520" y="3429000"/>
            <a:ext cx="10744200" cy="0"/>
          </a:xfrm>
          <a:prstGeom prst="line">
            <a:avLst/>
          </a:prstGeom>
          <a:noFill/>
          <a:ln w="12700">
            <a:solidFill>
              <a:srgbClr val="D2DCDF"/>
            </a:solidFill>
            <a:prstDash val="solid"/>
          </a:ln>
        </p:spPr>
      </p:sp>
      <p:sp>
        <p:nvSpPr>
          <p:cNvPr id="10" name="Text 8"/>
          <p:cNvSpPr/>
          <p:nvPr/>
        </p:nvSpPr>
        <p:spPr>
          <a:xfrm>
            <a:off x="841248" y="2606040"/>
            <a:ext cx="215798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R-real</a:t>
            </a:r>
            <a:endParaRPr lang="en-US" sz="2600" dirty="0"/>
          </a:p>
        </p:txBody>
      </p:sp>
      <p:sp>
        <p:nvSpPr>
          <p:cNvPr id="11" name="Text 9"/>
          <p:cNvSpPr/>
          <p:nvPr/>
        </p:nvSpPr>
        <p:spPr>
          <a:xfrm>
            <a:off x="3218688" y="2606040"/>
            <a:ext cx="814730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Exact dot products</a:t>
            </a:r>
            <a:endParaRPr lang="en-US" sz="2600" dirty="0"/>
          </a:p>
        </p:txBody>
      </p:sp>
      <p:sp>
        <p:nvSpPr>
          <p:cNvPr id="12" name="Shape 10"/>
          <p:cNvSpPr/>
          <p:nvPr/>
        </p:nvSpPr>
        <p:spPr>
          <a:xfrm>
            <a:off x="731520" y="4343400"/>
            <a:ext cx="10744200" cy="0"/>
          </a:xfrm>
          <a:prstGeom prst="line">
            <a:avLst/>
          </a:prstGeom>
          <a:noFill/>
          <a:ln w="12700">
            <a:solidFill>
              <a:srgbClr val="D2DCDF"/>
            </a:solidFill>
            <a:prstDash val="solid"/>
          </a:ln>
        </p:spPr>
      </p:sp>
      <p:sp>
        <p:nvSpPr>
          <p:cNvPr id="13" name="Text 11"/>
          <p:cNvSpPr/>
          <p:nvPr/>
        </p:nvSpPr>
        <p:spPr>
          <a:xfrm>
            <a:off x="841248" y="3520440"/>
            <a:ext cx="215798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R-bf16</a:t>
            </a:r>
            <a:endParaRPr lang="en-US" sz="2600" dirty="0"/>
          </a:p>
        </p:txBody>
      </p:sp>
      <p:sp>
        <p:nvSpPr>
          <p:cNvPr id="14" name="Text 12"/>
          <p:cNvSpPr/>
          <p:nvPr/>
        </p:nvSpPr>
        <p:spPr>
          <a:xfrm>
            <a:off x="3218688" y="3520440"/>
            <a:ext cx="814730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Exact dot products → BF16 rounding</a:t>
            </a:r>
            <a:endParaRPr lang="en-US" sz="2600" dirty="0"/>
          </a:p>
        </p:txBody>
      </p:sp>
      <p:sp>
        <p:nvSpPr>
          <p:cNvPr id="15" name="Shape 13"/>
          <p:cNvSpPr/>
          <p:nvPr/>
        </p:nvSpPr>
        <p:spPr>
          <a:xfrm>
            <a:off x="731520" y="5257800"/>
            <a:ext cx="10744200" cy="0"/>
          </a:xfrm>
          <a:prstGeom prst="line">
            <a:avLst/>
          </a:prstGeom>
          <a:noFill/>
          <a:ln w="12700">
            <a:solidFill>
              <a:srgbClr val="D2DCDF"/>
            </a:solidFill>
            <a:prstDash val="solid"/>
          </a:ln>
        </p:spPr>
      </p:sp>
      <p:sp>
        <p:nvSpPr>
          <p:cNvPr id="16" name="Text 14"/>
          <p:cNvSpPr/>
          <p:nvPr/>
        </p:nvSpPr>
        <p:spPr>
          <a:xfrm>
            <a:off x="841248" y="4434840"/>
            <a:ext cx="215798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R-stock</a:t>
            </a:r>
            <a:endParaRPr lang="en-US" sz="2600" dirty="0"/>
          </a:p>
        </p:txBody>
      </p:sp>
      <p:sp>
        <p:nvSpPr>
          <p:cNvPr id="17" name="Text 15"/>
          <p:cNvSpPr/>
          <p:nvPr/>
        </p:nvSpPr>
        <p:spPr>
          <a:xfrm>
            <a:off x="3218688" y="4434840"/>
            <a:ext cx="8147304" cy="749808"/>
          </a:xfrm>
          <a:prstGeom prst="rect">
            <a:avLst/>
          </a:prstGeom>
          <a:noFill/>
          <a:ln/>
        </p:spPr>
        <p:txBody>
          <a:bodyPr wrap="square" lIns="0" tIns="0" rIns="0" bIns="0" rtlCol="0" anchor="ctr"/>
          <a:lstStyle/>
          <a:p>
            <a:pPr indent="0" marL="0">
              <a:buNone/>
            </a:pPr>
            <a:r>
              <a:rPr lang="en-US" sz="2600" dirty="0">
                <a:solidFill>
                  <a:srgbClr val="1B3A57"/>
                </a:solidFill>
                <a:latin typeface="Arial" pitchFamily="34" charset="0"/>
                <a:ea typeface="Arial" pitchFamily="34" charset="-122"/>
                <a:cs typeface="Arial" pitchFamily="34" charset="-120"/>
              </a:rPr>
              <a:t>Existing kernel → BF16 rounding</a:t>
            </a:r>
            <a:endParaRPr lang="en-US" sz="2600" dirty="0"/>
          </a:p>
        </p:txBody>
      </p:sp>
      <p:sp>
        <p:nvSpPr>
          <p:cNvPr id="18" name="Text 16"/>
          <p:cNvSpPr/>
          <p:nvPr/>
        </p:nvSpPr>
        <p:spPr>
          <a:xfrm>
            <a:off x="731520" y="5486400"/>
            <a:ext cx="10698480" cy="457200"/>
          </a:xfrm>
          <a:prstGeom prst="rect">
            <a:avLst/>
          </a:prstGeom>
          <a:noFill/>
          <a:ln/>
        </p:spPr>
        <p:txBody>
          <a:bodyPr wrap="square" lIns="0" tIns="0" rIns="0" bIns="0" rtlCol="0" anchor="t"/>
          <a:lstStyle/>
          <a:p>
            <a:pPr indent="0" marL="0">
              <a:buNone/>
            </a:pPr>
            <a:r>
              <a:rPr lang="en-US" sz="2400" dirty="0">
                <a:solidFill>
                  <a:srgbClr val="586B73"/>
                </a:solidFill>
                <a:latin typeface="Arial" pitchFamily="34" charset="0"/>
                <a:ea typeface="Arial" pitchFamily="34" charset="-122"/>
                <a:cs typeface="Arial" pitchFamily="34" charset="-120"/>
              </a:rPr>
              <a:t>Same inputs, batch shape and configuration.</a:t>
            </a:r>
            <a:endParaRPr lang="en-US" sz="2400" dirty="0"/>
          </a:p>
        </p:txBody>
      </p:sp>
      <p:sp>
        <p:nvSpPr>
          <p:cNvPr id="19" name="Text 17"/>
          <p:cNvSpPr/>
          <p:nvPr/>
        </p:nvSpPr>
        <p:spPr>
          <a:xfrm>
            <a:off x="731520" y="5980176"/>
            <a:ext cx="10698480" cy="365760"/>
          </a:xfrm>
          <a:prstGeom prst="rect">
            <a:avLst/>
          </a:prstGeom>
          <a:noFill/>
          <a:ln/>
        </p:spPr>
        <p:txBody>
          <a:bodyPr wrap="square" lIns="0" tIns="0" rIns="0" bIns="0" rtlCol="0" anchor="t"/>
          <a:lstStyle/>
          <a:p>
            <a:pPr indent="0" marL="0">
              <a:buNone/>
            </a:pPr>
            <a:r>
              <a:rPr lang="en-US" sz="2000" dirty="0">
                <a:solidFill>
                  <a:srgbClr val="D55E00"/>
                </a:solidFill>
                <a:latin typeface="Arial" pitchFamily="34" charset="0"/>
                <a:ea typeface="Arial" pitchFamily="34" charset="-122"/>
                <a:cs typeface="Arial" pitchFamily="34" charset="-120"/>
              </a:rPr>
              <a:t>Assumed error models are not vendor guarantees.</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Fixed ties certify; uncertain ties fall back</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§2.3 (interval condition) · hypothetical BF16 outcome sets</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B04</a:t>
            </a:r>
            <a:endParaRPr lang="en-US" sz="1200" dirty="0"/>
          </a:p>
        </p:txBody>
      </p:sp>
      <p:sp>
        <p:nvSpPr>
          <p:cNvPr id="6" name="Shape 4"/>
          <p:cNvSpPr/>
          <p:nvPr/>
        </p:nvSpPr>
        <p:spPr>
          <a:xfrm>
            <a:off x="731520" y="1828800"/>
            <a:ext cx="10744200" cy="594360"/>
          </a:xfrm>
          <a:prstGeom prst="rect">
            <a:avLst/>
          </a:prstGeom>
          <a:solidFill>
            <a:srgbClr val="F1F5F5"/>
          </a:solidFill>
          <a:ln w="12700">
            <a:solidFill>
              <a:srgbClr val="F1F5F5"/>
            </a:solidFill>
            <a:prstDash val="solid"/>
          </a:ln>
        </p:spPr>
      </p:sp>
      <p:sp>
        <p:nvSpPr>
          <p:cNvPr id="7" name="Text 5"/>
          <p:cNvSpPr/>
          <p:nvPr/>
        </p:nvSpPr>
        <p:spPr>
          <a:xfrm>
            <a:off x="841248" y="1920240"/>
            <a:ext cx="206654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Case</a:t>
            </a:r>
            <a:endParaRPr lang="en-US" sz="1700" dirty="0"/>
          </a:p>
        </p:txBody>
      </p:sp>
      <p:sp>
        <p:nvSpPr>
          <p:cNvPr id="8" name="Text 6"/>
          <p:cNvSpPr/>
          <p:nvPr/>
        </p:nvSpPr>
        <p:spPr>
          <a:xfrm>
            <a:off x="3127248" y="1920240"/>
            <a:ext cx="160934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Token 17</a:t>
            </a:r>
            <a:endParaRPr lang="en-US" sz="1700" dirty="0"/>
          </a:p>
        </p:txBody>
      </p:sp>
      <p:sp>
        <p:nvSpPr>
          <p:cNvPr id="9" name="Text 7"/>
          <p:cNvSpPr/>
          <p:nvPr/>
        </p:nvSpPr>
        <p:spPr>
          <a:xfrm>
            <a:off x="4956048" y="1920240"/>
            <a:ext cx="371246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Token 42</a:t>
            </a:r>
            <a:endParaRPr lang="en-US" sz="1700" dirty="0"/>
          </a:p>
        </p:txBody>
      </p:sp>
      <p:sp>
        <p:nvSpPr>
          <p:cNvPr id="10" name="Text 8"/>
          <p:cNvSpPr/>
          <p:nvPr/>
        </p:nvSpPr>
        <p:spPr>
          <a:xfrm>
            <a:off x="8887968" y="1920240"/>
            <a:ext cx="2478024" cy="448056"/>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Action</a:t>
            </a:r>
            <a:endParaRPr lang="en-US" sz="1700" dirty="0"/>
          </a:p>
        </p:txBody>
      </p:sp>
      <p:sp>
        <p:nvSpPr>
          <p:cNvPr id="11" name="Shape 9"/>
          <p:cNvSpPr/>
          <p:nvPr/>
        </p:nvSpPr>
        <p:spPr>
          <a:xfrm>
            <a:off x="731520" y="3264408"/>
            <a:ext cx="10744200" cy="0"/>
          </a:xfrm>
          <a:prstGeom prst="line">
            <a:avLst/>
          </a:prstGeom>
          <a:noFill/>
          <a:ln w="12700">
            <a:solidFill>
              <a:srgbClr val="D2DCDF"/>
            </a:solidFill>
            <a:prstDash val="solid"/>
          </a:ln>
        </p:spPr>
      </p:sp>
      <p:sp>
        <p:nvSpPr>
          <p:cNvPr id="12" name="Text 10"/>
          <p:cNvSpPr/>
          <p:nvPr/>
        </p:nvSpPr>
        <p:spPr>
          <a:xfrm>
            <a:off x="841248" y="2514600"/>
            <a:ext cx="20665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Separated</a:t>
            </a:r>
            <a:endParaRPr lang="en-US" sz="2500" dirty="0"/>
          </a:p>
        </p:txBody>
      </p:sp>
      <p:sp>
        <p:nvSpPr>
          <p:cNvPr id="13" name="Text 11"/>
          <p:cNvSpPr/>
          <p:nvPr/>
        </p:nvSpPr>
        <p:spPr>
          <a:xfrm>
            <a:off x="3127248" y="2514600"/>
            <a:ext cx="16093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1.0</a:t>
            </a:r>
            <a:endParaRPr lang="en-US" sz="2500" dirty="0"/>
          </a:p>
        </p:txBody>
      </p:sp>
      <p:sp>
        <p:nvSpPr>
          <p:cNvPr id="14" name="Text 12"/>
          <p:cNvSpPr/>
          <p:nvPr/>
        </p:nvSpPr>
        <p:spPr>
          <a:xfrm>
            <a:off x="4956048" y="2514600"/>
            <a:ext cx="371246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0.99609375</a:t>
            </a:r>
            <a:endParaRPr lang="en-US" sz="2500" dirty="0"/>
          </a:p>
        </p:txBody>
      </p:sp>
      <p:sp>
        <p:nvSpPr>
          <p:cNvPr id="15" name="Text 13"/>
          <p:cNvSpPr/>
          <p:nvPr/>
        </p:nvSpPr>
        <p:spPr>
          <a:xfrm>
            <a:off x="8887968" y="2514600"/>
            <a:ext cx="247802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Return 17</a:t>
            </a:r>
            <a:endParaRPr lang="en-US" sz="2500" dirty="0"/>
          </a:p>
        </p:txBody>
      </p:sp>
      <p:sp>
        <p:nvSpPr>
          <p:cNvPr id="16" name="Shape 14"/>
          <p:cNvSpPr/>
          <p:nvPr/>
        </p:nvSpPr>
        <p:spPr>
          <a:xfrm>
            <a:off x="731520" y="4105656"/>
            <a:ext cx="10744200" cy="0"/>
          </a:xfrm>
          <a:prstGeom prst="line">
            <a:avLst/>
          </a:prstGeom>
          <a:noFill/>
          <a:ln w="12700">
            <a:solidFill>
              <a:srgbClr val="D2DCDF"/>
            </a:solidFill>
            <a:prstDash val="solid"/>
          </a:ln>
        </p:spPr>
      </p:sp>
      <p:sp>
        <p:nvSpPr>
          <p:cNvPr id="17" name="Text 15"/>
          <p:cNvSpPr/>
          <p:nvPr/>
        </p:nvSpPr>
        <p:spPr>
          <a:xfrm>
            <a:off x="841248" y="3355848"/>
            <a:ext cx="20665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Fixed tie</a:t>
            </a:r>
            <a:endParaRPr lang="en-US" sz="2500" dirty="0"/>
          </a:p>
        </p:txBody>
      </p:sp>
      <p:sp>
        <p:nvSpPr>
          <p:cNvPr id="18" name="Text 16"/>
          <p:cNvSpPr/>
          <p:nvPr/>
        </p:nvSpPr>
        <p:spPr>
          <a:xfrm>
            <a:off x="3127248" y="3355848"/>
            <a:ext cx="16093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1.0</a:t>
            </a:r>
            <a:endParaRPr lang="en-US" sz="2500" dirty="0"/>
          </a:p>
        </p:txBody>
      </p:sp>
      <p:sp>
        <p:nvSpPr>
          <p:cNvPr id="19" name="Text 17"/>
          <p:cNvSpPr/>
          <p:nvPr/>
        </p:nvSpPr>
        <p:spPr>
          <a:xfrm>
            <a:off x="4956048" y="3355848"/>
            <a:ext cx="371246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1.0</a:t>
            </a:r>
            <a:endParaRPr lang="en-US" sz="2500" dirty="0"/>
          </a:p>
        </p:txBody>
      </p:sp>
      <p:sp>
        <p:nvSpPr>
          <p:cNvPr id="20" name="Text 18"/>
          <p:cNvSpPr/>
          <p:nvPr/>
        </p:nvSpPr>
        <p:spPr>
          <a:xfrm>
            <a:off x="8887968" y="3355848"/>
            <a:ext cx="247802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Return 17</a:t>
            </a:r>
            <a:endParaRPr lang="en-US" sz="2500" dirty="0"/>
          </a:p>
        </p:txBody>
      </p:sp>
      <p:sp>
        <p:nvSpPr>
          <p:cNvPr id="21" name="Shape 19"/>
          <p:cNvSpPr/>
          <p:nvPr/>
        </p:nvSpPr>
        <p:spPr>
          <a:xfrm>
            <a:off x="731520" y="4946904"/>
            <a:ext cx="10744200" cy="0"/>
          </a:xfrm>
          <a:prstGeom prst="line">
            <a:avLst/>
          </a:prstGeom>
          <a:noFill/>
          <a:ln w="12700">
            <a:solidFill>
              <a:srgbClr val="D2DCDF"/>
            </a:solidFill>
            <a:prstDash val="solid"/>
          </a:ln>
        </p:spPr>
      </p:sp>
      <p:sp>
        <p:nvSpPr>
          <p:cNvPr id="22" name="Text 20"/>
          <p:cNvSpPr/>
          <p:nvPr/>
        </p:nvSpPr>
        <p:spPr>
          <a:xfrm>
            <a:off x="841248" y="4197096"/>
            <a:ext cx="20665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Uncertain tie</a:t>
            </a:r>
            <a:endParaRPr lang="en-US" sz="2500" dirty="0"/>
          </a:p>
        </p:txBody>
      </p:sp>
      <p:sp>
        <p:nvSpPr>
          <p:cNvPr id="23" name="Text 21"/>
          <p:cNvSpPr/>
          <p:nvPr/>
        </p:nvSpPr>
        <p:spPr>
          <a:xfrm>
            <a:off x="3127248" y="4197096"/>
            <a:ext cx="160934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1.0</a:t>
            </a:r>
            <a:endParaRPr lang="en-US" sz="2500" dirty="0"/>
          </a:p>
        </p:txBody>
      </p:sp>
      <p:sp>
        <p:nvSpPr>
          <p:cNvPr id="24" name="Text 22"/>
          <p:cNvSpPr/>
          <p:nvPr/>
        </p:nvSpPr>
        <p:spPr>
          <a:xfrm>
            <a:off x="4956048" y="4197096"/>
            <a:ext cx="371246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1.0 or 1.0078125</a:t>
            </a:r>
            <a:endParaRPr lang="en-US" sz="2500" dirty="0"/>
          </a:p>
        </p:txBody>
      </p:sp>
      <p:sp>
        <p:nvSpPr>
          <p:cNvPr id="25" name="Text 23"/>
          <p:cNvSpPr/>
          <p:nvPr/>
        </p:nvSpPr>
        <p:spPr>
          <a:xfrm>
            <a:off x="8887968" y="4197096"/>
            <a:ext cx="2478024" cy="676656"/>
          </a:xfrm>
          <a:prstGeom prst="rect">
            <a:avLst/>
          </a:prstGeom>
          <a:noFill/>
          <a:ln/>
        </p:spPr>
        <p:txBody>
          <a:bodyPr wrap="square" lIns="0" tIns="0" rIns="0" bIns="0" rtlCol="0" anchor="ctr"/>
          <a:lstStyle/>
          <a:p>
            <a:pPr indent="0" marL="0">
              <a:buNone/>
            </a:pPr>
            <a:r>
              <a:rPr lang="en-US" sz="2500" dirty="0">
                <a:solidFill>
                  <a:srgbClr val="1B3A57"/>
                </a:solidFill>
                <a:latin typeface="Arial" pitchFamily="34" charset="0"/>
                <a:ea typeface="Arial" pitchFamily="34" charset="-122"/>
                <a:cs typeface="Arial" pitchFamily="34" charset="-120"/>
              </a:rPr>
              <a:t>Fallback</a:t>
            </a:r>
            <a:endParaRPr lang="en-US" sz="2500" dirty="0"/>
          </a:p>
        </p:txBody>
      </p:sp>
      <p:sp>
        <p:nvSpPr>
          <p:cNvPr id="26" name="Text 24"/>
          <p:cNvSpPr/>
          <p:nvPr/>
        </p:nvSpPr>
        <p:spPr>
          <a:xfrm>
            <a:off x="731520" y="5184648"/>
            <a:ext cx="10698480" cy="411480"/>
          </a:xfrm>
          <a:prstGeom prst="rect">
            <a:avLst/>
          </a:prstGeom>
          <a:noFill/>
          <a:ln/>
        </p:spPr>
        <p:txBody>
          <a:bodyPr wrap="square" lIns="0" tIns="0" rIns="0" bIns="0" rtlCol="0" anchor="t"/>
          <a:lstStyle/>
          <a:p>
            <a:pPr indent="0" marL="0">
              <a:buNone/>
            </a:pPr>
            <a:r>
              <a:rPr lang="en-US" sz="2200" dirty="0">
                <a:solidFill>
                  <a:srgbClr val="586B73"/>
                </a:solidFill>
                <a:latin typeface="Arial" pitchFamily="34" charset="0"/>
                <a:ea typeface="Arial" pitchFamily="34" charset="-122"/>
                <a:cs typeface="Arial" pitchFamily="34" charset="-120"/>
              </a:rPr>
              <a:t>Rounded-score bounds for a candidate k:</a:t>
            </a:r>
            <a:endParaRPr lang="en-US" sz="2200" dirty="0"/>
          </a:p>
        </p:txBody>
      </p:sp>
      <p:sp>
        <p:nvSpPr>
          <p:cNvPr id="27" name="Text 25"/>
          <p:cNvSpPr/>
          <p:nvPr/>
        </p:nvSpPr>
        <p:spPr>
          <a:xfrm>
            <a:off x="731520" y="5687568"/>
            <a:ext cx="10698480" cy="594360"/>
          </a:xfrm>
          <a:prstGeom prst="rect">
            <a:avLst/>
          </a:prstGeom>
          <a:noFill/>
          <a:ln/>
        </p:spPr>
        <p:txBody>
          <a:bodyPr wrap="square" lIns="0" tIns="0" rIns="0" bIns="0" rtlCol="0" anchor="t"/>
          <a:lstStyle/>
          <a:p>
            <a:pPr indent="0" marL="0">
              <a:buNone/>
            </a:pPr>
            <a:r>
              <a:rPr lang="en-US" sz="2500" dirty="0">
                <a:solidFill>
                  <a:srgbClr val="1B3A57"/>
                </a:solidFill>
                <a:latin typeface="Arial" pitchFamily="34" charset="0"/>
                <a:ea typeface="Arial" pitchFamily="34" charset="-122"/>
                <a:cs typeface="Arial" pitchFamily="34" charset="-120"/>
              </a:rPr>
              <a:t>Earlier j: upper(j) &lt; lower(k)     Later j: upper(j) ≤ lower(k)</a:t>
            </a:r>
            <a:endParaRPr lang="en-US" sz="2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Transport’s uncertainty is radius × change in head input</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§§5.1–5.2 · exact-arithmetic derivation</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B16</a:t>
            </a:r>
            <a:endParaRPr lang="en-US" sz="1200" dirty="0"/>
          </a:p>
        </p:txBody>
      </p:sp>
      <p:sp>
        <p:nvSpPr>
          <p:cNvPr id="6" name="Text 4"/>
          <p:cNvSpPr/>
          <p:nvPr/>
        </p:nvSpPr>
        <p:spPr>
          <a:xfrm>
            <a:off x="731520" y="1783080"/>
            <a:ext cx="5029200" cy="548640"/>
          </a:xfrm>
          <a:prstGeom prst="rect">
            <a:avLst/>
          </a:prstGeom>
          <a:noFill/>
          <a:ln/>
        </p:spPr>
        <p:txBody>
          <a:bodyPr wrap="square" lIns="0" tIns="0" rIns="0" bIns="0" rtlCol="0" anchor="t"/>
          <a:lstStyle/>
          <a:p>
            <a:pPr indent="0" marL="0">
              <a:buNone/>
            </a:pPr>
            <a:r>
              <a:rPr lang="en-US" sz="2700" b="1" dirty="0">
                <a:solidFill>
                  <a:srgbClr val="1B3A57"/>
                </a:solidFill>
                <a:latin typeface="Arial" pitchFamily="34" charset="0"/>
                <a:ea typeface="Arial" pitchFamily="34" charset="-122"/>
                <a:cs typeface="Arial" pitchFamily="34" charset="-120"/>
              </a:rPr>
              <a:t>Tile geometry</a:t>
            </a:r>
            <a:endParaRPr lang="en-US" sz="2700" dirty="0"/>
          </a:p>
        </p:txBody>
      </p:sp>
      <p:sp>
        <p:nvSpPr>
          <p:cNvPr id="7" name="Text 5"/>
          <p:cNvSpPr/>
          <p:nvPr/>
        </p:nvSpPr>
        <p:spPr>
          <a:xfrm>
            <a:off x="731520" y="2560320"/>
            <a:ext cx="5029200" cy="1280160"/>
          </a:xfrm>
          <a:prstGeom prst="rect">
            <a:avLst/>
          </a:prstGeom>
          <a:noFill/>
          <a:ln/>
        </p:spPr>
        <p:txBody>
          <a:bodyPr wrap="square" lIns="0" tIns="0" rIns="0" bIns="0" rtlCol="0" anchor="t"/>
          <a:lstStyle/>
          <a:p>
            <a:pPr indent="0" marL="0">
              <a:buNone/>
            </a:pPr>
            <a:r>
              <a:rPr lang="en-US" sz="2400" dirty="0">
                <a:solidFill>
                  <a:srgbClr val="586B73"/>
                </a:solidFill>
                <a:latin typeface="Arial" pitchFamily="34" charset="0"/>
                <a:ea typeface="Arial" pitchFamily="34" charset="-122"/>
                <a:cs typeface="Arial" pitchFamily="34" charset="-120"/>
              </a:rPr>
              <a:t>wᵢ: entry’s weight vector</a:t>
            </a:r>
            <a:endParaRPr lang="en-US" sz="2400" dirty="0"/>
          </a:p>
          <a:p>
            <a:pPr indent="0" marL="0">
              <a:buNone/>
            </a:pPr>
            <a:r>
              <a:rPr lang="en-US" sz="2400" dirty="0">
                <a:solidFill>
                  <a:srgbClr val="586B73"/>
                </a:solidFill>
                <a:latin typeface="Arial" pitchFamily="34" charset="0"/>
                <a:ea typeface="Arial" pitchFamily="34" charset="-122"/>
                <a:cs typeface="Arial" pitchFamily="34" charset="-120"/>
              </a:rPr>
              <a:t>μ: centre; r: radius</a:t>
            </a:r>
            <a:endParaRPr lang="en-US" sz="2400" dirty="0"/>
          </a:p>
          <a:p>
            <a:pPr indent="0" marL="0">
              <a:buNone/>
            </a:pPr>
            <a:r>
              <a:rPr lang="en-US" sz="2400" dirty="0">
                <a:solidFill>
                  <a:srgbClr val="586B73"/>
                </a:solidFill>
                <a:latin typeface="Arial" pitchFamily="34" charset="0"/>
                <a:ea typeface="Arial" pitchFamily="34" charset="-122"/>
                <a:cs typeface="Arial" pitchFamily="34" charset="-120"/>
              </a:rPr>
              <a:t>‖wᵢ − μ‖ ≤ r</a:t>
            </a:r>
            <a:endParaRPr lang="en-US" sz="2400" dirty="0"/>
          </a:p>
        </p:txBody>
      </p:sp>
      <p:sp>
        <p:nvSpPr>
          <p:cNvPr id="8" name="Text 6"/>
          <p:cNvSpPr/>
          <p:nvPr/>
        </p:nvSpPr>
        <p:spPr>
          <a:xfrm>
            <a:off x="6437376" y="1783080"/>
            <a:ext cx="5029200" cy="548640"/>
          </a:xfrm>
          <a:prstGeom prst="rect">
            <a:avLst/>
          </a:prstGeom>
          <a:noFill/>
          <a:ln/>
        </p:spPr>
        <p:txBody>
          <a:bodyPr wrap="square" lIns="0" tIns="0" rIns="0" bIns="0" rtlCol="0" anchor="t"/>
          <a:lstStyle/>
          <a:p>
            <a:pPr indent="0" marL="0">
              <a:buNone/>
            </a:pPr>
            <a:r>
              <a:rPr lang="en-US" sz="2700" b="1" dirty="0">
                <a:solidFill>
                  <a:srgbClr val="1B3A57"/>
                </a:solidFill>
                <a:latin typeface="Arial" pitchFamily="34" charset="0"/>
                <a:ea typeface="Arial" pitchFamily="34" charset="-122"/>
                <a:cs typeface="Arial" pitchFamily="34" charset="-120"/>
              </a:rPr>
              <a:t>State change</a:t>
            </a:r>
            <a:endParaRPr lang="en-US" sz="2700" dirty="0"/>
          </a:p>
        </p:txBody>
      </p:sp>
      <p:sp>
        <p:nvSpPr>
          <p:cNvPr id="9" name="Text 7"/>
          <p:cNvSpPr/>
          <p:nvPr/>
        </p:nvSpPr>
        <p:spPr>
          <a:xfrm>
            <a:off x="6437376" y="2560320"/>
            <a:ext cx="5029200" cy="1188720"/>
          </a:xfrm>
          <a:prstGeom prst="rect">
            <a:avLst/>
          </a:prstGeom>
          <a:noFill/>
          <a:ln/>
        </p:spPr>
        <p:txBody>
          <a:bodyPr wrap="square" lIns="0" tIns="0" rIns="0" bIns="0" rtlCol="0" anchor="t"/>
          <a:lstStyle/>
          <a:p>
            <a:pPr indent="0" marL="0">
              <a:buNone/>
            </a:pPr>
            <a:r>
              <a:rPr lang="en-US" sz="2400" dirty="0">
                <a:solidFill>
                  <a:srgbClr val="586B73"/>
                </a:solidFill>
                <a:latin typeface="Arial" pitchFamily="34" charset="0"/>
                <a:ea typeface="Arial" pitchFamily="34" charset="-122"/>
                <a:cs typeface="Arial" pitchFamily="34" charset="-120"/>
              </a:rPr>
              <a:t>Δ = target − draft</a:t>
            </a:r>
            <a:endParaRPr lang="en-US" sz="2400" dirty="0"/>
          </a:p>
          <a:p>
            <a:pPr indent="0" marL="0">
              <a:buNone/>
            </a:pPr>
            <a:r>
              <a:rPr lang="en-US" sz="2400" dirty="0">
                <a:solidFill>
                  <a:srgbClr val="586B73"/>
                </a:solidFill>
                <a:latin typeface="Arial" pitchFamily="34" charset="0"/>
                <a:ea typeface="Arial" pitchFamily="34" charset="-122"/>
                <a:cs typeface="Arial" pitchFamily="34" charset="-120"/>
              </a:rPr>
              <a:t>M: draft tile maximum</a:t>
            </a:r>
            <a:endParaRPr lang="en-US" sz="2400" dirty="0"/>
          </a:p>
        </p:txBody>
      </p:sp>
      <p:sp>
        <p:nvSpPr>
          <p:cNvPr id="10" name="Text 8"/>
          <p:cNvSpPr/>
          <p:nvPr/>
        </p:nvSpPr>
        <p:spPr>
          <a:xfrm>
            <a:off x="731520" y="4398264"/>
            <a:ext cx="10698480" cy="777240"/>
          </a:xfrm>
          <a:prstGeom prst="rect">
            <a:avLst/>
          </a:prstGeom>
          <a:noFill/>
          <a:ln/>
        </p:spPr>
        <p:txBody>
          <a:bodyPr wrap="square" lIns="0" tIns="0" rIns="0" bIns="0" rtlCol="0" anchor="t"/>
          <a:lstStyle/>
          <a:p>
            <a:pPr indent="0" marL="0">
              <a:buNone/>
            </a:pPr>
            <a:r>
              <a:rPr lang="en-US" sz="3400" b="1" dirty="0">
                <a:solidFill>
                  <a:srgbClr val="1B3A57"/>
                </a:solidFill>
                <a:latin typeface="Arial" pitchFamily="34" charset="0"/>
                <a:ea typeface="Arial" pitchFamily="34" charset="-122"/>
                <a:cs typeface="Arial" pitchFamily="34" charset="-120"/>
              </a:rPr>
              <a:t>Target maximum ≤ M + μ · Δ + r‖Δ‖</a:t>
            </a:r>
            <a:endParaRPr lang="en-US" sz="3400" dirty="0"/>
          </a:p>
        </p:txBody>
      </p:sp>
      <p:sp>
        <p:nvSpPr>
          <p:cNvPr id="11" name="Text 9"/>
          <p:cNvSpPr/>
          <p:nvPr/>
        </p:nvSpPr>
        <p:spPr>
          <a:xfrm>
            <a:off x="731520" y="5733288"/>
            <a:ext cx="10698480" cy="548640"/>
          </a:xfrm>
          <a:prstGeom prst="rect">
            <a:avLst/>
          </a:prstGeom>
          <a:noFill/>
          <a:ln/>
        </p:spPr>
        <p:txBody>
          <a:bodyPr wrap="square" lIns="0" tIns="0" rIns="0" bIns="0" rtlCol="0" anchor="t"/>
          <a:lstStyle/>
          <a:p>
            <a:pPr indent="0" marL="0">
              <a:buNone/>
            </a:pPr>
            <a:r>
              <a:rPr lang="en-US" sz="2400" dirty="0">
                <a:solidFill>
                  <a:srgbClr val="586B73"/>
                </a:solidFill>
                <a:latin typeface="Arial" pitchFamily="34" charset="0"/>
                <a:ea typeface="Arial" pitchFamily="34" charset="-122"/>
                <a:cs typeface="Arial" pitchFamily="34" charset="-120"/>
              </a:rPr>
              <a:t>Skip only when this bound is below a known target score.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Changing the tiles did not rescue transport</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Appendix C.6 · evidence/head_geometry (transport_dflash4b.json, transport_mtp4b.json) · mean share of the vocabulary skipped</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B17</a:t>
            </a:r>
            <a:endParaRPr lang="en-US" sz="1200" dirty="0"/>
          </a:p>
        </p:txBody>
      </p:sp>
      <p:sp>
        <p:nvSpPr>
          <p:cNvPr id="6" name="Text 4"/>
          <p:cNvSpPr/>
          <p:nvPr/>
        </p:nvSpPr>
        <p:spPr>
          <a:xfrm>
            <a:off x="731520" y="1664208"/>
            <a:ext cx="10698480" cy="457200"/>
          </a:xfrm>
          <a:prstGeom prst="rect">
            <a:avLst/>
          </a:prstGeom>
          <a:noFill/>
          <a:ln/>
        </p:spPr>
        <p:txBody>
          <a:bodyPr wrap="square" lIns="0" tIns="0" rIns="0" bIns="0" rtlCol="0" anchor="t"/>
          <a:lstStyle/>
          <a:p>
            <a:pPr indent="0" marL="0">
              <a:buNone/>
            </a:pPr>
            <a:r>
              <a:rPr lang="en-US" sz="2000" dirty="0">
                <a:solidFill>
                  <a:srgbClr val="586B73"/>
                </a:solidFill>
                <a:latin typeface="Arial" pitchFamily="34" charset="0"/>
                <a:ea typeface="Arial" pitchFamily="34" charset="-122"/>
                <a:cs typeface="Arial" pitchFamily="34" charset="-120"/>
              </a:rPr>
              <a:t>Vocabulary excluded · T: transport · S: static bound without draft scores</a:t>
            </a:r>
            <a:endParaRPr lang="en-US" sz="2000" dirty="0"/>
          </a:p>
        </p:txBody>
      </p:sp>
      <p:sp>
        <p:nvSpPr>
          <p:cNvPr id="7" name="Shape 5"/>
          <p:cNvSpPr/>
          <p:nvPr/>
        </p:nvSpPr>
        <p:spPr>
          <a:xfrm>
            <a:off x="731520" y="2414016"/>
            <a:ext cx="10744200" cy="530352"/>
          </a:xfrm>
          <a:prstGeom prst="rect">
            <a:avLst/>
          </a:prstGeom>
          <a:solidFill>
            <a:srgbClr val="F1F5F5"/>
          </a:solidFill>
          <a:ln w="12700">
            <a:solidFill>
              <a:srgbClr val="F1F5F5"/>
            </a:solidFill>
            <a:prstDash val="solid"/>
          </a:ln>
        </p:spPr>
        <p:txBody>
          <a:bodyPr/>
          <a:p/>
        </p:txBody>
      </p:sp>
      <p:sp>
        <p:nvSpPr>
          <p:cNvPr id="8" name="Text 6"/>
          <p:cNvSpPr/>
          <p:nvPr/>
        </p:nvSpPr>
        <p:spPr>
          <a:xfrm>
            <a:off x="841248" y="2505456"/>
            <a:ext cx="3803904" cy="384048"/>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Entries / tile</a:t>
            </a:r>
            <a:endParaRPr lang="en-US" sz="1700" dirty="0"/>
          </a:p>
        </p:txBody>
      </p:sp>
      <p:sp>
        <p:nvSpPr>
          <p:cNvPr id="9" name="Text 7"/>
          <p:cNvSpPr/>
          <p:nvPr/>
        </p:nvSpPr>
        <p:spPr>
          <a:xfrm>
            <a:off x="4864608" y="2505456"/>
            <a:ext cx="1463040" cy="384048"/>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DFlash T</a:t>
            </a:r>
            <a:endParaRPr lang="en-US" sz="1700" dirty="0"/>
          </a:p>
        </p:txBody>
      </p:sp>
      <p:sp>
        <p:nvSpPr>
          <p:cNvPr id="10" name="Text 8"/>
          <p:cNvSpPr/>
          <p:nvPr/>
        </p:nvSpPr>
        <p:spPr>
          <a:xfrm>
            <a:off x="6547104" y="2505456"/>
            <a:ext cx="1463040" cy="384048"/>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DFlash S</a:t>
            </a:r>
            <a:endParaRPr lang="en-US" sz="1700" dirty="0"/>
          </a:p>
        </p:txBody>
      </p:sp>
      <p:sp>
        <p:nvSpPr>
          <p:cNvPr id="11" name="Text 9"/>
          <p:cNvSpPr/>
          <p:nvPr/>
        </p:nvSpPr>
        <p:spPr>
          <a:xfrm>
            <a:off x="8229600" y="2505456"/>
            <a:ext cx="1463040" cy="384048"/>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MTP T</a:t>
            </a:r>
            <a:endParaRPr lang="en-US" sz="1700" dirty="0"/>
          </a:p>
        </p:txBody>
      </p:sp>
      <p:sp>
        <p:nvSpPr>
          <p:cNvPr id="12" name="Text 10"/>
          <p:cNvSpPr/>
          <p:nvPr/>
        </p:nvSpPr>
        <p:spPr>
          <a:xfrm>
            <a:off x="9912096" y="2505456"/>
            <a:ext cx="1453896" cy="384048"/>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MTP S</a:t>
            </a:r>
            <a:endParaRPr lang="en-US" sz="1700" dirty="0"/>
          </a:p>
        </p:txBody>
      </p:sp>
      <p:sp>
        <p:nvSpPr>
          <p:cNvPr id="13" name="Shape 11"/>
          <p:cNvSpPr/>
          <p:nvPr/>
        </p:nvSpPr>
        <p:spPr>
          <a:xfrm>
            <a:off x="731520" y="3337560"/>
            <a:ext cx="10744200" cy="0"/>
          </a:xfrm>
          <a:prstGeom prst="line">
            <a:avLst/>
          </a:prstGeom>
          <a:noFill/>
          <a:ln w="12700">
            <a:solidFill>
              <a:srgbClr val="D2DCDF"/>
            </a:solidFill>
            <a:prstDash val="solid"/>
          </a:ln>
        </p:spPr>
        <p:txBody>
          <a:bodyPr/>
          <a:p/>
        </p:txBody>
      </p:sp>
      <p:sp>
        <p:nvSpPr>
          <p:cNvPr id="14" name="Text 12"/>
          <p:cNvSpPr/>
          <p:nvPr/>
        </p:nvSpPr>
        <p:spPr>
          <a:xfrm>
            <a:off x="841248" y="3035808"/>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Contiguous 64</a:t>
            </a:r>
            <a:endParaRPr lang="en-US" sz="1900" dirty="0"/>
          </a:p>
        </p:txBody>
      </p:sp>
      <p:sp>
        <p:nvSpPr>
          <p:cNvPr id="15" name="Text 13"/>
          <p:cNvSpPr/>
          <p:nvPr/>
        </p:nvSpPr>
        <p:spPr>
          <a:xfrm>
            <a:off x="4864608" y="303580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0.08%</a:t>
            </a:r>
            <a:endParaRPr lang="en-US" sz="1900" dirty="0"/>
          </a:p>
        </p:txBody>
      </p:sp>
      <p:sp>
        <p:nvSpPr>
          <p:cNvPr id="16" name="Text 14"/>
          <p:cNvSpPr/>
          <p:nvPr/>
        </p:nvSpPr>
        <p:spPr>
          <a:xfrm>
            <a:off x="6547104" y="303580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0.08%</a:t>
            </a:r>
            <a:endParaRPr lang="en-US" sz="1900" dirty="0"/>
          </a:p>
        </p:txBody>
      </p:sp>
      <p:sp>
        <p:nvSpPr>
          <p:cNvPr id="17" name="Text 15"/>
          <p:cNvSpPr/>
          <p:nvPr/>
        </p:nvSpPr>
        <p:spPr>
          <a:xfrm>
            <a:off x="8229600" y="303580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0.08%</a:t>
            </a:r>
            <a:endParaRPr lang="en-US" sz="1900" dirty="0"/>
          </a:p>
        </p:txBody>
      </p:sp>
      <p:sp>
        <p:nvSpPr>
          <p:cNvPr id="18" name="Text 16"/>
          <p:cNvSpPr/>
          <p:nvPr/>
        </p:nvSpPr>
        <p:spPr>
          <a:xfrm>
            <a:off x="9912096" y="3035808"/>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0.08%</a:t>
            </a:r>
            <a:endParaRPr lang="en-US" sz="1900" dirty="0"/>
          </a:p>
        </p:txBody>
      </p:sp>
      <p:sp>
        <p:nvSpPr>
          <p:cNvPr id="19" name="Shape 17"/>
          <p:cNvSpPr/>
          <p:nvPr/>
        </p:nvSpPr>
        <p:spPr>
          <a:xfrm>
            <a:off x="731520" y="3730752"/>
            <a:ext cx="10744200" cy="0"/>
          </a:xfrm>
          <a:prstGeom prst="line">
            <a:avLst/>
          </a:prstGeom>
          <a:noFill/>
          <a:ln w="12700">
            <a:solidFill>
              <a:srgbClr val="D2DCDF"/>
            </a:solidFill>
            <a:prstDash val="solid"/>
          </a:ln>
        </p:spPr>
        <p:txBody>
          <a:bodyPr/>
          <a:p/>
        </p:txBody>
      </p:sp>
      <p:sp>
        <p:nvSpPr>
          <p:cNvPr id="20" name="Text 18"/>
          <p:cNvSpPr/>
          <p:nvPr/>
        </p:nvSpPr>
        <p:spPr>
          <a:xfrm>
            <a:off x="841248" y="3429000"/>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Contiguous 256</a:t>
            </a:r>
            <a:endParaRPr lang="en-US" sz="1900" dirty="0"/>
          </a:p>
        </p:txBody>
      </p:sp>
      <p:sp>
        <p:nvSpPr>
          <p:cNvPr id="21" name="Text 19"/>
          <p:cNvSpPr/>
          <p:nvPr/>
        </p:nvSpPr>
        <p:spPr>
          <a:xfrm>
            <a:off x="4864608" y="342900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2" name="Text 20"/>
          <p:cNvSpPr/>
          <p:nvPr/>
        </p:nvSpPr>
        <p:spPr>
          <a:xfrm>
            <a:off x="6547104" y="342900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3" name="Text 21"/>
          <p:cNvSpPr/>
          <p:nvPr/>
        </p:nvSpPr>
        <p:spPr>
          <a:xfrm>
            <a:off x="8229600" y="342900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4" name="Text 22"/>
          <p:cNvSpPr/>
          <p:nvPr/>
        </p:nvSpPr>
        <p:spPr>
          <a:xfrm>
            <a:off x="9912096" y="3429000"/>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5" name="Shape 23"/>
          <p:cNvSpPr/>
          <p:nvPr/>
        </p:nvSpPr>
        <p:spPr>
          <a:xfrm>
            <a:off x="731520" y="4123944"/>
            <a:ext cx="10744200" cy="0"/>
          </a:xfrm>
          <a:prstGeom prst="line">
            <a:avLst/>
          </a:prstGeom>
          <a:noFill/>
          <a:ln w="12700">
            <a:solidFill>
              <a:srgbClr val="D2DCDF"/>
            </a:solidFill>
            <a:prstDash val="solid"/>
          </a:ln>
        </p:spPr>
        <p:txBody>
          <a:bodyPr/>
          <a:p/>
        </p:txBody>
      </p:sp>
      <p:sp>
        <p:nvSpPr>
          <p:cNvPr id="26" name="Text 24"/>
          <p:cNvSpPr/>
          <p:nvPr/>
        </p:nvSpPr>
        <p:spPr>
          <a:xfrm>
            <a:off x="841248" y="3822192"/>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Contiguous 1,024</a:t>
            </a:r>
            <a:endParaRPr lang="en-US" sz="1900" dirty="0"/>
          </a:p>
        </p:txBody>
      </p:sp>
      <p:sp>
        <p:nvSpPr>
          <p:cNvPr id="27" name="Text 25"/>
          <p:cNvSpPr/>
          <p:nvPr/>
        </p:nvSpPr>
        <p:spPr>
          <a:xfrm>
            <a:off x="4864608" y="3822192"/>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8" name="Text 26"/>
          <p:cNvSpPr/>
          <p:nvPr/>
        </p:nvSpPr>
        <p:spPr>
          <a:xfrm>
            <a:off x="6547104" y="3822192"/>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29" name="Text 27"/>
          <p:cNvSpPr/>
          <p:nvPr/>
        </p:nvSpPr>
        <p:spPr>
          <a:xfrm>
            <a:off x="8229600" y="3822192"/>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0" name="Text 28"/>
          <p:cNvSpPr/>
          <p:nvPr/>
        </p:nvSpPr>
        <p:spPr>
          <a:xfrm>
            <a:off x="9912096" y="3822192"/>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1" name="Shape 29"/>
          <p:cNvSpPr/>
          <p:nvPr/>
        </p:nvSpPr>
        <p:spPr>
          <a:xfrm>
            <a:off x="731520" y="4517136"/>
            <a:ext cx="10744200" cy="0"/>
          </a:xfrm>
          <a:prstGeom prst="line">
            <a:avLst/>
          </a:prstGeom>
          <a:noFill/>
          <a:ln w="12700">
            <a:solidFill>
              <a:srgbClr val="D2DCDF"/>
            </a:solidFill>
            <a:prstDash val="solid"/>
          </a:ln>
        </p:spPr>
        <p:txBody>
          <a:bodyPr/>
          <a:p/>
        </p:txBody>
      </p:sp>
      <p:sp>
        <p:nvSpPr>
          <p:cNvPr id="32" name="Text 30"/>
          <p:cNvSpPr/>
          <p:nvPr/>
        </p:nvSpPr>
        <p:spPr>
          <a:xfrm>
            <a:off x="841248" y="4215384"/>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Random 256</a:t>
            </a:r>
            <a:endParaRPr lang="en-US" sz="1900" dirty="0"/>
          </a:p>
        </p:txBody>
      </p:sp>
      <p:sp>
        <p:nvSpPr>
          <p:cNvPr id="33" name="Text 31"/>
          <p:cNvSpPr/>
          <p:nvPr/>
        </p:nvSpPr>
        <p:spPr>
          <a:xfrm>
            <a:off x="4864608" y="4215384"/>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4" name="Text 32"/>
          <p:cNvSpPr/>
          <p:nvPr/>
        </p:nvSpPr>
        <p:spPr>
          <a:xfrm>
            <a:off x="6547104" y="4215384"/>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5" name="Text 33"/>
          <p:cNvSpPr/>
          <p:nvPr/>
        </p:nvSpPr>
        <p:spPr>
          <a:xfrm>
            <a:off x="8229600" y="4215384"/>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6" name="Text 34"/>
          <p:cNvSpPr/>
          <p:nvPr/>
        </p:nvSpPr>
        <p:spPr>
          <a:xfrm>
            <a:off x="9912096" y="4215384"/>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0.00%</a:t>
            </a:r>
            <a:endParaRPr lang="en-US" sz="1900" dirty="0"/>
          </a:p>
        </p:txBody>
      </p:sp>
      <p:sp>
        <p:nvSpPr>
          <p:cNvPr id="37" name="Shape 35"/>
          <p:cNvSpPr/>
          <p:nvPr/>
        </p:nvSpPr>
        <p:spPr>
          <a:xfrm>
            <a:off x="731520" y="4910328"/>
            <a:ext cx="10744200" cy="0"/>
          </a:xfrm>
          <a:prstGeom prst="line">
            <a:avLst/>
          </a:prstGeom>
          <a:noFill/>
          <a:ln w="12700">
            <a:solidFill>
              <a:srgbClr val="D2DCDF"/>
            </a:solidFill>
            <a:prstDash val="solid"/>
          </a:ln>
        </p:spPr>
        <p:txBody>
          <a:bodyPr/>
          <a:p/>
        </p:txBody>
      </p:sp>
      <p:sp>
        <p:nvSpPr>
          <p:cNvPr id="38" name="Text 36"/>
          <p:cNvSpPr/>
          <p:nvPr/>
        </p:nvSpPr>
        <p:spPr>
          <a:xfrm>
            <a:off x="841248" y="4608576"/>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k-means 64</a:t>
            </a:r>
            <a:endParaRPr lang="en-US" sz="1900" dirty="0"/>
          </a:p>
        </p:txBody>
      </p:sp>
      <p:sp>
        <p:nvSpPr>
          <p:cNvPr id="39" name="Text 37"/>
          <p:cNvSpPr/>
          <p:nvPr/>
        </p:nvSpPr>
        <p:spPr>
          <a:xfrm>
            <a:off x="4864608" y="4608576"/>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0.59%</a:t>
            </a:r>
            <a:endParaRPr lang="en-US" sz="1900" dirty="0"/>
          </a:p>
        </p:txBody>
      </p:sp>
      <p:sp>
        <p:nvSpPr>
          <p:cNvPr id="40" name="Text 38"/>
          <p:cNvSpPr/>
          <p:nvPr/>
        </p:nvSpPr>
        <p:spPr>
          <a:xfrm>
            <a:off x="6547104" y="4608576"/>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0.58%</a:t>
            </a:r>
            <a:endParaRPr lang="en-US" sz="1900" dirty="0"/>
          </a:p>
        </p:txBody>
      </p:sp>
      <p:sp>
        <p:nvSpPr>
          <p:cNvPr id="41" name="Text 39"/>
          <p:cNvSpPr/>
          <p:nvPr/>
        </p:nvSpPr>
        <p:spPr>
          <a:xfrm>
            <a:off x="8229600" y="4608576"/>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0.64%</a:t>
            </a:r>
            <a:endParaRPr lang="en-US" sz="1900" dirty="0"/>
          </a:p>
        </p:txBody>
      </p:sp>
      <p:sp>
        <p:nvSpPr>
          <p:cNvPr id="42" name="Text 40"/>
          <p:cNvSpPr/>
          <p:nvPr/>
        </p:nvSpPr>
        <p:spPr>
          <a:xfrm>
            <a:off x="9912096" y="4608576"/>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0.64%</a:t>
            </a:r>
            <a:endParaRPr lang="en-US" sz="1900" dirty="0"/>
          </a:p>
        </p:txBody>
      </p:sp>
      <p:sp>
        <p:nvSpPr>
          <p:cNvPr id="43" name="Shape 41"/>
          <p:cNvSpPr/>
          <p:nvPr/>
        </p:nvSpPr>
        <p:spPr>
          <a:xfrm>
            <a:off x="731520" y="5303520"/>
            <a:ext cx="10744200" cy="0"/>
          </a:xfrm>
          <a:prstGeom prst="line">
            <a:avLst/>
          </a:prstGeom>
          <a:noFill/>
          <a:ln w="12700">
            <a:solidFill>
              <a:srgbClr val="D2DCDF"/>
            </a:solidFill>
            <a:prstDash val="solid"/>
          </a:ln>
        </p:spPr>
        <p:txBody>
          <a:bodyPr/>
          <a:p/>
        </p:txBody>
      </p:sp>
      <p:sp>
        <p:nvSpPr>
          <p:cNvPr id="44" name="Text 42"/>
          <p:cNvSpPr/>
          <p:nvPr/>
        </p:nvSpPr>
        <p:spPr>
          <a:xfrm>
            <a:off x="841248" y="5001768"/>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k-means 256</a:t>
            </a:r>
            <a:endParaRPr lang="en-US" sz="1900" dirty="0"/>
          </a:p>
        </p:txBody>
      </p:sp>
      <p:sp>
        <p:nvSpPr>
          <p:cNvPr id="45" name="Text 43"/>
          <p:cNvSpPr/>
          <p:nvPr/>
        </p:nvSpPr>
        <p:spPr>
          <a:xfrm>
            <a:off x="4864608" y="500176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0.10%</a:t>
            </a:r>
            <a:endParaRPr lang="en-US" sz="1900" dirty="0"/>
          </a:p>
        </p:txBody>
      </p:sp>
      <p:sp>
        <p:nvSpPr>
          <p:cNvPr id="46" name="Text 44"/>
          <p:cNvSpPr/>
          <p:nvPr/>
        </p:nvSpPr>
        <p:spPr>
          <a:xfrm>
            <a:off x="6547104" y="500176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0.10%</a:t>
            </a:r>
            <a:endParaRPr lang="en-US" sz="1900" dirty="0"/>
          </a:p>
        </p:txBody>
      </p:sp>
      <p:sp>
        <p:nvSpPr>
          <p:cNvPr id="47" name="Text 45"/>
          <p:cNvSpPr/>
          <p:nvPr/>
        </p:nvSpPr>
        <p:spPr>
          <a:xfrm>
            <a:off x="8229600" y="5001768"/>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0.11%</a:t>
            </a:r>
            <a:endParaRPr lang="en-US" sz="1900" dirty="0"/>
          </a:p>
        </p:txBody>
      </p:sp>
      <p:sp>
        <p:nvSpPr>
          <p:cNvPr id="48" name="Text 46"/>
          <p:cNvSpPr/>
          <p:nvPr/>
        </p:nvSpPr>
        <p:spPr>
          <a:xfrm>
            <a:off x="9912096" y="5001768"/>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0.11%</a:t>
            </a:r>
            <a:endParaRPr lang="en-US" sz="1900" dirty="0"/>
          </a:p>
        </p:txBody>
      </p:sp>
      <p:sp>
        <p:nvSpPr>
          <p:cNvPr id="49" name="Shape 47"/>
          <p:cNvSpPr/>
          <p:nvPr/>
        </p:nvSpPr>
        <p:spPr>
          <a:xfrm>
            <a:off x="731520" y="5696712"/>
            <a:ext cx="10744200" cy="0"/>
          </a:xfrm>
          <a:prstGeom prst="line">
            <a:avLst/>
          </a:prstGeom>
          <a:noFill/>
          <a:ln w="12700">
            <a:solidFill>
              <a:srgbClr val="D2DCDF"/>
            </a:solidFill>
            <a:prstDash val="solid"/>
          </a:ln>
        </p:spPr>
        <p:txBody>
          <a:bodyPr/>
          <a:p/>
        </p:txBody>
      </p:sp>
      <p:sp>
        <p:nvSpPr>
          <p:cNvPr id="50" name="Text 48"/>
          <p:cNvSpPr/>
          <p:nvPr/>
        </p:nvSpPr>
        <p:spPr>
          <a:xfrm>
            <a:off x="841248" y="5394960"/>
            <a:ext cx="3803904"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k-means 1,024</a:t>
            </a:r>
            <a:endParaRPr lang="en-US" sz="1900" dirty="0"/>
          </a:p>
        </p:txBody>
      </p:sp>
      <p:sp>
        <p:nvSpPr>
          <p:cNvPr id="51" name="Text 49"/>
          <p:cNvSpPr/>
          <p:nvPr/>
        </p:nvSpPr>
        <p:spPr>
          <a:xfrm>
            <a:off x="4864608" y="539496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0.02%</a:t>
            </a:r>
            <a:endParaRPr lang="en-US" sz="1900" dirty="0"/>
          </a:p>
        </p:txBody>
      </p:sp>
      <p:sp>
        <p:nvSpPr>
          <p:cNvPr id="52" name="Text 50"/>
          <p:cNvSpPr/>
          <p:nvPr/>
        </p:nvSpPr>
        <p:spPr>
          <a:xfrm>
            <a:off x="6547104" y="539496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0.02%</a:t>
            </a:r>
            <a:endParaRPr lang="en-US" sz="1900" dirty="0"/>
          </a:p>
        </p:txBody>
      </p:sp>
      <p:sp>
        <p:nvSpPr>
          <p:cNvPr id="53" name="Text 51"/>
          <p:cNvSpPr/>
          <p:nvPr/>
        </p:nvSpPr>
        <p:spPr>
          <a:xfrm>
            <a:off x="8229600" y="5394960"/>
            <a:ext cx="1463040"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0.02%</a:t>
            </a:r>
            <a:endParaRPr lang="en-US" sz="1900" dirty="0"/>
          </a:p>
        </p:txBody>
      </p:sp>
      <p:sp>
        <p:nvSpPr>
          <p:cNvPr id="54" name="Text 52"/>
          <p:cNvSpPr/>
          <p:nvPr/>
        </p:nvSpPr>
        <p:spPr>
          <a:xfrm>
            <a:off x="9912096" y="5394960"/>
            <a:ext cx="1453896" cy="228600"/>
          </a:xfrm>
          <a:prstGeom prst="rect">
            <a:avLst/>
          </a:prstGeom>
          <a:noFill/>
          <a:ln/>
        </p:spPr>
        <p:txBody>
          <a:bodyPr wrap="square" lIns="0" tIns="0" rIns="0" bIns="0" rtlCol="0" anchor="ctr"/>
          <a:lstStyle/>
          <a:p>
            <a:pPr indent="0" marL="0">
              <a:buNone/>
            </a:pPr>
            <a:r>
              <a:rPr lang="en-US" sz="1900" dirty="0">
                <a:solidFill>
                  <a:srgbClr val="1B3A57"/>
                </a:solidFill>
                <a:latin typeface="Arial" pitchFamily="34" charset="0"/>
                <a:ea typeface="Arial" pitchFamily="34" charset="-122"/>
                <a:cs typeface="Arial" pitchFamily="34" charset="-120"/>
              </a:rPr>
              <a:t>0.02%</a:t>
            </a:r>
            <a:endParaRPr lang="en-US" sz="1900" dirty="0"/>
          </a:p>
        </p:txBody>
      </p:sp>
      <p:sp>
        <p:nvSpPr>
          <p:cNvPr id="55" name="Text 53"/>
          <p:cNvSpPr/>
          <p:nvPr/>
        </p:nvSpPr>
        <p:spPr>
          <a:xfrm>
            <a:off x="731520" y="6044184"/>
            <a:ext cx="10698480" cy="365760"/>
          </a:xfrm>
          <a:prstGeom prst="rect">
            <a:avLst/>
          </a:prstGeom>
          <a:noFill/>
          <a:ln/>
        </p:spPr>
        <p:txBody>
          <a:bodyPr wrap="square" lIns="0" tIns="0" rIns="0" bIns="0" rtlCol="0" anchor="t"/>
          <a:lstStyle/>
          <a:p>
            <a:pPr indent="0" marL="0">
              <a:buNone/>
            </a:pPr>
            <a:r>
              <a:rPr lang="en-US" sz="2000" dirty="0">
                <a:solidFill>
                  <a:srgbClr val="586B73"/>
                </a:solidFill>
                <a:latin typeface="Arial" pitchFamily="34" charset="0"/>
                <a:ea typeface="Arial" pitchFamily="34" charset="-122"/>
                <a:cs typeface="Arial" pitchFamily="34" charset="-120"/>
              </a:rPr>
              <a:t>DFlash: 4,020 pairs · MTP: 16,016 pairs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Quality results do not establish equivalence</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§4.5 · evidence/bench/quality (comparisons.json) · sampled runs; interval derived from the counts</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B08</a:t>
            </a:r>
            <a:endParaRPr lang="en-US" sz="1200" dirty="0"/>
          </a:p>
        </p:txBody>
      </p:sp>
      <p:sp>
        <p:nvSpPr>
          <p:cNvPr id="6" name="Shape 4"/>
          <p:cNvSpPr/>
          <p:nvPr/>
        </p:nvSpPr>
        <p:spPr>
          <a:xfrm>
            <a:off x="731520" y="1847088"/>
            <a:ext cx="10744200" cy="603504"/>
          </a:xfrm>
          <a:prstGeom prst="rect">
            <a:avLst/>
          </a:prstGeom>
          <a:solidFill>
            <a:srgbClr val="F1F5F5"/>
          </a:solidFill>
          <a:ln w="12700">
            <a:solidFill>
              <a:srgbClr val="F1F5F5"/>
            </a:solidFill>
            <a:prstDash val="solid"/>
          </a:ln>
        </p:spPr>
        <p:txBody>
          <a:bodyPr/>
          <a:p/>
        </p:txBody>
      </p:sp>
      <p:sp>
        <p:nvSpPr>
          <p:cNvPr id="7" name="Text 5"/>
          <p:cNvSpPr/>
          <p:nvPr/>
        </p:nvSpPr>
        <p:spPr>
          <a:xfrm>
            <a:off x="841248" y="1938528"/>
            <a:ext cx="7278624" cy="457200"/>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GSM8K · 1,319 problems</a:t>
            </a:r>
            <a:endParaRPr lang="en-US" sz="1700" dirty="0"/>
          </a:p>
        </p:txBody>
      </p:sp>
      <p:sp>
        <p:nvSpPr>
          <p:cNvPr id="8" name="Text 6"/>
          <p:cNvSpPr/>
          <p:nvPr/>
        </p:nvSpPr>
        <p:spPr>
          <a:xfrm>
            <a:off x="8339328" y="1938528"/>
            <a:ext cx="3026664" cy="457200"/>
          </a:xfrm>
          <a:prstGeom prst="rect">
            <a:avLst/>
          </a:prstGeom>
          <a:noFill/>
          <a:ln/>
        </p:spPr>
        <p:txBody>
          <a:bodyPr wrap="square" lIns="0" tIns="0" rIns="0" bIns="0" rtlCol="0" anchor="ctr"/>
          <a:lstStyle/>
          <a:p>
            <a:pPr indent="0" marL="0">
              <a:buNone/>
            </a:pPr>
            <a:r>
              <a:rPr lang="en-US" sz="1700" b="1" dirty="0">
                <a:solidFill>
                  <a:srgbClr val="586B73"/>
                </a:solidFill>
                <a:latin typeface="Arial" pitchFamily="34" charset="0"/>
                <a:ea typeface="Arial" pitchFamily="34" charset="-122"/>
                <a:cs typeface="Arial" pitchFamily="34" charset="-120"/>
              </a:rPr>
              <a:t>Accuracy</a:t>
            </a:r>
            <a:endParaRPr lang="en-US" sz="1700" dirty="0"/>
          </a:p>
        </p:txBody>
      </p:sp>
      <p:sp>
        <p:nvSpPr>
          <p:cNvPr id="9" name="Shape 7"/>
          <p:cNvSpPr/>
          <p:nvPr/>
        </p:nvSpPr>
        <p:spPr>
          <a:xfrm>
            <a:off x="731520" y="3035808"/>
            <a:ext cx="10744200" cy="0"/>
          </a:xfrm>
          <a:prstGeom prst="line">
            <a:avLst/>
          </a:prstGeom>
          <a:noFill/>
          <a:ln w="12700">
            <a:solidFill>
              <a:srgbClr val="D2DCDF"/>
            </a:solidFill>
            <a:prstDash val="solid"/>
          </a:ln>
        </p:spPr>
        <p:txBody>
          <a:bodyPr/>
          <a:p/>
        </p:txBody>
      </p:sp>
      <p:sp>
        <p:nvSpPr>
          <p:cNvPr id="10" name="Text 8"/>
          <p:cNvSpPr/>
          <p:nvPr/>
        </p:nvSpPr>
        <p:spPr>
          <a:xfrm>
            <a:off x="841248" y="2542032"/>
            <a:ext cx="727862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Plain run 1 / run 2</a:t>
            </a:r>
            <a:endParaRPr lang="en-US" sz="2400" dirty="0"/>
          </a:p>
        </p:txBody>
      </p:sp>
      <p:sp>
        <p:nvSpPr>
          <p:cNvPr id="11" name="Text 9"/>
          <p:cNvSpPr/>
          <p:nvPr/>
        </p:nvSpPr>
        <p:spPr>
          <a:xfrm>
            <a:off x="8339328" y="2542032"/>
            <a:ext cx="302666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89.99% / 90.30%</a:t>
            </a:r>
            <a:endParaRPr lang="en-US" sz="2400" dirty="0"/>
          </a:p>
        </p:txBody>
      </p:sp>
      <p:sp>
        <p:nvSpPr>
          <p:cNvPr id="12" name="Shape 10"/>
          <p:cNvSpPr/>
          <p:nvPr/>
        </p:nvSpPr>
        <p:spPr>
          <a:xfrm>
            <a:off x="731520" y="3621024"/>
            <a:ext cx="10744200" cy="0"/>
          </a:xfrm>
          <a:prstGeom prst="line">
            <a:avLst/>
          </a:prstGeom>
          <a:noFill/>
          <a:ln w="12700">
            <a:solidFill>
              <a:srgbClr val="D2DCDF"/>
            </a:solidFill>
            <a:prstDash val="solid"/>
          </a:ln>
        </p:spPr>
        <p:txBody>
          <a:bodyPr/>
          <a:p/>
        </p:txBody>
      </p:sp>
      <p:sp>
        <p:nvSpPr>
          <p:cNvPr id="13" name="Text 11"/>
          <p:cNvSpPr/>
          <p:nvPr/>
        </p:nvSpPr>
        <p:spPr>
          <a:xfrm>
            <a:off x="841248" y="3127248"/>
            <a:ext cx="727862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Buffered MTP</a:t>
            </a:r>
            <a:endParaRPr lang="en-US" sz="2400" dirty="0"/>
          </a:p>
        </p:txBody>
      </p:sp>
      <p:sp>
        <p:nvSpPr>
          <p:cNvPr id="14" name="Text 12"/>
          <p:cNvSpPr/>
          <p:nvPr/>
        </p:nvSpPr>
        <p:spPr>
          <a:xfrm>
            <a:off x="8339328" y="3127248"/>
            <a:ext cx="302666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89.54%</a:t>
            </a:r>
            <a:endParaRPr lang="en-US" sz="2400" dirty="0"/>
          </a:p>
        </p:txBody>
      </p:sp>
      <p:sp>
        <p:nvSpPr>
          <p:cNvPr id="15" name="Shape 13"/>
          <p:cNvSpPr/>
          <p:nvPr/>
        </p:nvSpPr>
        <p:spPr>
          <a:xfrm>
            <a:off x="731520" y="4206240"/>
            <a:ext cx="10744200" cy="0"/>
          </a:xfrm>
          <a:prstGeom prst="line">
            <a:avLst/>
          </a:prstGeom>
          <a:noFill/>
          <a:ln w="12700">
            <a:solidFill>
              <a:srgbClr val="D2DCDF"/>
            </a:solidFill>
            <a:prstDash val="solid"/>
          </a:ln>
        </p:spPr>
        <p:txBody>
          <a:bodyPr/>
          <a:p/>
        </p:txBody>
      </p:sp>
      <p:sp>
        <p:nvSpPr>
          <p:cNvPr id="16" name="Text 14"/>
          <p:cNvSpPr/>
          <p:nvPr/>
        </p:nvSpPr>
        <p:spPr>
          <a:xfrm>
            <a:off x="841248" y="3712464"/>
            <a:ext cx="727862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MTP, snapshot verify</a:t>
            </a:r>
            <a:endParaRPr lang="en-US" sz="2400" dirty="0"/>
          </a:p>
        </p:txBody>
      </p:sp>
      <p:sp>
        <p:nvSpPr>
          <p:cNvPr id="17" name="Text 15"/>
          <p:cNvSpPr/>
          <p:nvPr/>
        </p:nvSpPr>
        <p:spPr>
          <a:xfrm>
            <a:off x="8339328" y="3712464"/>
            <a:ext cx="302666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88.93%</a:t>
            </a:r>
            <a:endParaRPr lang="en-US" sz="2400" dirty="0"/>
          </a:p>
        </p:txBody>
      </p:sp>
      <p:sp>
        <p:nvSpPr>
          <p:cNvPr id="18" name="Shape 16"/>
          <p:cNvSpPr/>
          <p:nvPr/>
        </p:nvSpPr>
        <p:spPr>
          <a:xfrm>
            <a:off x="731520" y="4791456"/>
            <a:ext cx="10744200" cy="0"/>
          </a:xfrm>
          <a:prstGeom prst="line">
            <a:avLst/>
          </a:prstGeom>
          <a:noFill/>
          <a:ln w="12700">
            <a:solidFill>
              <a:srgbClr val="D2DCDF"/>
            </a:solidFill>
            <a:prstDash val="solid"/>
          </a:ln>
        </p:spPr>
        <p:txBody>
          <a:bodyPr/>
          <a:p/>
        </p:txBody>
      </p:sp>
      <p:sp>
        <p:nvSpPr>
          <p:cNvPr id="19" name="Text 17"/>
          <p:cNvSpPr/>
          <p:nvPr/>
        </p:nvSpPr>
        <p:spPr>
          <a:xfrm>
            <a:off x="841248" y="4297680"/>
            <a:ext cx="727862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DFlash, block 8</a:t>
            </a:r>
            <a:endParaRPr lang="en-US" sz="2400" dirty="0"/>
          </a:p>
        </p:txBody>
      </p:sp>
      <p:sp>
        <p:nvSpPr>
          <p:cNvPr id="20" name="Text 18"/>
          <p:cNvSpPr/>
          <p:nvPr/>
        </p:nvSpPr>
        <p:spPr>
          <a:xfrm>
            <a:off x="8339328" y="4297680"/>
            <a:ext cx="302666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89.69%</a:t>
            </a:r>
            <a:endParaRPr lang="en-US" sz="2400" dirty="0"/>
          </a:p>
        </p:txBody>
      </p:sp>
      <p:sp>
        <p:nvSpPr>
          <p:cNvPr id="21" name="Shape 19"/>
          <p:cNvSpPr/>
          <p:nvPr/>
        </p:nvSpPr>
        <p:spPr>
          <a:xfrm>
            <a:off x="731520" y="5376672"/>
            <a:ext cx="10744200" cy="0"/>
          </a:xfrm>
          <a:prstGeom prst="line">
            <a:avLst/>
          </a:prstGeom>
          <a:noFill/>
          <a:ln w="12700">
            <a:solidFill>
              <a:srgbClr val="D2DCDF"/>
            </a:solidFill>
            <a:prstDash val="solid"/>
          </a:ln>
        </p:spPr>
        <p:txBody>
          <a:bodyPr/>
          <a:p/>
        </p:txBody>
      </p:sp>
      <p:sp>
        <p:nvSpPr>
          <p:cNvPr id="22" name="Text 20"/>
          <p:cNvSpPr/>
          <p:nvPr/>
        </p:nvSpPr>
        <p:spPr>
          <a:xfrm>
            <a:off x="841248" y="4882896"/>
            <a:ext cx="727862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Replayed GDN plain decoding</a:t>
            </a:r>
            <a:endParaRPr lang="en-US" sz="2400" dirty="0"/>
          </a:p>
        </p:txBody>
      </p:sp>
      <p:sp>
        <p:nvSpPr>
          <p:cNvPr id="23" name="Text 21"/>
          <p:cNvSpPr/>
          <p:nvPr/>
        </p:nvSpPr>
        <p:spPr>
          <a:xfrm>
            <a:off x="8339328" y="4882896"/>
            <a:ext cx="3026664" cy="420624"/>
          </a:xfrm>
          <a:prstGeom prst="rect">
            <a:avLst/>
          </a:prstGeom>
          <a:noFill/>
          <a:ln/>
        </p:spPr>
        <p:txBody>
          <a:bodyPr wrap="square" lIns="0" tIns="0" rIns="0" bIns="0" rtlCol="0" anchor="ctr"/>
          <a:lstStyle/>
          <a:p>
            <a:pPr indent="0" marL="0">
              <a:buNone/>
            </a:pPr>
            <a:r>
              <a:rPr lang="en-US" sz="2400" dirty="0">
                <a:solidFill>
                  <a:srgbClr val="1B3A57"/>
                </a:solidFill>
                <a:latin typeface="Arial" pitchFamily="34" charset="0"/>
                <a:ea typeface="Arial" pitchFamily="34" charset="-122"/>
                <a:cs typeface="Arial" pitchFamily="34" charset="-120"/>
              </a:rPr>
              <a:t>91.05%</a:t>
            </a:r>
            <a:endParaRPr lang="en-US" sz="2400" dirty="0"/>
          </a:p>
        </p:txBody>
      </p:sp>
      <p:sp>
        <p:nvSpPr>
          <p:cNvPr id="24" name="Text 22"/>
          <p:cNvSpPr/>
          <p:nvPr/>
        </p:nvSpPr>
        <p:spPr>
          <a:xfrm>
            <a:off x="731520" y="5779008"/>
            <a:ext cx="10698480" cy="594360"/>
          </a:xfrm>
          <a:prstGeom prst="rect">
            <a:avLst/>
          </a:prstGeom>
          <a:noFill/>
          <a:ln/>
        </p:spPr>
        <p:txBody>
          <a:bodyPr wrap="square" lIns="0" tIns="0" rIns="0" bIns="0" rtlCol="0" anchor="t"/>
          <a:lstStyle/>
          <a:p>
            <a:pPr indent="0" marL="0">
              <a:buNone/>
            </a:pPr>
            <a:r>
              <a:rPr lang="en-US" sz="2500" b="1" dirty="0">
                <a:solidFill>
                  <a:srgbClr val="D55E00"/>
                </a:solidFill>
                <a:latin typeface="Arial" pitchFamily="34" charset="0"/>
                <a:ea typeface="Arial" pitchFamily="34" charset="-122"/>
                <a:cs typeface="Arial" pitchFamily="34" charset="-120"/>
              </a:rPr>
              <a:t>Paired 95% intervals allow ≈3.3 percentage points of loss.</a:t>
            </a:r>
            <a:endParaRPr lang="en-US" sz="2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Seeded sampling needs fixed noise per token</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§3.2, Appendix B · evidence/certified_head (replay_decisions.json, engine_v2.json)</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B09</a:t>
            </a:r>
            <a:endParaRPr lang="en-US" sz="1200" dirty="0"/>
          </a:p>
        </p:txBody>
      </p:sp>
      <p:sp>
        <p:nvSpPr>
          <p:cNvPr id="6" name="Text 4"/>
          <p:cNvSpPr/>
          <p:nvPr/>
        </p:nvSpPr>
        <p:spPr>
          <a:xfrm>
            <a:off x="731520" y="1719072"/>
            <a:ext cx="10698480" cy="548640"/>
          </a:xfrm>
          <a:prstGeom prst="rect">
            <a:avLst/>
          </a:prstGeom>
          <a:noFill/>
          <a:ln/>
        </p:spPr>
        <p:txBody>
          <a:bodyPr wrap="square" lIns="0" tIns="0" rIns="0" bIns="0" rtlCol="0" anchor="t"/>
          <a:lstStyle/>
          <a:p>
            <a:pPr indent="0" marL="0">
              <a:buNone/>
            </a:pPr>
            <a:r>
              <a:rPr lang="en-US" sz="2400" dirty="0">
                <a:solidFill>
                  <a:srgbClr val="586B73"/>
                </a:solidFill>
                <a:latin typeface="Arial" pitchFamily="34" charset="0"/>
                <a:ea typeface="Arial" pitchFamily="34" charset="-122"/>
                <a:cs typeface="Arial" pitchFamily="34" charset="-120"/>
              </a:rPr>
              <a:t>zᵢ: score · T &gt; 0: temperature · Gᵢ: Gumbel noise</a:t>
            </a:r>
            <a:endParaRPr lang="en-US" sz="2400" dirty="0"/>
          </a:p>
        </p:txBody>
      </p:sp>
      <p:sp>
        <p:nvSpPr>
          <p:cNvPr id="7" name="Text 5"/>
          <p:cNvSpPr/>
          <p:nvPr/>
        </p:nvSpPr>
        <p:spPr>
          <a:xfrm>
            <a:off x="731520" y="2779776"/>
            <a:ext cx="10698480" cy="777240"/>
          </a:xfrm>
          <a:prstGeom prst="rect">
            <a:avLst/>
          </a:prstGeom>
          <a:noFill/>
          <a:ln/>
        </p:spPr>
        <p:txBody>
          <a:bodyPr wrap="square" lIns="0" tIns="0" rIns="0" bIns="0" rtlCol="0" anchor="t"/>
          <a:lstStyle/>
          <a:p>
            <a:pPr indent="0" marL="0">
              <a:buNone/>
            </a:pPr>
            <a:r>
              <a:rPr lang="en-US" sz="3600" b="1" dirty="0">
                <a:solidFill>
                  <a:srgbClr val="0072B2"/>
                </a:solidFill>
                <a:latin typeface="Arial" pitchFamily="34" charset="0"/>
                <a:ea typeface="Arial" pitchFamily="34" charset="-122"/>
                <a:cs typeface="Arial" pitchFamily="34" charset="-120"/>
              </a:rPr>
              <a:t>Choose the largest zᵢ / T + Gᵢ.</a:t>
            </a:r>
            <a:endParaRPr lang="en-US" sz="3600" dirty="0"/>
          </a:p>
        </p:txBody>
      </p:sp>
      <p:sp>
        <p:nvSpPr>
          <p:cNvPr id="8" name="Text 6"/>
          <p:cNvSpPr/>
          <p:nvPr/>
        </p:nvSpPr>
        <p:spPr>
          <a:xfrm>
            <a:off x="731520" y="4069080"/>
            <a:ext cx="10698480" cy="594360"/>
          </a:xfrm>
          <a:prstGeom prst="rect">
            <a:avLst/>
          </a:prstGeom>
          <a:noFill/>
          <a:ln/>
        </p:spPr>
        <p:txBody>
          <a:bodyPr wrap="square" lIns="0" tIns="0" rIns="0" bIns="0" rtlCol="0" anchor="t"/>
          <a:lstStyle/>
          <a:p>
            <a:pPr indent="0" marL="0">
              <a:buNone/>
            </a:pPr>
            <a:r>
              <a:rPr lang="en-US" sz="2800" dirty="0">
                <a:solidFill>
                  <a:srgbClr val="1B3A57"/>
                </a:solidFill>
                <a:latin typeface="Arial" pitchFamily="34" charset="0"/>
                <a:ea typeface="Arial" pitchFamily="34" charset="-122"/>
                <a:cs typeface="Arial" pitchFamily="34" charset="-120"/>
              </a:rPr>
              <a:t>Noise key: seed, sequence index, token ID</a:t>
            </a:r>
            <a:endParaRPr lang="en-US" sz="2800" dirty="0"/>
          </a:p>
        </p:txBody>
      </p:sp>
      <p:sp>
        <p:nvSpPr>
          <p:cNvPr id="9" name="Text 7"/>
          <p:cNvSpPr/>
          <p:nvPr/>
        </p:nvSpPr>
        <p:spPr>
          <a:xfrm>
            <a:off x="731520" y="4965192"/>
            <a:ext cx="10698480" cy="594360"/>
          </a:xfrm>
          <a:prstGeom prst="rect">
            <a:avLst/>
          </a:prstGeom>
          <a:noFill/>
          <a:ln/>
        </p:spPr>
        <p:txBody>
          <a:bodyPr wrap="square" lIns="0" tIns="0" rIns="0" bIns="0" rtlCol="0" anchor="t"/>
          <a:lstStyle/>
          <a:p>
            <a:pPr indent="0" marL="0">
              <a:buNone/>
            </a:pPr>
            <a:r>
              <a:rPr lang="en-US" sz="2800" dirty="0">
                <a:solidFill>
                  <a:srgbClr val="1B3A57"/>
                </a:solidFill>
                <a:latin typeface="Arial" pitchFamily="34" charset="0"/>
                <a:ea typeface="Arial" pitchFamily="34" charset="-122"/>
                <a:cs typeface="Arial" pitchFamily="34" charset="-120"/>
              </a:rPr>
              <a:t>Uncertain choice → stock sampler</a:t>
            </a:r>
            <a:endParaRPr lang="en-US" sz="2800" dirty="0"/>
          </a:p>
        </p:txBody>
      </p:sp>
      <p:sp>
        <p:nvSpPr>
          <p:cNvPr id="10" name="Text 8"/>
          <p:cNvSpPr/>
          <p:nvPr/>
        </p:nvSpPr>
        <p:spPr>
          <a:xfrm>
            <a:off x="731520" y="5504688"/>
            <a:ext cx="10698480" cy="896112"/>
          </a:xfrm>
          <a:prstGeom prst="rect">
            <a:avLst/>
          </a:prstGeom>
          <a:noFill/>
          <a:ln/>
        </p:spPr>
        <p:txBody>
          <a:bodyPr wrap="square" lIns="0" tIns="0" rIns="0" bIns="0" rtlCol="0" anchor="t"/>
          <a:lstStyle/>
          <a:p>
            <a:pPr indent="0" marL="0">
              <a:buNone/>
            </a:pPr>
            <a:r>
              <a:rPr lang="en-US" sz="1800" dirty="0">
                <a:solidFill>
                  <a:srgbClr val="1B3A57"/>
                </a:solidFill>
                <a:latin typeface="Arial" pitchFamily="34" charset="0"/>
                <a:ea typeface="Arial" pitchFamily="34" charset="-122"/>
                <a:cs typeface="Arial" pitchFamily="34" charset="-120"/>
              </a:rPr>
              <a:t>With its fallback it matches SGLang’s seeded sampler: 60,000 replayed positions at T = 0.7 and 1, and 21,016 in SGLang at T = 0.7</a:t>
            </a:r>
            <a:endParaRPr lang="en-US" sz="2100" dirty="0"/>
          </a:p>
          <a:p>
            <a:pPr indent="0" marL="0">
              <a:buNone/>
            </a:pPr>
            <a:r>
              <a:rPr lang="en-US" sz="1800" dirty="0">
                <a:solidFill>
                  <a:srgbClr val="D55E00"/>
                </a:solidFill>
                <a:latin typeface="Arial" pitchFamily="34" charset="0"/>
                <a:ea typeface="Arial" pitchFamily="34" charset="-122"/>
                <a:cs typeface="Arial" pitchFamily="34" charset="-120"/>
              </a:rPr>
              <a:t>Acceptance against the stock rejection sampler: not measured</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448056"/>
            <a:ext cx="11009376" cy="731520"/>
          </a:xfrm>
          <a:prstGeom prst="rect">
            <a:avLst/>
          </a:prstGeom>
          <a:noFill/>
          <a:ln/>
        </p:spPr>
        <p:txBody>
          <a:bodyPr wrap="square" lIns="0" tIns="0" rIns="0" bIns="0" rtlCol="0" anchor="ctr"/>
          <a:lstStyle/>
          <a:p>
            <a:pPr indent="0" marL="0">
              <a:buNone/>
            </a:pPr>
            <a:r>
              <a:rPr lang="en-US" sz="3000" b="1" dirty="0">
                <a:solidFill>
                  <a:srgbClr val="1B3A57"/>
                </a:solidFill>
                <a:latin typeface="Arial" pitchFamily="34" charset="0"/>
                <a:ea typeface="Arial" pitchFamily="34" charset="-122"/>
                <a:cs typeface="Arial" pitchFamily="34" charset="-120"/>
              </a:rPr>
              <a:t>CPU checks are separate from GPU campaigns</a:t>
            </a:r>
            <a:endParaRPr lang="en-US" sz="3000" dirty="0"/>
          </a:p>
        </p:txBody>
      </p:sp>
      <p:sp>
        <p:nvSpPr>
          <p:cNvPr id="3" name="Shape 1"/>
          <p:cNvSpPr/>
          <p:nvPr/>
        </p:nvSpPr>
        <p:spPr>
          <a:xfrm>
            <a:off x="594360" y="1325880"/>
            <a:ext cx="11009376" cy="0"/>
          </a:xfrm>
          <a:prstGeom prst="line">
            <a:avLst/>
          </a:prstGeom>
          <a:noFill/>
          <a:ln w="12700">
            <a:solidFill>
              <a:srgbClr val="D2DCDF"/>
            </a:solidFill>
            <a:prstDash val="solid"/>
          </a:ln>
        </p:spPr>
        <p:txBody>
          <a:bodyPr/>
          <a:p/>
        </p:txBody>
      </p:sp>
      <p:sp>
        <p:nvSpPr>
          <p:cNvPr id="4" name="Text 2"/>
          <p:cNvSpPr/>
          <p:nvPr/>
        </p:nvSpPr>
        <p:spPr>
          <a:xfrm>
            <a:off x="594360" y="6455664"/>
            <a:ext cx="10652760" cy="192024"/>
          </a:xfrm>
          <a:prstGeom prst="rect">
            <a:avLst/>
          </a:prstGeom>
          <a:noFill/>
          <a:ln/>
        </p:spPr>
        <p:txBody>
          <a:bodyPr wrap="square" lIns="0" tIns="0" rIns="0" bIns="0" rtlCol="0" anchor="t"/>
          <a:lstStyle/>
          <a:p>
            <a:pPr indent="0" marL="0">
              <a:buNone/>
            </a:pPr>
            <a:r>
              <a:rPr lang="en-US" sz="1050" dirty="0">
                <a:solidFill>
                  <a:srgbClr val="586B73"/>
                </a:solidFill>
                <a:latin typeface="Arial" pitchFamily="34" charset="0"/>
                <a:ea typeface="Arial" pitchFamily="34" charset="-122"/>
                <a:cs typeface="Arial" pitchFamily="34" charset="-120"/>
              </a:rPr>
              <a:t>Paper Appendix F.2 · commands transcribed; not run for this deck</a:t>
            </a:r>
            <a:endParaRPr lang="en-US" sz="1050" dirty="0"/>
          </a:p>
        </p:txBody>
      </p:sp>
      <p:sp>
        <p:nvSpPr>
          <p:cNvPr id="5" name="Text 3"/>
          <p:cNvSpPr/>
          <p:nvPr/>
        </p:nvSpPr>
        <p:spPr>
          <a:xfrm>
            <a:off x="11119104" y="6437376"/>
            <a:ext cx="475488" cy="219456"/>
          </a:xfrm>
          <a:prstGeom prst="rect">
            <a:avLst/>
          </a:prstGeom>
          <a:noFill/>
          <a:ln/>
        </p:spPr>
        <p:txBody>
          <a:bodyPr wrap="square" lIns="0" tIns="0" rIns="0" bIns="0" rtlCol="0" anchor="t"/>
          <a:lstStyle/>
          <a:p>
            <a:pPr algn="r" indent="0" marL="0">
              <a:buNone/>
            </a:pPr>
            <a:r>
              <a:rPr lang="en-US" sz="1200" dirty="0">
                <a:solidFill>
                  <a:srgbClr val="586B73"/>
                </a:solidFill>
                <a:latin typeface="Arial" pitchFamily="34" charset="0"/>
                <a:ea typeface="Arial" pitchFamily="34" charset="-122"/>
                <a:cs typeface="Arial" pitchFamily="34" charset="-120"/>
              </a:rPr>
              <a:t>B29</a:t>
            </a:r>
            <a:endParaRPr lang="en-US" sz="1200" dirty="0"/>
          </a:p>
        </p:txBody>
      </p:sp>
      <p:sp>
        <p:nvSpPr>
          <p:cNvPr id="6" name="Text 4">
            <a:hlinkClick r:id="rId1" tooltip=""/>
          </p:cNvPr>
          <p:cNvSpPr/>
          <p:nvPr/>
        </p:nvSpPr>
        <p:spPr>
          <a:xfrm>
            <a:off x="731520" y="1682496"/>
            <a:ext cx="10698480" cy="493776"/>
          </a:xfrm>
          <a:prstGeom prst="rect">
            <a:avLst/>
          </a:prstGeom>
          <a:noFill/>
          <a:ln/>
        </p:spPr>
        <p:txBody>
          <a:bodyPr wrap="square" lIns="0" tIns="0" rIns="0" bIns="0" rtlCol="0" anchor="t"/>
          <a:lstStyle/>
          <a:p>
            <a:pPr indent="0" marL="0">
              <a:buNone/>
            </a:pPr>
            <a:r>
              <a:rPr lang="en-US" sz="2500" b="1" u="sng" dirty="0">
                <a:solidFill>
                  <a:srgbClr val="1B3A5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github.com/SamMausberg/verified-progress</a:t>
            </a:r>
            <a:endParaRPr lang="en-US" sz="2500" dirty="0"/>
          </a:p>
        </p:txBody>
      </p:sp>
      <p:sp>
        <p:nvSpPr>
          <p:cNvPr id="7" name="Shape 5"/>
          <p:cNvSpPr/>
          <p:nvPr/>
        </p:nvSpPr>
        <p:spPr>
          <a:xfrm>
            <a:off x="731520" y="2441448"/>
            <a:ext cx="10652760" cy="3200400"/>
          </a:xfrm>
          <a:prstGeom prst="rect">
            <a:avLst/>
          </a:prstGeom>
          <a:solidFill>
            <a:srgbClr val="F1F5F5"/>
          </a:solidFill>
          <a:ln w="12700">
            <a:solidFill>
              <a:srgbClr val="F1F5F5"/>
            </a:solidFill>
            <a:prstDash val="solid"/>
          </a:ln>
        </p:spPr>
      </p:sp>
      <p:sp>
        <p:nvSpPr>
          <p:cNvPr id="8" name="Text 6"/>
          <p:cNvSpPr/>
          <p:nvPr/>
        </p:nvSpPr>
        <p:spPr>
          <a:xfrm>
            <a:off x="960120" y="2596896"/>
            <a:ext cx="10195560" cy="2880360"/>
          </a:xfrm>
          <a:prstGeom prst="rect">
            <a:avLst/>
          </a:prstGeom>
          <a:noFill/>
          <a:ln/>
        </p:spPr>
        <p:txBody>
          <a:bodyPr wrap="square" lIns="0" tIns="0" rIns="0" bIns="0" rtlCol="0" anchor="t"/>
          <a:lstStyle/>
          <a:p>
            <a:pPr indent="0" marL="0">
              <a:buNone/>
            </a:pPr>
            <a:r>
              <a:rPr lang="en-US" sz="2000" dirty="0">
                <a:solidFill>
                  <a:srgbClr val="1B3A57"/>
                </a:solidFill>
                <a:latin typeface="Consolas" pitchFamily="34" charset="0"/>
                <a:ea typeface="Consolas" pitchFamily="34" charset="-122"/>
                <a:cs typeface="Consolas" pitchFamily="34" charset="-120"/>
              </a:rPr>
              <a:t>python -m venv .venv</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 .venv/bin/activate</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-m pip install -r requirements-cpu.txt \</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  -r requirements-dev.txt</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scripts/verify_artifact.py</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tests/test_precision.py</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tests/test_contracts.py</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tests/test_state_structure.py</a:t>
            </a:r>
            <a:endParaRPr lang="en-US" sz="2000" dirty="0"/>
          </a:p>
          <a:p>
            <a:pPr indent="0" marL="0">
              <a:buNone/>
            </a:pPr>
            <a:r>
              <a:rPr lang="en-US" sz="2000" dirty="0">
                <a:solidFill>
                  <a:srgbClr val="1B3A57"/>
                </a:solidFill>
                <a:latin typeface="Consolas" pitchFamily="34" charset="0"/>
                <a:ea typeface="Consolas" pitchFamily="34" charset="-122"/>
                <a:cs typeface="Consolas" pitchFamily="34" charset="-120"/>
              </a:rPr>
              <a:t>python -m pytest tests/</a:t>
            </a:r>
            <a:endParaRPr lang="en-US" sz="2000" dirty="0"/>
          </a:p>
        </p:txBody>
      </p:sp>
      <p:sp>
        <p:nvSpPr>
          <p:cNvPr id="9" name="Text 7"/>
          <p:cNvSpPr/>
          <p:nvPr/>
        </p:nvSpPr>
        <p:spPr>
          <a:xfrm>
            <a:off x="731520" y="5998464"/>
            <a:ext cx="10698480" cy="411480"/>
          </a:xfrm>
          <a:prstGeom prst="rect">
            <a:avLst/>
          </a:prstGeom>
          <a:noFill/>
          <a:ln/>
        </p:spPr>
        <p:txBody>
          <a:bodyPr wrap="square" lIns="0" tIns="0" rIns="0" bIns="0" rtlCol="0" anchor="t"/>
          <a:lstStyle/>
          <a:p>
            <a:pPr indent="0" marL="0">
              <a:buNone/>
            </a:pPr>
            <a:r>
              <a:rPr lang="en-US" sz="2100" dirty="0">
                <a:solidFill>
                  <a:srgbClr val="586B73"/>
                </a:solidFill>
                <a:latin typeface="Arial" pitchFamily="34" charset="0"/>
                <a:ea typeface="Arial" pitchFamily="34" charset="-122"/>
                <a:cs typeface="Arial" pitchFamily="34" charset="-120"/>
              </a:rPr>
              <a:t>GPU procedures and pinned environment: see speaker notes.</a:t>
            </a:r>
            <a:endParaRPr lang="en-US" sz="21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Certify the stock kernel’s token, or run the stock kernel</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§§2.2–2.3, Appendix A.1 · evidence/profiles (wgmma_precision.json), certified_head/stock_invariance.json</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B02</a:t>
            </a:r>
          </a:p>
        </p:txBody>
      </p:sp>
      <p:sp>
        <p:nvSpPr>
          <p:cNvPr id="6" name="TextBox 5"/>
          <p:cNvSpPr txBox="1"/>
          <p:nvPr/>
        </p:nvSpPr>
        <p:spPr>
          <a:xfrm>
            <a:off x="731520" y="1600200"/>
            <a:ext cx="6035040" cy="731520"/>
          </a:xfrm>
          <a:prstGeom prst="rect">
            <a:avLst/>
          </a:prstGeom>
          <a:noFill/>
        </p:spPr>
        <p:txBody>
          <a:bodyPr wrap="square" lIns="0" tIns="0" rIns="0" bIns="0" anchor="t"/>
          <a:lstStyle/>
          <a:p>
            <a:pPr algn="l"/>
            <a:r>
              <a:rPr sz="1800" b="0" i="0">
                <a:solidFill>
                  <a:srgbClr val="586B73"/>
                </a:solidFill>
                <a:latin typeface="Arial"/>
                <a:ea typeface="Arial"/>
                <a:cs typeface="Arial"/>
              </a:rPr>
              <a:t>Bound each logit’s FP32 sum, round the bounds to BF16, then:</a:t>
            </a:r>
          </a:p>
        </p:txBody>
      </p:sp>
      <p:sp>
        <p:nvSpPr>
          <p:cNvPr id="7" name="TextBox 6"/>
          <p:cNvSpPr txBox="1"/>
          <p:nvPr/>
        </p:nvSpPr>
        <p:spPr>
          <a:xfrm>
            <a:off x="731520" y="2240280"/>
            <a:ext cx="3931920" cy="777240"/>
          </a:xfrm>
          <a:prstGeom prst="rect">
            <a:avLst/>
          </a:prstGeom>
          <a:noFill/>
        </p:spPr>
        <p:txBody>
          <a:bodyPr wrap="square" lIns="0" tIns="0" rIns="0" bIns="0" anchor="ctr"/>
          <a:lstStyle/>
          <a:p>
            <a:pPr algn="l"/>
            <a:r>
              <a:rPr sz="1900" b="1" i="0">
                <a:solidFill>
                  <a:srgbClr val="1B3A57"/>
                </a:solidFill>
                <a:latin typeface="Arial"/>
                <a:ea typeface="Arial"/>
                <a:cs typeface="Arial"/>
              </a:rPr>
              <a:t>Every admissible sum gives the same first maximum</a:t>
            </a:r>
          </a:p>
        </p:txBody>
      </p:sp>
      <p:cxnSp>
        <p:nvCxnSpPr>
          <p:cNvPr id="8" name="Connector 7"/>
          <p:cNvCxnSpPr/>
          <p:nvPr/>
        </p:nvCxnSpPr>
        <p:spPr>
          <a:xfrm>
            <a:off x="4709160" y="2633472"/>
            <a:ext cx="502920" cy="0"/>
          </a:xfrm>
          <a:prstGeom prst="line">
            <a:avLst/>
          </a:prstGeom>
          <a:ln w="15875">
            <a:solidFill>
              <a:srgbClr val="1B3A57"/>
            </a:solidFill>
            <a:tailEnd type="triangle" w="med" len="med"/>
          </a:ln>
        </p:spPr>
      </p:cxnSp>
      <p:sp>
        <p:nvSpPr>
          <p:cNvPr id="9" name="TextBox 8"/>
          <p:cNvSpPr txBox="1"/>
          <p:nvPr/>
        </p:nvSpPr>
        <p:spPr>
          <a:xfrm>
            <a:off x="5349240" y="2240280"/>
            <a:ext cx="1508760" cy="777240"/>
          </a:xfrm>
          <a:prstGeom prst="rect">
            <a:avLst/>
          </a:prstGeom>
          <a:noFill/>
        </p:spPr>
        <p:txBody>
          <a:bodyPr wrap="square" lIns="0" tIns="0" rIns="0" bIns="0" anchor="ctr"/>
          <a:lstStyle/>
          <a:p>
            <a:pPr algn="l"/>
            <a:r>
              <a:rPr sz="1900" b="1" i="0">
                <a:solidFill>
                  <a:srgbClr val="0072B2"/>
                </a:solidFill>
                <a:latin typeface="Arial"/>
                <a:ea typeface="Arial"/>
                <a:cs typeface="Arial"/>
              </a:rPr>
              <a:t>Return that token</a:t>
            </a:r>
          </a:p>
        </p:txBody>
      </p:sp>
      <p:sp>
        <p:nvSpPr>
          <p:cNvPr id="10" name="TextBox 9"/>
          <p:cNvSpPr txBox="1"/>
          <p:nvPr/>
        </p:nvSpPr>
        <p:spPr>
          <a:xfrm>
            <a:off x="731520" y="3154680"/>
            <a:ext cx="3931920" cy="777240"/>
          </a:xfrm>
          <a:prstGeom prst="rect">
            <a:avLst/>
          </a:prstGeom>
          <a:noFill/>
        </p:spPr>
        <p:txBody>
          <a:bodyPr wrap="square" lIns="0" tIns="0" rIns="0" bIns="0" anchor="ctr"/>
          <a:lstStyle/>
          <a:p>
            <a:pPr algn="l"/>
            <a:r>
              <a:rPr sz="1900" b="1" i="0">
                <a:solidFill>
                  <a:srgbClr val="1B3A57"/>
                </a:solidFill>
                <a:latin typeface="Arial"/>
                <a:ea typeface="Arial"/>
                <a:cs typeface="Arial"/>
              </a:rPr>
              <a:t>The bounds leave the token open</a:t>
            </a:r>
          </a:p>
        </p:txBody>
      </p:sp>
      <p:cxnSp>
        <p:nvCxnSpPr>
          <p:cNvPr id="11" name="Connector 10"/>
          <p:cNvCxnSpPr/>
          <p:nvPr/>
        </p:nvCxnSpPr>
        <p:spPr>
          <a:xfrm>
            <a:off x="4709160" y="3547872"/>
            <a:ext cx="502920" cy="0"/>
          </a:xfrm>
          <a:prstGeom prst="line">
            <a:avLst/>
          </a:prstGeom>
          <a:ln w="15875">
            <a:solidFill>
              <a:srgbClr val="1B3A57"/>
            </a:solidFill>
            <a:tailEnd type="triangle" w="med" len="med"/>
          </a:ln>
        </p:spPr>
      </p:cxnSp>
      <p:sp>
        <p:nvSpPr>
          <p:cNvPr id="12" name="TextBox 11"/>
          <p:cNvSpPr txBox="1"/>
          <p:nvPr/>
        </p:nvSpPr>
        <p:spPr>
          <a:xfrm>
            <a:off x="5349240" y="3154680"/>
            <a:ext cx="1508760" cy="777240"/>
          </a:xfrm>
          <a:prstGeom prst="rect">
            <a:avLst/>
          </a:prstGeom>
          <a:noFill/>
        </p:spPr>
        <p:txBody>
          <a:bodyPr wrap="square" lIns="0" tIns="0" rIns="0" bIns="0" anchor="ctr"/>
          <a:lstStyle/>
          <a:p>
            <a:pPr algn="l"/>
            <a:r>
              <a:rPr sz="1900" b="1" i="0">
                <a:solidFill>
                  <a:srgbClr val="D55E00"/>
                </a:solidFill>
                <a:latin typeface="Arial"/>
                <a:ea typeface="Arial"/>
                <a:cs typeface="Arial"/>
              </a:rPr>
              <a:t>Run the stock head</a:t>
            </a:r>
          </a:p>
        </p:txBody>
      </p:sp>
      <p:sp>
        <p:nvSpPr>
          <p:cNvPr id="13" name="TextBox 12"/>
          <p:cNvSpPr txBox="1"/>
          <p:nvPr/>
        </p:nvSpPr>
        <p:spPr>
          <a:xfrm>
            <a:off x="731520" y="4297680"/>
            <a:ext cx="6035040" cy="1920240"/>
          </a:xfrm>
          <a:prstGeom prst="rect">
            <a:avLst/>
          </a:prstGeom>
          <a:noFill/>
        </p:spPr>
        <p:txBody>
          <a:bodyPr wrap="square" lIns="0" tIns="0" rIns="0" bIns="0" anchor="t"/>
          <a:lstStyle/>
          <a:p>
            <a:pPr algn="l"/>
            <a:r>
              <a:rPr sz="1600" b="1" i="0">
                <a:solidFill>
                  <a:srgbClr val="D55E00"/>
                </a:solidFill>
                <a:latin typeface="Arial"/>
                <a:ea typeface="Arial"/>
                <a:cs typeface="Arial"/>
              </a:rPr>
              <a:t>Whole-batch fallback: </a:t>
            </a:r>
            <a:r>
              <a:rPr sz="1600" b="0" i="0">
                <a:solidFill>
                  <a:srgbClr val="1B3A57"/>
                </a:solidFill>
                <a:latin typeface="Arial"/>
                <a:ea typeface="Arial"/>
                <a:cs typeface="Arial"/>
              </a:rPr>
              <a:t>the stock matmul at the same M; no error model</a:t>
            </a:r>
          </a:p>
          <a:p>
            <a:pPr algn="l">
              <a:spcBef>
                <a:spcPts val="1000"/>
              </a:spcBef>
            </a:pPr>
            <a:r>
              <a:rPr sz="1600" b="1" i="0">
                <a:solidFill>
                  <a:srgbClr val="D55E00"/>
                </a:solidFill>
                <a:latin typeface="Arial"/>
                <a:ea typeface="Arial"/>
                <a:cs typeface="Arial"/>
              </a:rPr>
              <a:t>Per-position fallback: </a:t>
            </a:r>
            <a:r>
              <a:rPr sz="1600" b="0" i="0">
                <a:solidFill>
                  <a:srgbClr val="1B3A57"/>
                </a:solidFill>
                <a:latin typeface="Arial"/>
                <a:ea typeface="Arial"/>
                <a:cs typeface="Arial"/>
              </a:rPr>
              <a:t>the open position’s candidates; needs batch-invariant logits (held at 20 batch sizes)</a:t>
            </a:r>
          </a:p>
        </p:txBody>
      </p:sp>
      <p:cxnSp>
        <p:nvCxnSpPr>
          <p:cNvPr id="14" name="Connector 13"/>
          <p:cNvCxnSpPr/>
          <p:nvPr/>
        </p:nvCxnSpPr>
        <p:spPr>
          <a:xfrm>
            <a:off x="7040880" y="1691640"/>
            <a:ext cx="0" cy="4572000"/>
          </a:xfrm>
          <a:prstGeom prst="line">
            <a:avLst/>
          </a:prstGeom>
          <a:ln w="12700">
            <a:solidFill>
              <a:srgbClr val="D2DCDF"/>
            </a:solidFill>
          </a:ln>
        </p:spPr>
      </p:cxnSp>
      <p:sp>
        <p:nvSpPr>
          <p:cNvPr id="15" name="TextBox 14"/>
          <p:cNvSpPr txBox="1"/>
          <p:nvPr/>
        </p:nvSpPr>
        <p:spPr>
          <a:xfrm>
            <a:off x="7269480" y="1645920"/>
            <a:ext cx="4206240" cy="365760"/>
          </a:xfrm>
          <a:prstGeom prst="rect">
            <a:avLst/>
          </a:prstGeom>
          <a:noFill/>
        </p:spPr>
        <p:txBody>
          <a:bodyPr wrap="square" lIns="0" tIns="0" rIns="0" bIns="0" anchor="t"/>
          <a:lstStyle/>
          <a:p>
            <a:pPr algn="l"/>
            <a:r>
              <a:rPr sz="1900" b="1" i="0">
                <a:solidFill>
                  <a:srgbClr val="1B3A57"/>
                </a:solidFill>
                <a:latin typeface="Arial"/>
                <a:ea typeface="Arial"/>
                <a:cs typeface="Arial"/>
              </a:rPr>
              <a:t>The error model</a:t>
            </a:r>
          </a:p>
        </p:txBody>
      </p:sp>
      <p:sp>
        <p:nvSpPr>
          <p:cNvPr id="16" name="TextBox 15"/>
          <p:cNvSpPr txBox="1"/>
          <p:nvPr/>
        </p:nvSpPr>
        <p:spPr>
          <a:xfrm>
            <a:off x="7269480" y="2148840"/>
            <a:ext cx="4206240" cy="4114800"/>
          </a:xfrm>
          <a:prstGeom prst="rect">
            <a:avLst/>
          </a:prstGeom>
          <a:noFill/>
        </p:spPr>
        <p:txBody>
          <a:bodyPr wrap="square" lIns="0" tIns="0" rIns="0" bIns="0" anchor="t"/>
          <a:lstStyle/>
          <a:p>
            <a:pPr algn="l"/>
            <a:r>
              <a:rPr sz="1600" b="1" i="0">
                <a:solidFill>
                  <a:srgbClr val="1B3A57"/>
                </a:solidFill>
                <a:latin typeface="Arial"/>
                <a:ea typeface="Arial"/>
                <a:cs typeface="Arial"/>
              </a:rPr>
              <a:t>Conservative: </a:t>
            </a:r>
            <a:r>
              <a:rPr sz="1600" b="0" i="0">
                <a:solidFill>
                  <a:srgbClr val="1B3A57"/>
                </a:solidFill>
                <a:latin typeface="Arial"/>
                <a:ea typeface="Arial"/>
                <a:cs typeface="Arial"/>
              </a:rPr>
              <a:t>2D roundings of 2⁻²³, any order</a:t>
            </a:r>
          </a:p>
          <a:p>
            <a:pPr algn="l">
              <a:spcBef>
                <a:spcPts val="1200"/>
              </a:spcBef>
            </a:pPr>
            <a:r>
              <a:rPr sz="1600" b="1" i="0">
                <a:solidFill>
                  <a:srgbClr val="1B3A57"/>
                </a:solidFill>
                <a:latin typeface="Arial"/>
                <a:ea typeface="Arial"/>
                <a:cs typeface="Arial"/>
              </a:rPr>
              <a:t>Hopper: </a:t>
            </a:r>
            <a:r>
              <a:rPr sz="1600" b="0" i="0">
                <a:solidFill>
                  <a:srgbClr val="1B3A57"/>
                </a:solidFill>
                <a:latin typeface="Arial"/>
                <a:ea typeface="Arial"/>
                <a:cs typeface="Arial"/>
              </a:rPr>
              <a:t>tensor-core blocks of 16, 25 bits, truncation, plus split-K</a:t>
            </a:r>
          </a:p>
          <a:p>
            <a:pPr algn="l">
              <a:spcBef>
                <a:spcPts val="1200"/>
              </a:spcBef>
            </a:pPr>
            <a:r>
              <a:rPr sz="1600" b="1" i="0">
                <a:solidFill>
                  <a:srgbClr val="1B3A57"/>
                </a:solidFill>
                <a:latin typeface="Arial"/>
                <a:ea typeface="Arial"/>
                <a:cs typeface="Arial"/>
              </a:rPr>
              <a:t>Tested: </a:t>
            </a:r>
            <a:r>
              <a:rPr sz="1600" b="0" i="0">
                <a:solidFill>
                  <a:srgbClr val="1B3A57"/>
                </a:solidFill>
                <a:latin typeface="Arial"/>
                <a:ea typeface="Arial"/>
                <a:cs typeface="Arial"/>
              </a:rPr>
              <a:t>14 cuBLAS kernels on crafted inputs; FP32-output error 1/58 of the bound</a:t>
            </a:r>
          </a:p>
          <a:p>
            <a:pPr algn="l">
              <a:spcBef>
                <a:spcPts val="1200"/>
              </a:spcBef>
            </a:pPr>
            <a:r>
              <a:rPr sz="1600" b="1" i="0">
                <a:solidFill>
                  <a:srgbClr val="D55E00"/>
                </a:solidFill>
                <a:latin typeface="Arial"/>
                <a:ea typeface="Arial"/>
                <a:cs typeface="Arial"/>
              </a:rPr>
              <a:t>Not covered: </a:t>
            </a:r>
            <a:r>
              <a:rPr sz="1600" b="0" i="0">
                <a:solidFill>
                  <a:srgbClr val="1B3A57"/>
                </a:solidFill>
                <a:latin typeface="Arial"/>
                <a:ea typeface="Arial"/>
                <a:cs typeface="Arial"/>
              </a:rPr>
              <a:t>BF16 split-K partial sums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Int8 screens every entry; a few are recomputed exactly</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§3, Fig. 2 · evidence/head_geometry/stats_plain4b.json (quantization, int8_row) · evidence/certified_head (README, replay_decisions.json, engine_v2.json)</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B14</a:t>
            </a:r>
          </a:p>
        </p:txBody>
      </p:sp>
      <p:sp>
        <p:nvSpPr>
          <p:cNvPr id="6" name="Rectangle 5"/>
          <p:cNvSpPr/>
          <p:nvPr/>
        </p:nvSpPr>
        <p:spPr>
          <a:xfrm>
            <a:off x="731520" y="1645920"/>
            <a:ext cx="1993392" cy="1417320"/>
          </a:xfrm>
          <a:prstGeom prst="rect">
            <a:avLst/>
          </a:prstGeom>
          <a:solidFill>
            <a:srgbClr val="FFFFFF"/>
          </a:solidFill>
          <a:ln w="19050">
            <a:solidFill>
              <a:srgbClr val="0072B2"/>
            </a:solidFill>
          </a:ln>
        </p:spPr>
        <p:txBody>
          <a:bodyPr rtlCol="0" anchor="ctr"/>
          <a:lstStyle/>
          <a:p>
            <a:pPr algn="ctr"/>
          </a:p>
        </p:txBody>
      </p:sp>
      <p:sp>
        <p:nvSpPr>
          <p:cNvPr id="7" name="TextBox 6"/>
          <p:cNvSpPr txBox="1"/>
          <p:nvPr/>
        </p:nvSpPr>
        <p:spPr>
          <a:xfrm>
            <a:off x="841248" y="1719072"/>
            <a:ext cx="1810512" cy="329184"/>
          </a:xfrm>
          <a:prstGeom prst="rect">
            <a:avLst/>
          </a:prstGeom>
          <a:noFill/>
        </p:spPr>
        <p:txBody>
          <a:bodyPr wrap="square" lIns="0" tIns="0" rIns="0" bIns="0" anchor="t"/>
          <a:lstStyle/>
          <a:p>
            <a:pPr algn="l"/>
            <a:r>
              <a:rPr sz="1500" b="1" i="0">
                <a:solidFill>
                  <a:srgbClr val="0072B2"/>
                </a:solidFill>
                <a:latin typeface="Arial"/>
                <a:ea typeface="Arial"/>
                <a:cs typeface="Arial"/>
              </a:rPr>
              <a:t>1  Int8 pass</a:t>
            </a:r>
          </a:p>
        </p:txBody>
      </p:sp>
      <p:sp>
        <p:nvSpPr>
          <p:cNvPr id="8" name="TextBox 7"/>
          <p:cNvSpPr txBox="1"/>
          <p:nvPr/>
        </p:nvSpPr>
        <p:spPr>
          <a:xfrm>
            <a:off x="841248" y="2066543"/>
            <a:ext cx="1810512" cy="960120"/>
          </a:xfrm>
          <a:prstGeom prst="rect">
            <a:avLst/>
          </a:prstGeom>
          <a:noFill/>
        </p:spPr>
        <p:txBody>
          <a:bodyPr wrap="square" lIns="0" tIns="0" rIns="0" bIns="0" anchor="t"/>
          <a:lstStyle/>
          <a:p>
            <a:pPr algn="l"/>
            <a:r>
              <a:rPr sz="1300" b="0" i="0">
                <a:solidFill>
                  <a:srgbClr val="1B3A57"/>
                </a:solidFill>
                <a:latin typeface="Arial"/>
                <a:ea typeface="Arial"/>
                <a:cs typeface="Arial"/>
              </a:rPr>
              <a:t>every entry: an interval [lo, hi] around its real logit</a:t>
            </a:r>
          </a:p>
        </p:txBody>
      </p:sp>
      <p:cxnSp>
        <p:nvCxnSpPr>
          <p:cNvPr id="9" name="Connector 8"/>
          <p:cNvCxnSpPr/>
          <p:nvPr/>
        </p:nvCxnSpPr>
        <p:spPr>
          <a:xfrm>
            <a:off x="2743200" y="2350008"/>
            <a:ext cx="146304" cy="0"/>
          </a:xfrm>
          <a:prstGeom prst="line">
            <a:avLst/>
          </a:prstGeom>
          <a:ln w="15875">
            <a:solidFill>
              <a:srgbClr val="1B3A57"/>
            </a:solidFill>
            <a:tailEnd type="triangle" w="med" len="med"/>
          </a:ln>
        </p:spPr>
      </p:cxnSp>
      <p:sp>
        <p:nvSpPr>
          <p:cNvPr id="10" name="Rectangle 9"/>
          <p:cNvSpPr/>
          <p:nvPr/>
        </p:nvSpPr>
        <p:spPr>
          <a:xfrm>
            <a:off x="2916936" y="1645920"/>
            <a:ext cx="1993392" cy="1417320"/>
          </a:xfrm>
          <a:prstGeom prst="rect">
            <a:avLst/>
          </a:prstGeom>
          <a:solidFill>
            <a:srgbClr val="FFFFFF"/>
          </a:solidFill>
          <a:ln w="19050">
            <a:solidFill>
              <a:srgbClr val="0072B2"/>
            </a:solidFill>
          </a:ln>
        </p:spPr>
        <p:txBody>
          <a:bodyPr rtlCol="0" anchor="ctr"/>
          <a:lstStyle/>
          <a:p>
            <a:pPr algn="ctr"/>
          </a:p>
        </p:txBody>
      </p:sp>
      <p:sp>
        <p:nvSpPr>
          <p:cNvPr id="11" name="TextBox 10"/>
          <p:cNvSpPr txBox="1"/>
          <p:nvPr/>
        </p:nvSpPr>
        <p:spPr>
          <a:xfrm>
            <a:off x="3026664" y="1719072"/>
            <a:ext cx="1810512" cy="329184"/>
          </a:xfrm>
          <a:prstGeom prst="rect">
            <a:avLst/>
          </a:prstGeom>
          <a:noFill/>
        </p:spPr>
        <p:txBody>
          <a:bodyPr wrap="square" lIns="0" tIns="0" rIns="0" bIns="0" anchor="t"/>
          <a:lstStyle/>
          <a:p>
            <a:pPr algn="l"/>
            <a:r>
              <a:rPr sz="1500" b="1" i="0">
                <a:solidFill>
                  <a:srgbClr val="0072B2"/>
                </a:solidFill>
                <a:latin typeface="Arial"/>
                <a:ea typeface="Arial"/>
                <a:cs typeface="Arial"/>
              </a:rPr>
              <a:t>2  Screen</a:t>
            </a:r>
          </a:p>
        </p:txBody>
      </p:sp>
      <p:sp>
        <p:nvSpPr>
          <p:cNvPr id="12" name="TextBox 11"/>
          <p:cNvSpPr txBox="1"/>
          <p:nvPr/>
        </p:nvSpPr>
        <p:spPr>
          <a:xfrm>
            <a:off x="3026664" y="2066543"/>
            <a:ext cx="1810512" cy="960120"/>
          </a:xfrm>
          <a:prstGeom prst="rect">
            <a:avLst/>
          </a:prstGeom>
          <a:noFill/>
        </p:spPr>
        <p:txBody>
          <a:bodyPr wrap="square" lIns="0" tIns="0" rIns="0" bIns="0" anchor="t"/>
          <a:lstStyle/>
          <a:p>
            <a:pPr algn="l"/>
            <a:r>
              <a:rPr sz="1300" b="0" i="0">
                <a:solidFill>
                  <a:srgbClr val="1B3A57"/>
                </a:solidFill>
                <a:latin typeface="Arial"/>
                <a:ea typeface="Arial"/>
                <a:cs typeface="Arial"/>
              </a:rPr>
              <a:t>keep entries with hi ≥ max lo − δmax, the stock kernel’s margin</a:t>
            </a:r>
          </a:p>
        </p:txBody>
      </p:sp>
      <p:cxnSp>
        <p:nvCxnSpPr>
          <p:cNvPr id="13" name="Connector 12"/>
          <p:cNvCxnSpPr/>
          <p:nvPr/>
        </p:nvCxnSpPr>
        <p:spPr>
          <a:xfrm>
            <a:off x="4928616" y="2350008"/>
            <a:ext cx="146304" cy="0"/>
          </a:xfrm>
          <a:prstGeom prst="line">
            <a:avLst/>
          </a:prstGeom>
          <a:ln w="15875">
            <a:solidFill>
              <a:srgbClr val="1B3A57"/>
            </a:solidFill>
            <a:tailEnd type="triangle" w="med" len="med"/>
          </a:ln>
        </p:spPr>
      </p:cxnSp>
      <p:sp>
        <p:nvSpPr>
          <p:cNvPr id="14" name="Rectangle 13"/>
          <p:cNvSpPr/>
          <p:nvPr/>
        </p:nvSpPr>
        <p:spPr>
          <a:xfrm>
            <a:off x="5102352" y="1645920"/>
            <a:ext cx="1993392" cy="1417320"/>
          </a:xfrm>
          <a:prstGeom prst="rect">
            <a:avLst/>
          </a:prstGeom>
          <a:solidFill>
            <a:srgbClr val="FFFFFF"/>
          </a:solidFill>
          <a:ln w="19050">
            <a:solidFill>
              <a:srgbClr val="0072B2"/>
            </a:solidFill>
          </a:ln>
        </p:spPr>
        <p:txBody>
          <a:bodyPr rtlCol="0" anchor="ctr"/>
          <a:lstStyle/>
          <a:p>
            <a:pPr algn="ctr"/>
          </a:p>
        </p:txBody>
      </p:sp>
      <p:sp>
        <p:nvSpPr>
          <p:cNvPr id="15" name="TextBox 14"/>
          <p:cNvSpPr txBox="1"/>
          <p:nvPr/>
        </p:nvSpPr>
        <p:spPr>
          <a:xfrm>
            <a:off x="5212080" y="1719072"/>
            <a:ext cx="1810512" cy="329184"/>
          </a:xfrm>
          <a:prstGeom prst="rect">
            <a:avLst/>
          </a:prstGeom>
          <a:noFill/>
        </p:spPr>
        <p:txBody>
          <a:bodyPr wrap="square" lIns="0" tIns="0" rIns="0" bIns="0" anchor="t"/>
          <a:lstStyle/>
          <a:p>
            <a:pPr algn="l"/>
            <a:r>
              <a:rPr sz="1500" b="1" i="0">
                <a:solidFill>
                  <a:srgbClr val="0072B2"/>
                </a:solidFill>
                <a:latin typeface="Arial"/>
                <a:ea typeface="Arial"/>
                <a:cs typeface="Arial"/>
              </a:rPr>
              <a:t>3  Recompute</a:t>
            </a:r>
          </a:p>
        </p:txBody>
      </p:sp>
      <p:sp>
        <p:nvSpPr>
          <p:cNvPr id="16" name="TextBox 15"/>
          <p:cNvSpPr txBox="1"/>
          <p:nvPr/>
        </p:nvSpPr>
        <p:spPr>
          <a:xfrm>
            <a:off x="5212080" y="2066543"/>
            <a:ext cx="1810512" cy="960120"/>
          </a:xfrm>
          <a:prstGeom prst="rect">
            <a:avLst/>
          </a:prstGeom>
          <a:noFill/>
        </p:spPr>
        <p:txBody>
          <a:bodyPr wrap="square" lIns="0" tIns="0" rIns="0" bIns="0" anchor="t"/>
          <a:lstStyle/>
          <a:p>
            <a:pPr algn="l"/>
            <a:r>
              <a:rPr sz="1300" b="0" i="0">
                <a:solidFill>
                  <a:srgbClr val="1B3A57"/>
                </a:solidFill>
                <a:latin typeface="Arial"/>
                <a:ea typeface="Arial"/>
                <a:cs typeface="Arial"/>
              </a:rPr>
              <a:t>candidates from their BF16 rows in FP64, widened by the stock error bound</a:t>
            </a:r>
          </a:p>
        </p:txBody>
      </p:sp>
      <p:cxnSp>
        <p:nvCxnSpPr>
          <p:cNvPr id="17" name="Connector 16"/>
          <p:cNvCxnSpPr/>
          <p:nvPr/>
        </p:nvCxnSpPr>
        <p:spPr>
          <a:xfrm>
            <a:off x="7114032" y="2350008"/>
            <a:ext cx="146304" cy="0"/>
          </a:xfrm>
          <a:prstGeom prst="line">
            <a:avLst/>
          </a:prstGeom>
          <a:ln w="15875">
            <a:solidFill>
              <a:srgbClr val="1B3A57"/>
            </a:solidFill>
            <a:tailEnd type="triangle" w="med" len="med"/>
          </a:ln>
        </p:spPr>
      </p:cxnSp>
      <p:sp>
        <p:nvSpPr>
          <p:cNvPr id="18" name="Rectangle 17"/>
          <p:cNvSpPr/>
          <p:nvPr/>
        </p:nvSpPr>
        <p:spPr>
          <a:xfrm>
            <a:off x="7287768" y="1645920"/>
            <a:ext cx="1993392" cy="1417320"/>
          </a:xfrm>
          <a:prstGeom prst="rect">
            <a:avLst/>
          </a:prstGeom>
          <a:solidFill>
            <a:srgbClr val="FFFFFF"/>
          </a:solidFill>
          <a:ln w="19050">
            <a:solidFill>
              <a:srgbClr val="0072B2"/>
            </a:solidFill>
          </a:ln>
        </p:spPr>
        <p:txBody>
          <a:bodyPr rtlCol="0" anchor="ctr"/>
          <a:lstStyle/>
          <a:p>
            <a:pPr algn="ctr"/>
          </a:p>
        </p:txBody>
      </p:sp>
      <p:sp>
        <p:nvSpPr>
          <p:cNvPr id="19" name="TextBox 18"/>
          <p:cNvSpPr txBox="1"/>
          <p:nvPr/>
        </p:nvSpPr>
        <p:spPr>
          <a:xfrm>
            <a:off x="7397496" y="1719072"/>
            <a:ext cx="1810512" cy="329184"/>
          </a:xfrm>
          <a:prstGeom prst="rect">
            <a:avLst/>
          </a:prstGeom>
          <a:noFill/>
        </p:spPr>
        <p:txBody>
          <a:bodyPr wrap="square" lIns="0" tIns="0" rIns="0" bIns="0" anchor="t"/>
          <a:lstStyle/>
          <a:p>
            <a:pPr algn="l"/>
            <a:r>
              <a:rPr sz="1500" b="1" i="0">
                <a:solidFill>
                  <a:srgbClr val="0072B2"/>
                </a:solidFill>
                <a:latin typeface="Arial"/>
                <a:ea typeface="Arial"/>
                <a:cs typeface="Arial"/>
              </a:rPr>
              <a:t>4  Decide</a:t>
            </a:r>
          </a:p>
        </p:txBody>
      </p:sp>
      <p:sp>
        <p:nvSpPr>
          <p:cNvPr id="20" name="TextBox 19"/>
          <p:cNvSpPr txBox="1"/>
          <p:nvPr/>
        </p:nvSpPr>
        <p:spPr>
          <a:xfrm>
            <a:off x="7397496" y="2066543"/>
            <a:ext cx="1810512" cy="960120"/>
          </a:xfrm>
          <a:prstGeom prst="rect">
            <a:avLst/>
          </a:prstGeom>
          <a:noFill/>
        </p:spPr>
        <p:txBody>
          <a:bodyPr wrap="square" lIns="0" tIns="0" rIns="0" bIns="0" anchor="t"/>
          <a:lstStyle/>
          <a:p>
            <a:pPr algn="l"/>
            <a:r>
              <a:rPr sz="1300" b="0" i="0">
                <a:solidFill>
                  <a:srgbClr val="1B3A57"/>
                </a:solidFill>
                <a:latin typeface="Arial"/>
                <a:ea typeface="Arial"/>
                <a:cs typeface="Arial"/>
              </a:rPr>
              <a:t>round to BF16; the interval condition fixes the token</a:t>
            </a:r>
          </a:p>
        </p:txBody>
      </p:sp>
      <p:cxnSp>
        <p:nvCxnSpPr>
          <p:cNvPr id="21" name="Connector 20"/>
          <p:cNvCxnSpPr/>
          <p:nvPr/>
        </p:nvCxnSpPr>
        <p:spPr>
          <a:xfrm>
            <a:off x="9299448" y="2350008"/>
            <a:ext cx="146304" cy="0"/>
          </a:xfrm>
          <a:prstGeom prst="line">
            <a:avLst/>
          </a:prstGeom>
          <a:ln w="15875">
            <a:solidFill>
              <a:srgbClr val="1B3A57"/>
            </a:solidFill>
            <a:tailEnd type="triangle" w="med" len="med"/>
          </a:ln>
        </p:spPr>
      </p:cxnSp>
      <p:sp>
        <p:nvSpPr>
          <p:cNvPr id="22" name="Rectangle 21"/>
          <p:cNvSpPr/>
          <p:nvPr/>
        </p:nvSpPr>
        <p:spPr>
          <a:xfrm>
            <a:off x="9473184" y="1645920"/>
            <a:ext cx="1993392" cy="1417320"/>
          </a:xfrm>
          <a:prstGeom prst="rect">
            <a:avLst/>
          </a:prstGeom>
          <a:solidFill>
            <a:srgbClr val="FFFFFF"/>
          </a:solidFill>
          <a:ln w="19050">
            <a:solidFill>
              <a:srgbClr val="D55E00"/>
            </a:solidFill>
          </a:ln>
        </p:spPr>
        <p:txBody>
          <a:bodyPr rtlCol="0" anchor="ctr"/>
          <a:lstStyle/>
          <a:p>
            <a:pPr algn="ctr"/>
          </a:p>
        </p:txBody>
      </p:sp>
      <p:sp>
        <p:nvSpPr>
          <p:cNvPr id="23" name="TextBox 22"/>
          <p:cNvSpPr txBox="1"/>
          <p:nvPr/>
        </p:nvSpPr>
        <p:spPr>
          <a:xfrm>
            <a:off x="9582912" y="1719072"/>
            <a:ext cx="1810512" cy="329184"/>
          </a:xfrm>
          <a:prstGeom prst="rect">
            <a:avLst/>
          </a:prstGeom>
          <a:noFill/>
        </p:spPr>
        <p:txBody>
          <a:bodyPr wrap="square" lIns="0" tIns="0" rIns="0" bIns="0" anchor="t"/>
          <a:lstStyle/>
          <a:p>
            <a:pPr algn="l"/>
            <a:r>
              <a:rPr sz="1500" b="1" i="0">
                <a:solidFill>
                  <a:srgbClr val="D55E00"/>
                </a:solidFill>
                <a:latin typeface="Arial"/>
                <a:ea typeface="Arial"/>
                <a:cs typeface="Arial"/>
              </a:rPr>
              <a:t>5  Fallback</a:t>
            </a:r>
          </a:p>
        </p:txBody>
      </p:sp>
      <p:sp>
        <p:nvSpPr>
          <p:cNvPr id="24" name="TextBox 23"/>
          <p:cNvSpPr txBox="1"/>
          <p:nvPr/>
        </p:nvSpPr>
        <p:spPr>
          <a:xfrm>
            <a:off x="9582912" y="2066543"/>
            <a:ext cx="1810512" cy="960120"/>
          </a:xfrm>
          <a:prstGeom prst="rect">
            <a:avLst/>
          </a:prstGeom>
          <a:noFill/>
        </p:spPr>
        <p:txBody>
          <a:bodyPr wrap="square" lIns="0" tIns="0" rIns="0" bIns="0" anchor="t"/>
          <a:lstStyle/>
          <a:p>
            <a:pPr algn="l"/>
            <a:r>
              <a:rPr sz="1300" b="0" i="0">
                <a:solidFill>
                  <a:srgbClr val="1B3A57"/>
                </a:solidFill>
                <a:latin typeface="Arial"/>
                <a:ea typeface="Arial"/>
                <a:cs typeface="Arial"/>
              </a:rPr>
              <a:t>otherwise the stock head</a:t>
            </a:r>
          </a:p>
        </p:txBody>
      </p:sp>
      <p:sp>
        <p:nvSpPr>
          <p:cNvPr id="25" name="TextBox 24"/>
          <p:cNvSpPr txBox="1"/>
          <p:nvPr/>
        </p:nvSpPr>
        <p:spPr>
          <a:xfrm>
            <a:off x="731520" y="3310128"/>
            <a:ext cx="5257800" cy="329184"/>
          </a:xfrm>
          <a:prstGeom prst="rect">
            <a:avLst/>
          </a:prstGeom>
          <a:noFill/>
        </p:spPr>
        <p:txBody>
          <a:bodyPr wrap="square" lIns="0" tIns="0" rIns="0" bIns="0" anchor="t"/>
          <a:lstStyle/>
          <a:p>
            <a:pPr algn="l"/>
            <a:r>
              <a:rPr sz="1600" b="1" i="0">
                <a:solidFill>
                  <a:srgbClr val="1B3A57"/>
                </a:solidFill>
                <a:latin typeface="Arial"/>
                <a:ea typeface="Arial"/>
                <a:cs typeface="Arial"/>
              </a:rPr>
              <a:t>The error bound of the copy</a:t>
            </a:r>
          </a:p>
        </p:txBody>
      </p:sp>
      <p:sp>
        <p:nvSpPr>
          <p:cNvPr id="26" name="TextBox 25"/>
          <p:cNvSpPr txBox="1"/>
          <p:nvPr/>
        </p:nvSpPr>
        <p:spPr>
          <a:xfrm>
            <a:off x="731520" y="3675887"/>
            <a:ext cx="5257800" cy="2606040"/>
          </a:xfrm>
          <a:prstGeom prst="rect">
            <a:avLst/>
          </a:prstGeom>
          <a:noFill/>
        </p:spPr>
        <p:txBody>
          <a:bodyPr wrap="square" lIns="0" tIns="0" rIns="0" bIns="0" anchor="t"/>
          <a:lstStyle/>
          <a:p>
            <a:pPr algn="l"/>
            <a:r>
              <a:rPr sz="1700" b="1" i="0">
                <a:solidFill>
                  <a:srgbClr val="1B3A57"/>
                </a:solidFill>
                <a:latin typeface="Arial"/>
                <a:ea typeface="Arial"/>
                <a:cs typeface="Arial"/>
              </a:rPr>
              <a:t>β = ‖e‖‖h‖ + γ‖w̄‖‖h‖ + η′</a:t>
            </a:r>
          </a:p>
          <a:p>
            <a:pPr algn="l">
              <a:spcBef>
                <a:spcPts val="600"/>
              </a:spcBef>
            </a:pPr>
            <a:r>
              <a:rPr sz="1400" b="0" i="0">
                <a:solidFill>
                  <a:srgbClr val="586B73"/>
                </a:solidFill>
                <a:latin typeface="Arial"/>
                <a:ea typeface="Arial"/>
                <a:cs typeface="Arial"/>
              </a:rPr>
              <a:t>e: the copy’s known error per entry; γ: tensor-core accumulation (conservative model).</a:t>
            </a:r>
          </a:p>
          <a:p>
            <a:pPr algn="l">
              <a:spcBef>
                <a:spcPts val="600"/>
              </a:spcBef>
            </a:pPr>
            <a:r>
              <a:rPr sz="1400" b="0" i="0">
                <a:solidFill>
                  <a:srgbClr val="1B3A57"/>
                </a:solidFill>
                <a:latin typeface="Arial"/>
                <a:ea typeface="Arial"/>
                <a:cs typeface="Arial"/>
              </a:rPr>
              <a:t>The term ‖e‖‖h‖ assumes the worst alignment of e and h. Its median on captured states is 1.00 logit, about 75 times the realized error (0.013).</a:t>
            </a:r>
          </a:p>
          <a:p>
            <a:pPr algn="l">
              <a:spcBef>
                <a:spcPts val="600"/>
              </a:spcBef>
            </a:pPr>
            <a:r>
              <a:rPr sz="1400" b="0" i="0">
                <a:solidFill>
                  <a:srgbClr val="1B3A57"/>
                </a:solidFill>
                <a:latin typeface="Arial"/>
                <a:ea typeface="Arial"/>
                <a:cs typeface="Arial"/>
              </a:rPr>
              <a:t>The copy is 0.64 GB beside the BF16 head; one pass reads half the head’s bytes.</a:t>
            </a:r>
          </a:p>
        </p:txBody>
      </p:sp>
      <p:cxnSp>
        <p:nvCxnSpPr>
          <p:cNvPr id="27" name="Connector 26"/>
          <p:cNvCxnSpPr/>
          <p:nvPr/>
        </p:nvCxnSpPr>
        <p:spPr>
          <a:xfrm>
            <a:off x="6263640" y="3383280"/>
            <a:ext cx="0" cy="2880360"/>
          </a:xfrm>
          <a:prstGeom prst="line">
            <a:avLst/>
          </a:prstGeom>
          <a:ln w="12700">
            <a:solidFill>
              <a:srgbClr val="D2DCDF"/>
            </a:solidFill>
          </a:ln>
        </p:spPr>
      </p:cxnSp>
      <p:sp>
        <p:nvSpPr>
          <p:cNvPr id="28" name="TextBox 27"/>
          <p:cNvSpPr txBox="1"/>
          <p:nvPr/>
        </p:nvSpPr>
        <p:spPr>
          <a:xfrm>
            <a:off x="6492240" y="3310128"/>
            <a:ext cx="4983480" cy="329184"/>
          </a:xfrm>
          <a:prstGeom prst="rect">
            <a:avLst/>
          </a:prstGeom>
          <a:noFill/>
        </p:spPr>
        <p:txBody>
          <a:bodyPr wrap="square" lIns="0" tIns="0" rIns="0" bIns="0" anchor="t"/>
          <a:lstStyle/>
          <a:p>
            <a:pPr algn="l"/>
            <a:r>
              <a:rPr sz="1600" b="1" i="0">
                <a:solidFill>
                  <a:srgbClr val="1B3A57"/>
                </a:solidFill>
                <a:latin typeface="Arial"/>
                <a:ea typeface="Arial"/>
                <a:cs typeface="Arial"/>
              </a:rPr>
              <a:t>The kernel, and seeded sampling</a:t>
            </a:r>
          </a:p>
        </p:txBody>
      </p:sp>
      <p:sp>
        <p:nvSpPr>
          <p:cNvPr id="29" name="TextBox 28"/>
          <p:cNvSpPr txBox="1"/>
          <p:nvPr/>
        </p:nvSpPr>
        <p:spPr>
          <a:xfrm>
            <a:off x="6492240" y="3675887"/>
            <a:ext cx="4983480" cy="2606040"/>
          </a:xfrm>
          <a:prstGeom prst="rect">
            <a:avLst/>
          </a:prstGeom>
          <a:noFill/>
        </p:spPr>
        <p:txBody>
          <a:bodyPr wrap="square" lIns="0" tIns="0" rIns="0" bIns="0" anchor="t"/>
          <a:lstStyle/>
          <a:p>
            <a:pPr algn="l"/>
            <a:r>
              <a:rPr sz="1350" b="0" i="0">
                <a:solidFill>
                  <a:srgbClr val="1B3A57"/>
                </a:solidFill>
                <a:latin typeface="Arial"/>
                <a:ea typeface="Arial"/>
                <a:cs typeface="Arial"/>
              </a:rPr>
              <a:t>A W8A16 GEMM computes each interval in its epilogue with directed rounding and keeps, per chunk, the four largest upper ends; one CUDA graph per batch size holds it and the fallback.</a:t>
            </a:r>
          </a:p>
          <a:p>
            <a:pPr algn="l">
              <a:spcBef>
                <a:spcPts val="600"/>
              </a:spcBef>
            </a:pPr>
            <a:r>
              <a:rPr sz="1350" b="0" i="0">
                <a:solidFill>
                  <a:srgbClr val="1B3A57"/>
                </a:solidFill>
                <a:latin typeface="Arial"/>
                <a:ea typeface="Arial"/>
                <a:cs typeface="Arial"/>
              </a:rPr>
              <a:t>Each compiled variant self-tests before it certifies; every call checks eight exact entries per position. The checks caught two faults, both refused.</a:t>
            </a:r>
          </a:p>
          <a:p>
            <a:pPr algn="l">
              <a:spcBef>
                <a:spcPts val="600"/>
              </a:spcBef>
            </a:pPr>
            <a:r>
              <a:rPr sz="1350" b="0" i="0">
                <a:solidFill>
                  <a:srgbClr val="1B3A57"/>
                </a:solidFill>
                <a:latin typeface="Arial"/>
                <a:ea typeface="Arial"/>
                <a:cs typeface="Arial"/>
              </a:rPr>
              <a:t>The same steps on Gumbel-noised scores certify SGLang’s seeded sampler’s token: 60,000 replayed positions at T = 0.7 and 1, 21,016 in SGLang at T = 0.7.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Int8 leaves few candidates; fallback grows with the batch</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§§4.2–4.3, Fig. 3, Appendix A.8 · evidence/head_geometry (selfevidence_plain4b.csv, rstock_plain4b.json) · evidence/certified_head/head_path_time.csv</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B11</a:t>
            </a:r>
          </a:p>
        </p:txBody>
      </p:sp>
      <p:sp>
        <p:nvSpPr>
          <p:cNvPr id="6" name="TextBox 5"/>
          <p:cNvSpPr txBox="1"/>
          <p:nvPr/>
        </p:nvSpPr>
        <p:spPr>
          <a:xfrm>
            <a:off x="731520" y="1572768"/>
            <a:ext cx="5212080" cy="566928"/>
          </a:xfrm>
          <a:prstGeom prst="rect">
            <a:avLst/>
          </a:prstGeom>
          <a:noFill/>
        </p:spPr>
        <p:txBody>
          <a:bodyPr wrap="square" lIns="0" tIns="0" rIns="0" bIns="0" anchor="t"/>
          <a:lstStyle/>
          <a:p>
            <a:pPr algn="l"/>
            <a:r>
              <a:rPr sz="1400" b="0" i="0">
                <a:solidFill>
                  <a:srgbClr val="586B73"/>
                </a:solidFill>
                <a:latin typeface="Arial"/>
                <a:ea typeface="Arial"/>
                <a:cs typeface="Arial"/>
              </a:rPr>
              <a:t>Candidates per greedy decision, by copy of the head (held-out replay, 6,005 positions, exact reference)</a:t>
            </a:r>
          </a:p>
        </p:txBody>
      </p:sp>
      <p:sp>
        <p:nvSpPr>
          <p:cNvPr id="7" name="Rectangle 6"/>
          <p:cNvSpPr/>
          <p:nvPr/>
        </p:nvSpPr>
        <p:spPr>
          <a:xfrm>
            <a:off x="731520" y="2212848"/>
            <a:ext cx="5349240" cy="365760"/>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2240279"/>
            <a:ext cx="1737360" cy="310896"/>
          </a:xfrm>
          <a:prstGeom prst="rect">
            <a:avLst/>
          </a:prstGeom>
          <a:noFill/>
        </p:spPr>
        <p:txBody>
          <a:bodyPr wrap="square" lIns="0" tIns="0" rIns="0" bIns="0" anchor="ctr"/>
          <a:lstStyle/>
          <a:p>
            <a:pPr algn="l"/>
            <a:r>
              <a:rPr sz="1250" b="1" i="0">
                <a:solidFill>
                  <a:srgbClr val="586B73"/>
                </a:solidFill>
                <a:latin typeface="Arial"/>
                <a:ea typeface="Arial"/>
                <a:cs typeface="Arial"/>
              </a:rPr>
              <a:t>Copy</a:t>
            </a:r>
          </a:p>
        </p:txBody>
      </p:sp>
      <p:sp>
        <p:nvSpPr>
          <p:cNvPr id="9" name="TextBox 8"/>
          <p:cNvSpPr txBox="1"/>
          <p:nvPr/>
        </p:nvSpPr>
        <p:spPr>
          <a:xfrm>
            <a:off x="2715768" y="2240279"/>
            <a:ext cx="548640" cy="310896"/>
          </a:xfrm>
          <a:prstGeom prst="rect">
            <a:avLst/>
          </a:prstGeom>
          <a:noFill/>
        </p:spPr>
        <p:txBody>
          <a:bodyPr wrap="square" lIns="0" tIns="0" rIns="0" bIns="0" anchor="ctr"/>
          <a:lstStyle/>
          <a:p>
            <a:pPr algn="l"/>
            <a:r>
              <a:rPr sz="1250" b="1" i="0">
                <a:solidFill>
                  <a:srgbClr val="586B73"/>
                </a:solidFill>
                <a:latin typeface="Arial"/>
                <a:ea typeface="Arial"/>
                <a:cs typeface="Arial"/>
              </a:rPr>
              <a:t>Bytes</a:t>
            </a:r>
          </a:p>
        </p:txBody>
      </p:sp>
      <p:sp>
        <p:nvSpPr>
          <p:cNvPr id="10" name="TextBox 9"/>
          <p:cNvSpPr txBox="1"/>
          <p:nvPr/>
        </p:nvSpPr>
        <p:spPr>
          <a:xfrm>
            <a:off x="3401568" y="2240279"/>
            <a:ext cx="731519" cy="310896"/>
          </a:xfrm>
          <a:prstGeom prst="rect">
            <a:avLst/>
          </a:prstGeom>
          <a:noFill/>
        </p:spPr>
        <p:txBody>
          <a:bodyPr wrap="square" lIns="0" tIns="0" rIns="0" bIns="0" anchor="ctr"/>
          <a:lstStyle/>
          <a:p>
            <a:pPr algn="l"/>
            <a:r>
              <a:rPr sz="1250" b="1" i="0">
                <a:solidFill>
                  <a:srgbClr val="586B73"/>
                </a:solidFill>
                <a:latin typeface="Arial"/>
                <a:ea typeface="Arial"/>
                <a:cs typeface="Arial"/>
              </a:rPr>
              <a:t>Mean</a:t>
            </a:r>
          </a:p>
        </p:txBody>
      </p:sp>
      <p:sp>
        <p:nvSpPr>
          <p:cNvPr id="11" name="TextBox 10"/>
          <p:cNvSpPr txBox="1"/>
          <p:nvPr/>
        </p:nvSpPr>
        <p:spPr>
          <a:xfrm>
            <a:off x="4270248" y="2240279"/>
            <a:ext cx="822960" cy="310896"/>
          </a:xfrm>
          <a:prstGeom prst="rect">
            <a:avLst/>
          </a:prstGeom>
          <a:noFill/>
        </p:spPr>
        <p:txBody>
          <a:bodyPr wrap="square" lIns="0" tIns="0" rIns="0" bIns="0" anchor="ctr"/>
          <a:lstStyle/>
          <a:p>
            <a:pPr algn="l"/>
            <a:r>
              <a:rPr sz="1250" b="1" i="0">
                <a:solidFill>
                  <a:srgbClr val="586B73"/>
                </a:solidFill>
                <a:latin typeface="Arial"/>
                <a:ea typeface="Arial"/>
                <a:cs typeface="Arial"/>
              </a:rPr>
              <a:t>p99</a:t>
            </a:r>
          </a:p>
        </p:txBody>
      </p:sp>
      <p:sp>
        <p:nvSpPr>
          <p:cNvPr id="12" name="TextBox 11"/>
          <p:cNvSpPr txBox="1"/>
          <p:nvPr/>
        </p:nvSpPr>
        <p:spPr>
          <a:xfrm>
            <a:off x="5230368" y="2240279"/>
            <a:ext cx="822960" cy="310896"/>
          </a:xfrm>
          <a:prstGeom prst="rect">
            <a:avLst/>
          </a:prstGeom>
          <a:noFill/>
        </p:spPr>
        <p:txBody>
          <a:bodyPr wrap="square" lIns="0" tIns="0" rIns="0" bIns="0" anchor="ctr"/>
          <a:lstStyle/>
          <a:p>
            <a:pPr algn="l"/>
            <a:r>
              <a:rPr sz="1250" b="1" i="0">
                <a:solidFill>
                  <a:srgbClr val="586B73"/>
                </a:solidFill>
                <a:latin typeface="Arial"/>
                <a:ea typeface="Arial"/>
                <a:cs typeface="Arial"/>
              </a:rPr>
              <a:t>Max</a:t>
            </a:r>
          </a:p>
        </p:txBody>
      </p:sp>
      <p:sp>
        <p:nvSpPr>
          <p:cNvPr id="13" name="TextBox 12"/>
          <p:cNvSpPr txBox="1"/>
          <p:nvPr/>
        </p:nvSpPr>
        <p:spPr>
          <a:xfrm>
            <a:off x="841248" y="2642615"/>
            <a:ext cx="1737360" cy="347472"/>
          </a:xfrm>
          <a:prstGeom prst="rect">
            <a:avLst/>
          </a:prstGeom>
          <a:noFill/>
        </p:spPr>
        <p:txBody>
          <a:bodyPr wrap="square" lIns="0" tIns="0" rIns="0" bIns="0" anchor="ctr"/>
          <a:lstStyle/>
          <a:p>
            <a:pPr algn="l"/>
            <a:r>
              <a:rPr sz="1400" b="0" i="0">
                <a:solidFill>
                  <a:srgbClr val="0072B2"/>
                </a:solidFill>
                <a:latin typeface="Arial"/>
                <a:ea typeface="Arial"/>
                <a:cs typeface="Arial"/>
              </a:rPr>
              <a:t>Int8, per entry</a:t>
            </a:r>
          </a:p>
        </p:txBody>
      </p:sp>
      <p:sp>
        <p:nvSpPr>
          <p:cNvPr id="14" name="TextBox 13"/>
          <p:cNvSpPr txBox="1"/>
          <p:nvPr/>
        </p:nvSpPr>
        <p:spPr>
          <a:xfrm>
            <a:off x="2715768" y="2642615"/>
            <a:ext cx="548640" cy="347472"/>
          </a:xfrm>
          <a:prstGeom prst="rect">
            <a:avLst/>
          </a:prstGeom>
          <a:noFill/>
        </p:spPr>
        <p:txBody>
          <a:bodyPr wrap="square" lIns="0" tIns="0" rIns="0" bIns="0" anchor="ctr"/>
          <a:lstStyle/>
          <a:p>
            <a:pPr algn="l"/>
            <a:r>
              <a:rPr sz="1400" b="0" i="0">
                <a:solidFill>
                  <a:srgbClr val="0072B2"/>
                </a:solidFill>
                <a:latin typeface="Arial"/>
                <a:ea typeface="Arial"/>
                <a:cs typeface="Arial"/>
              </a:rPr>
              <a:t>0.50</a:t>
            </a:r>
          </a:p>
        </p:txBody>
      </p:sp>
      <p:sp>
        <p:nvSpPr>
          <p:cNvPr id="15" name="TextBox 14"/>
          <p:cNvSpPr txBox="1"/>
          <p:nvPr/>
        </p:nvSpPr>
        <p:spPr>
          <a:xfrm>
            <a:off x="3401568" y="2642615"/>
            <a:ext cx="731519" cy="347472"/>
          </a:xfrm>
          <a:prstGeom prst="rect">
            <a:avLst/>
          </a:prstGeom>
          <a:noFill/>
        </p:spPr>
        <p:txBody>
          <a:bodyPr wrap="square" lIns="0" tIns="0" rIns="0" bIns="0" anchor="ctr"/>
          <a:lstStyle/>
          <a:p>
            <a:pPr algn="l"/>
            <a:r>
              <a:rPr sz="1400" b="0" i="0">
                <a:solidFill>
                  <a:srgbClr val="0072B2"/>
                </a:solidFill>
                <a:latin typeface="Arial"/>
                <a:ea typeface="Arial"/>
                <a:cs typeface="Arial"/>
              </a:rPr>
              <a:t>1.55</a:t>
            </a:r>
          </a:p>
        </p:txBody>
      </p:sp>
      <p:sp>
        <p:nvSpPr>
          <p:cNvPr id="16" name="TextBox 15"/>
          <p:cNvSpPr txBox="1"/>
          <p:nvPr/>
        </p:nvSpPr>
        <p:spPr>
          <a:xfrm>
            <a:off x="4270248" y="2642615"/>
            <a:ext cx="822960" cy="347472"/>
          </a:xfrm>
          <a:prstGeom prst="rect">
            <a:avLst/>
          </a:prstGeom>
          <a:noFill/>
        </p:spPr>
        <p:txBody>
          <a:bodyPr wrap="square" lIns="0" tIns="0" rIns="0" bIns="0" anchor="ctr"/>
          <a:lstStyle/>
          <a:p>
            <a:pPr algn="l"/>
            <a:r>
              <a:rPr sz="1400" b="0" i="0">
                <a:solidFill>
                  <a:srgbClr val="0072B2"/>
                </a:solidFill>
                <a:latin typeface="Arial"/>
                <a:ea typeface="Arial"/>
                <a:cs typeface="Arial"/>
              </a:rPr>
              <a:t>8</a:t>
            </a:r>
          </a:p>
        </p:txBody>
      </p:sp>
      <p:sp>
        <p:nvSpPr>
          <p:cNvPr id="17" name="TextBox 16"/>
          <p:cNvSpPr txBox="1"/>
          <p:nvPr/>
        </p:nvSpPr>
        <p:spPr>
          <a:xfrm>
            <a:off x="5230368" y="2642615"/>
            <a:ext cx="822960" cy="347472"/>
          </a:xfrm>
          <a:prstGeom prst="rect">
            <a:avLst/>
          </a:prstGeom>
          <a:noFill/>
        </p:spPr>
        <p:txBody>
          <a:bodyPr wrap="square" lIns="0" tIns="0" rIns="0" bIns="0" anchor="ctr"/>
          <a:lstStyle/>
          <a:p>
            <a:pPr algn="l"/>
            <a:r>
              <a:rPr sz="1400" b="0" i="0">
                <a:solidFill>
                  <a:srgbClr val="0072B2"/>
                </a:solidFill>
                <a:latin typeface="Arial"/>
                <a:ea typeface="Arial"/>
                <a:cs typeface="Arial"/>
              </a:rPr>
              <a:t>30</a:t>
            </a:r>
          </a:p>
        </p:txBody>
      </p:sp>
      <p:cxnSp>
        <p:nvCxnSpPr>
          <p:cNvPr id="18" name="Connector 17"/>
          <p:cNvCxnSpPr/>
          <p:nvPr/>
        </p:nvCxnSpPr>
        <p:spPr>
          <a:xfrm>
            <a:off x="731520" y="3017520"/>
            <a:ext cx="5349239" cy="0"/>
          </a:xfrm>
          <a:prstGeom prst="line">
            <a:avLst/>
          </a:prstGeom>
          <a:ln w="12700">
            <a:solidFill>
              <a:srgbClr val="D2DCDF"/>
            </a:solidFill>
          </a:ln>
        </p:spPr>
      </p:cxnSp>
      <p:sp>
        <p:nvSpPr>
          <p:cNvPr id="19" name="TextBox 18"/>
          <p:cNvSpPr txBox="1"/>
          <p:nvPr/>
        </p:nvSpPr>
        <p:spPr>
          <a:xfrm>
            <a:off x="841248" y="3044951"/>
            <a:ext cx="1737360" cy="347472"/>
          </a:xfrm>
          <a:prstGeom prst="rect">
            <a:avLst/>
          </a:prstGeom>
          <a:noFill/>
        </p:spPr>
        <p:txBody>
          <a:bodyPr wrap="square" lIns="0" tIns="0" rIns="0" bIns="0" anchor="ctr"/>
          <a:lstStyle/>
          <a:p>
            <a:pPr algn="l"/>
            <a:r>
              <a:rPr sz="1400" b="0" i="0">
                <a:solidFill>
                  <a:srgbClr val="1B3A57"/>
                </a:solidFill>
                <a:latin typeface="Arial"/>
                <a:ea typeface="Arial"/>
                <a:cs typeface="Arial"/>
              </a:rPr>
              <a:t>Int8, 128 columns</a:t>
            </a:r>
          </a:p>
        </p:txBody>
      </p:sp>
      <p:sp>
        <p:nvSpPr>
          <p:cNvPr id="20" name="TextBox 19"/>
          <p:cNvSpPr txBox="1"/>
          <p:nvPr/>
        </p:nvSpPr>
        <p:spPr>
          <a:xfrm>
            <a:off x="2715768" y="3044951"/>
            <a:ext cx="548640" cy="347472"/>
          </a:xfrm>
          <a:prstGeom prst="rect">
            <a:avLst/>
          </a:prstGeom>
          <a:noFill/>
        </p:spPr>
        <p:txBody>
          <a:bodyPr wrap="square" lIns="0" tIns="0" rIns="0" bIns="0" anchor="ctr"/>
          <a:lstStyle/>
          <a:p>
            <a:pPr algn="l"/>
            <a:r>
              <a:rPr sz="1400" b="0" i="0">
                <a:solidFill>
                  <a:srgbClr val="1B3A57"/>
                </a:solidFill>
                <a:latin typeface="Arial"/>
                <a:ea typeface="Arial"/>
                <a:cs typeface="Arial"/>
              </a:rPr>
              <a:t>0.52</a:t>
            </a:r>
          </a:p>
        </p:txBody>
      </p:sp>
      <p:sp>
        <p:nvSpPr>
          <p:cNvPr id="21" name="TextBox 20"/>
          <p:cNvSpPr txBox="1"/>
          <p:nvPr/>
        </p:nvSpPr>
        <p:spPr>
          <a:xfrm>
            <a:off x="3401568" y="3044951"/>
            <a:ext cx="731519" cy="347472"/>
          </a:xfrm>
          <a:prstGeom prst="rect">
            <a:avLst/>
          </a:prstGeom>
          <a:noFill/>
        </p:spPr>
        <p:txBody>
          <a:bodyPr wrap="square" lIns="0" tIns="0" rIns="0" bIns="0" anchor="ctr"/>
          <a:lstStyle/>
          <a:p>
            <a:pPr algn="l"/>
            <a:r>
              <a:rPr sz="1400" b="0" i="0">
                <a:solidFill>
                  <a:srgbClr val="1B3A57"/>
                </a:solidFill>
                <a:latin typeface="Arial"/>
                <a:ea typeface="Arial"/>
                <a:cs typeface="Arial"/>
              </a:rPr>
              <a:t>1.34</a:t>
            </a:r>
          </a:p>
        </p:txBody>
      </p:sp>
      <p:sp>
        <p:nvSpPr>
          <p:cNvPr id="22" name="TextBox 21"/>
          <p:cNvSpPr txBox="1"/>
          <p:nvPr/>
        </p:nvSpPr>
        <p:spPr>
          <a:xfrm>
            <a:off x="4270248" y="3044951"/>
            <a:ext cx="822960" cy="347472"/>
          </a:xfrm>
          <a:prstGeom prst="rect">
            <a:avLst/>
          </a:prstGeom>
          <a:noFill/>
        </p:spPr>
        <p:txBody>
          <a:bodyPr wrap="square" lIns="0" tIns="0" rIns="0" bIns="0" anchor="ctr"/>
          <a:lstStyle/>
          <a:p>
            <a:pPr algn="l"/>
            <a:r>
              <a:rPr sz="1400" b="0" i="0">
                <a:solidFill>
                  <a:srgbClr val="1B3A57"/>
                </a:solidFill>
                <a:latin typeface="Arial"/>
                <a:ea typeface="Arial"/>
                <a:cs typeface="Arial"/>
              </a:rPr>
              <a:t>5</a:t>
            </a:r>
          </a:p>
        </p:txBody>
      </p:sp>
      <p:sp>
        <p:nvSpPr>
          <p:cNvPr id="23" name="TextBox 22"/>
          <p:cNvSpPr txBox="1"/>
          <p:nvPr/>
        </p:nvSpPr>
        <p:spPr>
          <a:xfrm>
            <a:off x="5230368" y="3044951"/>
            <a:ext cx="822960" cy="347472"/>
          </a:xfrm>
          <a:prstGeom prst="rect">
            <a:avLst/>
          </a:prstGeom>
          <a:noFill/>
        </p:spPr>
        <p:txBody>
          <a:bodyPr wrap="square" lIns="0" tIns="0" rIns="0" bIns="0" anchor="ctr"/>
          <a:lstStyle/>
          <a:p>
            <a:pPr algn="l"/>
            <a:r>
              <a:rPr sz="1400" b="0" i="0">
                <a:solidFill>
                  <a:srgbClr val="1B3A57"/>
                </a:solidFill>
                <a:latin typeface="Arial"/>
                <a:ea typeface="Arial"/>
                <a:cs typeface="Arial"/>
              </a:rPr>
              <a:t>23</a:t>
            </a:r>
          </a:p>
        </p:txBody>
      </p:sp>
      <p:cxnSp>
        <p:nvCxnSpPr>
          <p:cNvPr id="24" name="Connector 23"/>
          <p:cNvCxnSpPr/>
          <p:nvPr/>
        </p:nvCxnSpPr>
        <p:spPr>
          <a:xfrm>
            <a:off x="731520" y="3419856"/>
            <a:ext cx="5349239" cy="0"/>
          </a:xfrm>
          <a:prstGeom prst="line">
            <a:avLst/>
          </a:prstGeom>
          <a:ln w="12700">
            <a:solidFill>
              <a:srgbClr val="D2DCDF"/>
            </a:solidFill>
          </a:ln>
        </p:spPr>
      </p:cxnSp>
      <p:sp>
        <p:nvSpPr>
          <p:cNvPr id="25" name="TextBox 24"/>
          <p:cNvSpPr txBox="1"/>
          <p:nvPr/>
        </p:nvSpPr>
        <p:spPr>
          <a:xfrm>
            <a:off x="841248" y="3447287"/>
            <a:ext cx="1737360" cy="347472"/>
          </a:xfrm>
          <a:prstGeom prst="rect">
            <a:avLst/>
          </a:prstGeom>
          <a:noFill/>
        </p:spPr>
        <p:txBody>
          <a:bodyPr wrap="square" lIns="0" tIns="0" rIns="0" bIns="0" anchor="ctr"/>
          <a:lstStyle/>
          <a:p>
            <a:pPr algn="l"/>
            <a:r>
              <a:rPr sz="1400" b="0" i="0">
                <a:solidFill>
                  <a:srgbClr val="1B3A57"/>
                </a:solidFill>
                <a:latin typeface="Arial"/>
                <a:ea typeface="Arial"/>
                <a:cs typeface="Arial"/>
              </a:rPr>
              <a:t>Int8, 32 columns</a:t>
            </a:r>
          </a:p>
        </p:txBody>
      </p:sp>
      <p:sp>
        <p:nvSpPr>
          <p:cNvPr id="26" name="TextBox 25"/>
          <p:cNvSpPr txBox="1"/>
          <p:nvPr/>
        </p:nvSpPr>
        <p:spPr>
          <a:xfrm>
            <a:off x="2715768" y="3447287"/>
            <a:ext cx="548640" cy="347472"/>
          </a:xfrm>
          <a:prstGeom prst="rect">
            <a:avLst/>
          </a:prstGeom>
          <a:noFill/>
        </p:spPr>
        <p:txBody>
          <a:bodyPr wrap="square" lIns="0" tIns="0" rIns="0" bIns="0" anchor="ctr"/>
          <a:lstStyle/>
          <a:p>
            <a:pPr algn="l"/>
            <a:r>
              <a:rPr sz="1400" b="0" i="0">
                <a:solidFill>
                  <a:srgbClr val="1B3A57"/>
                </a:solidFill>
                <a:latin typeface="Arial"/>
                <a:ea typeface="Arial"/>
                <a:cs typeface="Arial"/>
              </a:rPr>
              <a:t>0.54</a:t>
            </a:r>
          </a:p>
        </p:txBody>
      </p:sp>
      <p:sp>
        <p:nvSpPr>
          <p:cNvPr id="27" name="TextBox 26"/>
          <p:cNvSpPr txBox="1"/>
          <p:nvPr/>
        </p:nvSpPr>
        <p:spPr>
          <a:xfrm>
            <a:off x="3401568" y="3447287"/>
            <a:ext cx="731519" cy="347472"/>
          </a:xfrm>
          <a:prstGeom prst="rect">
            <a:avLst/>
          </a:prstGeom>
          <a:noFill/>
        </p:spPr>
        <p:txBody>
          <a:bodyPr wrap="square" lIns="0" tIns="0" rIns="0" bIns="0" anchor="ctr"/>
          <a:lstStyle/>
          <a:p>
            <a:pPr algn="l"/>
            <a:r>
              <a:rPr sz="1400" b="0" i="0">
                <a:solidFill>
                  <a:srgbClr val="1B3A57"/>
                </a:solidFill>
                <a:latin typeface="Arial"/>
                <a:ea typeface="Arial"/>
                <a:cs typeface="Arial"/>
              </a:rPr>
              <a:t>1.26</a:t>
            </a:r>
          </a:p>
        </p:txBody>
      </p:sp>
      <p:sp>
        <p:nvSpPr>
          <p:cNvPr id="28" name="TextBox 27"/>
          <p:cNvSpPr txBox="1"/>
          <p:nvPr/>
        </p:nvSpPr>
        <p:spPr>
          <a:xfrm>
            <a:off x="4270248" y="3447287"/>
            <a:ext cx="822960" cy="347472"/>
          </a:xfrm>
          <a:prstGeom prst="rect">
            <a:avLst/>
          </a:prstGeom>
          <a:noFill/>
        </p:spPr>
        <p:txBody>
          <a:bodyPr wrap="square" lIns="0" tIns="0" rIns="0" bIns="0" anchor="ctr"/>
          <a:lstStyle/>
          <a:p>
            <a:pPr algn="l"/>
            <a:r>
              <a:rPr sz="1400" b="0" i="0">
                <a:solidFill>
                  <a:srgbClr val="1B3A57"/>
                </a:solidFill>
                <a:latin typeface="Arial"/>
                <a:ea typeface="Arial"/>
                <a:cs typeface="Arial"/>
              </a:rPr>
              <a:t>5</a:t>
            </a:r>
          </a:p>
        </p:txBody>
      </p:sp>
      <p:sp>
        <p:nvSpPr>
          <p:cNvPr id="29" name="TextBox 28"/>
          <p:cNvSpPr txBox="1"/>
          <p:nvPr/>
        </p:nvSpPr>
        <p:spPr>
          <a:xfrm>
            <a:off x="5230368" y="3447287"/>
            <a:ext cx="822960" cy="347472"/>
          </a:xfrm>
          <a:prstGeom prst="rect">
            <a:avLst/>
          </a:prstGeom>
          <a:noFill/>
        </p:spPr>
        <p:txBody>
          <a:bodyPr wrap="square" lIns="0" tIns="0" rIns="0" bIns="0" anchor="ctr"/>
          <a:lstStyle/>
          <a:p>
            <a:pPr algn="l"/>
            <a:r>
              <a:rPr sz="1400" b="0" i="0">
                <a:solidFill>
                  <a:srgbClr val="1B3A57"/>
                </a:solidFill>
                <a:latin typeface="Arial"/>
                <a:ea typeface="Arial"/>
                <a:cs typeface="Arial"/>
              </a:rPr>
              <a:t>20</a:t>
            </a:r>
          </a:p>
        </p:txBody>
      </p:sp>
      <p:cxnSp>
        <p:nvCxnSpPr>
          <p:cNvPr id="30" name="Connector 29"/>
          <p:cNvCxnSpPr/>
          <p:nvPr/>
        </p:nvCxnSpPr>
        <p:spPr>
          <a:xfrm>
            <a:off x="731520" y="3822191"/>
            <a:ext cx="5349239" cy="0"/>
          </a:xfrm>
          <a:prstGeom prst="line">
            <a:avLst/>
          </a:prstGeom>
          <a:ln w="12700">
            <a:solidFill>
              <a:srgbClr val="D2DCDF"/>
            </a:solidFill>
          </a:ln>
        </p:spPr>
      </p:cxnSp>
      <p:sp>
        <p:nvSpPr>
          <p:cNvPr id="31" name="TextBox 30"/>
          <p:cNvSpPr txBox="1"/>
          <p:nvPr/>
        </p:nvSpPr>
        <p:spPr>
          <a:xfrm>
            <a:off x="841248" y="3849624"/>
            <a:ext cx="1737360" cy="347472"/>
          </a:xfrm>
          <a:prstGeom prst="rect">
            <a:avLst/>
          </a:prstGeom>
          <a:noFill/>
        </p:spPr>
        <p:txBody>
          <a:bodyPr wrap="square" lIns="0" tIns="0" rIns="0" bIns="0" anchor="ctr"/>
          <a:lstStyle/>
          <a:p>
            <a:pPr algn="l"/>
            <a:r>
              <a:rPr sz="1400" b="0" i="0">
                <a:solidFill>
                  <a:srgbClr val="6B7780"/>
                </a:solidFill>
                <a:latin typeface="Arial"/>
                <a:ea typeface="Arial"/>
                <a:cs typeface="Arial"/>
              </a:rPr>
              <a:t>FP8 E4M3, per entry</a:t>
            </a:r>
          </a:p>
        </p:txBody>
      </p:sp>
      <p:sp>
        <p:nvSpPr>
          <p:cNvPr id="32" name="TextBox 31"/>
          <p:cNvSpPr txBox="1"/>
          <p:nvPr/>
        </p:nvSpPr>
        <p:spPr>
          <a:xfrm>
            <a:off x="2715768" y="3849624"/>
            <a:ext cx="548640" cy="347472"/>
          </a:xfrm>
          <a:prstGeom prst="rect">
            <a:avLst/>
          </a:prstGeom>
          <a:noFill/>
        </p:spPr>
        <p:txBody>
          <a:bodyPr wrap="square" lIns="0" tIns="0" rIns="0" bIns="0" anchor="ctr"/>
          <a:lstStyle/>
          <a:p>
            <a:pPr algn="l"/>
            <a:r>
              <a:rPr sz="1400" b="0" i="0">
                <a:solidFill>
                  <a:srgbClr val="6B7780"/>
                </a:solidFill>
                <a:latin typeface="Arial"/>
                <a:ea typeface="Arial"/>
                <a:cs typeface="Arial"/>
              </a:rPr>
              <a:t>0.51</a:t>
            </a:r>
          </a:p>
        </p:txBody>
      </p:sp>
      <p:sp>
        <p:nvSpPr>
          <p:cNvPr id="33" name="TextBox 32"/>
          <p:cNvSpPr txBox="1"/>
          <p:nvPr/>
        </p:nvSpPr>
        <p:spPr>
          <a:xfrm>
            <a:off x="3401568" y="3849624"/>
            <a:ext cx="731519" cy="347472"/>
          </a:xfrm>
          <a:prstGeom prst="rect">
            <a:avLst/>
          </a:prstGeom>
          <a:noFill/>
        </p:spPr>
        <p:txBody>
          <a:bodyPr wrap="square" lIns="0" tIns="0" rIns="0" bIns="0" anchor="ctr"/>
          <a:lstStyle/>
          <a:p>
            <a:pPr algn="l"/>
            <a:r>
              <a:rPr sz="1400" b="0" i="0">
                <a:solidFill>
                  <a:srgbClr val="6B7780"/>
                </a:solidFill>
                <a:latin typeface="Arial"/>
                <a:ea typeface="Arial"/>
                <a:cs typeface="Arial"/>
              </a:rPr>
              <a:t>4.89</a:t>
            </a:r>
          </a:p>
        </p:txBody>
      </p:sp>
      <p:sp>
        <p:nvSpPr>
          <p:cNvPr id="34" name="TextBox 33"/>
          <p:cNvSpPr txBox="1"/>
          <p:nvPr/>
        </p:nvSpPr>
        <p:spPr>
          <a:xfrm>
            <a:off x="4270248" y="3849624"/>
            <a:ext cx="822960" cy="347472"/>
          </a:xfrm>
          <a:prstGeom prst="rect">
            <a:avLst/>
          </a:prstGeom>
          <a:noFill/>
        </p:spPr>
        <p:txBody>
          <a:bodyPr wrap="square" lIns="0" tIns="0" rIns="0" bIns="0" anchor="ctr"/>
          <a:lstStyle/>
          <a:p>
            <a:pPr algn="l"/>
            <a:r>
              <a:rPr sz="1400" b="0" i="0">
                <a:solidFill>
                  <a:srgbClr val="6B7780"/>
                </a:solidFill>
                <a:latin typeface="Arial"/>
                <a:ea typeface="Arial"/>
                <a:cs typeface="Arial"/>
              </a:rPr>
              <a:t>60</a:t>
            </a:r>
          </a:p>
        </p:txBody>
      </p:sp>
      <p:sp>
        <p:nvSpPr>
          <p:cNvPr id="35" name="TextBox 34"/>
          <p:cNvSpPr txBox="1"/>
          <p:nvPr/>
        </p:nvSpPr>
        <p:spPr>
          <a:xfrm>
            <a:off x="5230368" y="3849624"/>
            <a:ext cx="822960" cy="347472"/>
          </a:xfrm>
          <a:prstGeom prst="rect">
            <a:avLst/>
          </a:prstGeom>
          <a:noFill/>
        </p:spPr>
        <p:txBody>
          <a:bodyPr wrap="square" lIns="0" tIns="0" rIns="0" bIns="0" anchor="ctr"/>
          <a:lstStyle/>
          <a:p>
            <a:pPr algn="l"/>
            <a:r>
              <a:rPr sz="1400" b="0" i="0">
                <a:solidFill>
                  <a:srgbClr val="6B7780"/>
                </a:solidFill>
                <a:latin typeface="Arial"/>
                <a:ea typeface="Arial"/>
                <a:cs typeface="Arial"/>
              </a:rPr>
              <a:t>605</a:t>
            </a:r>
          </a:p>
        </p:txBody>
      </p:sp>
      <p:cxnSp>
        <p:nvCxnSpPr>
          <p:cNvPr id="36" name="Connector 35"/>
          <p:cNvCxnSpPr/>
          <p:nvPr/>
        </p:nvCxnSpPr>
        <p:spPr>
          <a:xfrm>
            <a:off x="731520" y="4224528"/>
            <a:ext cx="5349239" cy="0"/>
          </a:xfrm>
          <a:prstGeom prst="line">
            <a:avLst/>
          </a:prstGeom>
          <a:ln w="12700">
            <a:solidFill>
              <a:srgbClr val="D2DCDF"/>
            </a:solidFill>
          </a:ln>
        </p:spPr>
      </p:cxnSp>
      <p:sp>
        <p:nvSpPr>
          <p:cNvPr id="37" name="TextBox 36"/>
          <p:cNvSpPr txBox="1"/>
          <p:nvPr/>
        </p:nvSpPr>
        <p:spPr>
          <a:xfrm>
            <a:off x="841248" y="4251960"/>
            <a:ext cx="1737360" cy="347472"/>
          </a:xfrm>
          <a:prstGeom prst="rect">
            <a:avLst/>
          </a:prstGeom>
          <a:noFill/>
        </p:spPr>
        <p:txBody>
          <a:bodyPr wrap="square" lIns="0" tIns="0" rIns="0" bIns="0" anchor="ctr"/>
          <a:lstStyle/>
          <a:p>
            <a:pPr algn="l"/>
            <a:r>
              <a:rPr sz="1400" b="0" i="0">
                <a:solidFill>
                  <a:srgbClr val="6B7780"/>
                </a:solidFill>
                <a:latin typeface="Arial"/>
                <a:ea typeface="Arial"/>
                <a:cs typeface="Arial"/>
              </a:rPr>
              <a:t>Int4, 128 columns</a:t>
            </a:r>
          </a:p>
        </p:txBody>
      </p:sp>
      <p:sp>
        <p:nvSpPr>
          <p:cNvPr id="38" name="TextBox 37"/>
          <p:cNvSpPr txBox="1"/>
          <p:nvPr/>
        </p:nvSpPr>
        <p:spPr>
          <a:xfrm>
            <a:off x="2715768" y="4251960"/>
            <a:ext cx="548640" cy="347472"/>
          </a:xfrm>
          <a:prstGeom prst="rect">
            <a:avLst/>
          </a:prstGeom>
          <a:noFill/>
        </p:spPr>
        <p:txBody>
          <a:bodyPr wrap="square" lIns="0" tIns="0" rIns="0" bIns="0" anchor="ctr"/>
          <a:lstStyle/>
          <a:p>
            <a:pPr algn="l"/>
            <a:r>
              <a:rPr sz="1400" b="0" i="0">
                <a:solidFill>
                  <a:srgbClr val="6B7780"/>
                </a:solidFill>
                <a:latin typeface="Arial"/>
                <a:ea typeface="Arial"/>
                <a:cs typeface="Arial"/>
              </a:rPr>
              <a:t>0.27</a:t>
            </a:r>
          </a:p>
        </p:txBody>
      </p:sp>
      <p:sp>
        <p:nvSpPr>
          <p:cNvPr id="39" name="TextBox 38"/>
          <p:cNvSpPr txBox="1"/>
          <p:nvPr/>
        </p:nvSpPr>
        <p:spPr>
          <a:xfrm>
            <a:off x="3401568" y="4251960"/>
            <a:ext cx="731519" cy="347472"/>
          </a:xfrm>
          <a:prstGeom prst="rect">
            <a:avLst/>
          </a:prstGeom>
          <a:noFill/>
        </p:spPr>
        <p:txBody>
          <a:bodyPr wrap="square" lIns="0" tIns="0" rIns="0" bIns="0" anchor="ctr"/>
          <a:lstStyle/>
          <a:p>
            <a:pPr algn="l"/>
            <a:r>
              <a:rPr sz="1400" b="0" i="0">
                <a:solidFill>
                  <a:srgbClr val="6B7780"/>
                </a:solidFill>
                <a:latin typeface="Arial"/>
                <a:ea typeface="Arial"/>
                <a:cs typeface="Arial"/>
              </a:rPr>
              <a:t>72,847</a:t>
            </a:r>
          </a:p>
        </p:txBody>
      </p:sp>
      <p:sp>
        <p:nvSpPr>
          <p:cNvPr id="40" name="TextBox 39"/>
          <p:cNvSpPr txBox="1"/>
          <p:nvPr/>
        </p:nvSpPr>
        <p:spPr>
          <a:xfrm>
            <a:off x="4270248" y="4251960"/>
            <a:ext cx="822960" cy="347472"/>
          </a:xfrm>
          <a:prstGeom prst="rect">
            <a:avLst/>
          </a:prstGeom>
          <a:noFill/>
        </p:spPr>
        <p:txBody>
          <a:bodyPr wrap="square" lIns="0" tIns="0" rIns="0" bIns="0" anchor="ctr"/>
          <a:lstStyle/>
          <a:p>
            <a:pPr algn="l"/>
            <a:r>
              <a:rPr sz="1400" b="0" i="0">
                <a:solidFill>
                  <a:srgbClr val="6B7780"/>
                </a:solidFill>
                <a:latin typeface="Arial"/>
                <a:ea typeface="Arial"/>
                <a:cs typeface="Arial"/>
              </a:rPr>
              <a:t>248,295</a:t>
            </a:r>
          </a:p>
        </p:txBody>
      </p:sp>
      <p:sp>
        <p:nvSpPr>
          <p:cNvPr id="41" name="TextBox 40"/>
          <p:cNvSpPr txBox="1"/>
          <p:nvPr/>
        </p:nvSpPr>
        <p:spPr>
          <a:xfrm>
            <a:off x="5230368" y="4251960"/>
            <a:ext cx="822960" cy="347472"/>
          </a:xfrm>
          <a:prstGeom prst="rect">
            <a:avLst/>
          </a:prstGeom>
          <a:noFill/>
        </p:spPr>
        <p:txBody>
          <a:bodyPr wrap="square" lIns="0" tIns="0" rIns="0" bIns="0" anchor="ctr"/>
          <a:lstStyle/>
          <a:p>
            <a:pPr algn="l"/>
            <a:r>
              <a:rPr sz="1400" b="0" i="0">
                <a:solidFill>
                  <a:srgbClr val="6B7780"/>
                </a:solidFill>
                <a:latin typeface="Arial"/>
                <a:ea typeface="Arial"/>
                <a:cs typeface="Arial"/>
              </a:rPr>
              <a:t>248,320</a:t>
            </a:r>
          </a:p>
        </p:txBody>
      </p:sp>
      <p:cxnSp>
        <p:nvCxnSpPr>
          <p:cNvPr id="42" name="Connector 41"/>
          <p:cNvCxnSpPr/>
          <p:nvPr/>
        </p:nvCxnSpPr>
        <p:spPr>
          <a:xfrm>
            <a:off x="731520" y="4626864"/>
            <a:ext cx="5349239" cy="0"/>
          </a:xfrm>
          <a:prstGeom prst="line">
            <a:avLst/>
          </a:prstGeom>
          <a:ln w="12700">
            <a:solidFill>
              <a:srgbClr val="D2DCDF"/>
            </a:solidFill>
          </a:ln>
        </p:spPr>
      </p:cxnSp>
      <p:sp>
        <p:nvSpPr>
          <p:cNvPr id="43" name="TextBox 42"/>
          <p:cNvSpPr txBox="1"/>
          <p:nvPr/>
        </p:nvSpPr>
        <p:spPr>
          <a:xfrm>
            <a:off x="731520" y="4709160"/>
            <a:ext cx="5349240" cy="1600200"/>
          </a:xfrm>
          <a:prstGeom prst="rect">
            <a:avLst/>
          </a:prstGeom>
          <a:noFill/>
        </p:spPr>
        <p:txBody>
          <a:bodyPr wrap="square" lIns="0" tIns="0" rIns="0" bIns="0" anchor="t"/>
          <a:lstStyle/>
          <a:p>
            <a:pPr algn="l"/>
            <a:r>
              <a:rPr sz="1350" b="1" i="0">
                <a:solidFill>
                  <a:srgbClr val="1B3A57"/>
                </a:solidFill>
                <a:latin typeface="Arial"/>
                <a:ea typeface="Arial"/>
                <a:cs typeface="Arial"/>
              </a:rPr>
              <a:t>Why int8 is enough: </a:t>
            </a:r>
            <a:r>
              <a:rPr sz="1350" b="0" i="0">
                <a:solidFill>
                  <a:srgbClr val="1B3A57"/>
                </a:solidFill>
                <a:latin typeface="Arial"/>
                <a:ea typeface="Arial"/>
                <a:cs typeface="Arial"/>
              </a:rPr>
              <a:t>its intervals are about two logits wide; the median gap between the two largest logits is 7.3 logits.</a:t>
            </a:r>
          </a:p>
          <a:p>
            <a:pPr algn="l">
              <a:spcBef>
                <a:spcPts val="600"/>
              </a:spcBef>
            </a:pPr>
            <a:r>
              <a:rPr sz="1350" b="1" i="0">
                <a:solidFill>
                  <a:srgbClr val="1B3A57"/>
                </a:solidFill>
                <a:latin typeface="Arial"/>
                <a:ea typeface="Arial"/>
                <a:cs typeface="Arial"/>
              </a:rPr>
              <a:t>Held-out fallback: </a:t>
            </a:r>
            <a:r>
              <a:rPr sz="1350" b="0" i="0">
                <a:solidFill>
                  <a:srgbClr val="1B3A57"/>
                </a:solidFill>
                <a:latin typeface="Arial"/>
                <a:ea typeface="Arial"/>
                <a:cs typeface="Arial"/>
              </a:rPr>
              <a:t>0.35% (Hopper model) and 1.40% (conservative) of positions under the interval condition; the gap condition never goes below about 2%.</a:t>
            </a:r>
          </a:p>
        </p:txBody>
      </p:sp>
      <p:cxnSp>
        <p:nvCxnSpPr>
          <p:cNvPr id="44" name="Connector 43"/>
          <p:cNvCxnSpPr/>
          <p:nvPr/>
        </p:nvCxnSpPr>
        <p:spPr>
          <a:xfrm>
            <a:off x="6355080" y="1691640"/>
            <a:ext cx="0" cy="4572000"/>
          </a:xfrm>
          <a:prstGeom prst="line">
            <a:avLst/>
          </a:prstGeom>
          <a:ln w="12700">
            <a:solidFill>
              <a:srgbClr val="D2DCDF"/>
            </a:solidFill>
          </a:ln>
        </p:spPr>
      </p:cxnSp>
      <p:sp>
        <p:nvSpPr>
          <p:cNvPr id="45" name="TextBox 44"/>
          <p:cNvSpPr txBox="1"/>
          <p:nvPr/>
        </p:nvSpPr>
        <p:spPr>
          <a:xfrm>
            <a:off x="6583680" y="1572768"/>
            <a:ext cx="4892040" cy="566928"/>
          </a:xfrm>
          <a:prstGeom prst="rect">
            <a:avLst/>
          </a:prstGeom>
          <a:noFill/>
        </p:spPr>
        <p:txBody>
          <a:bodyPr wrap="square" lIns="0" tIns="0" rIns="0" bIns="0" anchor="t"/>
          <a:lstStyle/>
          <a:p>
            <a:pPr algn="l"/>
            <a:r>
              <a:rPr sz="1400" b="0" i="0">
                <a:solidFill>
                  <a:srgbClr val="586B73"/>
                </a:solidFill>
                <a:latin typeface="Arial"/>
                <a:ea typeface="Arial"/>
                <a:cs typeface="Arial"/>
              </a:rPr>
              <a:t>Calls with at least one open position, which the whole-batch fallback sends to the stock head</a:t>
            </a:r>
          </a:p>
        </p:txBody>
      </p:sp>
      <p:sp>
        <p:nvSpPr>
          <p:cNvPr id="46" name="Rectangle 45"/>
          <p:cNvSpPr/>
          <p:nvPr/>
        </p:nvSpPr>
        <p:spPr>
          <a:xfrm>
            <a:off x="9235440" y="2331720"/>
            <a:ext cx="2057400" cy="2971800"/>
          </a:xfrm>
          <a:prstGeom prst="rect">
            <a:avLst/>
          </a:prstGeom>
          <a:solidFill>
            <a:srgbClr val="F1F3F5"/>
          </a:solidFill>
          <a:ln>
            <a:noFill/>
          </a:ln>
        </p:spPr>
        <p:txBody>
          <a:bodyPr rtlCol="0" anchor="ctr"/>
          <a:lstStyle/>
          <a:p>
            <a:pPr algn="ctr"/>
          </a:p>
        </p:txBody>
      </p:sp>
      <p:cxnSp>
        <p:nvCxnSpPr>
          <p:cNvPr id="47" name="Connector 46"/>
          <p:cNvCxnSpPr/>
          <p:nvPr/>
        </p:nvCxnSpPr>
        <p:spPr>
          <a:xfrm>
            <a:off x="7178040" y="5303520"/>
            <a:ext cx="4114800" cy="0"/>
          </a:xfrm>
          <a:prstGeom prst="line">
            <a:avLst/>
          </a:prstGeom>
          <a:ln w="9525">
            <a:solidFill>
              <a:srgbClr val="D2DCDF"/>
            </a:solidFill>
          </a:ln>
        </p:spPr>
      </p:cxnSp>
      <p:sp>
        <p:nvSpPr>
          <p:cNvPr id="48" name="TextBox 47"/>
          <p:cNvSpPr txBox="1"/>
          <p:nvPr/>
        </p:nvSpPr>
        <p:spPr>
          <a:xfrm>
            <a:off x="6611112" y="5184648"/>
            <a:ext cx="502920" cy="237744"/>
          </a:xfrm>
          <a:prstGeom prst="rect">
            <a:avLst/>
          </a:prstGeom>
          <a:noFill/>
        </p:spPr>
        <p:txBody>
          <a:bodyPr wrap="square" lIns="0" tIns="0" rIns="0" bIns="0" anchor="t"/>
          <a:lstStyle/>
          <a:p>
            <a:pPr algn="r"/>
            <a:r>
              <a:rPr sz="1200" b="0" i="0">
                <a:solidFill>
                  <a:srgbClr val="586B73"/>
                </a:solidFill>
                <a:latin typeface="Arial"/>
                <a:ea typeface="Arial"/>
                <a:cs typeface="Arial"/>
              </a:rPr>
              <a:t>0%</a:t>
            </a:r>
          </a:p>
        </p:txBody>
      </p:sp>
      <p:cxnSp>
        <p:nvCxnSpPr>
          <p:cNvPr id="49" name="Connector 48"/>
          <p:cNvCxnSpPr/>
          <p:nvPr/>
        </p:nvCxnSpPr>
        <p:spPr>
          <a:xfrm>
            <a:off x="7178040" y="4560570"/>
            <a:ext cx="4114800" cy="0"/>
          </a:xfrm>
          <a:prstGeom prst="line">
            <a:avLst/>
          </a:prstGeom>
          <a:ln w="9525">
            <a:solidFill>
              <a:srgbClr val="D2DCDF"/>
            </a:solidFill>
          </a:ln>
        </p:spPr>
      </p:cxnSp>
      <p:sp>
        <p:nvSpPr>
          <p:cNvPr id="50" name="TextBox 49"/>
          <p:cNvSpPr txBox="1"/>
          <p:nvPr/>
        </p:nvSpPr>
        <p:spPr>
          <a:xfrm>
            <a:off x="6611112" y="4441698"/>
            <a:ext cx="502920" cy="237744"/>
          </a:xfrm>
          <a:prstGeom prst="rect">
            <a:avLst/>
          </a:prstGeom>
          <a:noFill/>
        </p:spPr>
        <p:txBody>
          <a:bodyPr wrap="square" lIns="0" tIns="0" rIns="0" bIns="0" anchor="t"/>
          <a:lstStyle/>
          <a:p>
            <a:pPr algn="r"/>
            <a:r>
              <a:rPr sz="1200" b="0" i="0">
                <a:solidFill>
                  <a:srgbClr val="586B73"/>
                </a:solidFill>
                <a:latin typeface="Arial"/>
                <a:ea typeface="Arial"/>
                <a:cs typeface="Arial"/>
              </a:rPr>
              <a:t>25%</a:t>
            </a:r>
          </a:p>
        </p:txBody>
      </p:sp>
      <p:cxnSp>
        <p:nvCxnSpPr>
          <p:cNvPr id="51" name="Connector 50"/>
          <p:cNvCxnSpPr/>
          <p:nvPr/>
        </p:nvCxnSpPr>
        <p:spPr>
          <a:xfrm>
            <a:off x="7178040" y="3817620"/>
            <a:ext cx="4114800" cy="0"/>
          </a:xfrm>
          <a:prstGeom prst="line">
            <a:avLst/>
          </a:prstGeom>
          <a:ln w="9525">
            <a:solidFill>
              <a:srgbClr val="D2DCDF"/>
            </a:solidFill>
          </a:ln>
        </p:spPr>
      </p:cxnSp>
      <p:sp>
        <p:nvSpPr>
          <p:cNvPr id="52" name="TextBox 51"/>
          <p:cNvSpPr txBox="1"/>
          <p:nvPr/>
        </p:nvSpPr>
        <p:spPr>
          <a:xfrm>
            <a:off x="6611112" y="3698748"/>
            <a:ext cx="502920" cy="237744"/>
          </a:xfrm>
          <a:prstGeom prst="rect">
            <a:avLst/>
          </a:prstGeom>
          <a:noFill/>
        </p:spPr>
        <p:txBody>
          <a:bodyPr wrap="square" lIns="0" tIns="0" rIns="0" bIns="0" anchor="t"/>
          <a:lstStyle/>
          <a:p>
            <a:pPr algn="r"/>
            <a:r>
              <a:rPr sz="1200" b="0" i="0">
                <a:solidFill>
                  <a:srgbClr val="586B73"/>
                </a:solidFill>
                <a:latin typeface="Arial"/>
                <a:ea typeface="Arial"/>
                <a:cs typeface="Arial"/>
              </a:rPr>
              <a:t>50%</a:t>
            </a:r>
          </a:p>
        </p:txBody>
      </p:sp>
      <p:cxnSp>
        <p:nvCxnSpPr>
          <p:cNvPr id="53" name="Connector 52"/>
          <p:cNvCxnSpPr/>
          <p:nvPr/>
        </p:nvCxnSpPr>
        <p:spPr>
          <a:xfrm>
            <a:off x="7178040" y="3074670"/>
            <a:ext cx="4114800" cy="0"/>
          </a:xfrm>
          <a:prstGeom prst="line">
            <a:avLst/>
          </a:prstGeom>
          <a:ln w="9525">
            <a:solidFill>
              <a:srgbClr val="D2DCDF"/>
            </a:solidFill>
          </a:ln>
        </p:spPr>
      </p:cxnSp>
      <p:sp>
        <p:nvSpPr>
          <p:cNvPr id="54" name="TextBox 53"/>
          <p:cNvSpPr txBox="1"/>
          <p:nvPr/>
        </p:nvSpPr>
        <p:spPr>
          <a:xfrm>
            <a:off x="6611112" y="2955798"/>
            <a:ext cx="502920" cy="237744"/>
          </a:xfrm>
          <a:prstGeom prst="rect">
            <a:avLst/>
          </a:prstGeom>
          <a:noFill/>
        </p:spPr>
        <p:txBody>
          <a:bodyPr wrap="square" lIns="0" tIns="0" rIns="0" bIns="0" anchor="t"/>
          <a:lstStyle/>
          <a:p>
            <a:pPr algn="r"/>
            <a:r>
              <a:rPr sz="1200" b="0" i="0">
                <a:solidFill>
                  <a:srgbClr val="586B73"/>
                </a:solidFill>
                <a:latin typeface="Arial"/>
                <a:ea typeface="Arial"/>
                <a:cs typeface="Arial"/>
              </a:rPr>
              <a:t>75%</a:t>
            </a:r>
          </a:p>
        </p:txBody>
      </p:sp>
      <p:cxnSp>
        <p:nvCxnSpPr>
          <p:cNvPr id="55" name="Connector 54"/>
          <p:cNvCxnSpPr/>
          <p:nvPr/>
        </p:nvCxnSpPr>
        <p:spPr>
          <a:xfrm>
            <a:off x="7178040" y="2331720"/>
            <a:ext cx="4114800" cy="0"/>
          </a:xfrm>
          <a:prstGeom prst="line">
            <a:avLst/>
          </a:prstGeom>
          <a:ln w="9525">
            <a:solidFill>
              <a:srgbClr val="D2DCDF"/>
            </a:solidFill>
          </a:ln>
        </p:spPr>
      </p:cxnSp>
      <p:sp>
        <p:nvSpPr>
          <p:cNvPr id="56" name="TextBox 55"/>
          <p:cNvSpPr txBox="1"/>
          <p:nvPr/>
        </p:nvSpPr>
        <p:spPr>
          <a:xfrm>
            <a:off x="6611112" y="2212848"/>
            <a:ext cx="502920" cy="237744"/>
          </a:xfrm>
          <a:prstGeom prst="rect">
            <a:avLst/>
          </a:prstGeom>
          <a:noFill/>
        </p:spPr>
        <p:txBody>
          <a:bodyPr wrap="square" lIns="0" tIns="0" rIns="0" bIns="0" anchor="t"/>
          <a:lstStyle/>
          <a:p>
            <a:pPr algn="r"/>
            <a:r>
              <a:rPr sz="1200" b="0" i="0">
                <a:solidFill>
                  <a:srgbClr val="586B73"/>
                </a:solidFill>
                <a:latin typeface="Arial"/>
                <a:ea typeface="Arial"/>
                <a:cs typeface="Arial"/>
              </a:rPr>
              <a:t>100%</a:t>
            </a:r>
          </a:p>
        </p:txBody>
      </p:sp>
      <p:sp>
        <p:nvSpPr>
          <p:cNvPr id="57" name="TextBox 56"/>
          <p:cNvSpPr txBox="1"/>
          <p:nvPr/>
        </p:nvSpPr>
        <p:spPr>
          <a:xfrm>
            <a:off x="6903720" y="5349240"/>
            <a:ext cx="548640" cy="219456"/>
          </a:xfrm>
          <a:prstGeom prst="rect">
            <a:avLst/>
          </a:prstGeom>
          <a:noFill/>
        </p:spPr>
        <p:txBody>
          <a:bodyPr wrap="square" lIns="0" tIns="0" rIns="0" bIns="0" anchor="t"/>
          <a:lstStyle/>
          <a:p>
            <a:pPr algn="ctr"/>
            <a:r>
              <a:rPr sz="1200" b="0" i="0">
                <a:solidFill>
                  <a:srgbClr val="586B73"/>
                </a:solidFill>
                <a:latin typeface="Arial"/>
                <a:ea typeface="Arial"/>
                <a:cs typeface="Arial"/>
              </a:rPr>
              <a:t>1</a:t>
            </a:r>
          </a:p>
        </p:txBody>
      </p:sp>
      <p:sp>
        <p:nvSpPr>
          <p:cNvPr id="58" name="TextBox 57"/>
          <p:cNvSpPr txBox="1"/>
          <p:nvPr/>
        </p:nvSpPr>
        <p:spPr>
          <a:xfrm>
            <a:off x="7932419" y="5349240"/>
            <a:ext cx="548640" cy="219456"/>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sp>
        <p:nvSpPr>
          <p:cNvPr id="59" name="TextBox 58"/>
          <p:cNvSpPr txBox="1"/>
          <p:nvPr/>
        </p:nvSpPr>
        <p:spPr>
          <a:xfrm>
            <a:off x="8961119" y="5349240"/>
            <a:ext cx="548640" cy="219456"/>
          </a:xfrm>
          <a:prstGeom prst="rect">
            <a:avLst/>
          </a:prstGeom>
          <a:noFill/>
        </p:spPr>
        <p:txBody>
          <a:bodyPr wrap="square" lIns="0" tIns="0" rIns="0" bIns="0" anchor="t"/>
          <a:lstStyle/>
          <a:p>
            <a:pPr algn="ctr"/>
            <a:r>
              <a:rPr sz="1200" b="0" i="0">
                <a:solidFill>
                  <a:srgbClr val="586B73"/>
                </a:solidFill>
                <a:latin typeface="Arial"/>
                <a:ea typeface="Arial"/>
                <a:cs typeface="Arial"/>
              </a:rPr>
              <a:t>16</a:t>
            </a:r>
          </a:p>
        </p:txBody>
      </p:sp>
      <p:sp>
        <p:nvSpPr>
          <p:cNvPr id="60" name="TextBox 59"/>
          <p:cNvSpPr txBox="1"/>
          <p:nvPr/>
        </p:nvSpPr>
        <p:spPr>
          <a:xfrm>
            <a:off x="9989819" y="5349240"/>
            <a:ext cx="548640" cy="219456"/>
          </a:xfrm>
          <a:prstGeom prst="rect">
            <a:avLst/>
          </a:prstGeom>
          <a:noFill/>
        </p:spPr>
        <p:txBody>
          <a:bodyPr wrap="square" lIns="0" tIns="0" rIns="0" bIns="0" anchor="t"/>
          <a:lstStyle/>
          <a:p>
            <a:pPr algn="ctr"/>
            <a:r>
              <a:rPr sz="1200" b="0" i="0">
                <a:solidFill>
                  <a:srgbClr val="586B73"/>
                </a:solidFill>
                <a:latin typeface="Arial"/>
                <a:ea typeface="Arial"/>
                <a:cs typeface="Arial"/>
              </a:rPr>
              <a:t>64</a:t>
            </a:r>
          </a:p>
        </p:txBody>
      </p:sp>
      <p:sp>
        <p:nvSpPr>
          <p:cNvPr id="61" name="TextBox 60"/>
          <p:cNvSpPr txBox="1"/>
          <p:nvPr/>
        </p:nvSpPr>
        <p:spPr>
          <a:xfrm>
            <a:off x="11018519" y="5349240"/>
            <a:ext cx="548640" cy="219456"/>
          </a:xfrm>
          <a:prstGeom prst="rect">
            <a:avLst/>
          </a:prstGeom>
          <a:noFill/>
        </p:spPr>
        <p:txBody>
          <a:bodyPr wrap="square" lIns="0" tIns="0" rIns="0" bIns="0" anchor="t"/>
          <a:lstStyle/>
          <a:p>
            <a:pPr algn="ctr"/>
            <a:r>
              <a:rPr sz="1200" b="0" i="0">
                <a:solidFill>
                  <a:srgbClr val="586B73"/>
                </a:solidFill>
                <a:latin typeface="Arial"/>
                <a:ea typeface="Arial"/>
                <a:cs typeface="Arial"/>
              </a:rPr>
              <a:t>256</a:t>
            </a:r>
          </a:p>
        </p:txBody>
      </p:sp>
      <p:sp>
        <p:nvSpPr>
          <p:cNvPr id="62" name="TextBox 61"/>
          <p:cNvSpPr txBox="1"/>
          <p:nvPr/>
        </p:nvSpPr>
        <p:spPr>
          <a:xfrm>
            <a:off x="7178040" y="5596128"/>
            <a:ext cx="4114800" cy="237744"/>
          </a:xfrm>
          <a:prstGeom prst="rect">
            <a:avLst/>
          </a:prstGeom>
          <a:noFill/>
        </p:spPr>
        <p:txBody>
          <a:bodyPr wrap="square" lIns="0" tIns="0" rIns="0" bIns="0" anchor="t"/>
          <a:lstStyle/>
          <a:p>
            <a:pPr algn="ctr"/>
            <a:r>
              <a:rPr sz="1300" b="0" i="0">
                <a:solidFill>
                  <a:srgbClr val="1B3A57"/>
                </a:solidFill>
                <a:latin typeface="Arial"/>
                <a:ea typeface="Arial"/>
                <a:cs typeface="Arial"/>
              </a:rPr>
              <a:t>Positions per head call (log scale)</a:t>
            </a:r>
          </a:p>
        </p:txBody>
      </p:sp>
      <p:sp>
        <p:nvSpPr>
          <p:cNvPr id="63" name="TextBox 62"/>
          <p:cNvSpPr txBox="1"/>
          <p:nvPr/>
        </p:nvSpPr>
        <p:spPr>
          <a:xfrm>
            <a:off x="9290304" y="2368296"/>
            <a:ext cx="2103120" cy="438912"/>
          </a:xfrm>
          <a:prstGeom prst="rect">
            <a:avLst/>
          </a:prstGeom>
          <a:noFill/>
        </p:spPr>
        <p:txBody>
          <a:bodyPr wrap="square" lIns="0" tIns="0" rIns="0" bIns="0" anchor="t"/>
          <a:lstStyle/>
          <a:p>
            <a:pPr algn="l"/>
            <a:r>
              <a:rPr sz="1200" b="0" i="0">
                <a:solidFill>
                  <a:srgbClr val="586B73"/>
                </a:solidFill>
                <a:latin typeface="Arial"/>
                <a:ea typeface="Arial"/>
                <a:cs typeface="Arial"/>
              </a:rPr>
              <a:t>above 16: consecutive</a:t>
            </a:r>
          </a:p>
          <a:p>
            <a:pPr algn="l"/>
            <a:r>
              <a:rPr sz="1200" b="0" i="0">
                <a:solidFill>
                  <a:srgbClr val="586B73"/>
                </a:solidFill>
                <a:latin typeface="Arial"/>
                <a:ea typeface="Arial"/>
                <a:cs typeface="Arial"/>
              </a:rPr>
              <a:t>replay positions</a:t>
            </a:r>
          </a:p>
        </p:txBody>
      </p:sp>
      <p:cxnSp>
        <p:nvCxnSpPr>
          <p:cNvPr id="64" name="Connector 63"/>
          <p:cNvCxnSpPr/>
          <p:nvPr/>
        </p:nvCxnSpPr>
        <p:spPr>
          <a:xfrm flipV="1">
            <a:off x="7178040" y="5292188"/>
            <a:ext cx="64293" cy="939"/>
          </a:xfrm>
          <a:prstGeom prst="line">
            <a:avLst/>
          </a:prstGeom>
          <a:ln w="19050">
            <a:solidFill>
              <a:srgbClr val="D55E00"/>
            </a:solidFill>
          </a:ln>
        </p:spPr>
      </p:cxnSp>
      <p:cxnSp>
        <p:nvCxnSpPr>
          <p:cNvPr id="65" name="Connector 64"/>
          <p:cNvCxnSpPr/>
          <p:nvPr/>
        </p:nvCxnSpPr>
        <p:spPr>
          <a:xfrm flipV="1">
            <a:off x="7242333" y="5291165"/>
            <a:ext cx="64294" cy="1023"/>
          </a:xfrm>
          <a:prstGeom prst="line">
            <a:avLst/>
          </a:prstGeom>
          <a:ln w="19050">
            <a:solidFill>
              <a:srgbClr val="D55E00"/>
            </a:solidFill>
          </a:ln>
        </p:spPr>
      </p:cxnSp>
      <p:cxnSp>
        <p:nvCxnSpPr>
          <p:cNvPr id="66" name="Connector 65"/>
          <p:cNvCxnSpPr/>
          <p:nvPr/>
        </p:nvCxnSpPr>
        <p:spPr>
          <a:xfrm flipV="1">
            <a:off x="7306627" y="5290049"/>
            <a:ext cx="64294" cy="1116"/>
          </a:xfrm>
          <a:prstGeom prst="line">
            <a:avLst/>
          </a:prstGeom>
          <a:ln w="19050">
            <a:solidFill>
              <a:srgbClr val="D55E00"/>
            </a:solidFill>
          </a:ln>
        </p:spPr>
      </p:cxnSp>
      <p:cxnSp>
        <p:nvCxnSpPr>
          <p:cNvPr id="67" name="Connector 66"/>
          <p:cNvCxnSpPr/>
          <p:nvPr/>
        </p:nvCxnSpPr>
        <p:spPr>
          <a:xfrm flipV="1">
            <a:off x="7370921" y="5288833"/>
            <a:ext cx="64294" cy="1216"/>
          </a:xfrm>
          <a:prstGeom prst="line">
            <a:avLst/>
          </a:prstGeom>
          <a:ln w="19050">
            <a:solidFill>
              <a:srgbClr val="D55E00"/>
            </a:solidFill>
          </a:ln>
        </p:spPr>
      </p:cxnSp>
      <p:cxnSp>
        <p:nvCxnSpPr>
          <p:cNvPr id="68" name="Connector 67"/>
          <p:cNvCxnSpPr/>
          <p:nvPr/>
        </p:nvCxnSpPr>
        <p:spPr>
          <a:xfrm flipV="1">
            <a:off x="7435215" y="5287507"/>
            <a:ext cx="64293" cy="1326"/>
          </a:xfrm>
          <a:prstGeom prst="line">
            <a:avLst/>
          </a:prstGeom>
          <a:ln w="19050">
            <a:solidFill>
              <a:srgbClr val="D55E00"/>
            </a:solidFill>
          </a:ln>
        </p:spPr>
      </p:cxnSp>
      <p:cxnSp>
        <p:nvCxnSpPr>
          <p:cNvPr id="69" name="Connector 68"/>
          <p:cNvCxnSpPr/>
          <p:nvPr/>
        </p:nvCxnSpPr>
        <p:spPr>
          <a:xfrm flipV="1">
            <a:off x="7499508" y="5286062"/>
            <a:ext cx="64294" cy="1445"/>
          </a:xfrm>
          <a:prstGeom prst="line">
            <a:avLst/>
          </a:prstGeom>
          <a:ln w="19050">
            <a:solidFill>
              <a:srgbClr val="D55E00"/>
            </a:solidFill>
          </a:ln>
        </p:spPr>
      </p:cxnSp>
      <p:cxnSp>
        <p:nvCxnSpPr>
          <p:cNvPr id="70" name="Connector 69"/>
          <p:cNvCxnSpPr/>
          <p:nvPr/>
        </p:nvCxnSpPr>
        <p:spPr>
          <a:xfrm flipV="1">
            <a:off x="7563802" y="5284487"/>
            <a:ext cx="64294" cy="1575"/>
          </a:xfrm>
          <a:prstGeom prst="line">
            <a:avLst/>
          </a:prstGeom>
          <a:ln w="19050">
            <a:solidFill>
              <a:srgbClr val="D55E00"/>
            </a:solidFill>
          </a:ln>
        </p:spPr>
      </p:cxnSp>
      <p:cxnSp>
        <p:nvCxnSpPr>
          <p:cNvPr id="71" name="Connector 70"/>
          <p:cNvCxnSpPr/>
          <p:nvPr/>
        </p:nvCxnSpPr>
        <p:spPr>
          <a:xfrm flipV="1">
            <a:off x="7628096" y="5282771"/>
            <a:ext cx="64294" cy="1716"/>
          </a:xfrm>
          <a:prstGeom prst="line">
            <a:avLst/>
          </a:prstGeom>
          <a:ln w="19050">
            <a:solidFill>
              <a:srgbClr val="D55E00"/>
            </a:solidFill>
          </a:ln>
        </p:spPr>
      </p:cxnSp>
      <p:cxnSp>
        <p:nvCxnSpPr>
          <p:cNvPr id="72" name="Connector 71"/>
          <p:cNvCxnSpPr/>
          <p:nvPr/>
        </p:nvCxnSpPr>
        <p:spPr>
          <a:xfrm flipV="1">
            <a:off x="7692390" y="5280900"/>
            <a:ext cx="64293" cy="1871"/>
          </a:xfrm>
          <a:prstGeom prst="line">
            <a:avLst/>
          </a:prstGeom>
          <a:ln w="19050">
            <a:solidFill>
              <a:srgbClr val="D55E00"/>
            </a:solidFill>
          </a:ln>
        </p:spPr>
      </p:cxnSp>
      <p:cxnSp>
        <p:nvCxnSpPr>
          <p:cNvPr id="73" name="Connector 72"/>
          <p:cNvCxnSpPr/>
          <p:nvPr/>
        </p:nvCxnSpPr>
        <p:spPr>
          <a:xfrm flipV="1">
            <a:off x="7756683" y="5278861"/>
            <a:ext cx="64294" cy="2039"/>
          </a:xfrm>
          <a:prstGeom prst="line">
            <a:avLst/>
          </a:prstGeom>
          <a:ln w="19050">
            <a:solidFill>
              <a:srgbClr val="D55E00"/>
            </a:solidFill>
          </a:ln>
        </p:spPr>
      </p:cxnSp>
      <p:cxnSp>
        <p:nvCxnSpPr>
          <p:cNvPr id="74" name="Connector 73"/>
          <p:cNvCxnSpPr/>
          <p:nvPr/>
        </p:nvCxnSpPr>
        <p:spPr>
          <a:xfrm flipV="1">
            <a:off x="7820977" y="5276639"/>
            <a:ext cx="64294" cy="2222"/>
          </a:xfrm>
          <a:prstGeom prst="line">
            <a:avLst/>
          </a:prstGeom>
          <a:ln w="19050">
            <a:solidFill>
              <a:srgbClr val="D55E00"/>
            </a:solidFill>
          </a:ln>
        </p:spPr>
      </p:cxnSp>
      <p:cxnSp>
        <p:nvCxnSpPr>
          <p:cNvPr id="75" name="Connector 74"/>
          <p:cNvCxnSpPr/>
          <p:nvPr/>
        </p:nvCxnSpPr>
        <p:spPr>
          <a:xfrm flipV="1">
            <a:off x="7885271" y="5274219"/>
            <a:ext cx="64294" cy="2420"/>
          </a:xfrm>
          <a:prstGeom prst="line">
            <a:avLst/>
          </a:prstGeom>
          <a:ln w="19050">
            <a:solidFill>
              <a:srgbClr val="D55E00"/>
            </a:solidFill>
          </a:ln>
        </p:spPr>
      </p:cxnSp>
      <p:cxnSp>
        <p:nvCxnSpPr>
          <p:cNvPr id="76" name="Connector 75"/>
          <p:cNvCxnSpPr/>
          <p:nvPr/>
        </p:nvCxnSpPr>
        <p:spPr>
          <a:xfrm flipV="1">
            <a:off x="7949565" y="5271581"/>
            <a:ext cx="64293" cy="2638"/>
          </a:xfrm>
          <a:prstGeom prst="line">
            <a:avLst/>
          </a:prstGeom>
          <a:ln w="19050">
            <a:solidFill>
              <a:srgbClr val="D55E00"/>
            </a:solidFill>
          </a:ln>
        </p:spPr>
      </p:cxnSp>
      <p:cxnSp>
        <p:nvCxnSpPr>
          <p:cNvPr id="77" name="Connector 76"/>
          <p:cNvCxnSpPr/>
          <p:nvPr/>
        </p:nvCxnSpPr>
        <p:spPr>
          <a:xfrm flipV="1">
            <a:off x="8013858" y="5268707"/>
            <a:ext cx="64294" cy="2874"/>
          </a:xfrm>
          <a:prstGeom prst="line">
            <a:avLst/>
          </a:prstGeom>
          <a:ln w="19050">
            <a:solidFill>
              <a:srgbClr val="D55E00"/>
            </a:solidFill>
          </a:ln>
        </p:spPr>
      </p:cxnSp>
      <p:cxnSp>
        <p:nvCxnSpPr>
          <p:cNvPr id="78" name="Connector 77"/>
          <p:cNvCxnSpPr/>
          <p:nvPr/>
        </p:nvCxnSpPr>
        <p:spPr>
          <a:xfrm flipV="1">
            <a:off x="8078152" y="5265577"/>
            <a:ext cx="64294" cy="3130"/>
          </a:xfrm>
          <a:prstGeom prst="line">
            <a:avLst/>
          </a:prstGeom>
          <a:ln w="19050">
            <a:solidFill>
              <a:srgbClr val="D55E00"/>
            </a:solidFill>
          </a:ln>
        </p:spPr>
      </p:cxnSp>
      <p:cxnSp>
        <p:nvCxnSpPr>
          <p:cNvPr id="79" name="Connector 78"/>
          <p:cNvCxnSpPr/>
          <p:nvPr/>
        </p:nvCxnSpPr>
        <p:spPr>
          <a:xfrm flipV="1">
            <a:off x="8142446" y="5262166"/>
            <a:ext cx="64294" cy="3411"/>
          </a:xfrm>
          <a:prstGeom prst="line">
            <a:avLst/>
          </a:prstGeom>
          <a:ln w="19050">
            <a:solidFill>
              <a:srgbClr val="D55E00"/>
            </a:solidFill>
          </a:ln>
        </p:spPr>
      </p:cxnSp>
      <p:cxnSp>
        <p:nvCxnSpPr>
          <p:cNvPr id="80" name="Connector 79"/>
          <p:cNvCxnSpPr/>
          <p:nvPr/>
        </p:nvCxnSpPr>
        <p:spPr>
          <a:xfrm flipV="1">
            <a:off x="8206740" y="5258452"/>
            <a:ext cx="64293" cy="3714"/>
          </a:xfrm>
          <a:prstGeom prst="line">
            <a:avLst/>
          </a:prstGeom>
          <a:ln w="19050">
            <a:solidFill>
              <a:srgbClr val="D55E00"/>
            </a:solidFill>
          </a:ln>
        </p:spPr>
      </p:cxnSp>
      <p:cxnSp>
        <p:nvCxnSpPr>
          <p:cNvPr id="81" name="Connector 80"/>
          <p:cNvCxnSpPr/>
          <p:nvPr/>
        </p:nvCxnSpPr>
        <p:spPr>
          <a:xfrm flipV="1">
            <a:off x="8271033" y="5254407"/>
            <a:ext cx="64294" cy="4045"/>
          </a:xfrm>
          <a:prstGeom prst="line">
            <a:avLst/>
          </a:prstGeom>
          <a:ln w="19050">
            <a:solidFill>
              <a:srgbClr val="D55E00"/>
            </a:solidFill>
          </a:ln>
        </p:spPr>
      </p:cxnSp>
      <p:cxnSp>
        <p:nvCxnSpPr>
          <p:cNvPr id="82" name="Connector 81"/>
          <p:cNvCxnSpPr/>
          <p:nvPr/>
        </p:nvCxnSpPr>
        <p:spPr>
          <a:xfrm flipV="1">
            <a:off x="8335327" y="5250002"/>
            <a:ext cx="64294" cy="4405"/>
          </a:xfrm>
          <a:prstGeom prst="line">
            <a:avLst/>
          </a:prstGeom>
          <a:ln w="19050">
            <a:solidFill>
              <a:srgbClr val="D55E00"/>
            </a:solidFill>
          </a:ln>
        </p:spPr>
      </p:cxnSp>
      <p:cxnSp>
        <p:nvCxnSpPr>
          <p:cNvPr id="83" name="Connector 82"/>
          <p:cNvCxnSpPr/>
          <p:nvPr/>
        </p:nvCxnSpPr>
        <p:spPr>
          <a:xfrm flipV="1">
            <a:off x="8399621" y="5245207"/>
            <a:ext cx="64294" cy="4795"/>
          </a:xfrm>
          <a:prstGeom prst="line">
            <a:avLst/>
          </a:prstGeom>
          <a:ln w="19050">
            <a:solidFill>
              <a:srgbClr val="D55E00"/>
            </a:solidFill>
          </a:ln>
        </p:spPr>
      </p:cxnSp>
      <p:cxnSp>
        <p:nvCxnSpPr>
          <p:cNvPr id="84" name="Connector 83"/>
          <p:cNvCxnSpPr/>
          <p:nvPr/>
        </p:nvCxnSpPr>
        <p:spPr>
          <a:xfrm flipV="1">
            <a:off x="8463915" y="5239986"/>
            <a:ext cx="64293" cy="5221"/>
          </a:xfrm>
          <a:prstGeom prst="line">
            <a:avLst/>
          </a:prstGeom>
          <a:ln w="19050">
            <a:solidFill>
              <a:srgbClr val="D55E00"/>
            </a:solidFill>
          </a:ln>
        </p:spPr>
      </p:cxnSp>
      <p:cxnSp>
        <p:nvCxnSpPr>
          <p:cNvPr id="85" name="Connector 84"/>
          <p:cNvCxnSpPr/>
          <p:nvPr/>
        </p:nvCxnSpPr>
        <p:spPr>
          <a:xfrm flipV="1">
            <a:off x="8528208" y="5234303"/>
            <a:ext cx="64294" cy="5683"/>
          </a:xfrm>
          <a:prstGeom prst="line">
            <a:avLst/>
          </a:prstGeom>
          <a:ln w="19050">
            <a:solidFill>
              <a:srgbClr val="D55E00"/>
            </a:solidFill>
          </a:ln>
        </p:spPr>
      </p:cxnSp>
      <p:cxnSp>
        <p:nvCxnSpPr>
          <p:cNvPr id="86" name="Connector 85"/>
          <p:cNvCxnSpPr/>
          <p:nvPr/>
        </p:nvCxnSpPr>
        <p:spPr>
          <a:xfrm flipV="1">
            <a:off x="8592502" y="5228118"/>
            <a:ext cx="64294" cy="6185"/>
          </a:xfrm>
          <a:prstGeom prst="line">
            <a:avLst/>
          </a:prstGeom>
          <a:ln w="19050">
            <a:solidFill>
              <a:srgbClr val="D55E00"/>
            </a:solidFill>
          </a:ln>
        </p:spPr>
      </p:cxnSp>
      <p:cxnSp>
        <p:nvCxnSpPr>
          <p:cNvPr id="87" name="Connector 86"/>
          <p:cNvCxnSpPr/>
          <p:nvPr/>
        </p:nvCxnSpPr>
        <p:spPr>
          <a:xfrm flipV="1">
            <a:off x="8656796" y="5221389"/>
            <a:ext cx="64294" cy="6729"/>
          </a:xfrm>
          <a:prstGeom prst="line">
            <a:avLst/>
          </a:prstGeom>
          <a:ln w="19050">
            <a:solidFill>
              <a:srgbClr val="D55E00"/>
            </a:solidFill>
          </a:ln>
        </p:spPr>
      </p:cxnSp>
      <p:cxnSp>
        <p:nvCxnSpPr>
          <p:cNvPr id="88" name="Connector 87"/>
          <p:cNvCxnSpPr/>
          <p:nvPr/>
        </p:nvCxnSpPr>
        <p:spPr>
          <a:xfrm flipV="1">
            <a:off x="8721090" y="5214068"/>
            <a:ext cx="64293" cy="7321"/>
          </a:xfrm>
          <a:prstGeom prst="line">
            <a:avLst/>
          </a:prstGeom>
          <a:ln w="19050">
            <a:solidFill>
              <a:srgbClr val="D55E00"/>
            </a:solidFill>
          </a:ln>
        </p:spPr>
      </p:cxnSp>
      <p:cxnSp>
        <p:nvCxnSpPr>
          <p:cNvPr id="89" name="Connector 88"/>
          <p:cNvCxnSpPr/>
          <p:nvPr/>
        </p:nvCxnSpPr>
        <p:spPr>
          <a:xfrm flipV="1">
            <a:off x="8785383" y="5206107"/>
            <a:ext cx="64294" cy="7961"/>
          </a:xfrm>
          <a:prstGeom prst="line">
            <a:avLst/>
          </a:prstGeom>
          <a:ln w="19050">
            <a:solidFill>
              <a:srgbClr val="D55E00"/>
            </a:solidFill>
          </a:ln>
        </p:spPr>
      </p:cxnSp>
      <p:cxnSp>
        <p:nvCxnSpPr>
          <p:cNvPr id="90" name="Connector 89"/>
          <p:cNvCxnSpPr/>
          <p:nvPr/>
        </p:nvCxnSpPr>
        <p:spPr>
          <a:xfrm flipV="1">
            <a:off x="8849677" y="5197449"/>
            <a:ext cx="64294" cy="8658"/>
          </a:xfrm>
          <a:prstGeom prst="line">
            <a:avLst/>
          </a:prstGeom>
          <a:ln w="19050">
            <a:solidFill>
              <a:srgbClr val="D55E00"/>
            </a:solidFill>
          </a:ln>
        </p:spPr>
      </p:cxnSp>
      <p:cxnSp>
        <p:nvCxnSpPr>
          <p:cNvPr id="91" name="Connector 90"/>
          <p:cNvCxnSpPr/>
          <p:nvPr/>
        </p:nvCxnSpPr>
        <p:spPr>
          <a:xfrm flipV="1">
            <a:off x="8913971" y="5188038"/>
            <a:ext cx="64294" cy="9411"/>
          </a:xfrm>
          <a:prstGeom prst="line">
            <a:avLst/>
          </a:prstGeom>
          <a:ln w="19050">
            <a:solidFill>
              <a:srgbClr val="D55E00"/>
            </a:solidFill>
          </a:ln>
        </p:spPr>
      </p:cxnSp>
      <p:cxnSp>
        <p:nvCxnSpPr>
          <p:cNvPr id="92" name="Connector 91"/>
          <p:cNvCxnSpPr/>
          <p:nvPr/>
        </p:nvCxnSpPr>
        <p:spPr>
          <a:xfrm flipV="1">
            <a:off x="8978265" y="5177810"/>
            <a:ext cx="64293" cy="10228"/>
          </a:xfrm>
          <a:prstGeom prst="line">
            <a:avLst/>
          </a:prstGeom>
          <a:ln w="19050">
            <a:solidFill>
              <a:srgbClr val="D55E00"/>
            </a:solidFill>
          </a:ln>
        </p:spPr>
      </p:cxnSp>
      <p:cxnSp>
        <p:nvCxnSpPr>
          <p:cNvPr id="93" name="Connector 92"/>
          <p:cNvCxnSpPr/>
          <p:nvPr/>
        </p:nvCxnSpPr>
        <p:spPr>
          <a:xfrm flipV="1">
            <a:off x="9042558" y="5166698"/>
            <a:ext cx="64294" cy="11112"/>
          </a:xfrm>
          <a:prstGeom prst="line">
            <a:avLst/>
          </a:prstGeom>
          <a:ln w="19050">
            <a:solidFill>
              <a:srgbClr val="D55E00"/>
            </a:solidFill>
          </a:ln>
        </p:spPr>
      </p:cxnSp>
      <p:cxnSp>
        <p:nvCxnSpPr>
          <p:cNvPr id="94" name="Connector 93"/>
          <p:cNvCxnSpPr/>
          <p:nvPr/>
        </p:nvCxnSpPr>
        <p:spPr>
          <a:xfrm flipV="1">
            <a:off x="9106852" y="5154630"/>
            <a:ext cx="64294" cy="12068"/>
          </a:xfrm>
          <a:prstGeom prst="line">
            <a:avLst/>
          </a:prstGeom>
          <a:ln w="19050">
            <a:solidFill>
              <a:srgbClr val="D55E00"/>
            </a:solidFill>
          </a:ln>
        </p:spPr>
      </p:cxnSp>
      <p:cxnSp>
        <p:nvCxnSpPr>
          <p:cNvPr id="95" name="Connector 94"/>
          <p:cNvCxnSpPr/>
          <p:nvPr/>
        </p:nvCxnSpPr>
        <p:spPr>
          <a:xfrm flipV="1">
            <a:off x="9171146" y="5141528"/>
            <a:ext cx="64294" cy="13102"/>
          </a:xfrm>
          <a:prstGeom prst="line">
            <a:avLst/>
          </a:prstGeom>
          <a:ln w="19050">
            <a:solidFill>
              <a:srgbClr val="D55E00"/>
            </a:solidFill>
          </a:ln>
        </p:spPr>
      </p:cxnSp>
      <p:cxnSp>
        <p:nvCxnSpPr>
          <p:cNvPr id="96" name="Connector 95"/>
          <p:cNvCxnSpPr/>
          <p:nvPr/>
        </p:nvCxnSpPr>
        <p:spPr>
          <a:xfrm flipV="1">
            <a:off x="9235440" y="5127310"/>
            <a:ext cx="64293" cy="14218"/>
          </a:xfrm>
          <a:prstGeom prst="line">
            <a:avLst/>
          </a:prstGeom>
          <a:ln w="19050">
            <a:solidFill>
              <a:srgbClr val="D55E00"/>
            </a:solidFill>
          </a:ln>
        </p:spPr>
      </p:cxnSp>
      <p:cxnSp>
        <p:nvCxnSpPr>
          <p:cNvPr id="97" name="Connector 96"/>
          <p:cNvCxnSpPr/>
          <p:nvPr/>
        </p:nvCxnSpPr>
        <p:spPr>
          <a:xfrm flipV="1">
            <a:off x="9299733" y="5111887"/>
            <a:ext cx="64294" cy="15423"/>
          </a:xfrm>
          <a:prstGeom prst="line">
            <a:avLst/>
          </a:prstGeom>
          <a:ln w="19050">
            <a:solidFill>
              <a:srgbClr val="D55E00"/>
            </a:solidFill>
          </a:ln>
        </p:spPr>
      </p:cxnSp>
      <p:cxnSp>
        <p:nvCxnSpPr>
          <p:cNvPr id="98" name="Connector 97"/>
          <p:cNvCxnSpPr/>
          <p:nvPr/>
        </p:nvCxnSpPr>
        <p:spPr>
          <a:xfrm flipV="1">
            <a:off x="9364027" y="5095165"/>
            <a:ext cx="64294" cy="16722"/>
          </a:xfrm>
          <a:prstGeom prst="line">
            <a:avLst/>
          </a:prstGeom>
          <a:ln w="19050">
            <a:solidFill>
              <a:srgbClr val="D55E00"/>
            </a:solidFill>
          </a:ln>
        </p:spPr>
      </p:cxnSp>
      <p:cxnSp>
        <p:nvCxnSpPr>
          <p:cNvPr id="99" name="Connector 98"/>
          <p:cNvCxnSpPr/>
          <p:nvPr/>
        </p:nvCxnSpPr>
        <p:spPr>
          <a:xfrm flipV="1">
            <a:off x="9428321" y="5077044"/>
            <a:ext cx="64294" cy="18121"/>
          </a:xfrm>
          <a:prstGeom prst="line">
            <a:avLst/>
          </a:prstGeom>
          <a:ln w="19050">
            <a:solidFill>
              <a:srgbClr val="D55E00"/>
            </a:solidFill>
          </a:ln>
        </p:spPr>
      </p:cxnSp>
      <p:cxnSp>
        <p:nvCxnSpPr>
          <p:cNvPr id="100" name="Connector 99"/>
          <p:cNvCxnSpPr/>
          <p:nvPr/>
        </p:nvCxnSpPr>
        <p:spPr>
          <a:xfrm flipV="1">
            <a:off x="9492615" y="5057418"/>
            <a:ext cx="64293" cy="19626"/>
          </a:xfrm>
          <a:prstGeom prst="line">
            <a:avLst/>
          </a:prstGeom>
          <a:ln w="19050">
            <a:solidFill>
              <a:srgbClr val="D55E00"/>
            </a:solidFill>
          </a:ln>
        </p:spPr>
      </p:cxnSp>
      <p:cxnSp>
        <p:nvCxnSpPr>
          <p:cNvPr id="101" name="Connector 100"/>
          <p:cNvCxnSpPr/>
          <p:nvPr/>
        </p:nvCxnSpPr>
        <p:spPr>
          <a:xfrm flipV="1">
            <a:off x="9556908" y="5036176"/>
            <a:ext cx="64294" cy="21242"/>
          </a:xfrm>
          <a:prstGeom prst="line">
            <a:avLst/>
          </a:prstGeom>
          <a:ln w="19050">
            <a:solidFill>
              <a:srgbClr val="D55E00"/>
            </a:solidFill>
          </a:ln>
        </p:spPr>
      </p:cxnSp>
      <p:cxnSp>
        <p:nvCxnSpPr>
          <p:cNvPr id="102" name="Connector 101"/>
          <p:cNvCxnSpPr/>
          <p:nvPr/>
        </p:nvCxnSpPr>
        <p:spPr>
          <a:xfrm flipV="1">
            <a:off x="9621202" y="5013200"/>
            <a:ext cx="64294" cy="22976"/>
          </a:xfrm>
          <a:prstGeom prst="line">
            <a:avLst/>
          </a:prstGeom>
          <a:ln w="19050">
            <a:solidFill>
              <a:srgbClr val="D55E00"/>
            </a:solidFill>
          </a:ln>
        </p:spPr>
      </p:cxnSp>
      <p:cxnSp>
        <p:nvCxnSpPr>
          <p:cNvPr id="103" name="Connector 102"/>
          <p:cNvCxnSpPr/>
          <p:nvPr/>
        </p:nvCxnSpPr>
        <p:spPr>
          <a:xfrm flipV="1">
            <a:off x="9685496" y="4988367"/>
            <a:ext cx="64294" cy="24833"/>
          </a:xfrm>
          <a:prstGeom prst="line">
            <a:avLst/>
          </a:prstGeom>
          <a:ln w="19050">
            <a:solidFill>
              <a:srgbClr val="D55E00"/>
            </a:solidFill>
          </a:ln>
        </p:spPr>
      </p:cxnSp>
      <p:cxnSp>
        <p:nvCxnSpPr>
          <p:cNvPr id="104" name="Connector 103"/>
          <p:cNvCxnSpPr/>
          <p:nvPr/>
        </p:nvCxnSpPr>
        <p:spPr>
          <a:xfrm flipV="1">
            <a:off x="9749790" y="4961548"/>
            <a:ext cx="64293" cy="26819"/>
          </a:xfrm>
          <a:prstGeom prst="line">
            <a:avLst/>
          </a:prstGeom>
          <a:ln w="19050">
            <a:solidFill>
              <a:srgbClr val="D55E00"/>
            </a:solidFill>
          </a:ln>
        </p:spPr>
      </p:cxnSp>
      <p:cxnSp>
        <p:nvCxnSpPr>
          <p:cNvPr id="105" name="Connector 104"/>
          <p:cNvCxnSpPr/>
          <p:nvPr/>
        </p:nvCxnSpPr>
        <p:spPr>
          <a:xfrm flipV="1">
            <a:off x="9814083" y="4932611"/>
            <a:ext cx="64294" cy="28937"/>
          </a:xfrm>
          <a:prstGeom prst="line">
            <a:avLst/>
          </a:prstGeom>
          <a:ln w="19050">
            <a:solidFill>
              <a:srgbClr val="D55E00"/>
            </a:solidFill>
          </a:ln>
        </p:spPr>
      </p:cxnSp>
      <p:cxnSp>
        <p:nvCxnSpPr>
          <p:cNvPr id="106" name="Connector 105"/>
          <p:cNvCxnSpPr/>
          <p:nvPr/>
        </p:nvCxnSpPr>
        <p:spPr>
          <a:xfrm flipV="1">
            <a:off x="9878377" y="4901418"/>
            <a:ext cx="64294" cy="31193"/>
          </a:xfrm>
          <a:prstGeom prst="line">
            <a:avLst/>
          </a:prstGeom>
          <a:ln w="19050">
            <a:solidFill>
              <a:srgbClr val="D55E00"/>
            </a:solidFill>
          </a:ln>
        </p:spPr>
      </p:cxnSp>
      <p:cxnSp>
        <p:nvCxnSpPr>
          <p:cNvPr id="107" name="Connector 106"/>
          <p:cNvCxnSpPr/>
          <p:nvPr/>
        </p:nvCxnSpPr>
        <p:spPr>
          <a:xfrm flipV="1">
            <a:off x="9942671" y="4867827"/>
            <a:ext cx="64294" cy="33591"/>
          </a:xfrm>
          <a:prstGeom prst="line">
            <a:avLst/>
          </a:prstGeom>
          <a:ln w="19050">
            <a:solidFill>
              <a:srgbClr val="D55E00"/>
            </a:solidFill>
          </a:ln>
        </p:spPr>
      </p:cxnSp>
      <p:cxnSp>
        <p:nvCxnSpPr>
          <p:cNvPr id="108" name="Connector 107"/>
          <p:cNvCxnSpPr/>
          <p:nvPr/>
        </p:nvCxnSpPr>
        <p:spPr>
          <a:xfrm flipV="1">
            <a:off x="10006965" y="4831697"/>
            <a:ext cx="64293" cy="36130"/>
          </a:xfrm>
          <a:prstGeom prst="line">
            <a:avLst/>
          </a:prstGeom>
          <a:ln w="19050">
            <a:solidFill>
              <a:srgbClr val="D55E00"/>
            </a:solidFill>
          </a:ln>
        </p:spPr>
      </p:cxnSp>
      <p:cxnSp>
        <p:nvCxnSpPr>
          <p:cNvPr id="109" name="Connector 108"/>
          <p:cNvCxnSpPr/>
          <p:nvPr/>
        </p:nvCxnSpPr>
        <p:spPr>
          <a:xfrm flipV="1">
            <a:off x="10071258" y="4792883"/>
            <a:ext cx="64294" cy="38814"/>
          </a:xfrm>
          <a:prstGeom prst="line">
            <a:avLst/>
          </a:prstGeom>
          <a:ln w="19050">
            <a:solidFill>
              <a:srgbClr val="D55E00"/>
            </a:solidFill>
          </a:ln>
        </p:spPr>
      </p:cxnSp>
      <p:cxnSp>
        <p:nvCxnSpPr>
          <p:cNvPr id="110" name="Connector 109"/>
          <p:cNvCxnSpPr/>
          <p:nvPr/>
        </p:nvCxnSpPr>
        <p:spPr>
          <a:xfrm flipV="1">
            <a:off x="10135552" y="4751242"/>
            <a:ext cx="64294" cy="41641"/>
          </a:xfrm>
          <a:prstGeom prst="line">
            <a:avLst/>
          </a:prstGeom>
          <a:ln w="19050">
            <a:solidFill>
              <a:srgbClr val="D55E00"/>
            </a:solidFill>
          </a:ln>
        </p:spPr>
      </p:cxnSp>
      <p:cxnSp>
        <p:nvCxnSpPr>
          <p:cNvPr id="111" name="Connector 110"/>
          <p:cNvCxnSpPr/>
          <p:nvPr/>
        </p:nvCxnSpPr>
        <p:spPr>
          <a:xfrm flipV="1">
            <a:off x="10199846" y="4706636"/>
            <a:ext cx="64294" cy="44606"/>
          </a:xfrm>
          <a:prstGeom prst="line">
            <a:avLst/>
          </a:prstGeom>
          <a:ln w="19050">
            <a:solidFill>
              <a:srgbClr val="D55E00"/>
            </a:solidFill>
          </a:ln>
        </p:spPr>
      </p:cxnSp>
      <p:cxnSp>
        <p:nvCxnSpPr>
          <p:cNvPr id="112" name="Connector 111"/>
          <p:cNvCxnSpPr/>
          <p:nvPr/>
        </p:nvCxnSpPr>
        <p:spPr>
          <a:xfrm flipV="1">
            <a:off x="10264140" y="4658929"/>
            <a:ext cx="64293" cy="47707"/>
          </a:xfrm>
          <a:prstGeom prst="line">
            <a:avLst/>
          </a:prstGeom>
          <a:ln w="19050">
            <a:solidFill>
              <a:srgbClr val="D55E00"/>
            </a:solidFill>
          </a:ln>
        </p:spPr>
      </p:cxnSp>
      <p:cxnSp>
        <p:nvCxnSpPr>
          <p:cNvPr id="113" name="Connector 112"/>
          <p:cNvCxnSpPr/>
          <p:nvPr/>
        </p:nvCxnSpPr>
        <p:spPr>
          <a:xfrm flipV="1">
            <a:off x="10328433" y="4607995"/>
            <a:ext cx="64294" cy="50934"/>
          </a:xfrm>
          <a:prstGeom prst="line">
            <a:avLst/>
          </a:prstGeom>
          <a:ln w="19050">
            <a:solidFill>
              <a:srgbClr val="D55E00"/>
            </a:solidFill>
          </a:ln>
        </p:spPr>
      </p:cxnSp>
      <p:cxnSp>
        <p:nvCxnSpPr>
          <p:cNvPr id="114" name="Connector 113"/>
          <p:cNvCxnSpPr/>
          <p:nvPr/>
        </p:nvCxnSpPr>
        <p:spPr>
          <a:xfrm flipV="1">
            <a:off x="10392727" y="4553722"/>
            <a:ext cx="64294" cy="54273"/>
          </a:xfrm>
          <a:prstGeom prst="line">
            <a:avLst/>
          </a:prstGeom>
          <a:ln w="19050">
            <a:solidFill>
              <a:srgbClr val="D55E00"/>
            </a:solidFill>
          </a:ln>
        </p:spPr>
      </p:cxnSp>
      <p:cxnSp>
        <p:nvCxnSpPr>
          <p:cNvPr id="115" name="Connector 114"/>
          <p:cNvCxnSpPr/>
          <p:nvPr/>
        </p:nvCxnSpPr>
        <p:spPr>
          <a:xfrm flipV="1">
            <a:off x="10457021" y="4496011"/>
            <a:ext cx="64294" cy="57711"/>
          </a:xfrm>
          <a:prstGeom prst="line">
            <a:avLst/>
          </a:prstGeom>
          <a:ln w="19050">
            <a:solidFill>
              <a:srgbClr val="D55E00"/>
            </a:solidFill>
          </a:ln>
        </p:spPr>
      </p:cxnSp>
      <p:cxnSp>
        <p:nvCxnSpPr>
          <p:cNvPr id="116" name="Connector 115"/>
          <p:cNvCxnSpPr/>
          <p:nvPr/>
        </p:nvCxnSpPr>
        <p:spPr>
          <a:xfrm flipV="1">
            <a:off x="10521315" y="4434783"/>
            <a:ext cx="64293" cy="61228"/>
          </a:xfrm>
          <a:prstGeom prst="line">
            <a:avLst/>
          </a:prstGeom>
          <a:ln w="19050">
            <a:solidFill>
              <a:srgbClr val="D55E00"/>
            </a:solidFill>
          </a:ln>
        </p:spPr>
      </p:cxnSp>
      <p:cxnSp>
        <p:nvCxnSpPr>
          <p:cNvPr id="117" name="Connector 116"/>
          <p:cNvCxnSpPr/>
          <p:nvPr/>
        </p:nvCxnSpPr>
        <p:spPr>
          <a:xfrm flipV="1">
            <a:off x="10585608" y="4369987"/>
            <a:ext cx="64294" cy="64796"/>
          </a:xfrm>
          <a:prstGeom prst="line">
            <a:avLst/>
          </a:prstGeom>
          <a:ln w="19050">
            <a:solidFill>
              <a:srgbClr val="D55E00"/>
            </a:solidFill>
          </a:ln>
        </p:spPr>
      </p:cxnSp>
      <p:cxnSp>
        <p:nvCxnSpPr>
          <p:cNvPr id="118" name="Connector 117"/>
          <p:cNvCxnSpPr/>
          <p:nvPr/>
        </p:nvCxnSpPr>
        <p:spPr>
          <a:xfrm flipV="1">
            <a:off x="10649902" y="4301600"/>
            <a:ext cx="64294" cy="68387"/>
          </a:xfrm>
          <a:prstGeom prst="line">
            <a:avLst/>
          </a:prstGeom>
          <a:ln w="19050">
            <a:solidFill>
              <a:srgbClr val="D55E00"/>
            </a:solidFill>
          </a:ln>
        </p:spPr>
      </p:cxnSp>
      <p:cxnSp>
        <p:nvCxnSpPr>
          <p:cNvPr id="119" name="Connector 118"/>
          <p:cNvCxnSpPr/>
          <p:nvPr/>
        </p:nvCxnSpPr>
        <p:spPr>
          <a:xfrm flipV="1">
            <a:off x="10714196" y="4229635"/>
            <a:ext cx="64294" cy="71965"/>
          </a:xfrm>
          <a:prstGeom prst="line">
            <a:avLst/>
          </a:prstGeom>
          <a:ln w="19050">
            <a:solidFill>
              <a:srgbClr val="D55E00"/>
            </a:solidFill>
          </a:ln>
        </p:spPr>
      </p:cxnSp>
      <p:cxnSp>
        <p:nvCxnSpPr>
          <p:cNvPr id="120" name="Connector 119"/>
          <p:cNvCxnSpPr/>
          <p:nvPr/>
        </p:nvCxnSpPr>
        <p:spPr>
          <a:xfrm flipV="1">
            <a:off x="10778490" y="4154151"/>
            <a:ext cx="64293" cy="75484"/>
          </a:xfrm>
          <a:prstGeom prst="line">
            <a:avLst/>
          </a:prstGeom>
          <a:ln w="19050">
            <a:solidFill>
              <a:srgbClr val="D55E00"/>
            </a:solidFill>
          </a:ln>
        </p:spPr>
      </p:cxnSp>
      <p:cxnSp>
        <p:nvCxnSpPr>
          <p:cNvPr id="121" name="Connector 120"/>
          <p:cNvCxnSpPr/>
          <p:nvPr/>
        </p:nvCxnSpPr>
        <p:spPr>
          <a:xfrm flipV="1">
            <a:off x="10842783" y="4075253"/>
            <a:ext cx="64294" cy="78898"/>
          </a:xfrm>
          <a:prstGeom prst="line">
            <a:avLst/>
          </a:prstGeom>
          <a:ln w="19050">
            <a:solidFill>
              <a:srgbClr val="D55E00"/>
            </a:solidFill>
          </a:ln>
        </p:spPr>
      </p:cxnSp>
      <p:cxnSp>
        <p:nvCxnSpPr>
          <p:cNvPr id="122" name="Connector 121"/>
          <p:cNvCxnSpPr/>
          <p:nvPr/>
        </p:nvCxnSpPr>
        <p:spPr>
          <a:xfrm flipV="1">
            <a:off x="10907077" y="3993102"/>
            <a:ext cx="64294" cy="82151"/>
          </a:xfrm>
          <a:prstGeom prst="line">
            <a:avLst/>
          </a:prstGeom>
          <a:ln w="19050">
            <a:solidFill>
              <a:srgbClr val="D55E00"/>
            </a:solidFill>
          </a:ln>
        </p:spPr>
      </p:cxnSp>
      <p:cxnSp>
        <p:nvCxnSpPr>
          <p:cNvPr id="123" name="Connector 122"/>
          <p:cNvCxnSpPr/>
          <p:nvPr/>
        </p:nvCxnSpPr>
        <p:spPr>
          <a:xfrm flipV="1">
            <a:off x="10971371" y="3907922"/>
            <a:ext cx="64294" cy="85180"/>
          </a:xfrm>
          <a:prstGeom prst="line">
            <a:avLst/>
          </a:prstGeom>
          <a:ln w="19050">
            <a:solidFill>
              <a:srgbClr val="D55E00"/>
            </a:solidFill>
          </a:ln>
        </p:spPr>
      </p:cxnSp>
      <p:cxnSp>
        <p:nvCxnSpPr>
          <p:cNvPr id="124" name="Connector 123"/>
          <p:cNvCxnSpPr/>
          <p:nvPr/>
        </p:nvCxnSpPr>
        <p:spPr>
          <a:xfrm flipV="1">
            <a:off x="11035665" y="3820002"/>
            <a:ext cx="64293" cy="87920"/>
          </a:xfrm>
          <a:prstGeom prst="line">
            <a:avLst/>
          </a:prstGeom>
          <a:ln w="19050">
            <a:solidFill>
              <a:srgbClr val="D55E00"/>
            </a:solidFill>
          </a:ln>
        </p:spPr>
      </p:cxnSp>
      <p:cxnSp>
        <p:nvCxnSpPr>
          <p:cNvPr id="125" name="Connector 124"/>
          <p:cNvCxnSpPr/>
          <p:nvPr/>
        </p:nvCxnSpPr>
        <p:spPr>
          <a:xfrm flipV="1">
            <a:off x="11099958" y="3729705"/>
            <a:ext cx="64294" cy="90297"/>
          </a:xfrm>
          <a:prstGeom prst="line">
            <a:avLst/>
          </a:prstGeom>
          <a:ln w="19050">
            <a:solidFill>
              <a:srgbClr val="D55E00"/>
            </a:solidFill>
          </a:ln>
        </p:spPr>
      </p:cxnSp>
      <p:cxnSp>
        <p:nvCxnSpPr>
          <p:cNvPr id="126" name="Connector 125"/>
          <p:cNvCxnSpPr/>
          <p:nvPr/>
        </p:nvCxnSpPr>
        <p:spPr>
          <a:xfrm flipV="1">
            <a:off x="11164252" y="3637469"/>
            <a:ext cx="64294" cy="92236"/>
          </a:xfrm>
          <a:prstGeom prst="line">
            <a:avLst/>
          </a:prstGeom>
          <a:ln w="19050">
            <a:solidFill>
              <a:srgbClr val="D55E00"/>
            </a:solidFill>
          </a:ln>
        </p:spPr>
      </p:cxnSp>
      <p:cxnSp>
        <p:nvCxnSpPr>
          <p:cNvPr id="127" name="Connector 126"/>
          <p:cNvCxnSpPr/>
          <p:nvPr/>
        </p:nvCxnSpPr>
        <p:spPr>
          <a:xfrm flipV="1">
            <a:off x="11228546" y="3543808"/>
            <a:ext cx="64294" cy="93661"/>
          </a:xfrm>
          <a:prstGeom prst="line">
            <a:avLst/>
          </a:prstGeom>
          <a:ln w="19050">
            <a:solidFill>
              <a:srgbClr val="D55E00"/>
            </a:solidFill>
          </a:ln>
        </p:spPr>
      </p:cxnSp>
      <p:sp>
        <p:nvSpPr>
          <p:cNvPr id="128" name="Oval 127"/>
          <p:cNvSpPr/>
          <p:nvPr/>
        </p:nvSpPr>
        <p:spPr>
          <a:xfrm>
            <a:off x="7118603" y="5235762"/>
            <a:ext cx="118872" cy="118872"/>
          </a:xfrm>
          <a:prstGeom prst="ellipse">
            <a:avLst/>
          </a:prstGeom>
          <a:solidFill>
            <a:srgbClr val="D55E00"/>
          </a:solidFill>
          <a:ln w="12700">
            <a:solidFill>
              <a:srgbClr val="D55E00"/>
            </a:solidFill>
          </a:ln>
        </p:spPr>
        <p:txBody>
          <a:bodyPr rtlCol="0" anchor="ctr"/>
          <a:lstStyle/>
          <a:p>
            <a:pPr algn="ctr"/>
          </a:p>
        </p:txBody>
      </p:sp>
      <p:sp>
        <p:nvSpPr>
          <p:cNvPr id="129" name="Oval 128"/>
          <p:cNvSpPr/>
          <p:nvPr/>
        </p:nvSpPr>
        <p:spPr>
          <a:xfrm>
            <a:off x="7632954" y="5227739"/>
            <a:ext cx="118872" cy="118872"/>
          </a:xfrm>
          <a:prstGeom prst="ellipse">
            <a:avLst/>
          </a:prstGeom>
          <a:solidFill>
            <a:srgbClr val="D55E00"/>
          </a:solidFill>
          <a:ln w="12700">
            <a:solidFill>
              <a:srgbClr val="D55E00"/>
            </a:solidFill>
          </a:ln>
        </p:spPr>
        <p:txBody>
          <a:bodyPr rtlCol="0" anchor="ctr"/>
          <a:lstStyle/>
          <a:p>
            <a:pPr algn="ctr"/>
          </a:p>
        </p:txBody>
      </p:sp>
      <p:sp>
        <p:nvSpPr>
          <p:cNvPr id="130" name="Oval 129"/>
          <p:cNvSpPr/>
          <p:nvPr/>
        </p:nvSpPr>
        <p:spPr>
          <a:xfrm>
            <a:off x="8147304" y="5211097"/>
            <a:ext cx="118872" cy="118872"/>
          </a:xfrm>
          <a:prstGeom prst="ellipse">
            <a:avLst/>
          </a:prstGeom>
          <a:solidFill>
            <a:srgbClr val="D55E00"/>
          </a:solidFill>
          <a:ln w="12700">
            <a:solidFill>
              <a:srgbClr val="D55E00"/>
            </a:solidFill>
          </a:ln>
        </p:spPr>
        <p:txBody>
          <a:bodyPr rtlCol="0" anchor="ctr"/>
          <a:lstStyle/>
          <a:p>
            <a:pPr algn="ctr"/>
          </a:p>
        </p:txBody>
      </p:sp>
      <p:sp>
        <p:nvSpPr>
          <p:cNvPr id="131" name="Oval 130"/>
          <p:cNvSpPr/>
          <p:nvPr/>
        </p:nvSpPr>
        <p:spPr>
          <a:xfrm>
            <a:off x="8661654" y="5179595"/>
            <a:ext cx="118872" cy="118872"/>
          </a:xfrm>
          <a:prstGeom prst="ellipse">
            <a:avLst/>
          </a:prstGeom>
          <a:solidFill>
            <a:srgbClr val="D55E00"/>
          </a:solidFill>
          <a:ln w="12700">
            <a:solidFill>
              <a:srgbClr val="D55E00"/>
            </a:solidFill>
          </a:ln>
        </p:spPr>
        <p:txBody>
          <a:bodyPr rtlCol="0" anchor="ctr"/>
          <a:lstStyle/>
          <a:p>
            <a:pPr algn="ctr"/>
          </a:p>
        </p:txBody>
      </p:sp>
      <p:sp>
        <p:nvSpPr>
          <p:cNvPr id="132" name="Oval 131"/>
          <p:cNvSpPr/>
          <p:nvPr/>
        </p:nvSpPr>
        <p:spPr>
          <a:xfrm>
            <a:off x="9176004" y="5116593"/>
            <a:ext cx="118872" cy="118872"/>
          </a:xfrm>
          <a:prstGeom prst="ellipse">
            <a:avLst/>
          </a:prstGeom>
          <a:solidFill>
            <a:srgbClr val="D55E00"/>
          </a:solidFill>
          <a:ln w="12700">
            <a:solidFill>
              <a:srgbClr val="D55E00"/>
            </a:solidFill>
          </a:ln>
        </p:spPr>
        <p:txBody>
          <a:bodyPr rtlCol="0" anchor="ctr"/>
          <a:lstStyle/>
          <a:p>
            <a:pPr algn="ctr"/>
          </a:p>
        </p:txBody>
      </p:sp>
      <p:sp>
        <p:nvSpPr>
          <p:cNvPr id="133" name="Oval 132"/>
          <p:cNvSpPr/>
          <p:nvPr/>
        </p:nvSpPr>
        <p:spPr>
          <a:xfrm>
            <a:off x="9690354" y="5000099"/>
            <a:ext cx="118872" cy="118872"/>
          </a:xfrm>
          <a:prstGeom prst="ellipse">
            <a:avLst/>
          </a:prstGeom>
          <a:solidFill>
            <a:srgbClr val="D55E00"/>
          </a:solidFill>
          <a:ln w="12700">
            <a:solidFill>
              <a:srgbClr val="D55E00"/>
            </a:solidFill>
          </a:ln>
        </p:spPr>
        <p:txBody>
          <a:bodyPr rtlCol="0" anchor="ctr"/>
          <a:lstStyle/>
          <a:p>
            <a:pPr algn="ctr"/>
          </a:p>
        </p:txBody>
      </p:sp>
      <p:sp>
        <p:nvSpPr>
          <p:cNvPr id="134" name="Oval 133"/>
          <p:cNvSpPr/>
          <p:nvPr/>
        </p:nvSpPr>
        <p:spPr>
          <a:xfrm>
            <a:off x="10204704" y="4796828"/>
            <a:ext cx="118872" cy="118872"/>
          </a:xfrm>
          <a:prstGeom prst="ellipse">
            <a:avLst/>
          </a:prstGeom>
          <a:solidFill>
            <a:srgbClr val="D55E00"/>
          </a:solidFill>
          <a:ln w="12700">
            <a:solidFill>
              <a:srgbClr val="D55E00"/>
            </a:solidFill>
          </a:ln>
        </p:spPr>
        <p:txBody>
          <a:bodyPr rtlCol="0" anchor="ctr"/>
          <a:lstStyle/>
          <a:p>
            <a:pPr algn="ctr"/>
          </a:p>
        </p:txBody>
      </p:sp>
      <p:sp>
        <p:nvSpPr>
          <p:cNvPr id="135" name="Oval 134"/>
          <p:cNvSpPr/>
          <p:nvPr/>
        </p:nvSpPr>
        <p:spPr>
          <a:xfrm>
            <a:off x="10719054" y="4431296"/>
            <a:ext cx="118872" cy="118872"/>
          </a:xfrm>
          <a:prstGeom prst="ellipse">
            <a:avLst/>
          </a:prstGeom>
          <a:solidFill>
            <a:srgbClr val="D55E00"/>
          </a:solidFill>
          <a:ln w="12700">
            <a:solidFill>
              <a:srgbClr val="D55E00"/>
            </a:solidFill>
          </a:ln>
        </p:spPr>
        <p:txBody>
          <a:bodyPr rtlCol="0" anchor="ctr"/>
          <a:lstStyle/>
          <a:p>
            <a:pPr algn="ctr"/>
          </a:p>
        </p:txBody>
      </p:sp>
      <p:sp>
        <p:nvSpPr>
          <p:cNvPr id="136" name="Oval 135"/>
          <p:cNvSpPr/>
          <p:nvPr/>
        </p:nvSpPr>
        <p:spPr>
          <a:xfrm>
            <a:off x="11233404" y="3910637"/>
            <a:ext cx="118872" cy="118872"/>
          </a:xfrm>
          <a:prstGeom prst="ellipse">
            <a:avLst/>
          </a:prstGeom>
          <a:solidFill>
            <a:srgbClr val="D55E00"/>
          </a:solidFill>
          <a:ln w="12700">
            <a:solidFill>
              <a:srgbClr val="D55E00"/>
            </a:solidFill>
          </a:ln>
        </p:spPr>
        <p:txBody>
          <a:bodyPr rtlCol="0" anchor="ctr"/>
          <a:lstStyle/>
          <a:p>
            <a:pPr algn="ctr"/>
          </a:p>
        </p:txBody>
      </p:sp>
      <p:cxnSp>
        <p:nvCxnSpPr>
          <p:cNvPr id="137" name="Connector 136"/>
          <p:cNvCxnSpPr/>
          <p:nvPr/>
        </p:nvCxnSpPr>
        <p:spPr>
          <a:xfrm flipV="1">
            <a:off x="7178040" y="5258215"/>
            <a:ext cx="64293" cy="3734"/>
          </a:xfrm>
          <a:prstGeom prst="line">
            <a:avLst/>
          </a:prstGeom>
          <a:ln w="19050">
            <a:solidFill>
              <a:srgbClr val="D55E00"/>
            </a:solidFill>
            <a:prstDash val="dash"/>
          </a:ln>
        </p:spPr>
      </p:cxnSp>
      <p:cxnSp>
        <p:nvCxnSpPr>
          <p:cNvPr id="138" name="Connector 137"/>
          <p:cNvCxnSpPr/>
          <p:nvPr/>
        </p:nvCxnSpPr>
        <p:spPr>
          <a:xfrm flipV="1">
            <a:off x="7242333" y="5254149"/>
            <a:ext cx="64294" cy="4066"/>
          </a:xfrm>
          <a:prstGeom prst="line">
            <a:avLst/>
          </a:prstGeom>
          <a:ln w="19050">
            <a:solidFill>
              <a:srgbClr val="D55E00"/>
            </a:solidFill>
            <a:prstDash val="dash"/>
          </a:ln>
        </p:spPr>
      </p:cxnSp>
      <p:cxnSp>
        <p:nvCxnSpPr>
          <p:cNvPr id="139" name="Connector 138"/>
          <p:cNvCxnSpPr/>
          <p:nvPr/>
        </p:nvCxnSpPr>
        <p:spPr>
          <a:xfrm flipV="1">
            <a:off x="7306627" y="5249721"/>
            <a:ext cx="64294" cy="4428"/>
          </a:xfrm>
          <a:prstGeom prst="line">
            <a:avLst/>
          </a:prstGeom>
          <a:ln w="19050">
            <a:solidFill>
              <a:srgbClr val="D55E00"/>
            </a:solidFill>
            <a:prstDash val="dash"/>
          </a:ln>
        </p:spPr>
      </p:cxnSp>
      <p:cxnSp>
        <p:nvCxnSpPr>
          <p:cNvPr id="140" name="Connector 139"/>
          <p:cNvCxnSpPr/>
          <p:nvPr/>
        </p:nvCxnSpPr>
        <p:spPr>
          <a:xfrm flipV="1">
            <a:off x="7370921" y="5244901"/>
            <a:ext cx="64294" cy="4820"/>
          </a:xfrm>
          <a:prstGeom prst="line">
            <a:avLst/>
          </a:prstGeom>
          <a:ln w="19050">
            <a:solidFill>
              <a:srgbClr val="D55E00"/>
            </a:solidFill>
            <a:prstDash val="dash"/>
          </a:ln>
        </p:spPr>
      </p:cxnSp>
      <p:cxnSp>
        <p:nvCxnSpPr>
          <p:cNvPr id="141" name="Connector 140"/>
          <p:cNvCxnSpPr/>
          <p:nvPr/>
        </p:nvCxnSpPr>
        <p:spPr>
          <a:xfrm flipV="1">
            <a:off x="7435215" y="5239653"/>
            <a:ext cx="64293" cy="5248"/>
          </a:xfrm>
          <a:prstGeom prst="line">
            <a:avLst/>
          </a:prstGeom>
          <a:ln w="19050">
            <a:solidFill>
              <a:srgbClr val="D55E00"/>
            </a:solidFill>
            <a:prstDash val="dash"/>
          </a:ln>
        </p:spPr>
      </p:cxnSp>
      <p:cxnSp>
        <p:nvCxnSpPr>
          <p:cNvPr id="142" name="Connector 141"/>
          <p:cNvCxnSpPr/>
          <p:nvPr/>
        </p:nvCxnSpPr>
        <p:spPr>
          <a:xfrm flipV="1">
            <a:off x="7499508" y="5233940"/>
            <a:ext cx="64294" cy="5713"/>
          </a:xfrm>
          <a:prstGeom prst="line">
            <a:avLst/>
          </a:prstGeom>
          <a:ln w="19050">
            <a:solidFill>
              <a:srgbClr val="D55E00"/>
            </a:solidFill>
            <a:prstDash val="dash"/>
          </a:ln>
        </p:spPr>
      </p:cxnSp>
      <p:cxnSp>
        <p:nvCxnSpPr>
          <p:cNvPr id="143" name="Connector 142"/>
          <p:cNvCxnSpPr/>
          <p:nvPr/>
        </p:nvCxnSpPr>
        <p:spPr>
          <a:xfrm flipV="1">
            <a:off x="7563802" y="5227724"/>
            <a:ext cx="64294" cy="6216"/>
          </a:xfrm>
          <a:prstGeom prst="line">
            <a:avLst/>
          </a:prstGeom>
          <a:ln w="19050">
            <a:solidFill>
              <a:srgbClr val="D55E00"/>
            </a:solidFill>
            <a:prstDash val="dash"/>
          </a:ln>
        </p:spPr>
      </p:cxnSp>
      <p:cxnSp>
        <p:nvCxnSpPr>
          <p:cNvPr id="144" name="Connector 143"/>
          <p:cNvCxnSpPr/>
          <p:nvPr/>
        </p:nvCxnSpPr>
        <p:spPr>
          <a:xfrm flipV="1">
            <a:off x="7628096" y="5220960"/>
            <a:ext cx="64294" cy="6764"/>
          </a:xfrm>
          <a:prstGeom prst="line">
            <a:avLst/>
          </a:prstGeom>
          <a:ln w="19050">
            <a:solidFill>
              <a:srgbClr val="D55E00"/>
            </a:solidFill>
            <a:prstDash val="dash"/>
          </a:ln>
        </p:spPr>
      </p:cxnSp>
      <p:cxnSp>
        <p:nvCxnSpPr>
          <p:cNvPr id="145" name="Connector 144"/>
          <p:cNvCxnSpPr/>
          <p:nvPr/>
        </p:nvCxnSpPr>
        <p:spPr>
          <a:xfrm flipV="1">
            <a:off x="7692390" y="5213602"/>
            <a:ext cx="64293" cy="7358"/>
          </a:xfrm>
          <a:prstGeom prst="line">
            <a:avLst/>
          </a:prstGeom>
          <a:ln w="19050">
            <a:solidFill>
              <a:srgbClr val="D55E00"/>
            </a:solidFill>
            <a:prstDash val="dash"/>
          </a:ln>
        </p:spPr>
      </p:cxnSp>
      <p:cxnSp>
        <p:nvCxnSpPr>
          <p:cNvPr id="146" name="Connector 145"/>
          <p:cNvCxnSpPr/>
          <p:nvPr/>
        </p:nvCxnSpPr>
        <p:spPr>
          <a:xfrm flipV="1">
            <a:off x="7756683" y="5205599"/>
            <a:ext cx="64294" cy="8003"/>
          </a:xfrm>
          <a:prstGeom prst="line">
            <a:avLst/>
          </a:prstGeom>
          <a:ln w="19050">
            <a:solidFill>
              <a:srgbClr val="D55E00"/>
            </a:solidFill>
            <a:prstDash val="dash"/>
          </a:ln>
        </p:spPr>
      </p:cxnSp>
      <p:cxnSp>
        <p:nvCxnSpPr>
          <p:cNvPr id="147" name="Connector 146"/>
          <p:cNvCxnSpPr/>
          <p:nvPr/>
        </p:nvCxnSpPr>
        <p:spPr>
          <a:xfrm flipV="1">
            <a:off x="7820977" y="5196897"/>
            <a:ext cx="64294" cy="8702"/>
          </a:xfrm>
          <a:prstGeom prst="line">
            <a:avLst/>
          </a:prstGeom>
          <a:ln w="19050">
            <a:solidFill>
              <a:srgbClr val="D55E00"/>
            </a:solidFill>
            <a:prstDash val="dash"/>
          </a:ln>
        </p:spPr>
      </p:cxnSp>
      <p:cxnSp>
        <p:nvCxnSpPr>
          <p:cNvPr id="148" name="Connector 147"/>
          <p:cNvCxnSpPr/>
          <p:nvPr/>
        </p:nvCxnSpPr>
        <p:spPr>
          <a:xfrm flipV="1">
            <a:off x="7885271" y="5187438"/>
            <a:ext cx="64294" cy="9459"/>
          </a:xfrm>
          <a:prstGeom prst="line">
            <a:avLst/>
          </a:prstGeom>
          <a:ln w="19050">
            <a:solidFill>
              <a:srgbClr val="D55E00"/>
            </a:solidFill>
            <a:prstDash val="dash"/>
          </a:ln>
        </p:spPr>
      </p:cxnSp>
      <p:cxnSp>
        <p:nvCxnSpPr>
          <p:cNvPr id="149" name="Connector 148"/>
          <p:cNvCxnSpPr/>
          <p:nvPr/>
        </p:nvCxnSpPr>
        <p:spPr>
          <a:xfrm flipV="1">
            <a:off x="7949565" y="5177158"/>
            <a:ext cx="64293" cy="10280"/>
          </a:xfrm>
          <a:prstGeom prst="line">
            <a:avLst/>
          </a:prstGeom>
          <a:ln w="19050">
            <a:solidFill>
              <a:srgbClr val="D55E00"/>
            </a:solidFill>
            <a:prstDash val="dash"/>
          </a:ln>
        </p:spPr>
      </p:cxnSp>
      <p:cxnSp>
        <p:nvCxnSpPr>
          <p:cNvPr id="150" name="Connector 149"/>
          <p:cNvCxnSpPr/>
          <p:nvPr/>
        </p:nvCxnSpPr>
        <p:spPr>
          <a:xfrm flipV="1">
            <a:off x="8013858" y="5165990"/>
            <a:ext cx="64294" cy="11168"/>
          </a:xfrm>
          <a:prstGeom prst="line">
            <a:avLst/>
          </a:prstGeom>
          <a:ln w="19050">
            <a:solidFill>
              <a:srgbClr val="D55E00"/>
            </a:solidFill>
            <a:prstDash val="dash"/>
          </a:ln>
        </p:spPr>
      </p:cxnSp>
      <p:cxnSp>
        <p:nvCxnSpPr>
          <p:cNvPr id="151" name="Connector 150"/>
          <p:cNvCxnSpPr/>
          <p:nvPr/>
        </p:nvCxnSpPr>
        <p:spPr>
          <a:xfrm flipV="1">
            <a:off x="8078152" y="5153861"/>
            <a:ext cx="64294" cy="12129"/>
          </a:xfrm>
          <a:prstGeom prst="line">
            <a:avLst/>
          </a:prstGeom>
          <a:ln w="19050">
            <a:solidFill>
              <a:srgbClr val="D55E00"/>
            </a:solidFill>
            <a:prstDash val="dash"/>
          </a:ln>
        </p:spPr>
      </p:cxnSp>
      <p:cxnSp>
        <p:nvCxnSpPr>
          <p:cNvPr id="152" name="Connector 151"/>
          <p:cNvCxnSpPr/>
          <p:nvPr/>
        </p:nvCxnSpPr>
        <p:spPr>
          <a:xfrm flipV="1">
            <a:off x="8142446" y="5140694"/>
            <a:ext cx="64294" cy="13167"/>
          </a:xfrm>
          <a:prstGeom prst="line">
            <a:avLst/>
          </a:prstGeom>
          <a:ln w="19050">
            <a:solidFill>
              <a:srgbClr val="D55E00"/>
            </a:solidFill>
            <a:prstDash val="dash"/>
          </a:ln>
        </p:spPr>
      </p:cxnSp>
      <p:cxnSp>
        <p:nvCxnSpPr>
          <p:cNvPr id="153" name="Connector 152"/>
          <p:cNvCxnSpPr/>
          <p:nvPr/>
        </p:nvCxnSpPr>
        <p:spPr>
          <a:xfrm flipV="1">
            <a:off x="8206740" y="5126405"/>
            <a:ext cx="64293" cy="14289"/>
          </a:xfrm>
          <a:prstGeom prst="line">
            <a:avLst/>
          </a:prstGeom>
          <a:ln w="19050">
            <a:solidFill>
              <a:srgbClr val="D55E00"/>
            </a:solidFill>
            <a:prstDash val="dash"/>
          </a:ln>
        </p:spPr>
      </p:cxnSp>
      <p:cxnSp>
        <p:nvCxnSpPr>
          <p:cNvPr id="154" name="Connector 153"/>
          <p:cNvCxnSpPr/>
          <p:nvPr/>
        </p:nvCxnSpPr>
        <p:spPr>
          <a:xfrm flipV="1">
            <a:off x="8271033" y="5110905"/>
            <a:ext cx="64294" cy="15500"/>
          </a:xfrm>
          <a:prstGeom prst="line">
            <a:avLst/>
          </a:prstGeom>
          <a:ln w="19050">
            <a:solidFill>
              <a:srgbClr val="D55E00"/>
            </a:solidFill>
            <a:prstDash val="dash"/>
          </a:ln>
        </p:spPr>
      </p:cxnSp>
      <p:cxnSp>
        <p:nvCxnSpPr>
          <p:cNvPr id="155" name="Connector 154"/>
          <p:cNvCxnSpPr/>
          <p:nvPr/>
        </p:nvCxnSpPr>
        <p:spPr>
          <a:xfrm flipV="1">
            <a:off x="8335327" y="5094100"/>
            <a:ext cx="64294" cy="16805"/>
          </a:xfrm>
          <a:prstGeom prst="line">
            <a:avLst/>
          </a:prstGeom>
          <a:ln w="19050">
            <a:solidFill>
              <a:srgbClr val="D55E00"/>
            </a:solidFill>
            <a:prstDash val="dash"/>
          </a:ln>
        </p:spPr>
      </p:cxnSp>
      <p:cxnSp>
        <p:nvCxnSpPr>
          <p:cNvPr id="156" name="Connector 155"/>
          <p:cNvCxnSpPr/>
          <p:nvPr/>
        </p:nvCxnSpPr>
        <p:spPr>
          <a:xfrm flipV="1">
            <a:off x="8399621" y="5075891"/>
            <a:ext cx="64294" cy="18209"/>
          </a:xfrm>
          <a:prstGeom prst="line">
            <a:avLst/>
          </a:prstGeom>
          <a:ln w="19050">
            <a:solidFill>
              <a:srgbClr val="D55E00"/>
            </a:solidFill>
            <a:prstDash val="dash"/>
          </a:ln>
        </p:spPr>
      </p:cxnSp>
      <p:cxnSp>
        <p:nvCxnSpPr>
          <p:cNvPr id="157" name="Connector 156"/>
          <p:cNvCxnSpPr/>
          <p:nvPr/>
        </p:nvCxnSpPr>
        <p:spPr>
          <a:xfrm flipV="1">
            <a:off x="8463915" y="5056170"/>
            <a:ext cx="64293" cy="19721"/>
          </a:xfrm>
          <a:prstGeom prst="line">
            <a:avLst/>
          </a:prstGeom>
          <a:ln w="19050">
            <a:solidFill>
              <a:srgbClr val="D55E00"/>
            </a:solidFill>
            <a:prstDash val="dash"/>
          </a:ln>
        </p:spPr>
      </p:cxnSp>
      <p:cxnSp>
        <p:nvCxnSpPr>
          <p:cNvPr id="158" name="Connector 157"/>
          <p:cNvCxnSpPr/>
          <p:nvPr/>
        </p:nvCxnSpPr>
        <p:spPr>
          <a:xfrm flipV="1">
            <a:off x="8528208" y="5034825"/>
            <a:ext cx="64294" cy="21345"/>
          </a:xfrm>
          <a:prstGeom prst="line">
            <a:avLst/>
          </a:prstGeom>
          <a:ln w="19050">
            <a:solidFill>
              <a:srgbClr val="D55E00"/>
            </a:solidFill>
            <a:prstDash val="dash"/>
          </a:ln>
        </p:spPr>
      </p:cxnSp>
      <p:cxnSp>
        <p:nvCxnSpPr>
          <p:cNvPr id="159" name="Connector 158"/>
          <p:cNvCxnSpPr/>
          <p:nvPr/>
        </p:nvCxnSpPr>
        <p:spPr>
          <a:xfrm flipV="1">
            <a:off x="8592502" y="5011740"/>
            <a:ext cx="64294" cy="23085"/>
          </a:xfrm>
          <a:prstGeom prst="line">
            <a:avLst/>
          </a:prstGeom>
          <a:ln w="19050">
            <a:solidFill>
              <a:srgbClr val="D55E00"/>
            </a:solidFill>
            <a:prstDash val="dash"/>
          </a:ln>
        </p:spPr>
      </p:cxnSp>
      <p:cxnSp>
        <p:nvCxnSpPr>
          <p:cNvPr id="160" name="Connector 159"/>
          <p:cNvCxnSpPr/>
          <p:nvPr/>
        </p:nvCxnSpPr>
        <p:spPr>
          <a:xfrm flipV="1">
            <a:off x="8656796" y="4986789"/>
            <a:ext cx="64294" cy="24951"/>
          </a:xfrm>
          <a:prstGeom prst="line">
            <a:avLst/>
          </a:prstGeom>
          <a:ln w="19050">
            <a:solidFill>
              <a:srgbClr val="D55E00"/>
            </a:solidFill>
            <a:prstDash val="dash"/>
          </a:ln>
        </p:spPr>
      </p:cxnSp>
      <p:cxnSp>
        <p:nvCxnSpPr>
          <p:cNvPr id="161" name="Connector 160"/>
          <p:cNvCxnSpPr/>
          <p:nvPr/>
        </p:nvCxnSpPr>
        <p:spPr>
          <a:xfrm flipV="1">
            <a:off x="8721090" y="4959846"/>
            <a:ext cx="64293" cy="26943"/>
          </a:xfrm>
          <a:prstGeom prst="line">
            <a:avLst/>
          </a:prstGeom>
          <a:ln w="19050">
            <a:solidFill>
              <a:srgbClr val="D55E00"/>
            </a:solidFill>
            <a:prstDash val="dash"/>
          </a:ln>
        </p:spPr>
      </p:cxnSp>
      <p:cxnSp>
        <p:nvCxnSpPr>
          <p:cNvPr id="162" name="Connector 161"/>
          <p:cNvCxnSpPr/>
          <p:nvPr/>
        </p:nvCxnSpPr>
        <p:spPr>
          <a:xfrm flipV="1">
            <a:off x="8785383" y="4930775"/>
            <a:ext cx="64294" cy="29071"/>
          </a:xfrm>
          <a:prstGeom prst="line">
            <a:avLst/>
          </a:prstGeom>
          <a:ln w="19050">
            <a:solidFill>
              <a:srgbClr val="D55E00"/>
            </a:solidFill>
            <a:prstDash val="dash"/>
          </a:ln>
        </p:spPr>
      </p:cxnSp>
      <p:cxnSp>
        <p:nvCxnSpPr>
          <p:cNvPr id="163" name="Connector 162"/>
          <p:cNvCxnSpPr/>
          <p:nvPr/>
        </p:nvCxnSpPr>
        <p:spPr>
          <a:xfrm flipV="1">
            <a:off x="8849677" y="4899439"/>
            <a:ext cx="64294" cy="31336"/>
          </a:xfrm>
          <a:prstGeom prst="line">
            <a:avLst/>
          </a:prstGeom>
          <a:ln w="19050">
            <a:solidFill>
              <a:srgbClr val="D55E00"/>
            </a:solidFill>
            <a:prstDash val="dash"/>
          </a:ln>
        </p:spPr>
      </p:cxnSp>
      <p:cxnSp>
        <p:nvCxnSpPr>
          <p:cNvPr id="164" name="Connector 163"/>
          <p:cNvCxnSpPr/>
          <p:nvPr/>
        </p:nvCxnSpPr>
        <p:spPr>
          <a:xfrm flipV="1">
            <a:off x="8913971" y="4865698"/>
            <a:ext cx="64294" cy="33741"/>
          </a:xfrm>
          <a:prstGeom prst="line">
            <a:avLst/>
          </a:prstGeom>
          <a:ln w="19050">
            <a:solidFill>
              <a:srgbClr val="D55E00"/>
            </a:solidFill>
            <a:prstDash val="dash"/>
          </a:ln>
        </p:spPr>
      </p:cxnSp>
      <p:cxnSp>
        <p:nvCxnSpPr>
          <p:cNvPr id="165" name="Connector 164"/>
          <p:cNvCxnSpPr/>
          <p:nvPr/>
        </p:nvCxnSpPr>
        <p:spPr>
          <a:xfrm flipV="1">
            <a:off x="8978265" y="4829408"/>
            <a:ext cx="64293" cy="36290"/>
          </a:xfrm>
          <a:prstGeom prst="line">
            <a:avLst/>
          </a:prstGeom>
          <a:ln w="19050">
            <a:solidFill>
              <a:srgbClr val="D55E00"/>
            </a:solidFill>
            <a:prstDash val="dash"/>
          </a:ln>
        </p:spPr>
      </p:cxnSp>
      <p:cxnSp>
        <p:nvCxnSpPr>
          <p:cNvPr id="166" name="Connector 165"/>
          <p:cNvCxnSpPr/>
          <p:nvPr/>
        </p:nvCxnSpPr>
        <p:spPr>
          <a:xfrm flipV="1">
            <a:off x="9042558" y="4790425"/>
            <a:ext cx="64294" cy="38983"/>
          </a:xfrm>
          <a:prstGeom prst="line">
            <a:avLst/>
          </a:prstGeom>
          <a:ln w="19050">
            <a:solidFill>
              <a:srgbClr val="D55E00"/>
            </a:solidFill>
            <a:prstDash val="dash"/>
          </a:ln>
        </p:spPr>
      </p:cxnSp>
      <p:cxnSp>
        <p:nvCxnSpPr>
          <p:cNvPr id="167" name="Connector 166"/>
          <p:cNvCxnSpPr/>
          <p:nvPr/>
        </p:nvCxnSpPr>
        <p:spPr>
          <a:xfrm flipV="1">
            <a:off x="9106852" y="4748608"/>
            <a:ext cx="64294" cy="41817"/>
          </a:xfrm>
          <a:prstGeom prst="line">
            <a:avLst/>
          </a:prstGeom>
          <a:ln w="19050">
            <a:solidFill>
              <a:srgbClr val="D55E00"/>
            </a:solidFill>
            <a:prstDash val="dash"/>
          </a:ln>
        </p:spPr>
      </p:cxnSp>
      <p:cxnSp>
        <p:nvCxnSpPr>
          <p:cNvPr id="168" name="Connector 167"/>
          <p:cNvCxnSpPr/>
          <p:nvPr/>
        </p:nvCxnSpPr>
        <p:spPr>
          <a:xfrm flipV="1">
            <a:off x="9171146" y="4703816"/>
            <a:ext cx="64294" cy="44792"/>
          </a:xfrm>
          <a:prstGeom prst="line">
            <a:avLst/>
          </a:prstGeom>
          <a:ln w="19050">
            <a:solidFill>
              <a:srgbClr val="D55E00"/>
            </a:solidFill>
            <a:prstDash val="dash"/>
          </a:ln>
        </p:spPr>
      </p:cxnSp>
      <p:cxnSp>
        <p:nvCxnSpPr>
          <p:cNvPr id="169" name="Connector 168"/>
          <p:cNvCxnSpPr/>
          <p:nvPr/>
        </p:nvCxnSpPr>
        <p:spPr>
          <a:xfrm flipV="1">
            <a:off x="9235440" y="4655916"/>
            <a:ext cx="64293" cy="47900"/>
          </a:xfrm>
          <a:prstGeom prst="line">
            <a:avLst/>
          </a:prstGeom>
          <a:ln w="19050">
            <a:solidFill>
              <a:srgbClr val="D55E00"/>
            </a:solidFill>
            <a:prstDash val="dash"/>
          </a:ln>
        </p:spPr>
      </p:cxnSp>
      <p:cxnSp>
        <p:nvCxnSpPr>
          <p:cNvPr id="170" name="Connector 169"/>
          <p:cNvCxnSpPr/>
          <p:nvPr/>
        </p:nvCxnSpPr>
        <p:spPr>
          <a:xfrm flipV="1">
            <a:off x="9299733" y="4604782"/>
            <a:ext cx="64294" cy="51134"/>
          </a:xfrm>
          <a:prstGeom prst="line">
            <a:avLst/>
          </a:prstGeom>
          <a:ln w="19050">
            <a:solidFill>
              <a:srgbClr val="D55E00"/>
            </a:solidFill>
            <a:prstDash val="dash"/>
          </a:ln>
        </p:spPr>
      </p:cxnSp>
      <p:cxnSp>
        <p:nvCxnSpPr>
          <p:cNvPr id="171" name="Connector 170"/>
          <p:cNvCxnSpPr/>
          <p:nvPr/>
        </p:nvCxnSpPr>
        <p:spPr>
          <a:xfrm flipV="1">
            <a:off x="9364027" y="4550302"/>
            <a:ext cx="64294" cy="54480"/>
          </a:xfrm>
          <a:prstGeom prst="line">
            <a:avLst/>
          </a:prstGeom>
          <a:ln w="19050">
            <a:solidFill>
              <a:srgbClr val="D55E00"/>
            </a:solidFill>
            <a:prstDash val="dash"/>
          </a:ln>
        </p:spPr>
      </p:cxnSp>
      <p:cxnSp>
        <p:nvCxnSpPr>
          <p:cNvPr id="172" name="Connector 171"/>
          <p:cNvCxnSpPr/>
          <p:nvPr/>
        </p:nvCxnSpPr>
        <p:spPr>
          <a:xfrm flipV="1">
            <a:off x="9428321" y="4492378"/>
            <a:ext cx="64294" cy="57924"/>
          </a:xfrm>
          <a:prstGeom prst="line">
            <a:avLst/>
          </a:prstGeom>
          <a:ln w="19050">
            <a:solidFill>
              <a:srgbClr val="D55E00"/>
            </a:solidFill>
            <a:prstDash val="dash"/>
          </a:ln>
        </p:spPr>
      </p:cxnSp>
      <p:cxnSp>
        <p:nvCxnSpPr>
          <p:cNvPr id="173" name="Connector 172"/>
          <p:cNvCxnSpPr/>
          <p:nvPr/>
        </p:nvCxnSpPr>
        <p:spPr>
          <a:xfrm flipV="1">
            <a:off x="9492615" y="4430934"/>
            <a:ext cx="64293" cy="61444"/>
          </a:xfrm>
          <a:prstGeom prst="line">
            <a:avLst/>
          </a:prstGeom>
          <a:ln w="19050">
            <a:solidFill>
              <a:srgbClr val="D55E00"/>
            </a:solidFill>
            <a:prstDash val="dash"/>
          </a:ln>
        </p:spPr>
      </p:cxnSp>
      <p:cxnSp>
        <p:nvCxnSpPr>
          <p:cNvPr id="174" name="Connector 173"/>
          <p:cNvCxnSpPr/>
          <p:nvPr/>
        </p:nvCxnSpPr>
        <p:spPr>
          <a:xfrm flipV="1">
            <a:off x="9556908" y="4365919"/>
            <a:ext cx="64294" cy="65015"/>
          </a:xfrm>
          <a:prstGeom prst="line">
            <a:avLst/>
          </a:prstGeom>
          <a:ln w="19050">
            <a:solidFill>
              <a:srgbClr val="D55E00"/>
            </a:solidFill>
            <a:prstDash val="dash"/>
          </a:ln>
        </p:spPr>
      </p:cxnSp>
      <p:cxnSp>
        <p:nvCxnSpPr>
          <p:cNvPr id="175" name="Connector 174"/>
          <p:cNvCxnSpPr/>
          <p:nvPr/>
        </p:nvCxnSpPr>
        <p:spPr>
          <a:xfrm flipV="1">
            <a:off x="9621202" y="4297313"/>
            <a:ext cx="64294" cy="68606"/>
          </a:xfrm>
          <a:prstGeom prst="line">
            <a:avLst/>
          </a:prstGeom>
          <a:ln w="19050">
            <a:solidFill>
              <a:srgbClr val="D55E00"/>
            </a:solidFill>
            <a:prstDash val="dash"/>
          </a:ln>
        </p:spPr>
      </p:cxnSp>
      <p:cxnSp>
        <p:nvCxnSpPr>
          <p:cNvPr id="176" name="Connector 175"/>
          <p:cNvCxnSpPr/>
          <p:nvPr/>
        </p:nvCxnSpPr>
        <p:spPr>
          <a:xfrm flipV="1">
            <a:off x="9685496" y="4225132"/>
            <a:ext cx="64294" cy="72181"/>
          </a:xfrm>
          <a:prstGeom prst="line">
            <a:avLst/>
          </a:prstGeom>
          <a:ln w="19050">
            <a:solidFill>
              <a:srgbClr val="D55E00"/>
            </a:solidFill>
            <a:prstDash val="dash"/>
          </a:ln>
        </p:spPr>
      </p:cxnSp>
      <p:cxnSp>
        <p:nvCxnSpPr>
          <p:cNvPr id="177" name="Connector 176"/>
          <p:cNvCxnSpPr/>
          <p:nvPr/>
        </p:nvCxnSpPr>
        <p:spPr>
          <a:xfrm flipV="1">
            <a:off x="9749790" y="4149436"/>
            <a:ext cx="64293" cy="75696"/>
          </a:xfrm>
          <a:prstGeom prst="line">
            <a:avLst/>
          </a:prstGeom>
          <a:ln w="19050">
            <a:solidFill>
              <a:srgbClr val="D55E00"/>
            </a:solidFill>
            <a:prstDash val="dash"/>
          </a:ln>
        </p:spPr>
      </p:cxnSp>
      <p:cxnSp>
        <p:nvCxnSpPr>
          <p:cNvPr id="178" name="Connector 177"/>
          <p:cNvCxnSpPr/>
          <p:nvPr/>
        </p:nvCxnSpPr>
        <p:spPr>
          <a:xfrm flipV="1">
            <a:off x="9814083" y="4070334"/>
            <a:ext cx="64294" cy="79102"/>
          </a:xfrm>
          <a:prstGeom prst="line">
            <a:avLst/>
          </a:prstGeom>
          <a:ln w="19050">
            <a:solidFill>
              <a:srgbClr val="D55E00"/>
            </a:solidFill>
            <a:prstDash val="dash"/>
          </a:ln>
        </p:spPr>
      </p:cxnSp>
      <p:cxnSp>
        <p:nvCxnSpPr>
          <p:cNvPr id="179" name="Connector 178"/>
          <p:cNvCxnSpPr/>
          <p:nvPr/>
        </p:nvCxnSpPr>
        <p:spPr>
          <a:xfrm flipV="1">
            <a:off x="9878377" y="3987991"/>
            <a:ext cx="64294" cy="82343"/>
          </a:xfrm>
          <a:prstGeom prst="line">
            <a:avLst/>
          </a:prstGeom>
          <a:ln w="19050">
            <a:solidFill>
              <a:srgbClr val="D55E00"/>
            </a:solidFill>
            <a:prstDash val="dash"/>
          </a:ln>
        </p:spPr>
      </p:cxnSp>
      <p:cxnSp>
        <p:nvCxnSpPr>
          <p:cNvPr id="180" name="Connector 179"/>
          <p:cNvCxnSpPr/>
          <p:nvPr/>
        </p:nvCxnSpPr>
        <p:spPr>
          <a:xfrm flipV="1">
            <a:off x="9942671" y="3902635"/>
            <a:ext cx="64294" cy="85356"/>
          </a:xfrm>
          <a:prstGeom prst="line">
            <a:avLst/>
          </a:prstGeom>
          <a:ln w="19050">
            <a:solidFill>
              <a:srgbClr val="D55E00"/>
            </a:solidFill>
            <a:prstDash val="dash"/>
          </a:ln>
        </p:spPr>
      </p:cxnSp>
      <p:cxnSp>
        <p:nvCxnSpPr>
          <p:cNvPr id="181" name="Connector 180"/>
          <p:cNvCxnSpPr/>
          <p:nvPr/>
        </p:nvCxnSpPr>
        <p:spPr>
          <a:xfrm flipV="1">
            <a:off x="10006965" y="3814559"/>
            <a:ext cx="64293" cy="88076"/>
          </a:xfrm>
          <a:prstGeom prst="line">
            <a:avLst/>
          </a:prstGeom>
          <a:ln w="19050">
            <a:solidFill>
              <a:srgbClr val="D55E00"/>
            </a:solidFill>
            <a:prstDash val="dash"/>
          </a:ln>
        </p:spPr>
      </p:cxnSp>
      <p:cxnSp>
        <p:nvCxnSpPr>
          <p:cNvPr id="182" name="Connector 181"/>
          <p:cNvCxnSpPr/>
          <p:nvPr/>
        </p:nvCxnSpPr>
        <p:spPr>
          <a:xfrm flipV="1">
            <a:off x="10071258" y="3724131"/>
            <a:ext cx="64294" cy="90428"/>
          </a:xfrm>
          <a:prstGeom prst="line">
            <a:avLst/>
          </a:prstGeom>
          <a:ln w="19050">
            <a:solidFill>
              <a:srgbClr val="D55E00"/>
            </a:solidFill>
            <a:prstDash val="dash"/>
          </a:ln>
        </p:spPr>
      </p:cxnSp>
      <p:cxnSp>
        <p:nvCxnSpPr>
          <p:cNvPr id="183" name="Connector 182"/>
          <p:cNvCxnSpPr/>
          <p:nvPr/>
        </p:nvCxnSpPr>
        <p:spPr>
          <a:xfrm flipV="1">
            <a:off x="10135552" y="3631792"/>
            <a:ext cx="64294" cy="92339"/>
          </a:xfrm>
          <a:prstGeom prst="line">
            <a:avLst/>
          </a:prstGeom>
          <a:ln w="19050">
            <a:solidFill>
              <a:srgbClr val="D55E00"/>
            </a:solidFill>
            <a:prstDash val="dash"/>
          </a:ln>
        </p:spPr>
      </p:cxnSp>
      <p:cxnSp>
        <p:nvCxnSpPr>
          <p:cNvPr id="184" name="Connector 183"/>
          <p:cNvCxnSpPr/>
          <p:nvPr/>
        </p:nvCxnSpPr>
        <p:spPr>
          <a:xfrm flipV="1">
            <a:off x="10199846" y="3538062"/>
            <a:ext cx="64294" cy="93730"/>
          </a:xfrm>
          <a:prstGeom prst="line">
            <a:avLst/>
          </a:prstGeom>
          <a:ln w="19050">
            <a:solidFill>
              <a:srgbClr val="D55E00"/>
            </a:solidFill>
            <a:prstDash val="dash"/>
          </a:ln>
        </p:spPr>
      </p:cxnSp>
      <p:cxnSp>
        <p:nvCxnSpPr>
          <p:cNvPr id="185" name="Connector 184"/>
          <p:cNvCxnSpPr/>
          <p:nvPr/>
        </p:nvCxnSpPr>
        <p:spPr>
          <a:xfrm flipV="1">
            <a:off x="10264140" y="3443535"/>
            <a:ext cx="64293" cy="94527"/>
          </a:xfrm>
          <a:prstGeom prst="line">
            <a:avLst/>
          </a:prstGeom>
          <a:ln w="19050">
            <a:solidFill>
              <a:srgbClr val="D55E00"/>
            </a:solidFill>
            <a:prstDash val="dash"/>
          </a:ln>
        </p:spPr>
      </p:cxnSp>
      <p:cxnSp>
        <p:nvCxnSpPr>
          <p:cNvPr id="186" name="Connector 185"/>
          <p:cNvCxnSpPr/>
          <p:nvPr/>
        </p:nvCxnSpPr>
        <p:spPr>
          <a:xfrm flipV="1">
            <a:off x="10328433" y="3348874"/>
            <a:ext cx="64294" cy="94661"/>
          </a:xfrm>
          <a:prstGeom prst="line">
            <a:avLst/>
          </a:prstGeom>
          <a:ln w="19050">
            <a:solidFill>
              <a:srgbClr val="D55E00"/>
            </a:solidFill>
            <a:prstDash val="dash"/>
          </a:ln>
        </p:spPr>
      </p:cxnSp>
      <p:cxnSp>
        <p:nvCxnSpPr>
          <p:cNvPr id="187" name="Connector 186"/>
          <p:cNvCxnSpPr/>
          <p:nvPr/>
        </p:nvCxnSpPr>
        <p:spPr>
          <a:xfrm flipV="1">
            <a:off x="10392727" y="3254808"/>
            <a:ext cx="64294" cy="94066"/>
          </a:xfrm>
          <a:prstGeom prst="line">
            <a:avLst/>
          </a:prstGeom>
          <a:ln w="19050">
            <a:solidFill>
              <a:srgbClr val="D55E00"/>
            </a:solidFill>
            <a:prstDash val="dash"/>
          </a:ln>
        </p:spPr>
      </p:cxnSp>
      <p:cxnSp>
        <p:nvCxnSpPr>
          <p:cNvPr id="188" name="Connector 187"/>
          <p:cNvCxnSpPr/>
          <p:nvPr/>
        </p:nvCxnSpPr>
        <p:spPr>
          <a:xfrm flipV="1">
            <a:off x="10457021" y="3162117"/>
            <a:ext cx="64294" cy="92691"/>
          </a:xfrm>
          <a:prstGeom prst="line">
            <a:avLst/>
          </a:prstGeom>
          <a:ln w="19050">
            <a:solidFill>
              <a:srgbClr val="D55E00"/>
            </a:solidFill>
            <a:prstDash val="dash"/>
          </a:ln>
        </p:spPr>
      </p:cxnSp>
      <p:cxnSp>
        <p:nvCxnSpPr>
          <p:cNvPr id="189" name="Connector 188"/>
          <p:cNvCxnSpPr/>
          <p:nvPr/>
        </p:nvCxnSpPr>
        <p:spPr>
          <a:xfrm flipV="1">
            <a:off x="10521315" y="3071612"/>
            <a:ext cx="64293" cy="90505"/>
          </a:xfrm>
          <a:prstGeom prst="line">
            <a:avLst/>
          </a:prstGeom>
          <a:ln w="19050">
            <a:solidFill>
              <a:srgbClr val="D55E00"/>
            </a:solidFill>
            <a:prstDash val="dash"/>
          </a:ln>
        </p:spPr>
      </p:cxnSp>
      <p:cxnSp>
        <p:nvCxnSpPr>
          <p:cNvPr id="190" name="Connector 189"/>
          <p:cNvCxnSpPr/>
          <p:nvPr/>
        </p:nvCxnSpPr>
        <p:spPr>
          <a:xfrm flipV="1">
            <a:off x="10585608" y="2984122"/>
            <a:ext cx="64294" cy="87490"/>
          </a:xfrm>
          <a:prstGeom prst="line">
            <a:avLst/>
          </a:prstGeom>
          <a:ln w="19050">
            <a:solidFill>
              <a:srgbClr val="D55E00"/>
            </a:solidFill>
            <a:prstDash val="dash"/>
          </a:ln>
        </p:spPr>
      </p:cxnSp>
      <p:cxnSp>
        <p:nvCxnSpPr>
          <p:cNvPr id="191" name="Connector 190"/>
          <p:cNvCxnSpPr/>
          <p:nvPr/>
        </p:nvCxnSpPr>
        <p:spPr>
          <a:xfrm flipV="1">
            <a:off x="10649902" y="2900462"/>
            <a:ext cx="64294" cy="83660"/>
          </a:xfrm>
          <a:prstGeom prst="line">
            <a:avLst/>
          </a:prstGeom>
          <a:ln w="19050">
            <a:solidFill>
              <a:srgbClr val="D55E00"/>
            </a:solidFill>
            <a:prstDash val="dash"/>
          </a:ln>
        </p:spPr>
      </p:cxnSp>
      <p:cxnSp>
        <p:nvCxnSpPr>
          <p:cNvPr id="192" name="Connector 191"/>
          <p:cNvCxnSpPr/>
          <p:nvPr/>
        </p:nvCxnSpPr>
        <p:spPr>
          <a:xfrm flipV="1">
            <a:off x="10714196" y="2821410"/>
            <a:ext cx="64294" cy="79052"/>
          </a:xfrm>
          <a:prstGeom prst="line">
            <a:avLst/>
          </a:prstGeom>
          <a:ln w="19050">
            <a:solidFill>
              <a:srgbClr val="D55E00"/>
            </a:solidFill>
            <a:prstDash val="dash"/>
          </a:ln>
        </p:spPr>
      </p:cxnSp>
      <p:cxnSp>
        <p:nvCxnSpPr>
          <p:cNvPr id="193" name="Connector 192"/>
          <p:cNvCxnSpPr/>
          <p:nvPr/>
        </p:nvCxnSpPr>
        <p:spPr>
          <a:xfrm flipV="1">
            <a:off x="10778490" y="2747674"/>
            <a:ext cx="64293" cy="73736"/>
          </a:xfrm>
          <a:prstGeom prst="line">
            <a:avLst/>
          </a:prstGeom>
          <a:ln w="19050">
            <a:solidFill>
              <a:srgbClr val="D55E00"/>
            </a:solidFill>
            <a:prstDash val="dash"/>
          </a:ln>
        </p:spPr>
      </p:cxnSp>
      <p:cxnSp>
        <p:nvCxnSpPr>
          <p:cNvPr id="194" name="Connector 193"/>
          <p:cNvCxnSpPr/>
          <p:nvPr/>
        </p:nvCxnSpPr>
        <p:spPr>
          <a:xfrm flipV="1">
            <a:off x="10842783" y="2679860"/>
            <a:ext cx="64294" cy="67814"/>
          </a:xfrm>
          <a:prstGeom prst="line">
            <a:avLst/>
          </a:prstGeom>
          <a:ln w="19050">
            <a:solidFill>
              <a:srgbClr val="D55E00"/>
            </a:solidFill>
            <a:prstDash val="dash"/>
          </a:ln>
        </p:spPr>
      </p:cxnSp>
      <p:cxnSp>
        <p:nvCxnSpPr>
          <p:cNvPr id="195" name="Connector 194"/>
          <p:cNvCxnSpPr/>
          <p:nvPr/>
        </p:nvCxnSpPr>
        <p:spPr>
          <a:xfrm flipV="1">
            <a:off x="10907077" y="2618446"/>
            <a:ext cx="64294" cy="61414"/>
          </a:xfrm>
          <a:prstGeom prst="line">
            <a:avLst/>
          </a:prstGeom>
          <a:ln w="19050">
            <a:solidFill>
              <a:srgbClr val="D55E00"/>
            </a:solidFill>
            <a:prstDash val="dash"/>
          </a:ln>
        </p:spPr>
      </p:cxnSp>
      <p:cxnSp>
        <p:nvCxnSpPr>
          <p:cNvPr id="196" name="Connector 195"/>
          <p:cNvCxnSpPr/>
          <p:nvPr/>
        </p:nvCxnSpPr>
        <p:spPr>
          <a:xfrm flipV="1">
            <a:off x="10971371" y="2563754"/>
            <a:ext cx="64294" cy="54692"/>
          </a:xfrm>
          <a:prstGeom prst="line">
            <a:avLst/>
          </a:prstGeom>
          <a:ln w="19050">
            <a:solidFill>
              <a:srgbClr val="D55E00"/>
            </a:solidFill>
            <a:prstDash val="dash"/>
          </a:ln>
        </p:spPr>
      </p:cxnSp>
      <p:cxnSp>
        <p:nvCxnSpPr>
          <p:cNvPr id="197" name="Connector 196"/>
          <p:cNvCxnSpPr/>
          <p:nvPr/>
        </p:nvCxnSpPr>
        <p:spPr>
          <a:xfrm flipV="1">
            <a:off x="11035665" y="2515931"/>
            <a:ext cx="64293" cy="47823"/>
          </a:xfrm>
          <a:prstGeom prst="line">
            <a:avLst/>
          </a:prstGeom>
          <a:ln w="19050">
            <a:solidFill>
              <a:srgbClr val="D55E00"/>
            </a:solidFill>
            <a:prstDash val="dash"/>
          </a:ln>
        </p:spPr>
      </p:cxnSp>
      <p:cxnSp>
        <p:nvCxnSpPr>
          <p:cNvPr id="198" name="Connector 197"/>
          <p:cNvCxnSpPr/>
          <p:nvPr/>
        </p:nvCxnSpPr>
        <p:spPr>
          <a:xfrm flipV="1">
            <a:off x="11099958" y="2474942"/>
            <a:ext cx="64294" cy="40989"/>
          </a:xfrm>
          <a:prstGeom prst="line">
            <a:avLst/>
          </a:prstGeom>
          <a:ln w="19050">
            <a:solidFill>
              <a:srgbClr val="D55E00"/>
            </a:solidFill>
            <a:prstDash val="dash"/>
          </a:ln>
        </p:spPr>
      </p:cxnSp>
      <p:cxnSp>
        <p:nvCxnSpPr>
          <p:cNvPr id="199" name="Connector 198"/>
          <p:cNvCxnSpPr/>
          <p:nvPr/>
        </p:nvCxnSpPr>
        <p:spPr>
          <a:xfrm flipV="1">
            <a:off x="11164252" y="2440565"/>
            <a:ext cx="64294" cy="34377"/>
          </a:xfrm>
          <a:prstGeom prst="line">
            <a:avLst/>
          </a:prstGeom>
          <a:ln w="19050">
            <a:solidFill>
              <a:srgbClr val="D55E00"/>
            </a:solidFill>
            <a:prstDash val="dash"/>
          </a:ln>
        </p:spPr>
      </p:cxnSp>
      <p:cxnSp>
        <p:nvCxnSpPr>
          <p:cNvPr id="200" name="Connector 199"/>
          <p:cNvCxnSpPr/>
          <p:nvPr/>
        </p:nvCxnSpPr>
        <p:spPr>
          <a:xfrm flipV="1">
            <a:off x="11228546" y="2412410"/>
            <a:ext cx="64294" cy="28155"/>
          </a:xfrm>
          <a:prstGeom prst="line">
            <a:avLst/>
          </a:prstGeom>
          <a:ln w="19050">
            <a:solidFill>
              <a:srgbClr val="D55E00"/>
            </a:solidFill>
            <a:prstDash val="dash"/>
          </a:ln>
        </p:spPr>
      </p:cxnSp>
      <p:sp>
        <p:nvSpPr>
          <p:cNvPr id="201" name="Rectangle 200"/>
          <p:cNvSpPr/>
          <p:nvPr/>
        </p:nvSpPr>
        <p:spPr>
          <a:xfrm>
            <a:off x="7118603" y="5200695"/>
            <a:ext cx="118872" cy="118872"/>
          </a:xfrm>
          <a:prstGeom prst="rect">
            <a:avLst/>
          </a:prstGeom>
          <a:solidFill>
            <a:srgbClr val="D55E00"/>
          </a:solidFill>
          <a:ln w="12700">
            <a:solidFill>
              <a:srgbClr val="D55E00"/>
            </a:solidFill>
          </a:ln>
        </p:spPr>
        <p:txBody>
          <a:bodyPr rtlCol="0" anchor="ctr"/>
          <a:lstStyle/>
          <a:p>
            <a:pPr algn="ctr"/>
          </a:p>
        </p:txBody>
      </p:sp>
      <p:sp>
        <p:nvSpPr>
          <p:cNvPr id="202" name="Rectangle 201"/>
          <p:cNvSpPr/>
          <p:nvPr/>
        </p:nvSpPr>
        <p:spPr>
          <a:xfrm>
            <a:off x="7632954" y="5157604"/>
            <a:ext cx="118872" cy="118872"/>
          </a:xfrm>
          <a:prstGeom prst="rect">
            <a:avLst/>
          </a:prstGeom>
          <a:solidFill>
            <a:srgbClr val="D55E00"/>
          </a:solidFill>
          <a:ln w="12700">
            <a:solidFill>
              <a:srgbClr val="D55E00"/>
            </a:solidFill>
          </a:ln>
        </p:spPr>
        <p:txBody>
          <a:bodyPr rtlCol="0" anchor="ctr"/>
          <a:lstStyle/>
          <a:p>
            <a:pPr algn="ctr"/>
          </a:p>
        </p:txBody>
      </p:sp>
      <p:sp>
        <p:nvSpPr>
          <p:cNvPr id="203" name="Rectangle 202"/>
          <p:cNvSpPr/>
          <p:nvPr/>
        </p:nvSpPr>
        <p:spPr>
          <a:xfrm>
            <a:off x="8147304" y="5073205"/>
            <a:ext cx="118872" cy="118872"/>
          </a:xfrm>
          <a:prstGeom prst="rect">
            <a:avLst/>
          </a:prstGeom>
          <a:solidFill>
            <a:srgbClr val="D55E00"/>
          </a:solidFill>
          <a:ln w="12700">
            <a:solidFill>
              <a:srgbClr val="D55E00"/>
            </a:solidFill>
          </a:ln>
        </p:spPr>
        <p:txBody>
          <a:bodyPr rtlCol="0" anchor="ctr"/>
          <a:lstStyle/>
          <a:p>
            <a:pPr algn="ctr"/>
          </a:p>
        </p:txBody>
      </p:sp>
      <p:sp>
        <p:nvSpPr>
          <p:cNvPr id="204" name="Rectangle 203"/>
          <p:cNvSpPr/>
          <p:nvPr/>
        </p:nvSpPr>
        <p:spPr>
          <a:xfrm>
            <a:off x="8661654" y="4916888"/>
            <a:ext cx="118872" cy="118872"/>
          </a:xfrm>
          <a:prstGeom prst="rect">
            <a:avLst/>
          </a:prstGeom>
          <a:solidFill>
            <a:srgbClr val="D55E00"/>
          </a:solidFill>
          <a:ln w="12700">
            <a:solidFill>
              <a:srgbClr val="D55E00"/>
            </a:solidFill>
          </a:ln>
        </p:spPr>
        <p:txBody>
          <a:bodyPr rtlCol="0" anchor="ctr"/>
          <a:lstStyle/>
          <a:p>
            <a:pPr algn="ctr"/>
          </a:p>
        </p:txBody>
      </p:sp>
      <p:sp>
        <p:nvSpPr>
          <p:cNvPr id="205" name="Rectangle 204"/>
          <p:cNvSpPr/>
          <p:nvPr/>
        </p:nvSpPr>
        <p:spPr>
          <a:xfrm>
            <a:off x="9176004" y="4633081"/>
            <a:ext cx="118872" cy="118872"/>
          </a:xfrm>
          <a:prstGeom prst="rect">
            <a:avLst/>
          </a:prstGeom>
          <a:solidFill>
            <a:srgbClr val="D55E00"/>
          </a:solidFill>
          <a:ln w="12700">
            <a:solidFill>
              <a:srgbClr val="D55E00"/>
            </a:solidFill>
          </a:ln>
        </p:spPr>
        <p:txBody>
          <a:bodyPr rtlCol="0" anchor="ctr"/>
          <a:lstStyle/>
          <a:p>
            <a:pPr algn="ctr"/>
          </a:p>
        </p:txBody>
      </p:sp>
      <p:sp>
        <p:nvSpPr>
          <p:cNvPr id="206" name="Rectangle 205"/>
          <p:cNvSpPr/>
          <p:nvPr/>
        </p:nvSpPr>
        <p:spPr>
          <a:xfrm>
            <a:off x="9690354" y="4187014"/>
            <a:ext cx="118872" cy="118872"/>
          </a:xfrm>
          <a:prstGeom prst="rect">
            <a:avLst/>
          </a:prstGeom>
          <a:solidFill>
            <a:srgbClr val="D55E00"/>
          </a:solidFill>
          <a:ln w="12700">
            <a:solidFill>
              <a:srgbClr val="D55E00"/>
            </a:solidFill>
          </a:ln>
        </p:spPr>
        <p:txBody>
          <a:bodyPr rtlCol="0" anchor="ctr"/>
          <a:lstStyle/>
          <a:p>
            <a:pPr algn="ctr"/>
          </a:p>
        </p:txBody>
      </p:sp>
      <p:sp>
        <p:nvSpPr>
          <p:cNvPr id="207" name="Rectangle 206"/>
          <p:cNvSpPr/>
          <p:nvPr/>
        </p:nvSpPr>
        <p:spPr>
          <a:xfrm>
            <a:off x="10204704" y="3585225"/>
            <a:ext cx="118872" cy="118872"/>
          </a:xfrm>
          <a:prstGeom prst="rect">
            <a:avLst/>
          </a:prstGeom>
          <a:solidFill>
            <a:srgbClr val="D55E00"/>
          </a:solidFill>
          <a:ln w="12700">
            <a:solidFill>
              <a:srgbClr val="D55E00"/>
            </a:solidFill>
          </a:ln>
        </p:spPr>
        <p:txBody>
          <a:bodyPr rtlCol="0" anchor="ctr"/>
          <a:lstStyle/>
          <a:p>
            <a:pPr algn="ctr"/>
          </a:p>
        </p:txBody>
      </p:sp>
      <p:sp>
        <p:nvSpPr>
          <p:cNvPr id="208" name="Rectangle 207"/>
          <p:cNvSpPr/>
          <p:nvPr/>
        </p:nvSpPr>
        <p:spPr>
          <a:xfrm>
            <a:off x="10719054" y="2945396"/>
            <a:ext cx="118872" cy="118872"/>
          </a:xfrm>
          <a:prstGeom prst="rect">
            <a:avLst/>
          </a:prstGeom>
          <a:solidFill>
            <a:srgbClr val="D55E00"/>
          </a:solidFill>
          <a:ln w="12700">
            <a:solidFill>
              <a:srgbClr val="D55E00"/>
            </a:solidFill>
          </a:ln>
        </p:spPr>
        <p:txBody>
          <a:bodyPr rtlCol="0" anchor="ctr"/>
          <a:lstStyle/>
          <a:p>
            <a:pPr algn="ctr"/>
          </a:p>
        </p:txBody>
      </p:sp>
      <p:sp>
        <p:nvSpPr>
          <p:cNvPr id="209" name="Rectangle 208"/>
          <p:cNvSpPr/>
          <p:nvPr/>
        </p:nvSpPr>
        <p:spPr>
          <a:xfrm>
            <a:off x="11233404" y="2462776"/>
            <a:ext cx="118872" cy="118872"/>
          </a:xfrm>
          <a:prstGeom prst="rect">
            <a:avLst/>
          </a:prstGeom>
          <a:solidFill>
            <a:srgbClr val="D55E00"/>
          </a:solidFill>
          <a:ln w="12700">
            <a:solidFill>
              <a:srgbClr val="D55E00"/>
            </a:solidFill>
          </a:ln>
        </p:spPr>
        <p:txBody>
          <a:bodyPr rtlCol="0" anchor="ctr"/>
          <a:lstStyle/>
          <a:p>
            <a:pPr algn="ctr"/>
          </a:p>
        </p:txBody>
      </p:sp>
      <p:sp>
        <p:nvSpPr>
          <p:cNvPr id="210" name="TextBox 209"/>
          <p:cNvSpPr txBox="1"/>
          <p:nvPr/>
        </p:nvSpPr>
        <p:spPr>
          <a:xfrm>
            <a:off x="8023859" y="3223260"/>
            <a:ext cx="2103120" cy="420624"/>
          </a:xfrm>
          <a:prstGeom prst="rect">
            <a:avLst/>
          </a:prstGeom>
          <a:noFill/>
        </p:spPr>
        <p:txBody>
          <a:bodyPr wrap="square" lIns="0" tIns="0" rIns="0" bIns="0" anchor="t"/>
          <a:lstStyle/>
          <a:p>
            <a:pPr algn="r"/>
            <a:r>
              <a:rPr sz="1250" b="1" i="0">
                <a:solidFill>
                  <a:srgbClr val="D55E00"/>
                </a:solidFill>
                <a:latin typeface="Arial"/>
                <a:ea typeface="Arial"/>
                <a:cs typeface="Arial"/>
              </a:rPr>
              <a:t>conservative: 77% at 128</a:t>
            </a:r>
          </a:p>
          <a:p>
            <a:pPr algn="r"/>
            <a:r>
              <a:rPr sz="1250" b="1" i="0">
                <a:solidFill>
                  <a:srgbClr val="D55E00"/>
                </a:solidFill>
                <a:latin typeface="Arial"/>
                <a:ea typeface="Arial"/>
                <a:cs typeface="Arial"/>
              </a:rPr>
              <a:t>(84% predicted)</a:t>
            </a:r>
          </a:p>
        </p:txBody>
      </p:sp>
      <p:sp>
        <p:nvSpPr>
          <p:cNvPr id="211" name="TextBox 210"/>
          <p:cNvSpPr txBox="1"/>
          <p:nvPr/>
        </p:nvSpPr>
        <p:spPr>
          <a:xfrm>
            <a:off x="9912096" y="4917186"/>
            <a:ext cx="1645920" cy="420624"/>
          </a:xfrm>
          <a:prstGeom prst="rect">
            <a:avLst/>
          </a:prstGeom>
          <a:noFill/>
        </p:spPr>
        <p:txBody>
          <a:bodyPr wrap="square" lIns="0" tIns="0" rIns="0" bIns="0" anchor="t"/>
          <a:lstStyle/>
          <a:p>
            <a:pPr algn="l"/>
            <a:r>
              <a:rPr sz="1250" b="1" i="0">
                <a:solidFill>
                  <a:srgbClr val="D55E00"/>
                </a:solidFill>
                <a:latin typeface="Arial"/>
                <a:ea typeface="Arial"/>
                <a:cs typeface="Arial"/>
              </a:rPr>
              <a:t>Hopper: 27%</a:t>
            </a:r>
          </a:p>
          <a:p>
            <a:pPr algn="l"/>
            <a:r>
              <a:rPr sz="1250" b="1" i="0">
                <a:solidFill>
                  <a:srgbClr val="D55E00"/>
                </a:solidFill>
                <a:latin typeface="Arial"/>
                <a:ea typeface="Arial"/>
                <a:cs typeface="Arial"/>
              </a:rPr>
              <a:t>(36% predicted)</a:t>
            </a:r>
          </a:p>
        </p:txBody>
      </p:sp>
      <p:sp>
        <p:nvSpPr>
          <p:cNvPr id="212" name="TextBox 211"/>
          <p:cNvSpPr txBox="1"/>
          <p:nvPr/>
        </p:nvSpPr>
        <p:spPr>
          <a:xfrm>
            <a:off x="6583680" y="5833872"/>
            <a:ext cx="4892040" cy="457200"/>
          </a:xfrm>
          <a:prstGeom prst="rect">
            <a:avLst/>
          </a:prstGeom>
          <a:noFill/>
        </p:spPr>
        <p:txBody>
          <a:bodyPr wrap="square" lIns="0" tIns="0" rIns="0" bIns="0" anchor="t"/>
          <a:lstStyle/>
          <a:p>
            <a:pPr algn="l"/>
            <a:r>
              <a:rPr sz="1250" b="0" i="0">
                <a:solidFill>
                  <a:srgbClr val="586B73"/>
                </a:solidFill>
                <a:latin typeface="Arial"/>
                <a:ea typeface="Arial"/>
                <a:cs typeface="Arial"/>
              </a:rPr>
              <a:t>Markers: kernel replay, measured. Lines: 1 − (1 − p)ᴹ at the held-out rates p, as if positions fell back independently (derived).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Alone, the int8 head takes about 0.7 of the stock head’s time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§4.4, Fig. 3c · evidence/certified_head (head_path_time.csv, ncu_gemv_summary.json) · head alone, CUDA graphs, warm L2; expected times use the conservative model</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B10</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Head alone, one call of M positions</a:t>
            </a:r>
          </a:p>
        </p:txBody>
      </p:sp>
      <p:sp>
        <p:nvSpPr>
          <p:cNvPr id="7" name="TextBox 6"/>
          <p:cNvSpPr txBox="1"/>
          <p:nvPr/>
        </p:nvSpPr>
        <p:spPr>
          <a:xfrm>
            <a:off x="731520" y="2148840"/>
            <a:ext cx="4297680" cy="365760"/>
          </a:xfrm>
          <a:prstGeom prst="rect">
            <a:avLst/>
          </a:prstGeom>
          <a:noFill/>
        </p:spPr>
        <p:txBody>
          <a:bodyPr wrap="square" lIns="0" tIns="0" rIns="0" bIns="0" anchor="t"/>
          <a:lstStyle/>
          <a:p>
            <a:pPr algn="l"/>
            <a:r>
              <a:rPr sz="1800" b="1" i="0">
                <a:solidFill>
                  <a:srgbClr val="1B3A57"/>
                </a:solidFill>
                <a:latin typeface="Arial"/>
                <a:ea typeface="Arial"/>
                <a:cs typeface="Arial"/>
              </a:rPr>
              <a:t>One position, measured</a:t>
            </a:r>
          </a:p>
        </p:txBody>
      </p:sp>
      <p:sp>
        <p:nvSpPr>
          <p:cNvPr id="8" name="TextBox 7"/>
          <p:cNvSpPr txBox="1"/>
          <p:nvPr/>
        </p:nvSpPr>
        <p:spPr>
          <a:xfrm>
            <a:off x="731520" y="2560320"/>
            <a:ext cx="4297680" cy="640080"/>
          </a:xfrm>
          <a:prstGeom prst="rect">
            <a:avLst/>
          </a:prstGeom>
          <a:noFill/>
        </p:spPr>
        <p:txBody>
          <a:bodyPr wrap="square" lIns="0" tIns="0" rIns="0" bIns="0" anchor="t"/>
          <a:lstStyle/>
          <a:p>
            <a:pPr algn="l"/>
            <a:r>
              <a:rPr sz="3400" b="1" i="0">
                <a:solidFill>
                  <a:srgbClr val="1B3A57"/>
                </a:solidFill>
                <a:latin typeface="Arial"/>
                <a:ea typeface="Arial"/>
                <a:cs typeface="Arial"/>
              </a:rPr>
              <a:t>370.5 µs</a:t>
            </a:r>
          </a:p>
        </p:txBody>
      </p:sp>
      <p:sp>
        <p:nvSpPr>
          <p:cNvPr id="9" name="TextBox 8"/>
          <p:cNvSpPr txBox="1"/>
          <p:nvPr/>
        </p:nvSpPr>
        <p:spPr>
          <a:xfrm>
            <a:off x="731520" y="3154680"/>
            <a:ext cx="4297680" cy="329184"/>
          </a:xfrm>
          <a:prstGeom prst="rect">
            <a:avLst/>
          </a:prstGeom>
          <a:noFill/>
        </p:spPr>
        <p:txBody>
          <a:bodyPr wrap="square" lIns="0" tIns="0" rIns="0" bIns="0" anchor="t"/>
          <a:lstStyle/>
          <a:p>
            <a:pPr algn="l"/>
            <a:r>
              <a:rPr sz="1500" b="0" i="0">
                <a:solidFill>
                  <a:srgbClr val="586B73"/>
                </a:solidFill>
                <a:latin typeface="Arial"/>
                <a:ea typeface="Arial"/>
                <a:cs typeface="Arial"/>
              </a:rPr>
              <a:t>stock head: GEMM, FP32 copy, argmax</a:t>
            </a:r>
          </a:p>
        </p:txBody>
      </p:sp>
      <p:sp>
        <p:nvSpPr>
          <p:cNvPr id="10" name="TextBox 9"/>
          <p:cNvSpPr txBox="1"/>
          <p:nvPr/>
        </p:nvSpPr>
        <p:spPr>
          <a:xfrm>
            <a:off x="731520" y="3611880"/>
            <a:ext cx="4297680" cy="640080"/>
          </a:xfrm>
          <a:prstGeom prst="rect">
            <a:avLst/>
          </a:prstGeom>
          <a:noFill/>
        </p:spPr>
        <p:txBody>
          <a:bodyPr wrap="square" lIns="0" tIns="0" rIns="0" bIns="0" anchor="t"/>
          <a:lstStyle/>
          <a:p>
            <a:pPr algn="l"/>
            <a:r>
              <a:rPr sz="3400" b="1" i="0">
                <a:solidFill>
                  <a:srgbClr val="0072B2"/>
                </a:solidFill>
                <a:latin typeface="Arial"/>
                <a:ea typeface="Arial"/>
                <a:cs typeface="Arial"/>
              </a:rPr>
              <a:t>239.6 µs</a:t>
            </a:r>
          </a:p>
        </p:txBody>
      </p:sp>
      <p:sp>
        <p:nvSpPr>
          <p:cNvPr id="11" name="TextBox 10"/>
          <p:cNvSpPr txBox="1"/>
          <p:nvPr/>
        </p:nvSpPr>
        <p:spPr>
          <a:xfrm>
            <a:off x="731520" y="4206240"/>
            <a:ext cx="4297680" cy="329184"/>
          </a:xfrm>
          <a:prstGeom prst="rect">
            <a:avLst/>
          </a:prstGeom>
          <a:noFill/>
        </p:spPr>
        <p:txBody>
          <a:bodyPr wrap="square" lIns="0" tIns="0" rIns="0" bIns="0" anchor="t"/>
          <a:lstStyle/>
          <a:p>
            <a:pPr algn="l"/>
            <a:r>
              <a:rPr sz="1500" b="0" i="0">
                <a:solidFill>
                  <a:srgbClr val="586B73"/>
                </a:solidFill>
                <a:latin typeface="Arial"/>
                <a:ea typeface="Arial"/>
                <a:cs typeface="Arial"/>
              </a:rPr>
              <a:t>certified head, every position certified</a:t>
            </a:r>
          </a:p>
        </p:txBody>
      </p:sp>
      <p:sp>
        <p:nvSpPr>
          <p:cNvPr id="12" name="TextBox 11"/>
          <p:cNvSpPr txBox="1"/>
          <p:nvPr/>
        </p:nvSpPr>
        <p:spPr>
          <a:xfrm>
            <a:off x="731520" y="4754880"/>
            <a:ext cx="4526280" cy="1508760"/>
          </a:xfrm>
          <a:prstGeom prst="rect">
            <a:avLst/>
          </a:prstGeom>
          <a:noFill/>
        </p:spPr>
        <p:txBody>
          <a:bodyPr wrap="square" lIns="0" tIns="0" rIns="0" bIns="0" anchor="t"/>
          <a:lstStyle/>
          <a:p>
            <a:pPr algn="l"/>
            <a:r>
              <a:rPr sz="1500" b="1" i="0">
                <a:solidFill>
                  <a:srgbClr val="1B3A57"/>
                </a:solidFill>
                <a:latin typeface="Arial"/>
                <a:ea typeface="Arial"/>
                <a:cs typeface="Arial"/>
              </a:rPr>
              <a:t>With the head at 10.3% of a batch-1 plain step, a step would shorten by at most 3.4–3.5% (derived); served, plain decoding gained 2.5%.</a:t>
            </a:r>
          </a:p>
        </p:txBody>
      </p:sp>
      <p:sp>
        <p:nvSpPr>
          <p:cNvPr id="13" name="Rectangle 12"/>
          <p:cNvSpPr/>
          <p:nvPr/>
        </p:nvSpPr>
        <p:spPr>
          <a:xfrm>
            <a:off x="8138160" y="2395728"/>
            <a:ext cx="2148839" cy="3136391"/>
          </a:xfrm>
          <a:prstGeom prst="rect">
            <a:avLst/>
          </a:prstGeom>
          <a:solidFill>
            <a:srgbClr val="F1F3F5"/>
          </a:solidFill>
          <a:ln>
            <a:noFill/>
          </a:ln>
        </p:spPr>
        <p:txBody>
          <a:bodyPr rtlCol="0" anchor="ctr"/>
          <a:lstStyle/>
          <a:p>
            <a:pPr algn="ctr"/>
          </a:p>
        </p:txBody>
      </p:sp>
      <p:sp>
        <p:nvSpPr>
          <p:cNvPr id="14" name="TextBox 13"/>
          <p:cNvSpPr txBox="1"/>
          <p:nvPr/>
        </p:nvSpPr>
        <p:spPr>
          <a:xfrm>
            <a:off x="8211312" y="2432304"/>
            <a:ext cx="2103120" cy="658368"/>
          </a:xfrm>
          <a:prstGeom prst="rect">
            <a:avLst/>
          </a:prstGeom>
          <a:noFill/>
        </p:spPr>
        <p:txBody>
          <a:bodyPr wrap="square" lIns="0" tIns="0" rIns="0" bIns="0" anchor="t"/>
          <a:lstStyle/>
          <a:p>
            <a:pPr algn="l"/>
            <a:r>
              <a:rPr sz="1200" b="0" i="0">
                <a:solidFill>
                  <a:srgbClr val="586B73"/>
                </a:solidFill>
                <a:latin typeface="Arial"/>
                <a:ea typeface="Arial"/>
                <a:cs typeface="Arial"/>
              </a:rPr>
              <a:t>above 16: consecutive</a:t>
            </a:r>
          </a:p>
          <a:p>
            <a:pPr algn="l"/>
            <a:r>
              <a:rPr sz="1200" b="0" i="0">
                <a:solidFill>
                  <a:srgbClr val="586B73"/>
                </a:solidFill>
                <a:latin typeface="Arial"/>
                <a:ea typeface="Arial"/>
                <a:cs typeface="Arial"/>
              </a:rPr>
              <a:t>replay positions, not</a:t>
            </a:r>
          </a:p>
          <a:p>
            <a:pPr algn="l"/>
            <a:r>
              <a:rPr sz="1200" b="0" i="0">
                <a:solidFill>
                  <a:srgbClr val="586B73"/>
                </a:solidFill>
                <a:latin typeface="Arial"/>
                <a:ea typeface="Arial"/>
                <a:cs typeface="Arial"/>
              </a:rPr>
              <a:t>engine batches</a:t>
            </a:r>
          </a:p>
        </p:txBody>
      </p:sp>
      <p:cxnSp>
        <p:nvCxnSpPr>
          <p:cNvPr id="15" name="Connector 14"/>
          <p:cNvCxnSpPr/>
          <p:nvPr/>
        </p:nvCxnSpPr>
        <p:spPr>
          <a:xfrm>
            <a:off x="5989320" y="5532120"/>
            <a:ext cx="4297680" cy="0"/>
          </a:xfrm>
          <a:prstGeom prst="line">
            <a:avLst/>
          </a:prstGeom>
          <a:ln w="9525">
            <a:solidFill>
              <a:srgbClr val="D2DCDF"/>
            </a:solidFill>
          </a:ln>
        </p:spPr>
      </p:cxnSp>
      <p:sp>
        <p:nvSpPr>
          <p:cNvPr id="16" name="TextBox 15"/>
          <p:cNvSpPr txBox="1"/>
          <p:nvPr/>
        </p:nvSpPr>
        <p:spPr>
          <a:xfrm>
            <a:off x="5422392" y="5394959"/>
            <a:ext cx="475488" cy="274320"/>
          </a:xfrm>
          <a:prstGeom prst="rect">
            <a:avLst/>
          </a:prstGeom>
          <a:noFill/>
        </p:spPr>
        <p:txBody>
          <a:bodyPr wrap="square" lIns="0" tIns="0" rIns="0" bIns="0" anchor="t"/>
          <a:lstStyle/>
          <a:p>
            <a:pPr algn="r"/>
            <a:r>
              <a:rPr sz="1300" b="0" i="0">
                <a:solidFill>
                  <a:srgbClr val="586B73"/>
                </a:solidFill>
                <a:latin typeface="Arial"/>
                <a:ea typeface="Arial"/>
                <a:cs typeface="Arial"/>
              </a:rPr>
              <a:t>0.5</a:t>
            </a:r>
          </a:p>
        </p:txBody>
      </p:sp>
      <p:cxnSp>
        <p:nvCxnSpPr>
          <p:cNvPr id="17" name="Connector 16"/>
          <p:cNvCxnSpPr/>
          <p:nvPr/>
        </p:nvCxnSpPr>
        <p:spPr>
          <a:xfrm>
            <a:off x="5989320" y="4748022"/>
            <a:ext cx="4297680" cy="0"/>
          </a:xfrm>
          <a:prstGeom prst="line">
            <a:avLst/>
          </a:prstGeom>
          <a:ln w="15875">
            <a:solidFill>
              <a:srgbClr val="1B3A57"/>
            </a:solidFill>
            <a:prstDash val="dash"/>
          </a:ln>
        </p:spPr>
      </p:cxnSp>
      <p:sp>
        <p:nvSpPr>
          <p:cNvPr id="18" name="TextBox 17"/>
          <p:cNvSpPr txBox="1"/>
          <p:nvPr/>
        </p:nvSpPr>
        <p:spPr>
          <a:xfrm>
            <a:off x="5422392" y="4610862"/>
            <a:ext cx="475488" cy="274320"/>
          </a:xfrm>
          <a:prstGeom prst="rect">
            <a:avLst/>
          </a:prstGeom>
          <a:noFill/>
        </p:spPr>
        <p:txBody>
          <a:bodyPr wrap="square" lIns="0" tIns="0" rIns="0" bIns="0" anchor="t"/>
          <a:lstStyle/>
          <a:p>
            <a:pPr algn="r"/>
            <a:r>
              <a:rPr sz="1300" b="0" i="0">
                <a:solidFill>
                  <a:srgbClr val="586B73"/>
                </a:solidFill>
                <a:latin typeface="Arial"/>
                <a:ea typeface="Arial"/>
                <a:cs typeface="Arial"/>
              </a:rPr>
              <a:t>1.0</a:t>
            </a:r>
          </a:p>
        </p:txBody>
      </p:sp>
      <p:cxnSp>
        <p:nvCxnSpPr>
          <p:cNvPr id="19" name="Connector 18"/>
          <p:cNvCxnSpPr/>
          <p:nvPr/>
        </p:nvCxnSpPr>
        <p:spPr>
          <a:xfrm>
            <a:off x="5989320" y="3963924"/>
            <a:ext cx="4297680" cy="0"/>
          </a:xfrm>
          <a:prstGeom prst="line">
            <a:avLst/>
          </a:prstGeom>
          <a:ln w="9525">
            <a:solidFill>
              <a:srgbClr val="D2DCDF"/>
            </a:solidFill>
          </a:ln>
        </p:spPr>
      </p:cxnSp>
      <p:sp>
        <p:nvSpPr>
          <p:cNvPr id="20" name="TextBox 19"/>
          <p:cNvSpPr txBox="1"/>
          <p:nvPr/>
        </p:nvSpPr>
        <p:spPr>
          <a:xfrm>
            <a:off x="5422392" y="3826763"/>
            <a:ext cx="475488" cy="274320"/>
          </a:xfrm>
          <a:prstGeom prst="rect">
            <a:avLst/>
          </a:prstGeom>
          <a:noFill/>
        </p:spPr>
        <p:txBody>
          <a:bodyPr wrap="square" lIns="0" tIns="0" rIns="0" bIns="0" anchor="t"/>
          <a:lstStyle/>
          <a:p>
            <a:pPr algn="r"/>
            <a:r>
              <a:rPr sz="1300" b="0" i="0">
                <a:solidFill>
                  <a:srgbClr val="586B73"/>
                </a:solidFill>
                <a:latin typeface="Arial"/>
                <a:ea typeface="Arial"/>
                <a:cs typeface="Arial"/>
              </a:rPr>
              <a:t>1.5</a:t>
            </a:r>
          </a:p>
        </p:txBody>
      </p:sp>
      <p:cxnSp>
        <p:nvCxnSpPr>
          <p:cNvPr id="21" name="Connector 20"/>
          <p:cNvCxnSpPr/>
          <p:nvPr/>
        </p:nvCxnSpPr>
        <p:spPr>
          <a:xfrm>
            <a:off x="5989320" y="3179826"/>
            <a:ext cx="4297680" cy="0"/>
          </a:xfrm>
          <a:prstGeom prst="line">
            <a:avLst/>
          </a:prstGeom>
          <a:ln w="9525">
            <a:solidFill>
              <a:srgbClr val="D2DCDF"/>
            </a:solidFill>
          </a:ln>
        </p:spPr>
      </p:cxnSp>
      <p:sp>
        <p:nvSpPr>
          <p:cNvPr id="22" name="TextBox 21"/>
          <p:cNvSpPr txBox="1"/>
          <p:nvPr/>
        </p:nvSpPr>
        <p:spPr>
          <a:xfrm>
            <a:off x="5422392" y="3042666"/>
            <a:ext cx="475488" cy="274320"/>
          </a:xfrm>
          <a:prstGeom prst="rect">
            <a:avLst/>
          </a:prstGeom>
          <a:noFill/>
        </p:spPr>
        <p:txBody>
          <a:bodyPr wrap="square" lIns="0" tIns="0" rIns="0" bIns="0" anchor="t"/>
          <a:lstStyle/>
          <a:p>
            <a:pPr algn="r"/>
            <a:r>
              <a:rPr sz="1300" b="0" i="0">
                <a:solidFill>
                  <a:srgbClr val="586B73"/>
                </a:solidFill>
                <a:latin typeface="Arial"/>
                <a:ea typeface="Arial"/>
                <a:cs typeface="Arial"/>
              </a:rPr>
              <a:t>2.0</a:t>
            </a:r>
          </a:p>
        </p:txBody>
      </p:sp>
      <p:cxnSp>
        <p:nvCxnSpPr>
          <p:cNvPr id="23" name="Connector 22"/>
          <p:cNvCxnSpPr/>
          <p:nvPr/>
        </p:nvCxnSpPr>
        <p:spPr>
          <a:xfrm>
            <a:off x="5989320" y="2395728"/>
            <a:ext cx="4297680" cy="0"/>
          </a:xfrm>
          <a:prstGeom prst="line">
            <a:avLst/>
          </a:prstGeom>
          <a:ln w="9525">
            <a:solidFill>
              <a:srgbClr val="D2DCDF"/>
            </a:solidFill>
          </a:ln>
        </p:spPr>
      </p:cxnSp>
      <p:sp>
        <p:nvSpPr>
          <p:cNvPr id="24" name="TextBox 23"/>
          <p:cNvSpPr txBox="1"/>
          <p:nvPr/>
        </p:nvSpPr>
        <p:spPr>
          <a:xfrm>
            <a:off x="5422392" y="2258568"/>
            <a:ext cx="475488" cy="274320"/>
          </a:xfrm>
          <a:prstGeom prst="rect">
            <a:avLst/>
          </a:prstGeom>
          <a:noFill/>
        </p:spPr>
        <p:txBody>
          <a:bodyPr wrap="square" lIns="0" tIns="0" rIns="0" bIns="0" anchor="t"/>
          <a:lstStyle/>
          <a:p>
            <a:pPr algn="r"/>
            <a:r>
              <a:rPr sz="1300" b="0" i="0">
                <a:solidFill>
                  <a:srgbClr val="586B73"/>
                </a:solidFill>
                <a:latin typeface="Arial"/>
                <a:ea typeface="Arial"/>
                <a:cs typeface="Arial"/>
              </a:rPr>
              <a:t>2.5</a:t>
            </a:r>
          </a:p>
        </p:txBody>
      </p:sp>
      <p:sp>
        <p:nvSpPr>
          <p:cNvPr id="25" name="TextBox 24"/>
          <p:cNvSpPr txBox="1"/>
          <p:nvPr/>
        </p:nvSpPr>
        <p:spPr>
          <a:xfrm>
            <a:off x="6035040" y="4473702"/>
            <a:ext cx="1463040" cy="256032"/>
          </a:xfrm>
          <a:prstGeom prst="rect">
            <a:avLst/>
          </a:prstGeom>
          <a:noFill/>
        </p:spPr>
        <p:txBody>
          <a:bodyPr wrap="square" lIns="0" tIns="0" rIns="0" bIns="0" anchor="t"/>
          <a:lstStyle/>
          <a:p>
            <a:pPr algn="l"/>
            <a:r>
              <a:rPr sz="1200" b="0" i="0">
                <a:solidFill>
                  <a:srgbClr val="1B3A57"/>
                </a:solidFill>
                <a:latin typeface="Arial"/>
                <a:ea typeface="Arial"/>
                <a:cs typeface="Arial"/>
              </a:rPr>
              <a:t>stock head = 1</a:t>
            </a:r>
          </a:p>
        </p:txBody>
      </p:sp>
      <p:sp>
        <p:nvSpPr>
          <p:cNvPr id="26" name="TextBox 25"/>
          <p:cNvSpPr txBox="1"/>
          <p:nvPr/>
        </p:nvSpPr>
        <p:spPr>
          <a:xfrm>
            <a:off x="571500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1</a:t>
            </a:r>
          </a:p>
        </p:txBody>
      </p:sp>
      <p:sp>
        <p:nvSpPr>
          <p:cNvPr id="27" name="TextBox 26"/>
          <p:cNvSpPr txBox="1"/>
          <p:nvPr/>
        </p:nvSpPr>
        <p:spPr>
          <a:xfrm>
            <a:off x="625221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2</a:t>
            </a:r>
          </a:p>
        </p:txBody>
      </p:sp>
      <p:sp>
        <p:nvSpPr>
          <p:cNvPr id="28" name="TextBox 27"/>
          <p:cNvSpPr txBox="1"/>
          <p:nvPr/>
        </p:nvSpPr>
        <p:spPr>
          <a:xfrm>
            <a:off x="678942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sp>
        <p:nvSpPr>
          <p:cNvPr id="29" name="TextBox 28"/>
          <p:cNvSpPr txBox="1"/>
          <p:nvPr/>
        </p:nvSpPr>
        <p:spPr>
          <a:xfrm>
            <a:off x="7326629"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8</a:t>
            </a:r>
          </a:p>
        </p:txBody>
      </p:sp>
      <p:sp>
        <p:nvSpPr>
          <p:cNvPr id="30" name="TextBox 29"/>
          <p:cNvSpPr txBox="1"/>
          <p:nvPr/>
        </p:nvSpPr>
        <p:spPr>
          <a:xfrm>
            <a:off x="786384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16</a:t>
            </a:r>
          </a:p>
        </p:txBody>
      </p:sp>
      <p:sp>
        <p:nvSpPr>
          <p:cNvPr id="31" name="TextBox 30"/>
          <p:cNvSpPr txBox="1"/>
          <p:nvPr/>
        </p:nvSpPr>
        <p:spPr>
          <a:xfrm>
            <a:off x="840105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32</a:t>
            </a:r>
          </a:p>
        </p:txBody>
      </p:sp>
      <p:sp>
        <p:nvSpPr>
          <p:cNvPr id="32" name="TextBox 31"/>
          <p:cNvSpPr txBox="1"/>
          <p:nvPr/>
        </p:nvSpPr>
        <p:spPr>
          <a:xfrm>
            <a:off x="8938259"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64</a:t>
            </a:r>
          </a:p>
        </p:txBody>
      </p:sp>
      <p:sp>
        <p:nvSpPr>
          <p:cNvPr id="33" name="TextBox 32"/>
          <p:cNvSpPr txBox="1"/>
          <p:nvPr/>
        </p:nvSpPr>
        <p:spPr>
          <a:xfrm>
            <a:off x="9475469"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128</a:t>
            </a:r>
          </a:p>
        </p:txBody>
      </p:sp>
      <p:sp>
        <p:nvSpPr>
          <p:cNvPr id="34" name="TextBox 33"/>
          <p:cNvSpPr txBox="1"/>
          <p:nvPr/>
        </p:nvSpPr>
        <p:spPr>
          <a:xfrm>
            <a:off x="10012680" y="5586983"/>
            <a:ext cx="548640" cy="274320"/>
          </a:xfrm>
          <a:prstGeom prst="rect">
            <a:avLst/>
          </a:prstGeom>
          <a:noFill/>
        </p:spPr>
        <p:txBody>
          <a:bodyPr wrap="square" lIns="0" tIns="0" rIns="0" bIns="0" anchor="t"/>
          <a:lstStyle/>
          <a:p>
            <a:pPr algn="ctr"/>
            <a:r>
              <a:rPr sz="1200" b="0" i="0">
                <a:solidFill>
                  <a:srgbClr val="586B73"/>
                </a:solidFill>
                <a:latin typeface="Arial"/>
                <a:ea typeface="Arial"/>
                <a:cs typeface="Arial"/>
              </a:rPr>
              <a:t>256</a:t>
            </a:r>
          </a:p>
        </p:txBody>
      </p:sp>
      <p:sp>
        <p:nvSpPr>
          <p:cNvPr id="35" name="TextBox 34"/>
          <p:cNvSpPr txBox="1"/>
          <p:nvPr/>
        </p:nvSpPr>
        <p:spPr>
          <a:xfrm>
            <a:off x="5989320" y="5843016"/>
            <a:ext cx="4297680" cy="274320"/>
          </a:xfrm>
          <a:prstGeom prst="rect">
            <a:avLst/>
          </a:prstGeom>
          <a:noFill/>
        </p:spPr>
        <p:txBody>
          <a:bodyPr wrap="square" lIns="0" tIns="0" rIns="0" bIns="0" anchor="t"/>
          <a:lstStyle/>
          <a:p>
            <a:pPr algn="ctr"/>
            <a:r>
              <a:rPr sz="1300" b="0" i="0">
                <a:solidFill>
                  <a:srgbClr val="1B3A57"/>
                </a:solidFill>
                <a:latin typeface="Arial"/>
                <a:ea typeface="Arial"/>
                <a:cs typeface="Arial"/>
              </a:rPr>
              <a:t>Positions per head call, M (log scale)</a:t>
            </a:r>
          </a:p>
        </p:txBody>
      </p:sp>
      <p:sp>
        <p:nvSpPr>
          <p:cNvPr id="36" name="TextBox 35"/>
          <p:cNvSpPr txBox="1"/>
          <p:nvPr/>
        </p:nvSpPr>
        <p:spPr>
          <a:xfrm>
            <a:off x="5120640" y="2029968"/>
            <a:ext cx="3108960" cy="274320"/>
          </a:xfrm>
          <a:prstGeom prst="rect">
            <a:avLst/>
          </a:prstGeom>
          <a:noFill/>
        </p:spPr>
        <p:txBody>
          <a:bodyPr wrap="square" lIns="0" tIns="0" rIns="0" bIns="0" anchor="t"/>
          <a:lstStyle/>
          <a:p>
            <a:pPr algn="l"/>
            <a:r>
              <a:rPr sz="1300" b="0" i="0">
                <a:solidFill>
                  <a:srgbClr val="1B3A57"/>
                </a:solidFill>
                <a:latin typeface="Arial"/>
                <a:ea typeface="Arial"/>
                <a:cs typeface="Arial"/>
              </a:rPr>
              <a:t>Time ÷ stock head</a:t>
            </a:r>
          </a:p>
        </p:txBody>
      </p:sp>
      <p:cxnSp>
        <p:nvCxnSpPr>
          <p:cNvPr id="37" name="Connector 36"/>
          <p:cNvCxnSpPr/>
          <p:nvPr/>
        </p:nvCxnSpPr>
        <p:spPr>
          <a:xfrm flipV="1">
            <a:off x="5989320" y="5267932"/>
            <a:ext cx="537210" cy="34087"/>
          </a:xfrm>
          <a:prstGeom prst="line">
            <a:avLst/>
          </a:prstGeom>
          <a:ln w="25400">
            <a:solidFill>
              <a:srgbClr val="0072B2"/>
            </a:solidFill>
          </a:ln>
        </p:spPr>
      </p:cxnSp>
      <p:cxnSp>
        <p:nvCxnSpPr>
          <p:cNvPr id="38" name="Connector 37"/>
          <p:cNvCxnSpPr/>
          <p:nvPr/>
        </p:nvCxnSpPr>
        <p:spPr>
          <a:xfrm>
            <a:off x="6526530" y="5267932"/>
            <a:ext cx="537210" cy="12957"/>
          </a:xfrm>
          <a:prstGeom prst="line">
            <a:avLst/>
          </a:prstGeom>
          <a:ln w="25400">
            <a:solidFill>
              <a:srgbClr val="0072B2"/>
            </a:solidFill>
          </a:ln>
        </p:spPr>
      </p:cxnSp>
      <p:cxnSp>
        <p:nvCxnSpPr>
          <p:cNvPr id="39" name="Connector 38"/>
          <p:cNvCxnSpPr/>
          <p:nvPr/>
        </p:nvCxnSpPr>
        <p:spPr>
          <a:xfrm>
            <a:off x="7063740" y="5280889"/>
            <a:ext cx="537210" cy="5360"/>
          </a:xfrm>
          <a:prstGeom prst="line">
            <a:avLst/>
          </a:prstGeom>
          <a:ln w="25400">
            <a:solidFill>
              <a:srgbClr val="0072B2"/>
            </a:solidFill>
          </a:ln>
        </p:spPr>
      </p:cxnSp>
      <p:cxnSp>
        <p:nvCxnSpPr>
          <p:cNvPr id="40" name="Connector 39"/>
          <p:cNvCxnSpPr/>
          <p:nvPr/>
        </p:nvCxnSpPr>
        <p:spPr>
          <a:xfrm>
            <a:off x="7600950" y="5286249"/>
            <a:ext cx="537210" cy="10280"/>
          </a:xfrm>
          <a:prstGeom prst="line">
            <a:avLst/>
          </a:prstGeom>
          <a:ln w="25400">
            <a:solidFill>
              <a:srgbClr val="0072B2"/>
            </a:solidFill>
          </a:ln>
        </p:spPr>
      </p:cxnSp>
      <p:cxnSp>
        <p:nvCxnSpPr>
          <p:cNvPr id="41" name="Connector 40"/>
          <p:cNvCxnSpPr/>
          <p:nvPr/>
        </p:nvCxnSpPr>
        <p:spPr>
          <a:xfrm flipV="1">
            <a:off x="8138160" y="5152328"/>
            <a:ext cx="537210" cy="144201"/>
          </a:xfrm>
          <a:prstGeom prst="line">
            <a:avLst/>
          </a:prstGeom>
          <a:ln w="25400">
            <a:solidFill>
              <a:srgbClr val="0072B2"/>
            </a:solidFill>
          </a:ln>
        </p:spPr>
      </p:cxnSp>
      <p:cxnSp>
        <p:nvCxnSpPr>
          <p:cNvPr id="42" name="Connector 41"/>
          <p:cNvCxnSpPr/>
          <p:nvPr/>
        </p:nvCxnSpPr>
        <p:spPr>
          <a:xfrm flipV="1">
            <a:off x="8675370" y="4978984"/>
            <a:ext cx="537210" cy="173344"/>
          </a:xfrm>
          <a:prstGeom prst="line">
            <a:avLst/>
          </a:prstGeom>
          <a:ln w="25400">
            <a:solidFill>
              <a:srgbClr val="0072B2"/>
            </a:solidFill>
          </a:ln>
        </p:spPr>
      </p:cxnSp>
      <p:cxnSp>
        <p:nvCxnSpPr>
          <p:cNvPr id="43" name="Connector 42"/>
          <p:cNvCxnSpPr/>
          <p:nvPr/>
        </p:nvCxnSpPr>
        <p:spPr>
          <a:xfrm flipV="1">
            <a:off x="9212580" y="4429508"/>
            <a:ext cx="537210" cy="549476"/>
          </a:xfrm>
          <a:prstGeom prst="line">
            <a:avLst/>
          </a:prstGeom>
          <a:ln w="25400">
            <a:solidFill>
              <a:srgbClr val="0072B2"/>
            </a:solidFill>
          </a:ln>
        </p:spPr>
      </p:cxnSp>
      <p:cxnSp>
        <p:nvCxnSpPr>
          <p:cNvPr id="44" name="Connector 43"/>
          <p:cNvCxnSpPr/>
          <p:nvPr/>
        </p:nvCxnSpPr>
        <p:spPr>
          <a:xfrm flipV="1">
            <a:off x="9749790" y="3893207"/>
            <a:ext cx="537210" cy="536301"/>
          </a:xfrm>
          <a:prstGeom prst="line">
            <a:avLst/>
          </a:prstGeom>
          <a:ln w="25400">
            <a:solidFill>
              <a:srgbClr val="0072B2"/>
            </a:solidFill>
          </a:ln>
        </p:spPr>
      </p:cxnSp>
      <p:sp>
        <p:nvSpPr>
          <p:cNvPr id="45" name="Oval 44"/>
          <p:cNvSpPr/>
          <p:nvPr/>
        </p:nvSpPr>
        <p:spPr>
          <a:xfrm>
            <a:off x="5939028" y="5251727"/>
            <a:ext cx="100584" cy="100584"/>
          </a:xfrm>
          <a:prstGeom prst="ellipse">
            <a:avLst/>
          </a:prstGeom>
          <a:solidFill>
            <a:srgbClr val="0072B2"/>
          </a:solidFill>
          <a:ln w="12700">
            <a:solidFill>
              <a:srgbClr val="0072B2"/>
            </a:solidFill>
          </a:ln>
        </p:spPr>
        <p:txBody>
          <a:bodyPr rtlCol="0" anchor="ctr"/>
          <a:lstStyle/>
          <a:p>
            <a:pPr algn="ctr"/>
          </a:p>
        </p:txBody>
      </p:sp>
      <p:sp>
        <p:nvSpPr>
          <p:cNvPr id="46" name="Oval 45"/>
          <p:cNvSpPr/>
          <p:nvPr/>
        </p:nvSpPr>
        <p:spPr>
          <a:xfrm>
            <a:off x="6476238" y="5217640"/>
            <a:ext cx="100584" cy="100584"/>
          </a:xfrm>
          <a:prstGeom prst="ellipse">
            <a:avLst/>
          </a:prstGeom>
          <a:solidFill>
            <a:srgbClr val="0072B2"/>
          </a:solidFill>
          <a:ln w="12700">
            <a:solidFill>
              <a:srgbClr val="0072B2"/>
            </a:solidFill>
          </a:ln>
        </p:spPr>
        <p:txBody>
          <a:bodyPr rtlCol="0" anchor="ctr"/>
          <a:lstStyle/>
          <a:p>
            <a:pPr algn="ctr"/>
          </a:p>
        </p:txBody>
      </p:sp>
      <p:sp>
        <p:nvSpPr>
          <p:cNvPr id="47" name="Oval 46"/>
          <p:cNvSpPr/>
          <p:nvPr/>
        </p:nvSpPr>
        <p:spPr>
          <a:xfrm>
            <a:off x="7013448" y="5230597"/>
            <a:ext cx="100584" cy="100584"/>
          </a:xfrm>
          <a:prstGeom prst="ellipse">
            <a:avLst/>
          </a:prstGeom>
          <a:solidFill>
            <a:srgbClr val="0072B2"/>
          </a:solidFill>
          <a:ln w="12700">
            <a:solidFill>
              <a:srgbClr val="0072B2"/>
            </a:solidFill>
          </a:ln>
        </p:spPr>
        <p:txBody>
          <a:bodyPr rtlCol="0" anchor="ctr"/>
          <a:lstStyle/>
          <a:p>
            <a:pPr algn="ctr"/>
          </a:p>
        </p:txBody>
      </p:sp>
      <p:sp>
        <p:nvSpPr>
          <p:cNvPr id="48" name="Oval 47"/>
          <p:cNvSpPr/>
          <p:nvPr/>
        </p:nvSpPr>
        <p:spPr>
          <a:xfrm>
            <a:off x="7550658" y="5235957"/>
            <a:ext cx="100584" cy="100584"/>
          </a:xfrm>
          <a:prstGeom prst="ellipse">
            <a:avLst/>
          </a:prstGeom>
          <a:solidFill>
            <a:srgbClr val="0072B2"/>
          </a:solidFill>
          <a:ln w="12700">
            <a:solidFill>
              <a:srgbClr val="0072B2"/>
            </a:solidFill>
          </a:ln>
        </p:spPr>
        <p:txBody>
          <a:bodyPr rtlCol="0" anchor="ctr"/>
          <a:lstStyle/>
          <a:p>
            <a:pPr algn="ctr"/>
          </a:p>
        </p:txBody>
      </p:sp>
      <p:sp>
        <p:nvSpPr>
          <p:cNvPr id="49" name="Oval 48"/>
          <p:cNvSpPr/>
          <p:nvPr/>
        </p:nvSpPr>
        <p:spPr>
          <a:xfrm>
            <a:off x="8087868" y="5246237"/>
            <a:ext cx="100584" cy="100584"/>
          </a:xfrm>
          <a:prstGeom prst="ellipse">
            <a:avLst/>
          </a:prstGeom>
          <a:solidFill>
            <a:srgbClr val="0072B2"/>
          </a:solidFill>
          <a:ln w="12700">
            <a:solidFill>
              <a:srgbClr val="0072B2"/>
            </a:solidFill>
          </a:ln>
        </p:spPr>
        <p:txBody>
          <a:bodyPr rtlCol="0" anchor="ctr"/>
          <a:lstStyle/>
          <a:p>
            <a:pPr algn="ctr"/>
          </a:p>
        </p:txBody>
      </p:sp>
      <p:sp>
        <p:nvSpPr>
          <p:cNvPr id="50" name="Oval 49"/>
          <p:cNvSpPr/>
          <p:nvPr/>
        </p:nvSpPr>
        <p:spPr>
          <a:xfrm>
            <a:off x="8625078" y="5102036"/>
            <a:ext cx="100584" cy="100584"/>
          </a:xfrm>
          <a:prstGeom prst="ellipse">
            <a:avLst/>
          </a:prstGeom>
          <a:solidFill>
            <a:srgbClr val="0072B2"/>
          </a:solidFill>
          <a:ln w="12700">
            <a:solidFill>
              <a:srgbClr val="0072B2"/>
            </a:solidFill>
          </a:ln>
        </p:spPr>
        <p:txBody>
          <a:bodyPr rtlCol="0" anchor="ctr"/>
          <a:lstStyle/>
          <a:p>
            <a:pPr algn="ctr"/>
          </a:p>
        </p:txBody>
      </p:sp>
      <p:sp>
        <p:nvSpPr>
          <p:cNvPr id="51" name="Oval 50"/>
          <p:cNvSpPr/>
          <p:nvPr/>
        </p:nvSpPr>
        <p:spPr>
          <a:xfrm>
            <a:off x="9162288" y="4928692"/>
            <a:ext cx="100584" cy="100584"/>
          </a:xfrm>
          <a:prstGeom prst="ellipse">
            <a:avLst/>
          </a:prstGeom>
          <a:solidFill>
            <a:srgbClr val="0072B2"/>
          </a:solidFill>
          <a:ln w="12700">
            <a:solidFill>
              <a:srgbClr val="0072B2"/>
            </a:solidFill>
          </a:ln>
        </p:spPr>
        <p:txBody>
          <a:bodyPr rtlCol="0" anchor="ctr"/>
          <a:lstStyle/>
          <a:p>
            <a:pPr algn="ctr"/>
          </a:p>
        </p:txBody>
      </p:sp>
      <p:sp>
        <p:nvSpPr>
          <p:cNvPr id="52" name="Oval 51"/>
          <p:cNvSpPr/>
          <p:nvPr/>
        </p:nvSpPr>
        <p:spPr>
          <a:xfrm>
            <a:off x="9699498" y="4379216"/>
            <a:ext cx="100584" cy="100584"/>
          </a:xfrm>
          <a:prstGeom prst="ellipse">
            <a:avLst/>
          </a:prstGeom>
          <a:solidFill>
            <a:srgbClr val="0072B2"/>
          </a:solidFill>
          <a:ln w="12700">
            <a:solidFill>
              <a:srgbClr val="0072B2"/>
            </a:solidFill>
          </a:ln>
        </p:spPr>
        <p:txBody>
          <a:bodyPr rtlCol="0" anchor="ctr"/>
          <a:lstStyle/>
          <a:p>
            <a:pPr algn="ctr"/>
          </a:p>
        </p:txBody>
      </p:sp>
      <p:sp>
        <p:nvSpPr>
          <p:cNvPr id="53" name="Oval 52"/>
          <p:cNvSpPr/>
          <p:nvPr/>
        </p:nvSpPr>
        <p:spPr>
          <a:xfrm>
            <a:off x="10236708" y="3842915"/>
            <a:ext cx="100584" cy="100584"/>
          </a:xfrm>
          <a:prstGeom prst="ellipse">
            <a:avLst/>
          </a:prstGeom>
          <a:solidFill>
            <a:srgbClr val="0072B2"/>
          </a:solidFill>
          <a:ln w="12700">
            <a:solidFill>
              <a:srgbClr val="0072B2"/>
            </a:solidFill>
          </a:ln>
        </p:spPr>
        <p:txBody>
          <a:bodyPr rtlCol="0" anchor="ctr"/>
          <a:lstStyle/>
          <a:p>
            <a:pPr algn="ctr"/>
          </a:p>
        </p:txBody>
      </p:sp>
      <p:cxnSp>
        <p:nvCxnSpPr>
          <p:cNvPr id="54" name="Connector 53"/>
          <p:cNvCxnSpPr/>
          <p:nvPr/>
        </p:nvCxnSpPr>
        <p:spPr>
          <a:xfrm flipV="1">
            <a:off x="5989320" y="5230467"/>
            <a:ext cx="537210" cy="30639"/>
          </a:xfrm>
          <a:prstGeom prst="line">
            <a:avLst/>
          </a:prstGeom>
          <a:ln w="25400">
            <a:solidFill>
              <a:srgbClr val="0072B2"/>
            </a:solidFill>
            <a:prstDash val="dash"/>
          </a:ln>
        </p:spPr>
      </p:cxnSp>
      <p:cxnSp>
        <p:nvCxnSpPr>
          <p:cNvPr id="55" name="Connector 54"/>
          <p:cNvCxnSpPr/>
          <p:nvPr/>
        </p:nvCxnSpPr>
        <p:spPr>
          <a:xfrm flipV="1">
            <a:off x="6526530" y="5224812"/>
            <a:ext cx="537210" cy="5655"/>
          </a:xfrm>
          <a:prstGeom prst="line">
            <a:avLst/>
          </a:prstGeom>
          <a:ln w="25400">
            <a:solidFill>
              <a:srgbClr val="0072B2"/>
            </a:solidFill>
            <a:prstDash val="dash"/>
          </a:ln>
        </p:spPr>
      </p:cxnSp>
      <p:cxnSp>
        <p:nvCxnSpPr>
          <p:cNvPr id="56" name="Connector 55"/>
          <p:cNvCxnSpPr/>
          <p:nvPr/>
        </p:nvCxnSpPr>
        <p:spPr>
          <a:xfrm>
            <a:off x="7063740" y="5224812"/>
            <a:ext cx="537210" cy="7369"/>
          </a:xfrm>
          <a:prstGeom prst="line">
            <a:avLst/>
          </a:prstGeom>
          <a:ln w="25400">
            <a:solidFill>
              <a:srgbClr val="0072B2"/>
            </a:solidFill>
            <a:prstDash val="dash"/>
          </a:ln>
        </p:spPr>
      </p:cxnSp>
      <p:cxnSp>
        <p:nvCxnSpPr>
          <p:cNvPr id="57" name="Connector 56"/>
          <p:cNvCxnSpPr/>
          <p:nvPr/>
        </p:nvCxnSpPr>
        <p:spPr>
          <a:xfrm>
            <a:off x="7600950" y="5232181"/>
            <a:ext cx="537210" cy="6601"/>
          </a:xfrm>
          <a:prstGeom prst="line">
            <a:avLst/>
          </a:prstGeom>
          <a:ln w="25400">
            <a:solidFill>
              <a:srgbClr val="0072B2"/>
            </a:solidFill>
            <a:prstDash val="dash"/>
          </a:ln>
        </p:spPr>
      </p:cxnSp>
      <p:cxnSp>
        <p:nvCxnSpPr>
          <p:cNvPr id="58" name="Connector 57"/>
          <p:cNvCxnSpPr/>
          <p:nvPr/>
        </p:nvCxnSpPr>
        <p:spPr>
          <a:xfrm flipV="1">
            <a:off x="8138160" y="5052189"/>
            <a:ext cx="537210" cy="186593"/>
          </a:xfrm>
          <a:prstGeom prst="line">
            <a:avLst/>
          </a:prstGeom>
          <a:ln w="25400">
            <a:solidFill>
              <a:srgbClr val="0072B2"/>
            </a:solidFill>
            <a:prstDash val="dash"/>
          </a:ln>
        </p:spPr>
      </p:cxnSp>
      <p:cxnSp>
        <p:nvCxnSpPr>
          <p:cNvPr id="59" name="Connector 58"/>
          <p:cNvCxnSpPr/>
          <p:nvPr/>
        </p:nvCxnSpPr>
        <p:spPr>
          <a:xfrm flipV="1">
            <a:off x="8675370" y="4856157"/>
            <a:ext cx="537210" cy="196032"/>
          </a:xfrm>
          <a:prstGeom prst="line">
            <a:avLst/>
          </a:prstGeom>
          <a:ln w="25400">
            <a:solidFill>
              <a:srgbClr val="0072B2"/>
            </a:solidFill>
            <a:prstDash val="dash"/>
          </a:ln>
        </p:spPr>
      </p:cxnSp>
      <p:cxnSp>
        <p:nvCxnSpPr>
          <p:cNvPr id="60" name="Connector 59"/>
          <p:cNvCxnSpPr/>
          <p:nvPr/>
        </p:nvCxnSpPr>
        <p:spPr>
          <a:xfrm flipV="1">
            <a:off x="9212580" y="4266600"/>
            <a:ext cx="537210" cy="589557"/>
          </a:xfrm>
          <a:prstGeom prst="line">
            <a:avLst/>
          </a:prstGeom>
          <a:ln w="25400">
            <a:solidFill>
              <a:srgbClr val="0072B2"/>
            </a:solidFill>
            <a:prstDash val="dash"/>
          </a:ln>
        </p:spPr>
      </p:cxnSp>
      <p:cxnSp>
        <p:nvCxnSpPr>
          <p:cNvPr id="61" name="Connector 60"/>
          <p:cNvCxnSpPr/>
          <p:nvPr/>
        </p:nvCxnSpPr>
        <p:spPr>
          <a:xfrm flipV="1">
            <a:off x="9749790" y="3670929"/>
            <a:ext cx="537210" cy="595671"/>
          </a:xfrm>
          <a:prstGeom prst="line">
            <a:avLst/>
          </a:prstGeom>
          <a:ln w="25400">
            <a:solidFill>
              <a:srgbClr val="0072B2"/>
            </a:solidFill>
            <a:prstDash val="dash"/>
          </a:ln>
        </p:spPr>
      </p:cxnSp>
      <p:sp>
        <p:nvSpPr>
          <p:cNvPr id="62" name="Rectangle 61"/>
          <p:cNvSpPr/>
          <p:nvPr/>
        </p:nvSpPr>
        <p:spPr>
          <a:xfrm>
            <a:off x="5939028" y="5210814"/>
            <a:ext cx="100584" cy="100584"/>
          </a:xfrm>
          <a:prstGeom prst="rect">
            <a:avLst/>
          </a:prstGeom>
          <a:solidFill>
            <a:srgbClr val="0072B2"/>
          </a:solidFill>
          <a:ln w="12700">
            <a:solidFill>
              <a:srgbClr val="0072B2"/>
            </a:solidFill>
          </a:ln>
        </p:spPr>
        <p:txBody>
          <a:bodyPr rtlCol="0" anchor="ctr"/>
          <a:lstStyle/>
          <a:p>
            <a:pPr algn="ctr"/>
          </a:p>
        </p:txBody>
      </p:sp>
      <p:sp>
        <p:nvSpPr>
          <p:cNvPr id="63" name="Rectangle 62"/>
          <p:cNvSpPr/>
          <p:nvPr/>
        </p:nvSpPr>
        <p:spPr>
          <a:xfrm>
            <a:off x="6476238" y="5180175"/>
            <a:ext cx="100584" cy="100584"/>
          </a:xfrm>
          <a:prstGeom prst="rect">
            <a:avLst/>
          </a:prstGeom>
          <a:solidFill>
            <a:srgbClr val="0072B2"/>
          </a:solidFill>
          <a:ln w="12700">
            <a:solidFill>
              <a:srgbClr val="0072B2"/>
            </a:solidFill>
          </a:ln>
        </p:spPr>
        <p:txBody>
          <a:bodyPr rtlCol="0" anchor="ctr"/>
          <a:lstStyle/>
          <a:p>
            <a:pPr algn="ctr"/>
          </a:p>
        </p:txBody>
      </p:sp>
      <p:sp>
        <p:nvSpPr>
          <p:cNvPr id="64" name="Rectangle 63"/>
          <p:cNvSpPr/>
          <p:nvPr/>
        </p:nvSpPr>
        <p:spPr>
          <a:xfrm>
            <a:off x="7013448" y="5174520"/>
            <a:ext cx="100584" cy="100584"/>
          </a:xfrm>
          <a:prstGeom prst="rect">
            <a:avLst/>
          </a:prstGeom>
          <a:solidFill>
            <a:srgbClr val="0072B2"/>
          </a:solidFill>
          <a:ln w="12700">
            <a:solidFill>
              <a:srgbClr val="0072B2"/>
            </a:solidFill>
          </a:ln>
        </p:spPr>
        <p:txBody>
          <a:bodyPr rtlCol="0" anchor="ctr"/>
          <a:lstStyle/>
          <a:p>
            <a:pPr algn="ctr"/>
          </a:p>
        </p:txBody>
      </p:sp>
      <p:sp>
        <p:nvSpPr>
          <p:cNvPr id="65" name="Rectangle 64"/>
          <p:cNvSpPr/>
          <p:nvPr/>
        </p:nvSpPr>
        <p:spPr>
          <a:xfrm>
            <a:off x="7550658" y="5181889"/>
            <a:ext cx="100584" cy="100584"/>
          </a:xfrm>
          <a:prstGeom prst="rect">
            <a:avLst/>
          </a:prstGeom>
          <a:solidFill>
            <a:srgbClr val="0072B2"/>
          </a:solidFill>
          <a:ln w="12700">
            <a:solidFill>
              <a:srgbClr val="0072B2"/>
            </a:solidFill>
          </a:ln>
        </p:spPr>
        <p:txBody>
          <a:bodyPr rtlCol="0" anchor="ctr"/>
          <a:lstStyle/>
          <a:p>
            <a:pPr algn="ctr"/>
          </a:p>
        </p:txBody>
      </p:sp>
      <p:sp>
        <p:nvSpPr>
          <p:cNvPr id="66" name="Rectangle 65"/>
          <p:cNvSpPr/>
          <p:nvPr/>
        </p:nvSpPr>
        <p:spPr>
          <a:xfrm>
            <a:off x="8087868" y="5188490"/>
            <a:ext cx="100584" cy="100584"/>
          </a:xfrm>
          <a:prstGeom prst="rect">
            <a:avLst/>
          </a:prstGeom>
          <a:solidFill>
            <a:srgbClr val="0072B2"/>
          </a:solidFill>
          <a:ln w="12700">
            <a:solidFill>
              <a:srgbClr val="0072B2"/>
            </a:solidFill>
          </a:ln>
        </p:spPr>
        <p:txBody>
          <a:bodyPr rtlCol="0" anchor="ctr"/>
          <a:lstStyle/>
          <a:p>
            <a:pPr algn="ctr"/>
          </a:p>
        </p:txBody>
      </p:sp>
      <p:sp>
        <p:nvSpPr>
          <p:cNvPr id="67" name="Rectangle 66"/>
          <p:cNvSpPr/>
          <p:nvPr/>
        </p:nvSpPr>
        <p:spPr>
          <a:xfrm>
            <a:off x="8625078" y="5001897"/>
            <a:ext cx="100584" cy="100584"/>
          </a:xfrm>
          <a:prstGeom prst="rect">
            <a:avLst/>
          </a:prstGeom>
          <a:solidFill>
            <a:srgbClr val="0072B2"/>
          </a:solidFill>
          <a:ln w="12700">
            <a:solidFill>
              <a:srgbClr val="0072B2"/>
            </a:solidFill>
          </a:ln>
        </p:spPr>
        <p:txBody>
          <a:bodyPr rtlCol="0" anchor="ctr"/>
          <a:lstStyle/>
          <a:p>
            <a:pPr algn="ctr"/>
          </a:p>
        </p:txBody>
      </p:sp>
      <p:sp>
        <p:nvSpPr>
          <p:cNvPr id="68" name="Rectangle 67"/>
          <p:cNvSpPr/>
          <p:nvPr/>
        </p:nvSpPr>
        <p:spPr>
          <a:xfrm>
            <a:off x="9162288" y="4805865"/>
            <a:ext cx="100584" cy="100584"/>
          </a:xfrm>
          <a:prstGeom prst="rect">
            <a:avLst/>
          </a:prstGeom>
          <a:solidFill>
            <a:srgbClr val="0072B2"/>
          </a:solidFill>
          <a:ln w="12700">
            <a:solidFill>
              <a:srgbClr val="0072B2"/>
            </a:solidFill>
          </a:ln>
        </p:spPr>
        <p:txBody>
          <a:bodyPr rtlCol="0" anchor="ctr"/>
          <a:lstStyle/>
          <a:p>
            <a:pPr algn="ctr"/>
          </a:p>
        </p:txBody>
      </p:sp>
      <p:sp>
        <p:nvSpPr>
          <p:cNvPr id="69" name="Rectangle 68"/>
          <p:cNvSpPr/>
          <p:nvPr/>
        </p:nvSpPr>
        <p:spPr>
          <a:xfrm>
            <a:off x="9699498" y="4216308"/>
            <a:ext cx="100584" cy="100584"/>
          </a:xfrm>
          <a:prstGeom prst="rect">
            <a:avLst/>
          </a:prstGeom>
          <a:solidFill>
            <a:srgbClr val="0072B2"/>
          </a:solidFill>
          <a:ln w="12700">
            <a:solidFill>
              <a:srgbClr val="0072B2"/>
            </a:solidFill>
          </a:ln>
        </p:spPr>
        <p:txBody>
          <a:bodyPr rtlCol="0" anchor="ctr"/>
          <a:lstStyle/>
          <a:p>
            <a:pPr algn="ctr"/>
          </a:p>
        </p:txBody>
      </p:sp>
      <p:sp>
        <p:nvSpPr>
          <p:cNvPr id="70" name="Rectangle 69"/>
          <p:cNvSpPr/>
          <p:nvPr/>
        </p:nvSpPr>
        <p:spPr>
          <a:xfrm>
            <a:off x="10236708" y="3620637"/>
            <a:ext cx="100584" cy="100584"/>
          </a:xfrm>
          <a:prstGeom prst="rect">
            <a:avLst/>
          </a:prstGeom>
          <a:solidFill>
            <a:srgbClr val="0072B2"/>
          </a:solidFill>
          <a:ln w="12700">
            <a:solidFill>
              <a:srgbClr val="0072B2"/>
            </a:solidFill>
          </a:ln>
        </p:spPr>
        <p:txBody>
          <a:bodyPr rtlCol="0" anchor="ctr"/>
          <a:lstStyle/>
          <a:p>
            <a:pPr algn="ctr"/>
          </a:p>
        </p:txBody>
      </p:sp>
      <p:cxnSp>
        <p:nvCxnSpPr>
          <p:cNvPr id="71" name="Connector 70"/>
          <p:cNvCxnSpPr/>
          <p:nvPr/>
        </p:nvCxnSpPr>
        <p:spPr>
          <a:xfrm flipV="1">
            <a:off x="5989320" y="5221826"/>
            <a:ext cx="537210" cy="57664"/>
          </a:xfrm>
          <a:prstGeom prst="line">
            <a:avLst/>
          </a:prstGeom>
          <a:ln w="25400">
            <a:solidFill>
              <a:srgbClr val="0072B2"/>
            </a:solidFill>
            <a:prstDash val="sysDot"/>
          </a:ln>
        </p:spPr>
      </p:cxnSp>
      <p:cxnSp>
        <p:nvCxnSpPr>
          <p:cNvPr id="72" name="Connector 71"/>
          <p:cNvCxnSpPr/>
          <p:nvPr/>
        </p:nvCxnSpPr>
        <p:spPr>
          <a:xfrm flipV="1">
            <a:off x="6526530" y="5189468"/>
            <a:ext cx="537210" cy="32358"/>
          </a:xfrm>
          <a:prstGeom prst="line">
            <a:avLst/>
          </a:prstGeom>
          <a:ln w="25400">
            <a:solidFill>
              <a:srgbClr val="0072B2"/>
            </a:solidFill>
            <a:prstDash val="sysDot"/>
          </a:ln>
        </p:spPr>
      </p:cxnSp>
      <p:cxnSp>
        <p:nvCxnSpPr>
          <p:cNvPr id="73" name="Connector 72"/>
          <p:cNvCxnSpPr/>
          <p:nvPr/>
        </p:nvCxnSpPr>
        <p:spPr>
          <a:xfrm flipV="1">
            <a:off x="7063740" y="5114698"/>
            <a:ext cx="537210" cy="74770"/>
          </a:xfrm>
          <a:prstGeom prst="line">
            <a:avLst/>
          </a:prstGeom>
          <a:ln w="25400">
            <a:solidFill>
              <a:srgbClr val="0072B2"/>
            </a:solidFill>
            <a:prstDash val="sysDot"/>
          </a:ln>
        </p:spPr>
      </p:cxnSp>
      <p:cxnSp>
        <p:nvCxnSpPr>
          <p:cNvPr id="74" name="Connector 73"/>
          <p:cNvCxnSpPr/>
          <p:nvPr/>
        </p:nvCxnSpPr>
        <p:spPr>
          <a:xfrm flipV="1">
            <a:off x="7600950" y="4986495"/>
            <a:ext cx="537210" cy="128203"/>
          </a:xfrm>
          <a:prstGeom prst="line">
            <a:avLst/>
          </a:prstGeom>
          <a:ln w="25400">
            <a:solidFill>
              <a:srgbClr val="0072B2"/>
            </a:solidFill>
            <a:prstDash val="sysDot"/>
          </a:ln>
        </p:spPr>
      </p:cxnSp>
      <p:cxnSp>
        <p:nvCxnSpPr>
          <p:cNvPr id="75" name="Connector 74"/>
          <p:cNvCxnSpPr/>
          <p:nvPr/>
        </p:nvCxnSpPr>
        <p:spPr>
          <a:xfrm flipV="1">
            <a:off x="8138160" y="4627078"/>
            <a:ext cx="537210" cy="359417"/>
          </a:xfrm>
          <a:prstGeom prst="line">
            <a:avLst/>
          </a:prstGeom>
          <a:ln w="25400">
            <a:solidFill>
              <a:srgbClr val="0072B2"/>
            </a:solidFill>
            <a:prstDash val="sysDot"/>
          </a:ln>
        </p:spPr>
      </p:cxnSp>
      <p:cxnSp>
        <p:nvCxnSpPr>
          <p:cNvPr id="76" name="Connector 75"/>
          <p:cNvCxnSpPr/>
          <p:nvPr/>
        </p:nvCxnSpPr>
        <p:spPr>
          <a:xfrm flipV="1">
            <a:off x="8675370" y="4179654"/>
            <a:ext cx="537210" cy="447424"/>
          </a:xfrm>
          <a:prstGeom prst="line">
            <a:avLst/>
          </a:prstGeom>
          <a:ln w="25400">
            <a:solidFill>
              <a:srgbClr val="0072B2"/>
            </a:solidFill>
            <a:prstDash val="sysDot"/>
          </a:ln>
        </p:spPr>
      </p:cxnSp>
      <p:cxnSp>
        <p:nvCxnSpPr>
          <p:cNvPr id="77" name="Connector 76"/>
          <p:cNvCxnSpPr/>
          <p:nvPr/>
        </p:nvCxnSpPr>
        <p:spPr>
          <a:xfrm flipV="1">
            <a:off x="9212580" y="3372287"/>
            <a:ext cx="537210" cy="807367"/>
          </a:xfrm>
          <a:prstGeom prst="line">
            <a:avLst/>
          </a:prstGeom>
          <a:ln w="25400">
            <a:solidFill>
              <a:srgbClr val="0072B2"/>
            </a:solidFill>
            <a:prstDash val="sysDot"/>
          </a:ln>
        </p:spPr>
      </p:cxnSp>
      <p:cxnSp>
        <p:nvCxnSpPr>
          <p:cNvPr id="78" name="Connector 77"/>
          <p:cNvCxnSpPr/>
          <p:nvPr/>
        </p:nvCxnSpPr>
        <p:spPr>
          <a:xfrm flipV="1">
            <a:off x="9749790" y="2634041"/>
            <a:ext cx="537210" cy="738246"/>
          </a:xfrm>
          <a:prstGeom prst="line">
            <a:avLst/>
          </a:prstGeom>
          <a:ln w="25400">
            <a:solidFill>
              <a:srgbClr val="0072B2"/>
            </a:solidFill>
            <a:prstDash val="sysDot"/>
          </a:ln>
        </p:spPr>
      </p:cxnSp>
      <p:sp>
        <p:nvSpPr>
          <p:cNvPr id="79" name="Diamond 78"/>
          <p:cNvSpPr/>
          <p:nvPr/>
        </p:nvSpPr>
        <p:spPr>
          <a:xfrm>
            <a:off x="5939028" y="5229198"/>
            <a:ext cx="100584" cy="100584"/>
          </a:xfrm>
          <a:prstGeom prst="diamond">
            <a:avLst/>
          </a:prstGeom>
          <a:solidFill>
            <a:srgbClr val="0072B2"/>
          </a:solidFill>
          <a:ln w="12700">
            <a:solidFill>
              <a:srgbClr val="0072B2"/>
            </a:solidFill>
          </a:ln>
        </p:spPr>
        <p:txBody>
          <a:bodyPr rtlCol="0" anchor="ctr"/>
          <a:lstStyle/>
          <a:p>
            <a:pPr algn="ctr"/>
          </a:p>
        </p:txBody>
      </p:sp>
      <p:sp>
        <p:nvSpPr>
          <p:cNvPr id="80" name="Diamond 79"/>
          <p:cNvSpPr/>
          <p:nvPr/>
        </p:nvSpPr>
        <p:spPr>
          <a:xfrm>
            <a:off x="6476238" y="5171534"/>
            <a:ext cx="100584" cy="100584"/>
          </a:xfrm>
          <a:prstGeom prst="diamond">
            <a:avLst/>
          </a:prstGeom>
          <a:solidFill>
            <a:srgbClr val="0072B2"/>
          </a:solidFill>
          <a:ln w="12700">
            <a:solidFill>
              <a:srgbClr val="0072B2"/>
            </a:solidFill>
          </a:ln>
        </p:spPr>
        <p:txBody>
          <a:bodyPr rtlCol="0" anchor="ctr"/>
          <a:lstStyle/>
          <a:p>
            <a:pPr algn="ctr"/>
          </a:p>
        </p:txBody>
      </p:sp>
      <p:sp>
        <p:nvSpPr>
          <p:cNvPr id="81" name="Diamond 80"/>
          <p:cNvSpPr/>
          <p:nvPr/>
        </p:nvSpPr>
        <p:spPr>
          <a:xfrm>
            <a:off x="7013448" y="5139176"/>
            <a:ext cx="100584" cy="100584"/>
          </a:xfrm>
          <a:prstGeom prst="diamond">
            <a:avLst/>
          </a:prstGeom>
          <a:solidFill>
            <a:srgbClr val="0072B2"/>
          </a:solidFill>
          <a:ln w="12700">
            <a:solidFill>
              <a:srgbClr val="0072B2"/>
            </a:solidFill>
          </a:ln>
        </p:spPr>
        <p:txBody>
          <a:bodyPr rtlCol="0" anchor="ctr"/>
          <a:lstStyle/>
          <a:p>
            <a:pPr algn="ctr"/>
          </a:p>
        </p:txBody>
      </p:sp>
      <p:sp>
        <p:nvSpPr>
          <p:cNvPr id="82" name="Diamond 81"/>
          <p:cNvSpPr/>
          <p:nvPr/>
        </p:nvSpPr>
        <p:spPr>
          <a:xfrm>
            <a:off x="7550658" y="5064406"/>
            <a:ext cx="100584" cy="100584"/>
          </a:xfrm>
          <a:prstGeom prst="diamond">
            <a:avLst/>
          </a:prstGeom>
          <a:solidFill>
            <a:srgbClr val="0072B2"/>
          </a:solidFill>
          <a:ln w="12700">
            <a:solidFill>
              <a:srgbClr val="0072B2"/>
            </a:solidFill>
          </a:ln>
        </p:spPr>
        <p:txBody>
          <a:bodyPr rtlCol="0" anchor="ctr"/>
          <a:lstStyle/>
          <a:p>
            <a:pPr algn="ctr"/>
          </a:p>
        </p:txBody>
      </p:sp>
      <p:sp>
        <p:nvSpPr>
          <p:cNvPr id="83" name="Diamond 82"/>
          <p:cNvSpPr/>
          <p:nvPr/>
        </p:nvSpPr>
        <p:spPr>
          <a:xfrm>
            <a:off x="8087868" y="4936203"/>
            <a:ext cx="100584" cy="100584"/>
          </a:xfrm>
          <a:prstGeom prst="diamond">
            <a:avLst/>
          </a:prstGeom>
          <a:solidFill>
            <a:srgbClr val="0072B2"/>
          </a:solidFill>
          <a:ln w="12700">
            <a:solidFill>
              <a:srgbClr val="0072B2"/>
            </a:solidFill>
          </a:ln>
        </p:spPr>
        <p:txBody>
          <a:bodyPr rtlCol="0" anchor="ctr"/>
          <a:lstStyle/>
          <a:p>
            <a:pPr algn="ctr"/>
          </a:p>
        </p:txBody>
      </p:sp>
      <p:sp>
        <p:nvSpPr>
          <p:cNvPr id="84" name="Diamond 83"/>
          <p:cNvSpPr/>
          <p:nvPr/>
        </p:nvSpPr>
        <p:spPr>
          <a:xfrm>
            <a:off x="8625078" y="4576786"/>
            <a:ext cx="100584" cy="100584"/>
          </a:xfrm>
          <a:prstGeom prst="diamond">
            <a:avLst/>
          </a:prstGeom>
          <a:solidFill>
            <a:srgbClr val="0072B2"/>
          </a:solidFill>
          <a:ln w="12700">
            <a:solidFill>
              <a:srgbClr val="0072B2"/>
            </a:solidFill>
          </a:ln>
        </p:spPr>
        <p:txBody>
          <a:bodyPr rtlCol="0" anchor="ctr"/>
          <a:lstStyle/>
          <a:p>
            <a:pPr algn="ctr"/>
          </a:p>
        </p:txBody>
      </p:sp>
      <p:sp>
        <p:nvSpPr>
          <p:cNvPr id="85" name="Diamond 84"/>
          <p:cNvSpPr/>
          <p:nvPr/>
        </p:nvSpPr>
        <p:spPr>
          <a:xfrm>
            <a:off x="9162288" y="4129362"/>
            <a:ext cx="100584" cy="100584"/>
          </a:xfrm>
          <a:prstGeom prst="diamond">
            <a:avLst/>
          </a:prstGeom>
          <a:solidFill>
            <a:srgbClr val="0072B2"/>
          </a:solidFill>
          <a:ln w="12700">
            <a:solidFill>
              <a:srgbClr val="0072B2"/>
            </a:solidFill>
          </a:ln>
        </p:spPr>
        <p:txBody>
          <a:bodyPr rtlCol="0" anchor="ctr"/>
          <a:lstStyle/>
          <a:p>
            <a:pPr algn="ctr"/>
          </a:p>
        </p:txBody>
      </p:sp>
      <p:sp>
        <p:nvSpPr>
          <p:cNvPr id="86" name="Diamond 85"/>
          <p:cNvSpPr/>
          <p:nvPr/>
        </p:nvSpPr>
        <p:spPr>
          <a:xfrm>
            <a:off x="9699498" y="3321995"/>
            <a:ext cx="100584" cy="100584"/>
          </a:xfrm>
          <a:prstGeom prst="diamond">
            <a:avLst/>
          </a:prstGeom>
          <a:solidFill>
            <a:srgbClr val="0072B2"/>
          </a:solidFill>
          <a:ln w="12700">
            <a:solidFill>
              <a:srgbClr val="0072B2"/>
            </a:solidFill>
          </a:ln>
        </p:spPr>
        <p:txBody>
          <a:bodyPr rtlCol="0" anchor="ctr"/>
          <a:lstStyle/>
          <a:p>
            <a:pPr algn="ctr"/>
          </a:p>
        </p:txBody>
      </p:sp>
      <p:sp>
        <p:nvSpPr>
          <p:cNvPr id="87" name="Diamond 86"/>
          <p:cNvSpPr/>
          <p:nvPr/>
        </p:nvSpPr>
        <p:spPr>
          <a:xfrm>
            <a:off x="10236708" y="2583749"/>
            <a:ext cx="100584" cy="100584"/>
          </a:xfrm>
          <a:prstGeom prst="diamond">
            <a:avLst/>
          </a:prstGeom>
          <a:solidFill>
            <a:srgbClr val="0072B2"/>
          </a:solidFill>
          <a:ln w="12700">
            <a:solidFill>
              <a:srgbClr val="0072B2"/>
            </a:solidFill>
          </a:ln>
        </p:spPr>
        <p:txBody>
          <a:bodyPr rtlCol="0" anchor="ctr"/>
          <a:lstStyle/>
          <a:p>
            <a:pPr algn="ctr"/>
          </a:p>
        </p:txBody>
      </p:sp>
      <p:sp>
        <p:nvSpPr>
          <p:cNvPr id="88" name="TextBox 87"/>
          <p:cNvSpPr txBox="1"/>
          <p:nvPr/>
        </p:nvSpPr>
        <p:spPr>
          <a:xfrm>
            <a:off x="10396728" y="2396297"/>
            <a:ext cx="1783080" cy="420624"/>
          </a:xfrm>
          <a:prstGeom prst="rect">
            <a:avLst/>
          </a:prstGeom>
          <a:noFill/>
        </p:spPr>
        <p:txBody>
          <a:bodyPr wrap="square" lIns="0" tIns="0" rIns="0" bIns="0" anchor="t"/>
          <a:lstStyle/>
          <a:p>
            <a:pPr algn="l"/>
            <a:r>
              <a:rPr sz="1200" b="1" i="0">
                <a:solidFill>
                  <a:srgbClr val="0072B2"/>
                </a:solidFill>
                <a:latin typeface="Arial"/>
                <a:ea typeface="Arial"/>
                <a:cs typeface="Arial"/>
              </a:rPr>
              <a:t>expected,</a:t>
            </a:r>
          </a:p>
          <a:p>
            <a:pPr algn="l"/>
            <a:r>
              <a:rPr sz="1200" b="1" i="0">
                <a:solidFill>
                  <a:srgbClr val="0072B2"/>
                </a:solidFill>
                <a:latin typeface="Arial"/>
                <a:ea typeface="Arial"/>
                <a:cs typeface="Arial"/>
              </a:rPr>
              <a:t>whole-batch fallback</a:t>
            </a:r>
          </a:p>
        </p:txBody>
      </p:sp>
      <p:sp>
        <p:nvSpPr>
          <p:cNvPr id="89" name="TextBox 88"/>
          <p:cNvSpPr txBox="1"/>
          <p:nvPr/>
        </p:nvSpPr>
        <p:spPr>
          <a:xfrm>
            <a:off x="10396728" y="3396609"/>
            <a:ext cx="1783080" cy="420624"/>
          </a:xfrm>
          <a:prstGeom prst="rect">
            <a:avLst/>
          </a:prstGeom>
          <a:noFill/>
        </p:spPr>
        <p:txBody>
          <a:bodyPr wrap="square" lIns="0" tIns="0" rIns="0" bIns="0" anchor="t"/>
          <a:lstStyle/>
          <a:p>
            <a:pPr algn="l"/>
            <a:r>
              <a:rPr sz="1200" b="1" i="0">
                <a:solidFill>
                  <a:srgbClr val="0072B2"/>
                </a:solidFill>
                <a:latin typeface="Arial"/>
                <a:ea typeface="Arial"/>
                <a:cs typeface="Arial"/>
              </a:rPr>
              <a:t>expected,</a:t>
            </a:r>
          </a:p>
          <a:p>
            <a:pPr algn="l"/>
            <a:r>
              <a:rPr sz="1200" b="1" i="0">
                <a:solidFill>
                  <a:srgbClr val="0072B2"/>
                </a:solidFill>
                <a:latin typeface="Arial"/>
                <a:ea typeface="Arial"/>
                <a:cs typeface="Arial"/>
              </a:rPr>
              <a:t>per-position fallback</a:t>
            </a:r>
          </a:p>
        </p:txBody>
      </p:sp>
      <p:sp>
        <p:nvSpPr>
          <p:cNvPr id="90" name="TextBox 89"/>
          <p:cNvSpPr txBox="1"/>
          <p:nvPr/>
        </p:nvSpPr>
        <p:spPr>
          <a:xfrm>
            <a:off x="10396728" y="3966359"/>
            <a:ext cx="1783080" cy="420624"/>
          </a:xfrm>
          <a:prstGeom prst="rect">
            <a:avLst/>
          </a:prstGeom>
          <a:noFill/>
        </p:spPr>
        <p:txBody>
          <a:bodyPr wrap="square" lIns="0" tIns="0" rIns="0" bIns="0" anchor="t"/>
          <a:lstStyle/>
          <a:p>
            <a:pPr algn="l"/>
            <a:r>
              <a:rPr sz="1200" b="1" i="0">
                <a:solidFill>
                  <a:srgbClr val="0072B2"/>
                </a:solidFill>
                <a:latin typeface="Arial"/>
                <a:ea typeface="Arial"/>
                <a:cs typeface="Arial"/>
              </a:rPr>
              <a:t>measured,</a:t>
            </a:r>
          </a:p>
          <a:p>
            <a:pPr algn="l"/>
            <a:r>
              <a:rPr sz="1200" b="1" i="0">
                <a:solidFill>
                  <a:srgbClr val="0072B2"/>
                </a:solidFill>
                <a:latin typeface="Arial"/>
                <a:ea typeface="Arial"/>
                <a:cs typeface="Arial"/>
              </a:rPr>
              <a:t>all certified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Every served arm fell short of its prediction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 Appendix E.5 · evidence/certified_head/served (summary.json, predictions.json, README) · 3 sessions, session-paired · prediction written before the runs</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B12</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Throughput with the certified head ÷ without, each tuned arm against itself</a:t>
            </a:r>
          </a:p>
        </p:txBody>
      </p:sp>
      <p:sp>
        <p:nvSpPr>
          <p:cNvPr id="7" name="Rectangle 6"/>
          <p:cNvSpPr/>
          <p:nvPr/>
        </p:nvSpPr>
        <p:spPr>
          <a:xfrm>
            <a:off x="3184724" y="2514600"/>
            <a:ext cx="335715" cy="2377439"/>
          </a:xfrm>
          <a:prstGeom prst="rect">
            <a:avLst/>
          </a:prstGeom>
          <a:solidFill>
            <a:srgbClr val="F1F3F5"/>
          </a:solidFill>
          <a:ln>
            <a:noFill/>
          </a:ln>
        </p:spPr>
        <p:txBody>
          <a:bodyPr rtlCol="0" anchor="ctr"/>
          <a:lstStyle/>
          <a:p>
            <a:pPr algn="ctr"/>
          </a:p>
        </p:txBody>
      </p:sp>
      <p:cxnSp>
        <p:nvCxnSpPr>
          <p:cNvPr id="8" name="Connector 7"/>
          <p:cNvCxnSpPr/>
          <p:nvPr/>
        </p:nvCxnSpPr>
        <p:spPr>
          <a:xfrm>
            <a:off x="1234440" y="4612341"/>
            <a:ext cx="2286000" cy="0"/>
          </a:xfrm>
          <a:prstGeom prst="line">
            <a:avLst/>
          </a:prstGeom>
          <a:ln w="9525">
            <a:solidFill>
              <a:srgbClr val="D2DCDF"/>
            </a:solidFill>
          </a:ln>
        </p:spPr>
      </p:cxnSp>
      <p:sp>
        <p:nvSpPr>
          <p:cNvPr id="9" name="TextBox 8"/>
          <p:cNvSpPr txBox="1"/>
          <p:nvPr/>
        </p:nvSpPr>
        <p:spPr>
          <a:xfrm>
            <a:off x="704088" y="4493469"/>
            <a:ext cx="457200" cy="237744"/>
          </a:xfrm>
          <a:prstGeom prst="rect">
            <a:avLst/>
          </a:prstGeom>
          <a:noFill/>
        </p:spPr>
        <p:txBody>
          <a:bodyPr wrap="square" lIns="0" tIns="0" rIns="0" bIns="0" anchor="t"/>
          <a:lstStyle/>
          <a:p>
            <a:pPr algn="r"/>
            <a:r>
              <a:rPr sz="1200" b="0" i="0">
                <a:solidFill>
                  <a:srgbClr val="586B73"/>
                </a:solidFill>
                <a:latin typeface="Arial"/>
                <a:ea typeface="Arial"/>
                <a:cs typeface="Arial"/>
              </a:rPr>
              <a:t>0.95</a:t>
            </a:r>
          </a:p>
        </p:txBody>
      </p:sp>
      <p:cxnSp>
        <p:nvCxnSpPr>
          <p:cNvPr id="10" name="Connector 9"/>
          <p:cNvCxnSpPr/>
          <p:nvPr/>
        </p:nvCxnSpPr>
        <p:spPr>
          <a:xfrm>
            <a:off x="1234440" y="3913094"/>
            <a:ext cx="2286000" cy="0"/>
          </a:xfrm>
          <a:prstGeom prst="line">
            <a:avLst/>
          </a:prstGeom>
          <a:ln w="12700">
            <a:solidFill>
              <a:srgbClr val="1B3A57"/>
            </a:solidFill>
            <a:prstDash val="dash"/>
          </a:ln>
        </p:spPr>
      </p:cxnSp>
      <p:sp>
        <p:nvSpPr>
          <p:cNvPr id="11" name="TextBox 10"/>
          <p:cNvSpPr txBox="1"/>
          <p:nvPr/>
        </p:nvSpPr>
        <p:spPr>
          <a:xfrm>
            <a:off x="704088" y="3794222"/>
            <a:ext cx="457200" cy="237744"/>
          </a:xfrm>
          <a:prstGeom prst="rect">
            <a:avLst/>
          </a:prstGeom>
          <a:noFill/>
        </p:spPr>
        <p:txBody>
          <a:bodyPr wrap="square" lIns="0" tIns="0" rIns="0" bIns="0" anchor="t"/>
          <a:lstStyle/>
          <a:p>
            <a:pPr algn="r"/>
            <a:r>
              <a:rPr sz="1200" b="0" i="0">
                <a:solidFill>
                  <a:srgbClr val="586B73"/>
                </a:solidFill>
                <a:latin typeface="Arial"/>
                <a:ea typeface="Arial"/>
                <a:cs typeface="Arial"/>
              </a:rPr>
              <a:t>1.00</a:t>
            </a:r>
          </a:p>
        </p:txBody>
      </p:sp>
      <p:cxnSp>
        <p:nvCxnSpPr>
          <p:cNvPr id="12" name="Connector 11"/>
          <p:cNvCxnSpPr/>
          <p:nvPr/>
        </p:nvCxnSpPr>
        <p:spPr>
          <a:xfrm>
            <a:off x="1234440" y="3213847"/>
            <a:ext cx="2286000" cy="0"/>
          </a:xfrm>
          <a:prstGeom prst="line">
            <a:avLst/>
          </a:prstGeom>
          <a:ln w="9525">
            <a:solidFill>
              <a:srgbClr val="D2DCDF"/>
            </a:solidFill>
          </a:ln>
        </p:spPr>
      </p:cxnSp>
      <p:sp>
        <p:nvSpPr>
          <p:cNvPr id="13" name="TextBox 12"/>
          <p:cNvSpPr txBox="1"/>
          <p:nvPr/>
        </p:nvSpPr>
        <p:spPr>
          <a:xfrm>
            <a:off x="704088" y="3094975"/>
            <a:ext cx="457200" cy="237744"/>
          </a:xfrm>
          <a:prstGeom prst="rect">
            <a:avLst/>
          </a:prstGeom>
          <a:noFill/>
        </p:spPr>
        <p:txBody>
          <a:bodyPr wrap="square" lIns="0" tIns="0" rIns="0" bIns="0" anchor="t"/>
          <a:lstStyle/>
          <a:p>
            <a:pPr algn="r"/>
            <a:r>
              <a:rPr sz="1200" b="0" i="0">
                <a:solidFill>
                  <a:srgbClr val="586B73"/>
                </a:solidFill>
                <a:latin typeface="Arial"/>
                <a:ea typeface="Arial"/>
                <a:cs typeface="Arial"/>
              </a:rPr>
              <a:t>1.05</a:t>
            </a:r>
          </a:p>
        </p:txBody>
      </p:sp>
      <p:cxnSp>
        <p:nvCxnSpPr>
          <p:cNvPr id="14" name="Connector 13"/>
          <p:cNvCxnSpPr/>
          <p:nvPr/>
        </p:nvCxnSpPr>
        <p:spPr>
          <a:xfrm>
            <a:off x="1234440" y="2514600"/>
            <a:ext cx="2286000" cy="0"/>
          </a:xfrm>
          <a:prstGeom prst="line">
            <a:avLst/>
          </a:prstGeom>
          <a:ln w="9525">
            <a:solidFill>
              <a:srgbClr val="D2DCDF"/>
            </a:solidFill>
          </a:ln>
        </p:spPr>
      </p:cxnSp>
      <p:sp>
        <p:nvSpPr>
          <p:cNvPr id="15" name="TextBox 14"/>
          <p:cNvSpPr txBox="1"/>
          <p:nvPr/>
        </p:nvSpPr>
        <p:spPr>
          <a:xfrm>
            <a:off x="704088" y="2395728"/>
            <a:ext cx="457200" cy="237744"/>
          </a:xfrm>
          <a:prstGeom prst="rect">
            <a:avLst/>
          </a:prstGeom>
          <a:noFill/>
        </p:spPr>
        <p:txBody>
          <a:bodyPr wrap="square" lIns="0" tIns="0" rIns="0" bIns="0" anchor="t"/>
          <a:lstStyle/>
          <a:p>
            <a:pPr algn="r"/>
            <a:r>
              <a:rPr sz="1200" b="0" i="0">
                <a:solidFill>
                  <a:srgbClr val="586B73"/>
                </a:solidFill>
                <a:latin typeface="Arial"/>
                <a:ea typeface="Arial"/>
                <a:cs typeface="Arial"/>
              </a:rPr>
              <a:t>1.10</a:t>
            </a:r>
          </a:p>
        </p:txBody>
      </p:sp>
      <p:sp>
        <p:nvSpPr>
          <p:cNvPr id="16" name="TextBox 15"/>
          <p:cNvSpPr txBox="1"/>
          <p:nvPr/>
        </p:nvSpPr>
        <p:spPr>
          <a:xfrm>
            <a:off x="1234440" y="2084831"/>
            <a:ext cx="2286000" cy="329184"/>
          </a:xfrm>
          <a:prstGeom prst="rect">
            <a:avLst/>
          </a:prstGeom>
          <a:noFill/>
        </p:spPr>
        <p:txBody>
          <a:bodyPr wrap="square" lIns="0" tIns="0" rIns="0" bIns="0" anchor="t"/>
          <a:lstStyle/>
          <a:p>
            <a:pPr algn="ctr"/>
            <a:r>
              <a:rPr sz="1600" b="1" i="0">
                <a:solidFill>
                  <a:srgbClr val="1B3A57"/>
                </a:solidFill>
                <a:latin typeface="Arial"/>
                <a:ea typeface="Arial"/>
                <a:cs typeface="Arial"/>
              </a:rPr>
              <a:t>Plain decoding</a:t>
            </a:r>
          </a:p>
        </p:txBody>
      </p:sp>
      <p:cxnSp>
        <p:nvCxnSpPr>
          <p:cNvPr id="17" name="Connector 16"/>
          <p:cNvCxnSpPr/>
          <p:nvPr/>
        </p:nvCxnSpPr>
        <p:spPr>
          <a:xfrm>
            <a:off x="1435608" y="3417531"/>
            <a:ext cx="538189" cy="62888"/>
          </a:xfrm>
          <a:prstGeom prst="line">
            <a:avLst/>
          </a:prstGeom>
          <a:ln w="15875">
            <a:solidFill>
              <a:srgbClr val="6B7780"/>
            </a:solidFill>
            <a:prstDash val="dash"/>
          </a:ln>
        </p:spPr>
      </p:cxnSp>
      <p:cxnSp>
        <p:nvCxnSpPr>
          <p:cNvPr id="18" name="Connector 17"/>
          <p:cNvCxnSpPr/>
          <p:nvPr/>
        </p:nvCxnSpPr>
        <p:spPr>
          <a:xfrm>
            <a:off x="1973797" y="3480419"/>
            <a:ext cx="269095" cy="6713"/>
          </a:xfrm>
          <a:prstGeom prst="line">
            <a:avLst/>
          </a:prstGeom>
          <a:ln w="15875">
            <a:solidFill>
              <a:srgbClr val="6B7780"/>
            </a:solidFill>
            <a:prstDash val="dash"/>
          </a:ln>
        </p:spPr>
      </p:cxnSp>
      <p:cxnSp>
        <p:nvCxnSpPr>
          <p:cNvPr id="19" name="Connector 18"/>
          <p:cNvCxnSpPr/>
          <p:nvPr/>
        </p:nvCxnSpPr>
        <p:spPr>
          <a:xfrm>
            <a:off x="2242892" y="3487132"/>
            <a:ext cx="269095" cy="20055"/>
          </a:xfrm>
          <a:prstGeom prst="line">
            <a:avLst/>
          </a:prstGeom>
          <a:ln w="15875">
            <a:solidFill>
              <a:srgbClr val="6B7780"/>
            </a:solidFill>
            <a:prstDash val="dash"/>
          </a:ln>
        </p:spPr>
      </p:cxnSp>
      <p:cxnSp>
        <p:nvCxnSpPr>
          <p:cNvPr id="20" name="Connector 19"/>
          <p:cNvCxnSpPr/>
          <p:nvPr/>
        </p:nvCxnSpPr>
        <p:spPr>
          <a:xfrm>
            <a:off x="2511987" y="3507187"/>
            <a:ext cx="269095" cy="184796"/>
          </a:xfrm>
          <a:prstGeom prst="line">
            <a:avLst/>
          </a:prstGeom>
          <a:ln w="15875">
            <a:solidFill>
              <a:srgbClr val="6B7780"/>
            </a:solidFill>
            <a:prstDash val="dash"/>
          </a:ln>
        </p:spPr>
      </p:cxnSp>
      <p:cxnSp>
        <p:nvCxnSpPr>
          <p:cNvPr id="21" name="Connector 20"/>
          <p:cNvCxnSpPr/>
          <p:nvPr/>
        </p:nvCxnSpPr>
        <p:spPr>
          <a:xfrm>
            <a:off x="2781082" y="3691983"/>
            <a:ext cx="269095" cy="153361"/>
          </a:xfrm>
          <a:prstGeom prst="line">
            <a:avLst/>
          </a:prstGeom>
          <a:ln w="15875">
            <a:solidFill>
              <a:srgbClr val="6B7780"/>
            </a:solidFill>
            <a:prstDash val="dash"/>
          </a:ln>
        </p:spPr>
      </p:cxnSp>
      <p:cxnSp>
        <p:nvCxnSpPr>
          <p:cNvPr id="22" name="Connector 21"/>
          <p:cNvCxnSpPr/>
          <p:nvPr/>
        </p:nvCxnSpPr>
        <p:spPr>
          <a:xfrm>
            <a:off x="3050177" y="3845344"/>
            <a:ext cx="269095" cy="67750"/>
          </a:xfrm>
          <a:prstGeom prst="line">
            <a:avLst/>
          </a:prstGeom>
          <a:ln w="15875">
            <a:solidFill>
              <a:srgbClr val="6B7780"/>
            </a:solidFill>
            <a:prstDash val="dash"/>
          </a:ln>
        </p:spPr>
      </p:cxnSp>
      <p:sp>
        <p:nvSpPr>
          <p:cNvPr id="23" name="Diamond 22"/>
          <p:cNvSpPr/>
          <p:nvPr/>
        </p:nvSpPr>
        <p:spPr>
          <a:xfrm>
            <a:off x="1380744" y="3362667"/>
            <a:ext cx="109728" cy="109728"/>
          </a:xfrm>
          <a:prstGeom prst="diamond">
            <a:avLst/>
          </a:prstGeom>
          <a:solidFill>
            <a:srgbClr val="FFFFFF"/>
          </a:solidFill>
          <a:ln w="15875">
            <a:solidFill>
              <a:srgbClr val="6B7780"/>
            </a:solidFill>
          </a:ln>
        </p:spPr>
        <p:txBody>
          <a:bodyPr rtlCol="0" anchor="ctr"/>
          <a:lstStyle/>
          <a:p>
            <a:pPr algn="ctr"/>
          </a:p>
        </p:txBody>
      </p:sp>
      <p:sp>
        <p:nvSpPr>
          <p:cNvPr id="24" name="Diamond 23"/>
          <p:cNvSpPr/>
          <p:nvPr/>
        </p:nvSpPr>
        <p:spPr>
          <a:xfrm>
            <a:off x="1918933" y="3425555"/>
            <a:ext cx="109728" cy="109728"/>
          </a:xfrm>
          <a:prstGeom prst="diamond">
            <a:avLst/>
          </a:prstGeom>
          <a:solidFill>
            <a:srgbClr val="FFFFFF"/>
          </a:solidFill>
          <a:ln w="15875">
            <a:solidFill>
              <a:srgbClr val="6B7780"/>
            </a:solidFill>
          </a:ln>
        </p:spPr>
        <p:txBody>
          <a:bodyPr rtlCol="0" anchor="ctr"/>
          <a:lstStyle/>
          <a:p>
            <a:pPr algn="ctr"/>
          </a:p>
        </p:txBody>
      </p:sp>
      <p:sp>
        <p:nvSpPr>
          <p:cNvPr id="25" name="Diamond 24"/>
          <p:cNvSpPr/>
          <p:nvPr/>
        </p:nvSpPr>
        <p:spPr>
          <a:xfrm>
            <a:off x="2188028" y="3432268"/>
            <a:ext cx="109728" cy="109728"/>
          </a:xfrm>
          <a:prstGeom prst="diamond">
            <a:avLst/>
          </a:prstGeom>
          <a:solidFill>
            <a:srgbClr val="FFFFFF"/>
          </a:solidFill>
          <a:ln w="15875">
            <a:solidFill>
              <a:srgbClr val="6B7780"/>
            </a:solidFill>
          </a:ln>
        </p:spPr>
        <p:txBody>
          <a:bodyPr rtlCol="0" anchor="ctr"/>
          <a:lstStyle/>
          <a:p>
            <a:pPr algn="ctr"/>
          </a:p>
        </p:txBody>
      </p:sp>
      <p:sp>
        <p:nvSpPr>
          <p:cNvPr id="26" name="Diamond 25"/>
          <p:cNvSpPr/>
          <p:nvPr/>
        </p:nvSpPr>
        <p:spPr>
          <a:xfrm>
            <a:off x="2457123" y="3452323"/>
            <a:ext cx="109728" cy="109728"/>
          </a:xfrm>
          <a:prstGeom prst="diamond">
            <a:avLst/>
          </a:prstGeom>
          <a:solidFill>
            <a:srgbClr val="FFFFFF"/>
          </a:solidFill>
          <a:ln w="15875">
            <a:solidFill>
              <a:srgbClr val="6B7780"/>
            </a:solidFill>
          </a:ln>
        </p:spPr>
        <p:txBody>
          <a:bodyPr rtlCol="0" anchor="ctr"/>
          <a:lstStyle/>
          <a:p>
            <a:pPr algn="ctr"/>
          </a:p>
        </p:txBody>
      </p:sp>
      <p:sp>
        <p:nvSpPr>
          <p:cNvPr id="27" name="Diamond 26"/>
          <p:cNvSpPr/>
          <p:nvPr/>
        </p:nvSpPr>
        <p:spPr>
          <a:xfrm>
            <a:off x="2726218" y="3637119"/>
            <a:ext cx="109728" cy="109728"/>
          </a:xfrm>
          <a:prstGeom prst="diamond">
            <a:avLst/>
          </a:prstGeom>
          <a:solidFill>
            <a:srgbClr val="FFFFFF"/>
          </a:solidFill>
          <a:ln w="15875">
            <a:solidFill>
              <a:srgbClr val="6B7780"/>
            </a:solidFill>
          </a:ln>
        </p:spPr>
        <p:txBody>
          <a:bodyPr rtlCol="0" anchor="ctr"/>
          <a:lstStyle/>
          <a:p>
            <a:pPr algn="ctr"/>
          </a:p>
        </p:txBody>
      </p:sp>
      <p:sp>
        <p:nvSpPr>
          <p:cNvPr id="28" name="Diamond 27"/>
          <p:cNvSpPr/>
          <p:nvPr/>
        </p:nvSpPr>
        <p:spPr>
          <a:xfrm>
            <a:off x="2995313" y="3790480"/>
            <a:ext cx="109728" cy="109728"/>
          </a:xfrm>
          <a:prstGeom prst="diamond">
            <a:avLst/>
          </a:prstGeom>
          <a:solidFill>
            <a:srgbClr val="FFFFFF"/>
          </a:solidFill>
          <a:ln w="15875">
            <a:solidFill>
              <a:srgbClr val="6B7780"/>
            </a:solidFill>
          </a:ln>
        </p:spPr>
        <p:txBody>
          <a:bodyPr rtlCol="0" anchor="ctr"/>
          <a:lstStyle/>
          <a:p>
            <a:pPr algn="ctr"/>
          </a:p>
        </p:txBody>
      </p:sp>
      <p:sp>
        <p:nvSpPr>
          <p:cNvPr id="29" name="Diamond 28"/>
          <p:cNvSpPr/>
          <p:nvPr/>
        </p:nvSpPr>
        <p:spPr>
          <a:xfrm>
            <a:off x="3264408" y="3858230"/>
            <a:ext cx="109728" cy="109728"/>
          </a:xfrm>
          <a:prstGeom prst="diamond">
            <a:avLst/>
          </a:prstGeom>
          <a:solidFill>
            <a:srgbClr val="FFFFFF"/>
          </a:solidFill>
          <a:ln w="15875">
            <a:solidFill>
              <a:srgbClr val="6B7780"/>
            </a:solidFill>
          </a:ln>
        </p:spPr>
        <p:txBody>
          <a:bodyPr rtlCol="0" anchor="ctr"/>
          <a:lstStyle/>
          <a:p>
            <a:pPr algn="ctr"/>
          </a:p>
        </p:txBody>
      </p:sp>
      <p:cxnSp>
        <p:nvCxnSpPr>
          <p:cNvPr id="30" name="Connector 29"/>
          <p:cNvCxnSpPr/>
          <p:nvPr/>
        </p:nvCxnSpPr>
        <p:spPr>
          <a:xfrm>
            <a:off x="1435608" y="3562302"/>
            <a:ext cx="538189" cy="51159"/>
          </a:xfrm>
          <a:prstGeom prst="line">
            <a:avLst/>
          </a:prstGeom>
          <a:ln w="19050">
            <a:solidFill>
              <a:srgbClr val="1B3A57"/>
            </a:solidFill>
          </a:ln>
        </p:spPr>
      </p:cxnSp>
      <p:cxnSp>
        <p:nvCxnSpPr>
          <p:cNvPr id="31" name="Connector 30"/>
          <p:cNvCxnSpPr/>
          <p:nvPr/>
        </p:nvCxnSpPr>
        <p:spPr>
          <a:xfrm>
            <a:off x="1973797" y="3613461"/>
            <a:ext cx="269095" cy="9816"/>
          </a:xfrm>
          <a:prstGeom prst="line">
            <a:avLst/>
          </a:prstGeom>
          <a:ln w="19050">
            <a:solidFill>
              <a:srgbClr val="1B3A57"/>
            </a:solidFill>
          </a:ln>
        </p:spPr>
      </p:cxnSp>
      <p:cxnSp>
        <p:nvCxnSpPr>
          <p:cNvPr id="32" name="Connector 31"/>
          <p:cNvCxnSpPr/>
          <p:nvPr/>
        </p:nvCxnSpPr>
        <p:spPr>
          <a:xfrm>
            <a:off x="2242892" y="3623277"/>
            <a:ext cx="269095" cy="3398"/>
          </a:xfrm>
          <a:prstGeom prst="line">
            <a:avLst/>
          </a:prstGeom>
          <a:ln w="19050">
            <a:solidFill>
              <a:srgbClr val="1B3A57"/>
            </a:solidFill>
          </a:ln>
        </p:spPr>
      </p:cxnSp>
      <p:cxnSp>
        <p:nvCxnSpPr>
          <p:cNvPr id="33" name="Connector 32"/>
          <p:cNvCxnSpPr/>
          <p:nvPr/>
        </p:nvCxnSpPr>
        <p:spPr>
          <a:xfrm>
            <a:off x="2511987" y="3626675"/>
            <a:ext cx="269095" cy="133465"/>
          </a:xfrm>
          <a:prstGeom prst="line">
            <a:avLst/>
          </a:prstGeom>
          <a:ln w="19050">
            <a:solidFill>
              <a:srgbClr val="1B3A57"/>
            </a:solidFill>
          </a:ln>
        </p:spPr>
      </p:cxnSp>
      <p:cxnSp>
        <p:nvCxnSpPr>
          <p:cNvPr id="34" name="Connector 33"/>
          <p:cNvCxnSpPr/>
          <p:nvPr/>
        </p:nvCxnSpPr>
        <p:spPr>
          <a:xfrm>
            <a:off x="2781082" y="3760140"/>
            <a:ext cx="269095" cy="164831"/>
          </a:xfrm>
          <a:prstGeom prst="line">
            <a:avLst/>
          </a:prstGeom>
          <a:ln w="19050">
            <a:solidFill>
              <a:srgbClr val="1B3A57"/>
            </a:solidFill>
          </a:ln>
        </p:spPr>
      </p:cxnSp>
      <p:cxnSp>
        <p:nvCxnSpPr>
          <p:cNvPr id="35" name="Connector 34"/>
          <p:cNvCxnSpPr/>
          <p:nvPr/>
        </p:nvCxnSpPr>
        <p:spPr>
          <a:xfrm>
            <a:off x="3050177" y="3924971"/>
            <a:ext cx="269095" cy="71442"/>
          </a:xfrm>
          <a:prstGeom prst="line">
            <a:avLst/>
          </a:prstGeom>
          <a:ln w="19050">
            <a:solidFill>
              <a:srgbClr val="1B3A57"/>
            </a:solidFill>
          </a:ln>
        </p:spPr>
      </p:cxnSp>
      <p:cxnSp>
        <p:nvCxnSpPr>
          <p:cNvPr id="36" name="Connector 35"/>
          <p:cNvCxnSpPr/>
          <p:nvPr/>
        </p:nvCxnSpPr>
        <p:spPr>
          <a:xfrm flipV="1">
            <a:off x="1435608" y="3517397"/>
            <a:ext cx="0" cy="89670"/>
          </a:xfrm>
          <a:prstGeom prst="line">
            <a:avLst/>
          </a:prstGeom>
          <a:ln w="15875">
            <a:solidFill>
              <a:srgbClr val="1B3A57"/>
            </a:solidFill>
          </a:ln>
        </p:spPr>
      </p:cxnSp>
      <p:sp>
        <p:nvSpPr>
          <p:cNvPr id="37" name="Oval 36"/>
          <p:cNvSpPr/>
          <p:nvPr/>
        </p:nvSpPr>
        <p:spPr>
          <a:xfrm>
            <a:off x="1357884" y="3484578"/>
            <a:ext cx="155448" cy="155448"/>
          </a:xfrm>
          <a:prstGeom prst="ellipse">
            <a:avLst/>
          </a:prstGeom>
          <a:solidFill>
            <a:srgbClr val="1B3A57"/>
          </a:solidFill>
          <a:ln w="12700">
            <a:solidFill>
              <a:srgbClr val="1B3A57"/>
            </a:solidFill>
          </a:ln>
        </p:spPr>
        <p:txBody>
          <a:bodyPr rtlCol="0" anchor="ctr"/>
          <a:lstStyle/>
          <a:p>
            <a:pPr algn="ctr"/>
          </a:p>
        </p:txBody>
      </p:sp>
      <p:sp>
        <p:nvSpPr>
          <p:cNvPr id="38" name="TextBox 37"/>
          <p:cNvSpPr txBox="1"/>
          <p:nvPr/>
        </p:nvSpPr>
        <p:spPr>
          <a:xfrm>
            <a:off x="1307592" y="4554249"/>
            <a:ext cx="2194560" cy="256032"/>
          </a:xfrm>
          <a:prstGeom prst="rect">
            <a:avLst/>
          </a:prstGeom>
          <a:noFill/>
        </p:spPr>
        <p:txBody>
          <a:bodyPr wrap="square" lIns="0" tIns="0" rIns="0" bIns="0" anchor="t"/>
          <a:lstStyle/>
          <a:p>
            <a:pPr algn="l"/>
            <a:r>
              <a:rPr sz="1300" b="1" i="0">
                <a:solidFill>
                  <a:srgbClr val="1B3A57"/>
                </a:solidFill>
                <a:latin typeface="Arial"/>
                <a:ea typeface="Arial"/>
                <a:cs typeface="Arial"/>
              </a:rPr>
              <a:t>primary 1.025 at c = 1</a:t>
            </a:r>
          </a:p>
        </p:txBody>
      </p:sp>
      <p:sp>
        <p:nvSpPr>
          <p:cNvPr id="39" name="TextBox 38"/>
          <p:cNvSpPr txBox="1"/>
          <p:nvPr/>
        </p:nvSpPr>
        <p:spPr>
          <a:xfrm>
            <a:off x="1207008"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a:t>
            </a:r>
          </a:p>
        </p:txBody>
      </p:sp>
      <p:cxnSp>
        <p:nvCxnSpPr>
          <p:cNvPr id="40" name="Connector 39"/>
          <p:cNvCxnSpPr/>
          <p:nvPr/>
        </p:nvCxnSpPr>
        <p:spPr>
          <a:xfrm flipV="1">
            <a:off x="1973797" y="3580432"/>
            <a:ext cx="0" cy="65982"/>
          </a:xfrm>
          <a:prstGeom prst="line">
            <a:avLst/>
          </a:prstGeom>
          <a:ln w="15875">
            <a:solidFill>
              <a:srgbClr val="1B3A57"/>
            </a:solidFill>
          </a:ln>
        </p:spPr>
      </p:cxnSp>
      <p:sp>
        <p:nvSpPr>
          <p:cNvPr id="41" name="Oval 40"/>
          <p:cNvSpPr/>
          <p:nvPr/>
        </p:nvSpPr>
        <p:spPr>
          <a:xfrm>
            <a:off x="1914361" y="3554025"/>
            <a:ext cx="118872" cy="118872"/>
          </a:xfrm>
          <a:prstGeom prst="ellipse">
            <a:avLst/>
          </a:prstGeom>
          <a:solidFill>
            <a:srgbClr val="1B3A57"/>
          </a:solidFill>
          <a:ln w="12700">
            <a:solidFill>
              <a:srgbClr val="1B3A57"/>
            </a:solidFill>
          </a:ln>
        </p:spPr>
        <p:txBody>
          <a:bodyPr rtlCol="0" anchor="ctr"/>
          <a:lstStyle/>
          <a:p>
            <a:pPr algn="ctr"/>
          </a:p>
        </p:txBody>
      </p:sp>
      <p:sp>
        <p:nvSpPr>
          <p:cNvPr id="42" name="TextBox 41"/>
          <p:cNvSpPr txBox="1"/>
          <p:nvPr/>
        </p:nvSpPr>
        <p:spPr>
          <a:xfrm>
            <a:off x="1745197"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cxnSp>
        <p:nvCxnSpPr>
          <p:cNvPr id="43" name="Connector 42"/>
          <p:cNvCxnSpPr/>
          <p:nvPr/>
        </p:nvCxnSpPr>
        <p:spPr>
          <a:xfrm flipV="1">
            <a:off x="2242892" y="3534344"/>
            <a:ext cx="0" cy="177316"/>
          </a:xfrm>
          <a:prstGeom prst="line">
            <a:avLst/>
          </a:prstGeom>
          <a:ln w="15875">
            <a:solidFill>
              <a:srgbClr val="1B3A57"/>
            </a:solidFill>
          </a:ln>
        </p:spPr>
      </p:cxnSp>
      <p:sp>
        <p:nvSpPr>
          <p:cNvPr id="44" name="Oval 43"/>
          <p:cNvSpPr/>
          <p:nvPr/>
        </p:nvSpPr>
        <p:spPr>
          <a:xfrm>
            <a:off x="2183456" y="3563841"/>
            <a:ext cx="118872" cy="118872"/>
          </a:xfrm>
          <a:prstGeom prst="ellipse">
            <a:avLst/>
          </a:prstGeom>
          <a:solidFill>
            <a:srgbClr val="1B3A57"/>
          </a:solidFill>
          <a:ln w="12700">
            <a:solidFill>
              <a:srgbClr val="1B3A57"/>
            </a:solidFill>
          </a:ln>
        </p:spPr>
        <p:txBody>
          <a:bodyPr rtlCol="0" anchor="ctr"/>
          <a:lstStyle/>
          <a:p>
            <a:pPr algn="ctr"/>
          </a:p>
        </p:txBody>
      </p:sp>
      <p:sp>
        <p:nvSpPr>
          <p:cNvPr id="45" name="TextBox 44"/>
          <p:cNvSpPr txBox="1"/>
          <p:nvPr/>
        </p:nvSpPr>
        <p:spPr>
          <a:xfrm>
            <a:off x="201429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8</a:t>
            </a:r>
          </a:p>
        </p:txBody>
      </p:sp>
      <p:cxnSp>
        <p:nvCxnSpPr>
          <p:cNvPr id="46" name="Connector 45"/>
          <p:cNvCxnSpPr/>
          <p:nvPr/>
        </p:nvCxnSpPr>
        <p:spPr>
          <a:xfrm flipV="1">
            <a:off x="2511987" y="3569545"/>
            <a:ext cx="0" cy="114032"/>
          </a:xfrm>
          <a:prstGeom prst="line">
            <a:avLst/>
          </a:prstGeom>
          <a:ln w="15875">
            <a:solidFill>
              <a:srgbClr val="1B3A57"/>
            </a:solidFill>
          </a:ln>
        </p:spPr>
      </p:cxnSp>
      <p:sp>
        <p:nvSpPr>
          <p:cNvPr id="47" name="Oval 46"/>
          <p:cNvSpPr/>
          <p:nvPr/>
        </p:nvSpPr>
        <p:spPr>
          <a:xfrm>
            <a:off x="2452551" y="3567239"/>
            <a:ext cx="118872" cy="118872"/>
          </a:xfrm>
          <a:prstGeom prst="ellipse">
            <a:avLst/>
          </a:prstGeom>
          <a:solidFill>
            <a:srgbClr val="1B3A57"/>
          </a:solidFill>
          <a:ln w="12700">
            <a:solidFill>
              <a:srgbClr val="1B3A57"/>
            </a:solidFill>
          </a:ln>
        </p:spPr>
        <p:txBody>
          <a:bodyPr rtlCol="0" anchor="ctr"/>
          <a:lstStyle/>
          <a:p>
            <a:pPr algn="ctr"/>
          </a:p>
        </p:txBody>
      </p:sp>
      <p:sp>
        <p:nvSpPr>
          <p:cNvPr id="48" name="TextBox 47"/>
          <p:cNvSpPr txBox="1"/>
          <p:nvPr/>
        </p:nvSpPr>
        <p:spPr>
          <a:xfrm>
            <a:off x="2283387"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16</a:t>
            </a:r>
          </a:p>
        </p:txBody>
      </p:sp>
      <p:cxnSp>
        <p:nvCxnSpPr>
          <p:cNvPr id="49" name="Connector 48"/>
          <p:cNvCxnSpPr/>
          <p:nvPr/>
        </p:nvCxnSpPr>
        <p:spPr>
          <a:xfrm flipV="1">
            <a:off x="2781082" y="3634280"/>
            <a:ext cx="0" cy="250608"/>
          </a:xfrm>
          <a:prstGeom prst="line">
            <a:avLst/>
          </a:prstGeom>
          <a:ln w="15875">
            <a:solidFill>
              <a:srgbClr val="1B3A57"/>
            </a:solidFill>
          </a:ln>
        </p:spPr>
      </p:cxnSp>
      <p:sp>
        <p:nvSpPr>
          <p:cNvPr id="50" name="Oval 49"/>
          <p:cNvSpPr/>
          <p:nvPr/>
        </p:nvSpPr>
        <p:spPr>
          <a:xfrm>
            <a:off x="2721646" y="3700704"/>
            <a:ext cx="118872" cy="118872"/>
          </a:xfrm>
          <a:prstGeom prst="ellipse">
            <a:avLst/>
          </a:prstGeom>
          <a:solidFill>
            <a:srgbClr val="1B3A57"/>
          </a:solidFill>
          <a:ln w="12700">
            <a:solidFill>
              <a:srgbClr val="1B3A57"/>
            </a:solidFill>
          </a:ln>
        </p:spPr>
        <p:txBody>
          <a:bodyPr rtlCol="0" anchor="ctr"/>
          <a:lstStyle/>
          <a:p>
            <a:pPr algn="ctr"/>
          </a:p>
        </p:txBody>
      </p:sp>
      <p:sp>
        <p:nvSpPr>
          <p:cNvPr id="51" name="TextBox 50"/>
          <p:cNvSpPr txBox="1"/>
          <p:nvPr/>
        </p:nvSpPr>
        <p:spPr>
          <a:xfrm>
            <a:off x="255248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32</a:t>
            </a:r>
          </a:p>
        </p:txBody>
      </p:sp>
      <p:cxnSp>
        <p:nvCxnSpPr>
          <p:cNvPr id="52" name="Connector 51"/>
          <p:cNvCxnSpPr/>
          <p:nvPr/>
        </p:nvCxnSpPr>
        <p:spPr>
          <a:xfrm flipV="1">
            <a:off x="3050177" y="3850086"/>
            <a:ext cx="0" cy="149371"/>
          </a:xfrm>
          <a:prstGeom prst="line">
            <a:avLst/>
          </a:prstGeom>
          <a:ln w="15875">
            <a:solidFill>
              <a:srgbClr val="1B3A57"/>
            </a:solidFill>
          </a:ln>
        </p:spPr>
      </p:cxnSp>
      <p:sp>
        <p:nvSpPr>
          <p:cNvPr id="53" name="Oval 52"/>
          <p:cNvSpPr/>
          <p:nvPr/>
        </p:nvSpPr>
        <p:spPr>
          <a:xfrm>
            <a:off x="2990741" y="3865535"/>
            <a:ext cx="118872" cy="118872"/>
          </a:xfrm>
          <a:prstGeom prst="ellipse">
            <a:avLst/>
          </a:prstGeom>
          <a:solidFill>
            <a:srgbClr val="FFFFFF"/>
          </a:solidFill>
          <a:ln w="15875">
            <a:solidFill>
              <a:srgbClr val="1B3A57"/>
            </a:solidFill>
          </a:ln>
        </p:spPr>
        <p:txBody>
          <a:bodyPr rtlCol="0" anchor="ctr"/>
          <a:lstStyle/>
          <a:p>
            <a:pPr algn="ctr"/>
          </a:p>
        </p:txBody>
      </p:sp>
      <p:sp>
        <p:nvSpPr>
          <p:cNvPr id="54" name="TextBox 53"/>
          <p:cNvSpPr txBox="1"/>
          <p:nvPr/>
        </p:nvSpPr>
        <p:spPr>
          <a:xfrm>
            <a:off x="2821577"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64</a:t>
            </a:r>
          </a:p>
        </p:txBody>
      </p:sp>
      <p:cxnSp>
        <p:nvCxnSpPr>
          <p:cNvPr id="55" name="Connector 54"/>
          <p:cNvCxnSpPr/>
          <p:nvPr/>
        </p:nvCxnSpPr>
        <p:spPr>
          <a:xfrm flipV="1">
            <a:off x="3319272" y="3974893"/>
            <a:ext cx="0" cy="43007"/>
          </a:xfrm>
          <a:prstGeom prst="line">
            <a:avLst/>
          </a:prstGeom>
          <a:ln w="15875">
            <a:solidFill>
              <a:srgbClr val="1B3A57"/>
            </a:solidFill>
          </a:ln>
        </p:spPr>
      </p:cxnSp>
      <p:sp>
        <p:nvSpPr>
          <p:cNvPr id="56" name="Oval 55"/>
          <p:cNvSpPr/>
          <p:nvPr/>
        </p:nvSpPr>
        <p:spPr>
          <a:xfrm>
            <a:off x="3259836" y="3936977"/>
            <a:ext cx="118872" cy="118872"/>
          </a:xfrm>
          <a:prstGeom prst="ellipse">
            <a:avLst/>
          </a:prstGeom>
          <a:solidFill>
            <a:srgbClr val="1B3A57"/>
          </a:solidFill>
          <a:ln w="12700">
            <a:solidFill>
              <a:srgbClr val="1B3A57"/>
            </a:solidFill>
          </a:ln>
        </p:spPr>
        <p:txBody>
          <a:bodyPr rtlCol="0" anchor="ctr"/>
          <a:lstStyle/>
          <a:p>
            <a:pPr algn="ctr"/>
          </a:p>
        </p:txBody>
      </p:sp>
      <p:sp>
        <p:nvSpPr>
          <p:cNvPr id="57" name="TextBox 56"/>
          <p:cNvSpPr txBox="1"/>
          <p:nvPr/>
        </p:nvSpPr>
        <p:spPr>
          <a:xfrm>
            <a:off x="309067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128</a:t>
            </a:r>
          </a:p>
        </p:txBody>
      </p:sp>
      <p:cxnSp>
        <p:nvCxnSpPr>
          <p:cNvPr id="58" name="Connector 57"/>
          <p:cNvCxnSpPr/>
          <p:nvPr/>
        </p:nvCxnSpPr>
        <p:spPr>
          <a:xfrm>
            <a:off x="1234440" y="4892040"/>
            <a:ext cx="2286000" cy="0"/>
          </a:xfrm>
          <a:prstGeom prst="line">
            <a:avLst/>
          </a:prstGeom>
          <a:ln w="9525">
            <a:solidFill>
              <a:srgbClr val="6B7780"/>
            </a:solidFill>
          </a:ln>
        </p:spPr>
      </p:cxnSp>
      <p:cxnSp>
        <p:nvCxnSpPr>
          <p:cNvPr id="59" name="Connector 58"/>
          <p:cNvCxnSpPr/>
          <p:nvPr/>
        </p:nvCxnSpPr>
        <p:spPr>
          <a:xfrm>
            <a:off x="3886200" y="4612341"/>
            <a:ext cx="2286000" cy="0"/>
          </a:xfrm>
          <a:prstGeom prst="line">
            <a:avLst/>
          </a:prstGeom>
          <a:ln w="9525">
            <a:solidFill>
              <a:srgbClr val="D2DCDF"/>
            </a:solidFill>
          </a:ln>
        </p:spPr>
      </p:cxnSp>
      <p:cxnSp>
        <p:nvCxnSpPr>
          <p:cNvPr id="60" name="Connector 59"/>
          <p:cNvCxnSpPr/>
          <p:nvPr/>
        </p:nvCxnSpPr>
        <p:spPr>
          <a:xfrm>
            <a:off x="3886200" y="3913094"/>
            <a:ext cx="2286000" cy="0"/>
          </a:xfrm>
          <a:prstGeom prst="line">
            <a:avLst/>
          </a:prstGeom>
          <a:ln w="12700">
            <a:solidFill>
              <a:srgbClr val="1B3A57"/>
            </a:solidFill>
            <a:prstDash val="dash"/>
          </a:ln>
        </p:spPr>
      </p:cxnSp>
      <p:cxnSp>
        <p:nvCxnSpPr>
          <p:cNvPr id="61" name="Connector 60"/>
          <p:cNvCxnSpPr/>
          <p:nvPr/>
        </p:nvCxnSpPr>
        <p:spPr>
          <a:xfrm>
            <a:off x="3886200" y="3213847"/>
            <a:ext cx="2286000" cy="0"/>
          </a:xfrm>
          <a:prstGeom prst="line">
            <a:avLst/>
          </a:prstGeom>
          <a:ln w="9525">
            <a:solidFill>
              <a:srgbClr val="D2DCDF"/>
            </a:solidFill>
          </a:ln>
        </p:spPr>
      </p:cxnSp>
      <p:cxnSp>
        <p:nvCxnSpPr>
          <p:cNvPr id="62" name="Connector 61"/>
          <p:cNvCxnSpPr/>
          <p:nvPr/>
        </p:nvCxnSpPr>
        <p:spPr>
          <a:xfrm>
            <a:off x="3886200" y="2514600"/>
            <a:ext cx="2286000" cy="0"/>
          </a:xfrm>
          <a:prstGeom prst="line">
            <a:avLst/>
          </a:prstGeom>
          <a:ln w="9525">
            <a:solidFill>
              <a:srgbClr val="D2DCDF"/>
            </a:solidFill>
          </a:ln>
        </p:spPr>
      </p:cxnSp>
      <p:sp>
        <p:nvSpPr>
          <p:cNvPr id="63" name="TextBox 62"/>
          <p:cNvSpPr txBox="1"/>
          <p:nvPr/>
        </p:nvSpPr>
        <p:spPr>
          <a:xfrm>
            <a:off x="3886200" y="2084831"/>
            <a:ext cx="2286000" cy="329184"/>
          </a:xfrm>
          <a:prstGeom prst="rect">
            <a:avLst/>
          </a:prstGeom>
          <a:noFill/>
        </p:spPr>
        <p:txBody>
          <a:bodyPr wrap="square" lIns="0" tIns="0" rIns="0" bIns="0" anchor="t"/>
          <a:lstStyle/>
          <a:p>
            <a:pPr algn="ctr"/>
            <a:r>
              <a:rPr sz="1600" b="1" i="0">
                <a:solidFill>
                  <a:srgbClr val="1C6402"/>
                </a:solidFill>
                <a:latin typeface="Arial"/>
                <a:ea typeface="Arial"/>
                <a:cs typeface="Arial"/>
              </a:rPr>
              <a:t>MTP, 3 steps, Triton</a:t>
            </a:r>
          </a:p>
        </p:txBody>
      </p:sp>
      <p:cxnSp>
        <p:nvCxnSpPr>
          <p:cNvPr id="64" name="Connector 63"/>
          <p:cNvCxnSpPr/>
          <p:nvPr/>
        </p:nvCxnSpPr>
        <p:spPr>
          <a:xfrm>
            <a:off x="4087368" y="2711697"/>
            <a:ext cx="313944" cy="119977"/>
          </a:xfrm>
          <a:prstGeom prst="line">
            <a:avLst/>
          </a:prstGeom>
          <a:ln w="15875">
            <a:solidFill>
              <a:srgbClr val="6B7780"/>
            </a:solidFill>
            <a:prstDash val="dash"/>
          </a:ln>
        </p:spPr>
      </p:cxnSp>
      <p:cxnSp>
        <p:nvCxnSpPr>
          <p:cNvPr id="65" name="Connector 64"/>
          <p:cNvCxnSpPr/>
          <p:nvPr/>
        </p:nvCxnSpPr>
        <p:spPr>
          <a:xfrm>
            <a:off x="4401312" y="2831674"/>
            <a:ext cx="313944" cy="92434"/>
          </a:xfrm>
          <a:prstGeom prst="line">
            <a:avLst/>
          </a:prstGeom>
          <a:ln w="15875">
            <a:solidFill>
              <a:srgbClr val="6B7780"/>
            </a:solidFill>
            <a:prstDash val="dash"/>
          </a:ln>
        </p:spPr>
      </p:cxnSp>
      <p:cxnSp>
        <p:nvCxnSpPr>
          <p:cNvPr id="66" name="Connector 65"/>
          <p:cNvCxnSpPr/>
          <p:nvPr/>
        </p:nvCxnSpPr>
        <p:spPr>
          <a:xfrm>
            <a:off x="4715256" y="2924108"/>
            <a:ext cx="313944" cy="193412"/>
          </a:xfrm>
          <a:prstGeom prst="line">
            <a:avLst/>
          </a:prstGeom>
          <a:ln w="15875">
            <a:solidFill>
              <a:srgbClr val="6B7780"/>
            </a:solidFill>
            <a:prstDash val="dash"/>
          </a:ln>
        </p:spPr>
      </p:cxnSp>
      <p:cxnSp>
        <p:nvCxnSpPr>
          <p:cNvPr id="67" name="Connector 66"/>
          <p:cNvCxnSpPr/>
          <p:nvPr/>
        </p:nvCxnSpPr>
        <p:spPr>
          <a:xfrm>
            <a:off x="5029200" y="3117520"/>
            <a:ext cx="313944" cy="229037"/>
          </a:xfrm>
          <a:prstGeom prst="line">
            <a:avLst/>
          </a:prstGeom>
          <a:ln w="15875">
            <a:solidFill>
              <a:srgbClr val="6B7780"/>
            </a:solidFill>
            <a:prstDash val="dash"/>
          </a:ln>
        </p:spPr>
      </p:cxnSp>
      <p:cxnSp>
        <p:nvCxnSpPr>
          <p:cNvPr id="68" name="Connector 67"/>
          <p:cNvCxnSpPr/>
          <p:nvPr/>
        </p:nvCxnSpPr>
        <p:spPr>
          <a:xfrm>
            <a:off x="5343144" y="3346557"/>
            <a:ext cx="313944" cy="331043"/>
          </a:xfrm>
          <a:prstGeom prst="line">
            <a:avLst/>
          </a:prstGeom>
          <a:ln w="15875">
            <a:solidFill>
              <a:srgbClr val="6B7780"/>
            </a:solidFill>
            <a:prstDash val="dash"/>
          </a:ln>
        </p:spPr>
      </p:cxnSp>
      <p:cxnSp>
        <p:nvCxnSpPr>
          <p:cNvPr id="69" name="Connector 68"/>
          <p:cNvCxnSpPr/>
          <p:nvPr/>
        </p:nvCxnSpPr>
        <p:spPr>
          <a:xfrm>
            <a:off x="5657088" y="3677600"/>
            <a:ext cx="313943" cy="176114"/>
          </a:xfrm>
          <a:prstGeom prst="line">
            <a:avLst/>
          </a:prstGeom>
          <a:ln w="15875">
            <a:solidFill>
              <a:srgbClr val="6B7780"/>
            </a:solidFill>
            <a:prstDash val="dash"/>
          </a:ln>
        </p:spPr>
      </p:cxnSp>
      <p:sp>
        <p:nvSpPr>
          <p:cNvPr id="70" name="Diamond 69"/>
          <p:cNvSpPr/>
          <p:nvPr/>
        </p:nvSpPr>
        <p:spPr>
          <a:xfrm>
            <a:off x="4032504" y="2656833"/>
            <a:ext cx="109728" cy="109728"/>
          </a:xfrm>
          <a:prstGeom prst="diamond">
            <a:avLst/>
          </a:prstGeom>
          <a:solidFill>
            <a:srgbClr val="FFFFFF"/>
          </a:solidFill>
          <a:ln w="15875">
            <a:solidFill>
              <a:srgbClr val="6B7780"/>
            </a:solidFill>
          </a:ln>
        </p:spPr>
        <p:txBody>
          <a:bodyPr rtlCol="0" anchor="ctr"/>
          <a:lstStyle/>
          <a:p>
            <a:pPr algn="ctr"/>
          </a:p>
        </p:txBody>
      </p:sp>
      <p:sp>
        <p:nvSpPr>
          <p:cNvPr id="71" name="Diamond 70"/>
          <p:cNvSpPr/>
          <p:nvPr/>
        </p:nvSpPr>
        <p:spPr>
          <a:xfrm>
            <a:off x="4346448" y="2776810"/>
            <a:ext cx="109728" cy="109728"/>
          </a:xfrm>
          <a:prstGeom prst="diamond">
            <a:avLst/>
          </a:prstGeom>
          <a:solidFill>
            <a:srgbClr val="FFFFFF"/>
          </a:solidFill>
          <a:ln w="15875">
            <a:solidFill>
              <a:srgbClr val="6B7780"/>
            </a:solidFill>
          </a:ln>
        </p:spPr>
        <p:txBody>
          <a:bodyPr rtlCol="0" anchor="ctr"/>
          <a:lstStyle/>
          <a:p>
            <a:pPr algn="ctr"/>
          </a:p>
        </p:txBody>
      </p:sp>
      <p:sp>
        <p:nvSpPr>
          <p:cNvPr id="72" name="Diamond 71"/>
          <p:cNvSpPr/>
          <p:nvPr/>
        </p:nvSpPr>
        <p:spPr>
          <a:xfrm>
            <a:off x="4660392" y="2869244"/>
            <a:ext cx="109728" cy="109728"/>
          </a:xfrm>
          <a:prstGeom prst="diamond">
            <a:avLst/>
          </a:prstGeom>
          <a:solidFill>
            <a:srgbClr val="FFFFFF"/>
          </a:solidFill>
          <a:ln w="15875">
            <a:solidFill>
              <a:srgbClr val="6B7780"/>
            </a:solidFill>
          </a:ln>
        </p:spPr>
        <p:txBody>
          <a:bodyPr rtlCol="0" anchor="ctr"/>
          <a:lstStyle/>
          <a:p>
            <a:pPr algn="ctr"/>
          </a:p>
        </p:txBody>
      </p:sp>
      <p:sp>
        <p:nvSpPr>
          <p:cNvPr id="73" name="Diamond 72"/>
          <p:cNvSpPr/>
          <p:nvPr/>
        </p:nvSpPr>
        <p:spPr>
          <a:xfrm>
            <a:off x="4974336" y="3062656"/>
            <a:ext cx="109728" cy="109728"/>
          </a:xfrm>
          <a:prstGeom prst="diamond">
            <a:avLst/>
          </a:prstGeom>
          <a:solidFill>
            <a:srgbClr val="FFFFFF"/>
          </a:solidFill>
          <a:ln w="15875">
            <a:solidFill>
              <a:srgbClr val="6B7780"/>
            </a:solidFill>
          </a:ln>
        </p:spPr>
        <p:txBody>
          <a:bodyPr rtlCol="0" anchor="ctr"/>
          <a:lstStyle/>
          <a:p>
            <a:pPr algn="ctr"/>
          </a:p>
        </p:txBody>
      </p:sp>
      <p:sp>
        <p:nvSpPr>
          <p:cNvPr id="74" name="Diamond 73"/>
          <p:cNvSpPr/>
          <p:nvPr/>
        </p:nvSpPr>
        <p:spPr>
          <a:xfrm>
            <a:off x="5288280" y="3291693"/>
            <a:ext cx="109728" cy="109728"/>
          </a:xfrm>
          <a:prstGeom prst="diamond">
            <a:avLst/>
          </a:prstGeom>
          <a:solidFill>
            <a:srgbClr val="FFFFFF"/>
          </a:solidFill>
          <a:ln w="15875">
            <a:solidFill>
              <a:srgbClr val="6B7780"/>
            </a:solidFill>
          </a:ln>
        </p:spPr>
        <p:txBody>
          <a:bodyPr rtlCol="0" anchor="ctr"/>
          <a:lstStyle/>
          <a:p>
            <a:pPr algn="ctr"/>
          </a:p>
        </p:txBody>
      </p:sp>
      <p:sp>
        <p:nvSpPr>
          <p:cNvPr id="75" name="Diamond 74"/>
          <p:cNvSpPr/>
          <p:nvPr/>
        </p:nvSpPr>
        <p:spPr>
          <a:xfrm>
            <a:off x="5602224" y="3622736"/>
            <a:ext cx="109728" cy="109728"/>
          </a:xfrm>
          <a:prstGeom prst="diamond">
            <a:avLst/>
          </a:prstGeom>
          <a:solidFill>
            <a:srgbClr val="FFFFFF"/>
          </a:solidFill>
          <a:ln w="15875">
            <a:solidFill>
              <a:srgbClr val="6B7780"/>
            </a:solidFill>
          </a:ln>
        </p:spPr>
        <p:txBody>
          <a:bodyPr rtlCol="0" anchor="ctr"/>
          <a:lstStyle/>
          <a:p>
            <a:pPr algn="ctr"/>
          </a:p>
        </p:txBody>
      </p:sp>
      <p:sp>
        <p:nvSpPr>
          <p:cNvPr id="76" name="Diamond 75"/>
          <p:cNvSpPr/>
          <p:nvPr/>
        </p:nvSpPr>
        <p:spPr>
          <a:xfrm>
            <a:off x="5916168" y="3798850"/>
            <a:ext cx="109728" cy="109728"/>
          </a:xfrm>
          <a:prstGeom prst="diamond">
            <a:avLst/>
          </a:prstGeom>
          <a:solidFill>
            <a:srgbClr val="FFFFFF"/>
          </a:solidFill>
          <a:ln w="15875">
            <a:solidFill>
              <a:srgbClr val="6B7780"/>
            </a:solidFill>
          </a:ln>
        </p:spPr>
        <p:txBody>
          <a:bodyPr rtlCol="0" anchor="ctr"/>
          <a:lstStyle/>
          <a:p>
            <a:pPr algn="ctr"/>
          </a:p>
        </p:txBody>
      </p:sp>
      <p:cxnSp>
        <p:nvCxnSpPr>
          <p:cNvPr id="77" name="Connector 76"/>
          <p:cNvCxnSpPr/>
          <p:nvPr/>
        </p:nvCxnSpPr>
        <p:spPr>
          <a:xfrm>
            <a:off x="4087368" y="3275889"/>
            <a:ext cx="313944" cy="147486"/>
          </a:xfrm>
          <a:prstGeom prst="line">
            <a:avLst/>
          </a:prstGeom>
          <a:ln w="19050">
            <a:solidFill>
              <a:srgbClr val="1C6402"/>
            </a:solidFill>
          </a:ln>
        </p:spPr>
      </p:cxnSp>
      <p:cxnSp>
        <p:nvCxnSpPr>
          <p:cNvPr id="78" name="Connector 77"/>
          <p:cNvCxnSpPr/>
          <p:nvPr/>
        </p:nvCxnSpPr>
        <p:spPr>
          <a:xfrm>
            <a:off x="4401312" y="3423375"/>
            <a:ext cx="313944" cy="67050"/>
          </a:xfrm>
          <a:prstGeom prst="line">
            <a:avLst/>
          </a:prstGeom>
          <a:ln w="19050">
            <a:solidFill>
              <a:srgbClr val="1C6402"/>
            </a:solidFill>
          </a:ln>
        </p:spPr>
      </p:cxnSp>
      <p:cxnSp>
        <p:nvCxnSpPr>
          <p:cNvPr id="79" name="Connector 78"/>
          <p:cNvCxnSpPr/>
          <p:nvPr/>
        </p:nvCxnSpPr>
        <p:spPr>
          <a:xfrm>
            <a:off x="4715256" y="3490425"/>
            <a:ext cx="313944" cy="186936"/>
          </a:xfrm>
          <a:prstGeom prst="line">
            <a:avLst/>
          </a:prstGeom>
          <a:ln w="19050">
            <a:solidFill>
              <a:srgbClr val="1C6402"/>
            </a:solidFill>
          </a:ln>
        </p:spPr>
      </p:cxnSp>
      <p:cxnSp>
        <p:nvCxnSpPr>
          <p:cNvPr id="80" name="Connector 79"/>
          <p:cNvCxnSpPr/>
          <p:nvPr/>
        </p:nvCxnSpPr>
        <p:spPr>
          <a:xfrm>
            <a:off x="5029200" y="3677361"/>
            <a:ext cx="313944" cy="242571"/>
          </a:xfrm>
          <a:prstGeom prst="line">
            <a:avLst/>
          </a:prstGeom>
          <a:ln w="19050">
            <a:solidFill>
              <a:srgbClr val="1C6402"/>
            </a:solidFill>
          </a:ln>
        </p:spPr>
      </p:cxnSp>
      <p:cxnSp>
        <p:nvCxnSpPr>
          <p:cNvPr id="81" name="Connector 80"/>
          <p:cNvCxnSpPr/>
          <p:nvPr/>
        </p:nvCxnSpPr>
        <p:spPr>
          <a:xfrm>
            <a:off x="5343144" y="3919932"/>
            <a:ext cx="313944" cy="287573"/>
          </a:xfrm>
          <a:prstGeom prst="line">
            <a:avLst/>
          </a:prstGeom>
          <a:ln w="19050">
            <a:solidFill>
              <a:srgbClr val="1C6402"/>
            </a:solidFill>
          </a:ln>
        </p:spPr>
      </p:cxnSp>
      <p:cxnSp>
        <p:nvCxnSpPr>
          <p:cNvPr id="82" name="Connector 81"/>
          <p:cNvCxnSpPr/>
          <p:nvPr/>
        </p:nvCxnSpPr>
        <p:spPr>
          <a:xfrm>
            <a:off x="5657088" y="4207505"/>
            <a:ext cx="313943" cy="166424"/>
          </a:xfrm>
          <a:prstGeom prst="line">
            <a:avLst/>
          </a:prstGeom>
          <a:ln w="19050">
            <a:solidFill>
              <a:srgbClr val="1C6402"/>
            </a:solidFill>
          </a:ln>
        </p:spPr>
      </p:cxnSp>
      <p:cxnSp>
        <p:nvCxnSpPr>
          <p:cNvPr id="83" name="Connector 82"/>
          <p:cNvCxnSpPr/>
          <p:nvPr/>
        </p:nvCxnSpPr>
        <p:spPr>
          <a:xfrm flipV="1">
            <a:off x="4087368" y="3263914"/>
            <a:ext cx="0" cy="23939"/>
          </a:xfrm>
          <a:prstGeom prst="line">
            <a:avLst/>
          </a:prstGeom>
          <a:ln w="15875">
            <a:solidFill>
              <a:srgbClr val="1C6402"/>
            </a:solidFill>
          </a:ln>
        </p:spPr>
      </p:cxnSp>
      <p:sp>
        <p:nvSpPr>
          <p:cNvPr id="84" name="Isosceles Triangle 83"/>
          <p:cNvSpPr/>
          <p:nvPr/>
        </p:nvSpPr>
        <p:spPr>
          <a:xfrm>
            <a:off x="4009644" y="3198165"/>
            <a:ext cx="155448" cy="155448"/>
          </a:xfrm>
          <a:prstGeom prst="triangle">
            <a:avLst/>
          </a:prstGeom>
          <a:solidFill>
            <a:srgbClr val="1C6402"/>
          </a:solidFill>
          <a:ln w="12700">
            <a:solidFill>
              <a:srgbClr val="1C6402"/>
            </a:solidFill>
          </a:ln>
        </p:spPr>
        <p:txBody>
          <a:bodyPr rtlCol="0" anchor="ctr"/>
          <a:lstStyle/>
          <a:p>
            <a:pPr algn="ctr"/>
          </a:p>
        </p:txBody>
      </p:sp>
      <p:sp>
        <p:nvSpPr>
          <p:cNvPr id="85" name="TextBox 84"/>
          <p:cNvSpPr txBox="1"/>
          <p:nvPr/>
        </p:nvSpPr>
        <p:spPr>
          <a:xfrm>
            <a:off x="3959352" y="4554249"/>
            <a:ext cx="2194560" cy="256032"/>
          </a:xfrm>
          <a:prstGeom prst="rect">
            <a:avLst/>
          </a:prstGeom>
          <a:noFill/>
        </p:spPr>
        <p:txBody>
          <a:bodyPr wrap="square" lIns="0" tIns="0" rIns="0" bIns="0" anchor="t"/>
          <a:lstStyle/>
          <a:p>
            <a:pPr algn="l"/>
            <a:r>
              <a:rPr sz="1300" b="1" i="0">
                <a:solidFill>
                  <a:srgbClr val="1C6402"/>
                </a:solidFill>
                <a:latin typeface="Arial"/>
                <a:ea typeface="Arial"/>
                <a:cs typeface="Arial"/>
              </a:rPr>
              <a:t>primary 1.046 at c = 1</a:t>
            </a:r>
          </a:p>
        </p:txBody>
      </p:sp>
      <p:sp>
        <p:nvSpPr>
          <p:cNvPr id="86" name="TextBox 85"/>
          <p:cNvSpPr txBox="1"/>
          <p:nvPr/>
        </p:nvSpPr>
        <p:spPr>
          <a:xfrm>
            <a:off x="3858768"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a:t>
            </a:r>
          </a:p>
        </p:txBody>
      </p:sp>
      <p:cxnSp>
        <p:nvCxnSpPr>
          <p:cNvPr id="87" name="Connector 86"/>
          <p:cNvCxnSpPr/>
          <p:nvPr/>
        </p:nvCxnSpPr>
        <p:spPr>
          <a:xfrm flipV="1">
            <a:off x="4401312" y="3341016"/>
            <a:ext cx="0" cy="164252"/>
          </a:xfrm>
          <a:prstGeom prst="line">
            <a:avLst/>
          </a:prstGeom>
          <a:ln w="15875">
            <a:solidFill>
              <a:srgbClr val="1C6402"/>
            </a:solidFill>
          </a:ln>
        </p:spPr>
      </p:cxnSp>
      <p:sp>
        <p:nvSpPr>
          <p:cNvPr id="88" name="Isosceles Triangle 87"/>
          <p:cNvSpPr/>
          <p:nvPr/>
        </p:nvSpPr>
        <p:spPr>
          <a:xfrm>
            <a:off x="4341876" y="3363939"/>
            <a:ext cx="118872" cy="118872"/>
          </a:xfrm>
          <a:prstGeom prst="triangle">
            <a:avLst/>
          </a:prstGeom>
          <a:solidFill>
            <a:srgbClr val="1C6402"/>
          </a:solidFill>
          <a:ln w="12700">
            <a:solidFill>
              <a:srgbClr val="1C6402"/>
            </a:solidFill>
          </a:ln>
        </p:spPr>
        <p:txBody>
          <a:bodyPr rtlCol="0" anchor="ctr"/>
          <a:lstStyle/>
          <a:p>
            <a:pPr algn="ctr"/>
          </a:p>
        </p:txBody>
      </p:sp>
      <p:sp>
        <p:nvSpPr>
          <p:cNvPr id="89" name="TextBox 88"/>
          <p:cNvSpPr txBox="1"/>
          <p:nvPr/>
        </p:nvSpPr>
        <p:spPr>
          <a:xfrm>
            <a:off x="417271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2</a:t>
            </a:r>
          </a:p>
        </p:txBody>
      </p:sp>
      <p:cxnSp>
        <p:nvCxnSpPr>
          <p:cNvPr id="90" name="Connector 89"/>
          <p:cNvCxnSpPr/>
          <p:nvPr/>
        </p:nvCxnSpPr>
        <p:spPr>
          <a:xfrm flipV="1">
            <a:off x="4715256" y="3401495"/>
            <a:ext cx="0" cy="177316"/>
          </a:xfrm>
          <a:prstGeom prst="line">
            <a:avLst/>
          </a:prstGeom>
          <a:ln w="15875">
            <a:solidFill>
              <a:srgbClr val="1C6402"/>
            </a:solidFill>
          </a:ln>
        </p:spPr>
      </p:cxnSp>
      <p:sp>
        <p:nvSpPr>
          <p:cNvPr id="91" name="Isosceles Triangle 90"/>
          <p:cNvSpPr/>
          <p:nvPr/>
        </p:nvSpPr>
        <p:spPr>
          <a:xfrm>
            <a:off x="4655819" y="3430989"/>
            <a:ext cx="118872" cy="118872"/>
          </a:xfrm>
          <a:prstGeom prst="triangle">
            <a:avLst/>
          </a:prstGeom>
          <a:solidFill>
            <a:srgbClr val="1C6402"/>
          </a:solidFill>
          <a:ln w="12700">
            <a:solidFill>
              <a:srgbClr val="1C6402"/>
            </a:solidFill>
          </a:ln>
        </p:spPr>
        <p:txBody>
          <a:bodyPr rtlCol="0" anchor="ctr"/>
          <a:lstStyle/>
          <a:p>
            <a:pPr algn="ctr"/>
          </a:p>
        </p:txBody>
      </p:sp>
      <p:sp>
        <p:nvSpPr>
          <p:cNvPr id="92" name="TextBox 91"/>
          <p:cNvSpPr txBox="1"/>
          <p:nvPr/>
        </p:nvSpPr>
        <p:spPr>
          <a:xfrm>
            <a:off x="4486656"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cxnSp>
        <p:nvCxnSpPr>
          <p:cNvPr id="93" name="Connector 92"/>
          <p:cNvCxnSpPr/>
          <p:nvPr/>
        </p:nvCxnSpPr>
        <p:spPr>
          <a:xfrm flipV="1">
            <a:off x="5029200" y="3497468"/>
            <a:ext cx="0" cy="357538"/>
          </a:xfrm>
          <a:prstGeom prst="line">
            <a:avLst/>
          </a:prstGeom>
          <a:ln w="15875">
            <a:solidFill>
              <a:srgbClr val="1C6402"/>
            </a:solidFill>
          </a:ln>
        </p:spPr>
      </p:cxnSp>
      <p:sp>
        <p:nvSpPr>
          <p:cNvPr id="94" name="Isosceles Triangle 93"/>
          <p:cNvSpPr/>
          <p:nvPr/>
        </p:nvSpPr>
        <p:spPr>
          <a:xfrm>
            <a:off x="4969764" y="3617925"/>
            <a:ext cx="118872" cy="118872"/>
          </a:xfrm>
          <a:prstGeom prst="triangle">
            <a:avLst/>
          </a:prstGeom>
          <a:solidFill>
            <a:srgbClr val="1C6402"/>
          </a:solidFill>
          <a:ln w="12700">
            <a:solidFill>
              <a:srgbClr val="1C6402"/>
            </a:solidFill>
          </a:ln>
        </p:spPr>
        <p:txBody>
          <a:bodyPr rtlCol="0" anchor="ctr"/>
          <a:lstStyle/>
          <a:p>
            <a:pPr algn="ctr"/>
          </a:p>
        </p:txBody>
      </p:sp>
      <p:sp>
        <p:nvSpPr>
          <p:cNvPr id="95" name="TextBox 94"/>
          <p:cNvSpPr txBox="1"/>
          <p:nvPr/>
        </p:nvSpPr>
        <p:spPr>
          <a:xfrm>
            <a:off x="4800600"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8</a:t>
            </a:r>
          </a:p>
        </p:txBody>
      </p:sp>
      <p:cxnSp>
        <p:nvCxnSpPr>
          <p:cNvPr id="96" name="Connector 95"/>
          <p:cNvCxnSpPr/>
          <p:nvPr/>
        </p:nvCxnSpPr>
        <p:spPr>
          <a:xfrm flipV="1">
            <a:off x="5343144" y="3643180"/>
            <a:ext cx="0" cy="548130"/>
          </a:xfrm>
          <a:prstGeom prst="line">
            <a:avLst/>
          </a:prstGeom>
          <a:ln w="15875">
            <a:solidFill>
              <a:srgbClr val="1C6402"/>
            </a:solidFill>
          </a:ln>
        </p:spPr>
      </p:cxnSp>
      <p:sp>
        <p:nvSpPr>
          <p:cNvPr id="97" name="Isosceles Triangle 96"/>
          <p:cNvSpPr/>
          <p:nvPr/>
        </p:nvSpPr>
        <p:spPr>
          <a:xfrm>
            <a:off x="5283707" y="3860496"/>
            <a:ext cx="118872" cy="118872"/>
          </a:xfrm>
          <a:prstGeom prst="triangle">
            <a:avLst/>
          </a:prstGeom>
          <a:solidFill>
            <a:srgbClr val="FFFFFF"/>
          </a:solidFill>
          <a:ln w="15875">
            <a:solidFill>
              <a:srgbClr val="1C6402"/>
            </a:solidFill>
          </a:ln>
        </p:spPr>
        <p:txBody>
          <a:bodyPr rtlCol="0" anchor="ctr"/>
          <a:lstStyle/>
          <a:p>
            <a:pPr algn="ctr"/>
          </a:p>
        </p:txBody>
      </p:sp>
      <p:sp>
        <p:nvSpPr>
          <p:cNvPr id="98" name="TextBox 97"/>
          <p:cNvSpPr txBox="1"/>
          <p:nvPr/>
        </p:nvSpPr>
        <p:spPr>
          <a:xfrm>
            <a:off x="5114544"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16</a:t>
            </a:r>
          </a:p>
        </p:txBody>
      </p:sp>
      <p:cxnSp>
        <p:nvCxnSpPr>
          <p:cNvPr id="99" name="Connector 98"/>
          <p:cNvCxnSpPr/>
          <p:nvPr/>
        </p:nvCxnSpPr>
        <p:spPr>
          <a:xfrm flipV="1">
            <a:off x="5657088" y="3619168"/>
            <a:ext cx="0" cy="1152433"/>
          </a:xfrm>
          <a:prstGeom prst="line">
            <a:avLst/>
          </a:prstGeom>
          <a:ln w="15875">
            <a:solidFill>
              <a:srgbClr val="1C6402"/>
            </a:solidFill>
          </a:ln>
        </p:spPr>
      </p:cxnSp>
      <p:sp>
        <p:nvSpPr>
          <p:cNvPr id="100" name="Isosceles Triangle 99"/>
          <p:cNvSpPr/>
          <p:nvPr/>
        </p:nvSpPr>
        <p:spPr>
          <a:xfrm>
            <a:off x="5597651" y="4148069"/>
            <a:ext cx="118872" cy="118872"/>
          </a:xfrm>
          <a:prstGeom prst="triangle">
            <a:avLst/>
          </a:prstGeom>
          <a:solidFill>
            <a:srgbClr val="FFFFFF"/>
          </a:solidFill>
          <a:ln w="15875">
            <a:solidFill>
              <a:srgbClr val="1C6402"/>
            </a:solidFill>
          </a:ln>
        </p:spPr>
        <p:txBody>
          <a:bodyPr rtlCol="0" anchor="ctr"/>
          <a:lstStyle/>
          <a:p>
            <a:pPr algn="ctr"/>
          </a:p>
        </p:txBody>
      </p:sp>
      <p:sp>
        <p:nvSpPr>
          <p:cNvPr id="101" name="TextBox 100"/>
          <p:cNvSpPr txBox="1"/>
          <p:nvPr/>
        </p:nvSpPr>
        <p:spPr>
          <a:xfrm>
            <a:off x="5428488"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32</a:t>
            </a:r>
          </a:p>
        </p:txBody>
      </p:sp>
      <p:cxnSp>
        <p:nvCxnSpPr>
          <p:cNvPr id="102" name="Connector 101"/>
          <p:cNvCxnSpPr/>
          <p:nvPr/>
        </p:nvCxnSpPr>
        <p:spPr>
          <a:xfrm flipV="1">
            <a:off x="5971031" y="4113622"/>
            <a:ext cx="0" cy="515699"/>
          </a:xfrm>
          <a:prstGeom prst="line">
            <a:avLst/>
          </a:prstGeom>
          <a:ln w="15875">
            <a:solidFill>
              <a:srgbClr val="1C6402"/>
            </a:solidFill>
          </a:ln>
        </p:spPr>
      </p:cxnSp>
      <p:sp>
        <p:nvSpPr>
          <p:cNvPr id="103" name="Isosceles Triangle 102"/>
          <p:cNvSpPr/>
          <p:nvPr/>
        </p:nvSpPr>
        <p:spPr>
          <a:xfrm>
            <a:off x="5911595" y="4314493"/>
            <a:ext cx="118872" cy="118872"/>
          </a:xfrm>
          <a:prstGeom prst="triangle">
            <a:avLst/>
          </a:prstGeom>
          <a:solidFill>
            <a:srgbClr val="1C6402"/>
          </a:solidFill>
          <a:ln w="12700">
            <a:solidFill>
              <a:srgbClr val="1C6402"/>
            </a:solidFill>
          </a:ln>
        </p:spPr>
        <p:txBody>
          <a:bodyPr rtlCol="0" anchor="ctr"/>
          <a:lstStyle/>
          <a:p>
            <a:pPr algn="ctr"/>
          </a:p>
        </p:txBody>
      </p:sp>
      <p:sp>
        <p:nvSpPr>
          <p:cNvPr id="104" name="TextBox 103"/>
          <p:cNvSpPr txBox="1"/>
          <p:nvPr/>
        </p:nvSpPr>
        <p:spPr>
          <a:xfrm>
            <a:off x="5742431"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64</a:t>
            </a:r>
          </a:p>
        </p:txBody>
      </p:sp>
      <p:cxnSp>
        <p:nvCxnSpPr>
          <p:cNvPr id="105" name="Connector 104"/>
          <p:cNvCxnSpPr/>
          <p:nvPr/>
        </p:nvCxnSpPr>
        <p:spPr>
          <a:xfrm>
            <a:off x="3886200" y="4892040"/>
            <a:ext cx="2286000" cy="0"/>
          </a:xfrm>
          <a:prstGeom prst="line">
            <a:avLst/>
          </a:prstGeom>
          <a:ln w="9525">
            <a:solidFill>
              <a:srgbClr val="6B7780"/>
            </a:solidFill>
          </a:ln>
        </p:spPr>
      </p:cxnSp>
      <p:sp>
        <p:nvSpPr>
          <p:cNvPr id="106" name="Rectangle 105"/>
          <p:cNvSpPr/>
          <p:nvPr/>
        </p:nvSpPr>
        <p:spPr>
          <a:xfrm>
            <a:off x="8308847" y="2514600"/>
            <a:ext cx="515112" cy="2377439"/>
          </a:xfrm>
          <a:prstGeom prst="rect">
            <a:avLst/>
          </a:prstGeom>
          <a:solidFill>
            <a:srgbClr val="F1F3F5"/>
          </a:solidFill>
          <a:ln>
            <a:noFill/>
          </a:ln>
        </p:spPr>
        <p:txBody>
          <a:bodyPr rtlCol="0" anchor="ctr"/>
          <a:lstStyle/>
          <a:p>
            <a:pPr algn="ctr"/>
          </a:p>
        </p:txBody>
      </p:sp>
      <p:cxnSp>
        <p:nvCxnSpPr>
          <p:cNvPr id="107" name="Connector 106"/>
          <p:cNvCxnSpPr/>
          <p:nvPr/>
        </p:nvCxnSpPr>
        <p:spPr>
          <a:xfrm>
            <a:off x="6537960" y="4612341"/>
            <a:ext cx="2286000" cy="0"/>
          </a:xfrm>
          <a:prstGeom prst="line">
            <a:avLst/>
          </a:prstGeom>
          <a:ln w="9525">
            <a:solidFill>
              <a:srgbClr val="D2DCDF"/>
            </a:solidFill>
          </a:ln>
        </p:spPr>
      </p:cxnSp>
      <p:cxnSp>
        <p:nvCxnSpPr>
          <p:cNvPr id="108" name="Connector 107"/>
          <p:cNvCxnSpPr/>
          <p:nvPr/>
        </p:nvCxnSpPr>
        <p:spPr>
          <a:xfrm>
            <a:off x="6537960" y="3913094"/>
            <a:ext cx="2286000" cy="0"/>
          </a:xfrm>
          <a:prstGeom prst="line">
            <a:avLst/>
          </a:prstGeom>
          <a:ln w="12700">
            <a:solidFill>
              <a:srgbClr val="1B3A57"/>
            </a:solidFill>
            <a:prstDash val="dash"/>
          </a:ln>
        </p:spPr>
      </p:cxnSp>
      <p:cxnSp>
        <p:nvCxnSpPr>
          <p:cNvPr id="109" name="Connector 108"/>
          <p:cNvCxnSpPr/>
          <p:nvPr/>
        </p:nvCxnSpPr>
        <p:spPr>
          <a:xfrm>
            <a:off x="6537960" y="3213847"/>
            <a:ext cx="2286000" cy="0"/>
          </a:xfrm>
          <a:prstGeom prst="line">
            <a:avLst/>
          </a:prstGeom>
          <a:ln w="9525">
            <a:solidFill>
              <a:srgbClr val="D2DCDF"/>
            </a:solidFill>
          </a:ln>
        </p:spPr>
      </p:cxnSp>
      <p:cxnSp>
        <p:nvCxnSpPr>
          <p:cNvPr id="110" name="Connector 109"/>
          <p:cNvCxnSpPr/>
          <p:nvPr/>
        </p:nvCxnSpPr>
        <p:spPr>
          <a:xfrm>
            <a:off x="6537960" y="2514600"/>
            <a:ext cx="2286000" cy="0"/>
          </a:xfrm>
          <a:prstGeom prst="line">
            <a:avLst/>
          </a:prstGeom>
          <a:ln w="9525">
            <a:solidFill>
              <a:srgbClr val="D2DCDF"/>
            </a:solidFill>
          </a:ln>
        </p:spPr>
      </p:cxnSp>
      <p:sp>
        <p:nvSpPr>
          <p:cNvPr id="111" name="TextBox 110"/>
          <p:cNvSpPr txBox="1"/>
          <p:nvPr/>
        </p:nvSpPr>
        <p:spPr>
          <a:xfrm>
            <a:off x="6537960" y="2084831"/>
            <a:ext cx="2286000" cy="329184"/>
          </a:xfrm>
          <a:prstGeom prst="rect">
            <a:avLst/>
          </a:prstGeom>
          <a:noFill/>
        </p:spPr>
        <p:txBody>
          <a:bodyPr wrap="square" lIns="0" tIns="0" rIns="0" bIns="0" anchor="t"/>
          <a:lstStyle/>
          <a:p>
            <a:pPr algn="ctr"/>
            <a:r>
              <a:rPr sz="1600" b="1" i="0">
                <a:solidFill>
                  <a:srgbClr val="CC79A7"/>
                </a:solidFill>
                <a:latin typeface="Arial"/>
                <a:ea typeface="Arial"/>
                <a:cs typeface="Arial"/>
              </a:rPr>
              <a:t>DFlash, 16-token</a:t>
            </a:r>
          </a:p>
        </p:txBody>
      </p:sp>
      <p:cxnSp>
        <p:nvCxnSpPr>
          <p:cNvPr id="112" name="Connector 111"/>
          <p:cNvCxnSpPr/>
          <p:nvPr/>
        </p:nvCxnSpPr>
        <p:spPr>
          <a:xfrm>
            <a:off x="6739128" y="3289494"/>
            <a:ext cx="627888" cy="258737"/>
          </a:xfrm>
          <a:prstGeom prst="line">
            <a:avLst/>
          </a:prstGeom>
          <a:ln w="15875">
            <a:solidFill>
              <a:srgbClr val="6B7780"/>
            </a:solidFill>
            <a:prstDash val="dash"/>
          </a:ln>
        </p:spPr>
      </p:cxnSp>
      <p:cxnSp>
        <p:nvCxnSpPr>
          <p:cNvPr id="113" name="Connector 112"/>
          <p:cNvCxnSpPr/>
          <p:nvPr/>
        </p:nvCxnSpPr>
        <p:spPr>
          <a:xfrm>
            <a:off x="7367016" y="3548231"/>
            <a:ext cx="627888" cy="243850"/>
          </a:xfrm>
          <a:prstGeom prst="line">
            <a:avLst/>
          </a:prstGeom>
          <a:ln w="15875">
            <a:solidFill>
              <a:srgbClr val="6B7780"/>
            </a:solidFill>
            <a:prstDash val="dash"/>
          </a:ln>
        </p:spPr>
      </p:cxnSp>
      <p:cxnSp>
        <p:nvCxnSpPr>
          <p:cNvPr id="114" name="Connector 113"/>
          <p:cNvCxnSpPr/>
          <p:nvPr/>
        </p:nvCxnSpPr>
        <p:spPr>
          <a:xfrm>
            <a:off x="7994904" y="3792081"/>
            <a:ext cx="627888" cy="121013"/>
          </a:xfrm>
          <a:prstGeom prst="line">
            <a:avLst/>
          </a:prstGeom>
          <a:ln w="15875">
            <a:solidFill>
              <a:srgbClr val="6B7780"/>
            </a:solidFill>
            <a:prstDash val="dash"/>
          </a:ln>
        </p:spPr>
      </p:cxnSp>
      <p:sp>
        <p:nvSpPr>
          <p:cNvPr id="115" name="Diamond 114"/>
          <p:cNvSpPr/>
          <p:nvPr/>
        </p:nvSpPr>
        <p:spPr>
          <a:xfrm>
            <a:off x="6684264" y="3234630"/>
            <a:ext cx="109728" cy="109728"/>
          </a:xfrm>
          <a:prstGeom prst="diamond">
            <a:avLst/>
          </a:prstGeom>
          <a:solidFill>
            <a:srgbClr val="FFFFFF"/>
          </a:solidFill>
          <a:ln w="15875">
            <a:solidFill>
              <a:srgbClr val="6B7780"/>
            </a:solidFill>
          </a:ln>
        </p:spPr>
        <p:txBody>
          <a:bodyPr rtlCol="0" anchor="ctr"/>
          <a:lstStyle/>
          <a:p>
            <a:pPr algn="ctr"/>
          </a:p>
        </p:txBody>
      </p:sp>
      <p:sp>
        <p:nvSpPr>
          <p:cNvPr id="116" name="Diamond 115"/>
          <p:cNvSpPr/>
          <p:nvPr/>
        </p:nvSpPr>
        <p:spPr>
          <a:xfrm>
            <a:off x="7312152" y="3493367"/>
            <a:ext cx="109728" cy="109728"/>
          </a:xfrm>
          <a:prstGeom prst="diamond">
            <a:avLst/>
          </a:prstGeom>
          <a:solidFill>
            <a:srgbClr val="FFFFFF"/>
          </a:solidFill>
          <a:ln w="15875">
            <a:solidFill>
              <a:srgbClr val="6B7780"/>
            </a:solidFill>
          </a:ln>
        </p:spPr>
        <p:txBody>
          <a:bodyPr rtlCol="0" anchor="ctr"/>
          <a:lstStyle/>
          <a:p>
            <a:pPr algn="ctr"/>
          </a:p>
        </p:txBody>
      </p:sp>
      <p:sp>
        <p:nvSpPr>
          <p:cNvPr id="117" name="Diamond 116"/>
          <p:cNvSpPr/>
          <p:nvPr/>
        </p:nvSpPr>
        <p:spPr>
          <a:xfrm>
            <a:off x="7940040" y="3737217"/>
            <a:ext cx="109728" cy="109728"/>
          </a:xfrm>
          <a:prstGeom prst="diamond">
            <a:avLst/>
          </a:prstGeom>
          <a:solidFill>
            <a:srgbClr val="FFFFFF"/>
          </a:solidFill>
          <a:ln w="15875">
            <a:solidFill>
              <a:srgbClr val="6B7780"/>
            </a:solidFill>
          </a:ln>
        </p:spPr>
        <p:txBody>
          <a:bodyPr rtlCol="0" anchor="ctr"/>
          <a:lstStyle/>
          <a:p>
            <a:pPr algn="ctr"/>
          </a:p>
        </p:txBody>
      </p:sp>
      <p:sp>
        <p:nvSpPr>
          <p:cNvPr id="118" name="Diamond 117"/>
          <p:cNvSpPr/>
          <p:nvPr/>
        </p:nvSpPr>
        <p:spPr>
          <a:xfrm>
            <a:off x="8567928" y="3858230"/>
            <a:ext cx="109728" cy="109728"/>
          </a:xfrm>
          <a:prstGeom prst="diamond">
            <a:avLst/>
          </a:prstGeom>
          <a:solidFill>
            <a:srgbClr val="FFFFFF"/>
          </a:solidFill>
          <a:ln w="15875">
            <a:solidFill>
              <a:srgbClr val="6B7780"/>
            </a:solidFill>
          </a:ln>
        </p:spPr>
        <p:txBody>
          <a:bodyPr rtlCol="0" anchor="ctr"/>
          <a:lstStyle/>
          <a:p>
            <a:pPr algn="ctr"/>
          </a:p>
        </p:txBody>
      </p:sp>
      <p:cxnSp>
        <p:nvCxnSpPr>
          <p:cNvPr id="119" name="Connector 118"/>
          <p:cNvCxnSpPr/>
          <p:nvPr/>
        </p:nvCxnSpPr>
        <p:spPr>
          <a:xfrm>
            <a:off x="6739128" y="3738259"/>
            <a:ext cx="627888" cy="313994"/>
          </a:xfrm>
          <a:prstGeom prst="line">
            <a:avLst/>
          </a:prstGeom>
          <a:ln w="19050">
            <a:solidFill>
              <a:srgbClr val="CC79A7"/>
            </a:solidFill>
          </a:ln>
        </p:spPr>
      </p:cxnSp>
      <p:cxnSp>
        <p:nvCxnSpPr>
          <p:cNvPr id="120" name="Connector 119"/>
          <p:cNvCxnSpPr/>
          <p:nvPr/>
        </p:nvCxnSpPr>
        <p:spPr>
          <a:xfrm>
            <a:off x="7367016" y="4052253"/>
            <a:ext cx="627888" cy="276796"/>
          </a:xfrm>
          <a:prstGeom prst="line">
            <a:avLst/>
          </a:prstGeom>
          <a:ln w="19050">
            <a:solidFill>
              <a:srgbClr val="CC79A7"/>
            </a:solidFill>
          </a:ln>
        </p:spPr>
      </p:cxnSp>
      <p:cxnSp>
        <p:nvCxnSpPr>
          <p:cNvPr id="121" name="Connector 120"/>
          <p:cNvCxnSpPr/>
          <p:nvPr/>
        </p:nvCxnSpPr>
        <p:spPr>
          <a:xfrm flipV="1">
            <a:off x="7994904" y="4078838"/>
            <a:ext cx="627888" cy="250211"/>
          </a:xfrm>
          <a:prstGeom prst="line">
            <a:avLst/>
          </a:prstGeom>
          <a:ln w="19050">
            <a:solidFill>
              <a:srgbClr val="CC79A7"/>
            </a:solidFill>
          </a:ln>
        </p:spPr>
      </p:cxnSp>
      <p:cxnSp>
        <p:nvCxnSpPr>
          <p:cNvPr id="122" name="Connector 121"/>
          <p:cNvCxnSpPr/>
          <p:nvPr/>
        </p:nvCxnSpPr>
        <p:spPr>
          <a:xfrm flipV="1">
            <a:off x="6739128" y="3665839"/>
            <a:ext cx="0" cy="144472"/>
          </a:xfrm>
          <a:prstGeom prst="line">
            <a:avLst/>
          </a:prstGeom>
          <a:ln w="15875">
            <a:solidFill>
              <a:srgbClr val="CC79A7"/>
            </a:solidFill>
          </a:ln>
        </p:spPr>
      </p:cxnSp>
      <p:sp>
        <p:nvSpPr>
          <p:cNvPr id="123" name="Diamond 122"/>
          <p:cNvSpPr/>
          <p:nvPr/>
        </p:nvSpPr>
        <p:spPr>
          <a:xfrm>
            <a:off x="6661404" y="3660535"/>
            <a:ext cx="155448" cy="155448"/>
          </a:xfrm>
          <a:prstGeom prst="diamond">
            <a:avLst/>
          </a:prstGeom>
          <a:solidFill>
            <a:srgbClr val="CC79A7"/>
          </a:solidFill>
          <a:ln w="12700">
            <a:solidFill>
              <a:srgbClr val="CC79A7"/>
            </a:solidFill>
          </a:ln>
        </p:spPr>
        <p:txBody>
          <a:bodyPr rtlCol="0" anchor="ctr"/>
          <a:lstStyle/>
          <a:p>
            <a:pPr algn="ctr"/>
          </a:p>
        </p:txBody>
      </p:sp>
      <p:sp>
        <p:nvSpPr>
          <p:cNvPr id="124" name="TextBox 123"/>
          <p:cNvSpPr txBox="1"/>
          <p:nvPr/>
        </p:nvSpPr>
        <p:spPr>
          <a:xfrm>
            <a:off x="6611112" y="4554249"/>
            <a:ext cx="2194560" cy="256032"/>
          </a:xfrm>
          <a:prstGeom prst="rect">
            <a:avLst/>
          </a:prstGeom>
          <a:noFill/>
        </p:spPr>
        <p:txBody>
          <a:bodyPr wrap="square" lIns="0" tIns="0" rIns="0" bIns="0" anchor="t"/>
          <a:lstStyle/>
          <a:p>
            <a:pPr algn="l"/>
            <a:r>
              <a:rPr sz="1300" b="1" i="0">
                <a:solidFill>
                  <a:srgbClr val="CC79A7"/>
                </a:solidFill>
                <a:latin typeface="Arial"/>
                <a:ea typeface="Arial"/>
                <a:cs typeface="Arial"/>
              </a:rPr>
              <a:t>primary 1.013 at c = 1</a:t>
            </a:r>
          </a:p>
        </p:txBody>
      </p:sp>
      <p:sp>
        <p:nvSpPr>
          <p:cNvPr id="125" name="TextBox 124"/>
          <p:cNvSpPr txBox="1"/>
          <p:nvPr/>
        </p:nvSpPr>
        <p:spPr>
          <a:xfrm>
            <a:off x="6510528"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a:t>
            </a:r>
          </a:p>
        </p:txBody>
      </p:sp>
      <p:cxnSp>
        <p:nvCxnSpPr>
          <p:cNvPr id="126" name="Connector 125"/>
          <p:cNvCxnSpPr/>
          <p:nvPr/>
        </p:nvCxnSpPr>
        <p:spPr>
          <a:xfrm flipV="1">
            <a:off x="7367016" y="3970553"/>
            <a:ext cx="0" cy="162920"/>
          </a:xfrm>
          <a:prstGeom prst="line">
            <a:avLst/>
          </a:prstGeom>
          <a:ln w="15875">
            <a:solidFill>
              <a:srgbClr val="CC79A7"/>
            </a:solidFill>
          </a:ln>
        </p:spPr>
      </p:cxnSp>
      <p:sp>
        <p:nvSpPr>
          <p:cNvPr id="127" name="Diamond 126"/>
          <p:cNvSpPr/>
          <p:nvPr/>
        </p:nvSpPr>
        <p:spPr>
          <a:xfrm>
            <a:off x="7307580" y="3992817"/>
            <a:ext cx="118872" cy="118872"/>
          </a:xfrm>
          <a:prstGeom prst="diamond">
            <a:avLst/>
          </a:prstGeom>
          <a:solidFill>
            <a:srgbClr val="CC79A7"/>
          </a:solidFill>
          <a:ln w="12700">
            <a:solidFill>
              <a:srgbClr val="CC79A7"/>
            </a:solidFill>
          </a:ln>
        </p:spPr>
        <p:txBody>
          <a:bodyPr rtlCol="0" anchor="ctr"/>
          <a:lstStyle/>
          <a:p>
            <a:pPr algn="ctr"/>
          </a:p>
        </p:txBody>
      </p:sp>
      <p:sp>
        <p:nvSpPr>
          <p:cNvPr id="128" name="TextBox 127"/>
          <p:cNvSpPr txBox="1"/>
          <p:nvPr/>
        </p:nvSpPr>
        <p:spPr>
          <a:xfrm>
            <a:off x="7138416"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2</a:t>
            </a:r>
          </a:p>
        </p:txBody>
      </p:sp>
      <p:cxnSp>
        <p:nvCxnSpPr>
          <p:cNvPr id="129" name="Connector 128"/>
          <p:cNvCxnSpPr/>
          <p:nvPr/>
        </p:nvCxnSpPr>
        <p:spPr>
          <a:xfrm flipV="1">
            <a:off x="7994904" y="4157023"/>
            <a:ext cx="0" cy="341899"/>
          </a:xfrm>
          <a:prstGeom prst="line">
            <a:avLst/>
          </a:prstGeom>
          <a:ln w="15875">
            <a:solidFill>
              <a:srgbClr val="CC79A7"/>
            </a:solidFill>
          </a:ln>
        </p:spPr>
      </p:cxnSp>
      <p:sp>
        <p:nvSpPr>
          <p:cNvPr id="130" name="Diamond 129"/>
          <p:cNvSpPr/>
          <p:nvPr/>
        </p:nvSpPr>
        <p:spPr>
          <a:xfrm>
            <a:off x="7935468" y="4269613"/>
            <a:ext cx="118872" cy="118872"/>
          </a:xfrm>
          <a:prstGeom prst="diamond">
            <a:avLst/>
          </a:prstGeom>
          <a:solidFill>
            <a:srgbClr val="CC79A7"/>
          </a:solidFill>
          <a:ln w="12700">
            <a:solidFill>
              <a:srgbClr val="CC79A7"/>
            </a:solidFill>
          </a:ln>
        </p:spPr>
        <p:txBody>
          <a:bodyPr rtlCol="0" anchor="ctr"/>
          <a:lstStyle/>
          <a:p>
            <a:pPr algn="ctr"/>
          </a:p>
        </p:txBody>
      </p:sp>
      <p:sp>
        <p:nvSpPr>
          <p:cNvPr id="131" name="TextBox 130"/>
          <p:cNvSpPr txBox="1"/>
          <p:nvPr/>
        </p:nvSpPr>
        <p:spPr>
          <a:xfrm>
            <a:off x="7766304"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cxnSp>
        <p:nvCxnSpPr>
          <p:cNvPr id="132" name="Connector 131"/>
          <p:cNvCxnSpPr/>
          <p:nvPr/>
        </p:nvCxnSpPr>
        <p:spPr>
          <a:xfrm flipV="1">
            <a:off x="8622792" y="3915544"/>
            <a:ext cx="0" cy="324681"/>
          </a:xfrm>
          <a:prstGeom prst="line">
            <a:avLst/>
          </a:prstGeom>
          <a:ln w="15875">
            <a:solidFill>
              <a:srgbClr val="CC79A7"/>
            </a:solidFill>
          </a:ln>
        </p:spPr>
      </p:cxnSp>
      <p:sp>
        <p:nvSpPr>
          <p:cNvPr id="133" name="Diamond 132"/>
          <p:cNvSpPr/>
          <p:nvPr/>
        </p:nvSpPr>
        <p:spPr>
          <a:xfrm>
            <a:off x="8563356" y="4019402"/>
            <a:ext cx="118872" cy="118872"/>
          </a:xfrm>
          <a:prstGeom prst="diamond">
            <a:avLst/>
          </a:prstGeom>
          <a:solidFill>
            <a:srgbClr val="CC79A7"/>
          </a:solidFill>
          <a:ln w="12700">
            <a:solidFill>
              <a:srgbClr val="CC79A7"/>
            </a:solidFill>
          </a:ln>
        </p:spPr>
        <p:txBody>
          <a:bodyPr rtlCol="0" anchor="ctr"/>
          <a:lstStyle/>
          <a:p>
            <a:pPr algn="ctr"/>
          </a:p>
        </p:txBody>
      </p:sp>
      <p:sp>
        <p:nvSpPr>
          <p:cNvPr id="134" name="TextBox 133"/>
          <p:cNvSpPr txBox="1"/>
          <p:nvPr/>
        </p:nvSpPr>
        <p:spPr>
          <a:xfrm>
            <a:off x="839419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8</a:t>
            </a:r>
          </a:p>
        </p:txBody>
      </p:sp>
      <p:cxnSp>
        <p:nvCxnSpPr>
          <p:cNvPr id="135" name="Connector 134"/>
          <p:cNvCxnSpPr/>
          <p:nvPr/>
        </p:nvCxnSpPr>
        <p:spPr>
          <a:xfrm>
            <a:off x="6537960" y="4892040"/>
            <a:ext cx="2286000" cy="0"/>
          </a:xfrm>
          <a:prstGeom prst="line">
            <a:avLst/>
          </a:prstGeom>
          <a:ln w="9525">
            <a:solidFill>
              <a:srgbClr val="6B7780"/>
            </a:solidFill>
          </a:ln>
        </p:spPr>
      </p:cxnSp>
      <p:sp>
        <p:nvSpPr>
          <p:cNvPr id="136" name="Rectangle 135"/>
          <p:cNvSpPr/>
          <p:nvPr/>
        </p:nvSpPr>
        <p:spPr>
          <a:xfrm>
            <a:off x="10332720" y="2514600"/>
            <a:ext cx="1142999" cy="2377439"/>
          </a:xfrm>
          <a:prstGeom prst="rect">
            <a:avLst/>
          </a:prstGeom>
          <a:solidFill>
            <a:srgbClr val="F1F3F5"/>
          </a:solidFill>
          <a:ln>
            <a:noFill/>
          </a:ln>
        </p:spPr>
        <p:txBody>
          <a:bodyPr rtlCol="0" anchor="ctr"/>
          <a:lstStyle/>
          <a:p>
            <a:pPr algn="ctr"/>
          </a:p>
        </p:txBody>
      </p:sp>
      <p:cxnSp>
        <p:nvCxnSpPr>
          <p:cNvPr id="137" name="Connector 136"/>
          <p:cNvCxnSpPr/>
          <p:nvPr/>
        </p:nvCxnSpPr>
        <p:spPr>
          <a:xfrm>
            <a:off x="9189719" y="4612341"/>
            <a:ext cx="2286000" cy="0"/>
          </a:xfrm>
          <a:prstGeom prst="line">
            <a:avLst/>
          </a:prstGeom>
          <a:ln w="9525">
            <a:solidFill>
              <a:srgbClr val="D2DCDF"/>
            </a:solidFill>
          </a:ln>
        </p:spPr>
      </p:cxnSp>
      <p:cxnSp>
        <p:nvCxnSpPr>
          <p:cNvPr id="138" name="Connector 137"/>
          <p:cNvCxnSpPr/>
          <p:nvPr/>
        </p:nvCxnSpPr>
        <p:spPr>
          <a:xfrm>
            <a:off x="9189719" y="3913094"/>
            <a:ext cx="2286000" cy="0"/>
          </a:xfrm>
          <a:prstGeom prst="line">
            <a:avLst/>
          </a:prstGeom>
          <a:ln w="12700">
            <a:solidFill>
              <a:srgbClr val="1B3A57"/>
            </a:solidFill>
            <a:prstDash val="dash"/>
          </a:ln>
        </p:spPr>
      </p:cxnSp>
      <p:cxnSp>
        <p:nvCxnSpPr>
          <p:cNvPr id="139" name="Connector 138"/>
          <p:cNvCxnSpPr/>
          <p:nvPr/>
        </p:nvCxnSpPr>
        <p:spPr>
          <a:xfrm>
            <a:off x="9189719" y="3213847"/>
            <a:ext cx="2286000" cy="0"/>
          </a:xfrm>
          <a:prstGeom prst="line">
            <a:avLst/>
          </a:prstGeom>
          <a:ln w="9525">
            <a:solidFill>
              <a:srgbClr val="D2DCDF"/>
            </a:solidFill>
          </a:ln>
        </p:spPr>
      </p:cxnSp>
      <p:cxnSp>
        <p:nvCxnSpPr>
          <p:cNvPr id="140" name="Connector 139"/>
          <p:cNvCxnSpPr/>
          <p:nvPr/>
        </p:nvCxnSpPr>
        <p:spPr>
          <a:xfrm>
            <a:off x="9189719" y="2514600"/>
            <a:ext cx="2286000" cy="0"/>
          </a:xfrm>
          <a:prstGeom prst="line">
            <a:avLst/>
          </a:prstGeom>
          <a:ln w="9525">
            <a:solidFill>
              <a:srgbClr val="D2DCDF"/>
            </a:solidFill>
          </a:ln>
        </p:spPr>
      </p:cxnSp>
      <p:sp>
        <p:nvSpPr>
          <p:cNvPr id="141" name="TextBox 140"/>
          <p:cNvSpPr txBox="1"/>
          <p:nvPr/>
        </p:nvSpPr>
        <p:spPr>
          <a:xfrm>
            <a:off x="9189719" y="2084831"/>
            <a:ext cx="2286000" cy="329184"/>
          </a:xfrm>
          <a:prstGeom prst="rect">
            <a:avLst/>
          </a:prstGeom>
          <a:noFill/>
        </p:spPr>
        <p:txBody>
          <a:bodyPr wrap="square" lIns="0" tIns="0" rIns="0" bIns="0" anchor="t"/>
          <a:lstStyle/>
          <a:p>
            <a:pPr algn="ctr"/>
            <a:r>
              <a:rPr sz="1600" b="1" i="0">
                <a:solidFill>
                  <a:srgbClr val="6F1FA7"/>
                </a:solidFill>
                <a:latin typeface="Arial"/>
                <a:ea typeface="Arial"/>
                <a:cs typeface="Arial"/>
              </a:rPr>
              <a:t>DFlash, 8-token</a:t>
            </a:r>
          </a:p>
        </p:txBody>
      </p:sp>
      <p:cxnSp>
        <p:nvCxnSpPr>
          <p:cNvPr id="142" name="Connector 141"/>
          <p:cNvCxnSpPr/>
          <p:nvPr/>
        </p:nvCxnSpPr>
        <p:spPr>
          <a:xfrm>
            <a:off x="9390888" y="3581444"/>
            <a:ext cx="627888" cy="216372"/>
          </a:xfrm>
          <a:prstGeom prst="line">
            <a:avLst/>
          </a:prstGeom>
          <a:ln w="15875">
            <a:solidFill>
              <a:srgbClr val="6B7780"/>
            </a:solidFill>
            <a:prstDash val="dash"/>
          </a:ln>
        </p:spPr>
      </p:cxnSp>
      <p:cxnSp>
        <p:nvCxnSpPr>
          <p:cNvPr id="143" name="Connector 142"/>
          <p:cNvCxnSpPr/>
          <p:nvPr/>
        </p:nvCxnSpPr>
        <p:spPr>
          <a:xfrm>
            <a:off x="10018776" y="3797816"/>
            <a:ext cx="627888" cy="115278"/>
          </a:xfrm>
          <a:prstGeom prst="line">
            <a:avLst/>
          </a:prstGeom>
          <a:ln w="15875">
            <a:solidFill>
              <a:srgbClr val="6B7780"/>
            </a:solidFill>
            <a:prstDash val="dash"/>
          </a:ln>
        </p:spPr>
      </p:cxnSp>
      <p:cxnSp>
        <p:nvCxnSpPr>
          <p:cNvPr id="144" name="Connector 143"/>
          <p:cNvCxnSpPr/>
          <p:nvPr/>
        </p:nvCxnSpPr>
        <p:spPr>
          <a:xfrm>
            <a:off x="10646664" y="3913094"/>
            <a:ext cx="627888" cy="0"/>
          </a:xfrm>
          <a:prstGeom prst="line">
            <a:avLst/>
          </a:prstGeom>
          <a:ln w="15875">
            <a:solidFill>
              <a:srgbClr val="6B7780"/>
            </a:solidFill>
            <a:prstDash val="dash"/>
          </a:ln>
        </p:spPr>
      </p:cxnSp>
      <p:sp>
        <p:nvSpPr>
          <p:cNvPr id="145" name="Diamond 144"/>
          <p:cNvSpPr/>
          <p:nvPr/>
        </p:nvSpPr>
        <p:spPr>
          <a:xfrm>
            <a:off x="9336024" y="3526580"/>
            <a:ext cx="109728" cy="109728"/>
          </a:xfrm>
          <a:prstGeom prst="diamond">
            <a:avLst/>
          </a:prstGeom>
          <a:solidFill>
            <a:srgbClr val="FFFFFF"/>
          </a:solidFill>
          <a:ln w="15875">
            <a:solidFill>
              <a:srgbClr val="6B7780"/>
            </a:solidFill>
          </a:ln>
        </p:spPr>
        <p:txBody>
          <a:bodyPr rtlCol="0" anchor="ctr"/>
          <a:lstStyle/>
          <a:p>
            <a:pPr algn="ctr"/>
          </a:p>
        </p:txBody>
      </p:sp>
      <p:sp>
        <p:nvSpPr>
          <p:cNvPr id="146" name="Diamond 145"/>
          <p:cNvSpPr/>
          <p:nvPr/>
        </p:nvSpPr>
        <p:spPr>
          <a:xfrm>
            <a:off x="9963912" y="3742952"/>
            <a:ext cx="109728" cy="109728"/>
          </a:xfrm>
          <a:prstGeom prst="diamond">
            <a:avLst/>
          </a:prstGeom>
          <a:solidFill>
            <a:srgbClr val="FFFFFF"/>
          </a:solidFill>
          <a:ln w="15875">
            <a:solidFill>
              <a:srgbClr val="6B7780"/>
            </a:solidFill>
          </a:ln>
        </p:spPr>
        <p:txBody>
          <a:bodyPr rtlCol="0" anchor="ctr"/>
          <a:lstStyle/>
          <a:p>
            <a:pPr algn="ctr"/>
          </a:p>
        </p:txBody>
      </p:sp>
      <p:sp>
        <p:nvSpPr>
          <p:cNvPr id="147" name="Diamond 146"/>
          <p:cNvSpPr/>
          <p:nvPr/>
        </p:nvSpPr>
        <p:spPr>
          <a:xfrm>
            <a:off x="10591799" y="3858230"/>
            <a:ext cx="109728" cy="109728"/>
          </a:xfrm>
          <a:prstGeom prst="diamond">
            <a:avLst/>
          </a:prstGeom>
          <a:solidFill>
            <a:srgbClr val="FFFFFF"/>
          </a:solidFill>
          <a:ln w="15875">
            <a:solidFill>
              <a:srgbClr val="6B7780"/>
            </a:solidFill>
          </a:ln>
        </p:spPr>
        <p:txBody>
          <a:bodyPr rtlCol="0" anchor="ctr"/>
          <a:lstStyle/>
          <a:p>
            <a:pPr algn="ctr"/>
          </a:p>
        </p:txBody>
      </p:sp>
      <p:sp>
        <p:nvSpPr>
          <p:cNvPr id="148" name="Diamond 147"/>
          <p:cNvSpPr/>
          <p:nvPr/>
        </p:nvSpPr>
        <p:spPr>
          <a:xfrm>
            <a:off x="11219688" y="3858230"/>
            <a:ext cx="109728" cy="109728"/>
          </a:xfrm>
          <a:prstGeom prst="diamond">
            <a:avLst/>
          </a:prstGeom>
          <a:solidFill>
            <a:srgbClr val="FFFFFF"/>
          </a:solidFill>
          <a:ln w="15875">
            <a:solidFill>
              <a:srgbClr val="6B7780"/>
            </a:solidFill>
          </a:ln>
        </p:spPr>
        <p:txBody>
          <a:bodyPr rtlCol="0" anchor="ctr"/>
          <a:lstStyle/>
          <a:p>
            <a:pPr algn="ctr"/>
          </a:p>
        </p:txBody>
      </p:sp>
      <p:cxnSp>
        <p:nvCxnSpPr>
          <p:cNvPr id="149" name="Connector 148"/>
          <p:cNvCxnSpPr/>
          <p:nvPr/>
        </p:nvCxnSpPr>
        <p:spPr>
          <a:xfrm>
            <a:off x="9390888" y="4081510"/>
            <a:ext cx="627888" cy="175903"/>
          </a:xfrm>
          <a:prstGeom prst="line">
            <a:avLst/>
          </a:prstGeom>
          <a:ln w="19050">
            <a:solidFill>
              <a:srgbClr val="6F1FA7"/>
            </a:solidFill>
          </a:ln>
        </p:spPr>
      </p:cxnSp>
      <p:cxnSp>
        <p:nvCxnSpPr>
          <p:cNvPr id="150" name="Connector 149"/>
          <p:cNvCxnSpPr/>
          <p:nvPr/>
        </p:nvCxnSpPr>
        <p:spPr>
          <a:xfrm flipV="1">
            <a:off x="10018776" y="4079770"/>
            <a:ext cx="627888" cy="177643"/>
          </a:xfrm>
          <a:prstGeom prst="line">
            <a:avLst/>
          </a:prstGeom>
          <a:ln w="19050">
            <a:solidFill>
              <a:srgbClr val="6F1FA7"/>
            </a:solidFill>
          </a:ln>
        </p:spPr>
      </p:cxnSp>
      <p:cxnSp>
        <p:nvCxnSpPr>
          <p:cNvPr id="151" name="Connector 150"/>
          <p:cNvCxnSpPr/>
          <p:nvPr/>
        </p:nvCxnSpPr>
        <p:spPr>
          <a:xfrm flipV="1">
            <a:off x="10646664" y="3993161"/>
            <a:ext cx="627888" cy="86609"/>
          </a:xfrm>
          <a:prstGeom prst="line">
            <a:avLst/>
          </a:prstGeom>
          <a:ln w="19050">
            <a:solidFill>
              <a:srgbClr val="6F1FA7"/>
            </a:solidFill>
          </a:ln>
        </p:spPr>
      </p:cxnSp>
      <p:cxnSp>
        <p:nvCxnSpPr>
          <p:cNvPr id="152" name="Connector 151"/>
          <p:cNvCxnSpPr/>
          <p:nvPr/>
        </p:nvCxnSpPr>
        <p:spPr>
          <a:xfrm flipV="1">
            <a:off x="9390888" y="3932961"/>
            <a:ext cx="0" cy="295519"/>
          </a:xfrm>
          <a:prstGeom prst="line">
            <a:avLst/>
          </a:prstGeom>
          <a:ln w="15875">
            <a:solidFill>
              <a:srgbClr val="6F1FA7"/>
            </a:solidFill>
          </a:ln>
        </p:spPr>
      </p:cxnSp>
      <p:sp>
        <p:nvSpPr>
          <p:cNvPr id="153" name="Diamond 152"/>
          <p:cNvSpPr/>
          <p:nvPr/>
        </p:nvSpPr>
        <p:spPr>
          <a:xfrm>
            <a:off x="9313163" y="4003786"/>
            <a:ext cx="155448" cy="155448"/>
          </a:xfrm>
          <a:prstGeom prst="diamond">
            <a:avLst/>
          </a:prstGeom>
          <a:solidFill>
            <a:srgbClr val="6F1FA7"/>
          </a:solidFill>
          <a:ln w="12700">
            <a:solidFill>
              <a:srgbClr val="6F1FA7"/>
            </a:solidFill>
          </a:ln>
        </p:spPr>
        <p:txBody>
          <a:bodyPr rtlCol="0" anchor="ctr"/>
          <a:lstStyle/>
          <a:p>
            <a:pPr algn="ctr"/>
          </a:p>
        </p:txBody>
      </p:sp>
      <p:sp>
        <p:nvSpPr>
          <p:cNvPr id="154" name="TextBox 153"/>
          <p:cNvSpPr txBox="1"/>
          <p:nvPr/>
        </p:nvSpPr>
        <p:spPr>
          <a:xfrm>
            <a:off x="9262872" y="4554249"/>
            <a:ext cx="2194560" cy="256032"/>
          </a:xfrm>
          <a:prstGeom prst="rect">
            <a:avLst/>
          </a:prstGeom>
          <a:noFill/>
        </p:spPr>
        <p:txBody>
          <a:bodyPr wrap="square" lIns="0" tIns="0" rIns="0" bIns="0" anchor="t"/>
          <a:lstStyle/>
          <a:p>
            <a:pPr algn="l"/>
            <a:r>
              <a:rPr sz="1300" b="1" i="0">
                <a:solidFill>
                  <a:srgbClr val="6F1FA7"/>
                </a:solidFill>
                <a:latin typeface="Arial"/>
                <a:ea typeface="Arial"/>
                <a:cs typeface="Arial"/>
              </a:rPr>
              <a:t>primary 0.988 at c = 4</a:t>
            </a:r>
          </a:p>
        </p:txBody>
      </p:sp>
      <p:sp>
        <p:nvSpPr>
          <p:cNvPr id="155" name="TextBox 154"/>
          <p:cNvSpPr txBox="1"/>
          <p:nvPr/>
        </p:nvSpPr>
        <p:spPr>
          <a:xfrm>
            <a:off x="9162288"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4</a:t>
            </a:r>
          </a:p>
        </p:txBody>
      </p:sp>
      <p:cxnSp>
        <p:nvCxnSpPr>
          <p:cNvPr id="156" name="Connector 155"/>
          <p:cNvCxnSpPr/>
          <p:nvPr/>
        </p:nvCxnSpPr>
        <p:spPr>
          <a:xfrm flipV="1">
            <a:off x="10018776" y="4135148"/>
            <a:ext cx="0" cy="243444"/>
          </a:xfrm>
          <a:prstGeom prst="line">
            <a:avLst/>
          </a:prstGeom>
          <a:ln w="15875">
            <a:solidFill>
              <a:srgbClr val="6F1FA7"/>
            </a:solidFill>
          </a:ln>
        </p:spPr>
      </p:cxnSp>
      <p:sp>
        <p:nvSpPr>
          <p:cNvPr id="157" name="Diamond 156"/>
          <p:cNvSpPr/>
          <p:nvPr/>
        </p:nvSpPr>
        <p:spPr>
          <a:xfrm>
            <a:off x="9959340" y="4197977"/>
            <a:ext cx="118872" cy="118872"/>
          </a:xfrm>
          <a:prstGeom prst="diamond">
            <a:avLst/>
          </a:prstGeom>
          <a:solidFill>
            <a:srgbClr val="6F1FA7"/>
          </a:solidFill>
          <a:ln w="12700">
            <a:solidFill>
              <a:srgbClr val="6F1FA7"/>
            </a:solidFill>
          </a:ln>
        </p:spPr>
        <p:txBody>
          <a:bodyPr rtlCol="0" anchor="ctr"/>
          <a:lstStyle/>
          <a:p>
            <a:pPr algn="ctr"/>
          </a:p>
        </p:txBody>
      </p:sp>
      <p:sp>
        <p:nvSpPr>
          <p:cNvPr id="158" name="TextBox 157"/>
          <p:cNvSpPr txBox="1"/>
          <p:nvPr/>
        </p:nvSpPr>
        <p:spPr>
          <a:xfrm>
            <a:off x="9790176"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8</a:t>
            </a:r>
          </a:p>
        </p:txBody>
      </p:sp>
      <p:cxnSp>
        <p:nvCxnSpPr>
          <p:cNvPr id="159" name="Connector 158"/>
          <p:cNvCxnSpPr/>
          <p:nvPr/>
        </p:nvCxnSpPr>
        <p:spPr>
          <a:xfrm flipV="1">
            <a:off x="10646664" y="3706574"/>
            <a:ext cx="0" cy="736578"/>
          </a:xfrm>
          <a:prstGeom prst="line">
            <a:avLst/>
          </a:prstGeom>
          <a:ln w="15875">
            <a:solidFill>
              <a:srgbClr val="6F1FA7"/>
            </a:solidFill>
          </a:ln>
        </p:spPr>
      </p:cxnSp>
      <p:sp>
        <p:nvSpPr>
          <p:cNvPr id="160" name="Diamond 159"/>
          <p:cNvSpPr/>
          <p:nvPr/>
        </p:nvSpPr>
        <p:spPr>
          <a:xfrm>
            <a:off x="10587228" y="4020334"/>
            <a:ext cx="118872" cy="118872"/>
          </a:xfrm>
          <a:prstGeom prst="diamond">
            <a:avLst/>
          </a:prstGeom>
          <a:solidFill>
            <a:srgbClr val="FFFFFF"/>
          </a:solidFill>
          <a:ln w="15875">
            <a:solidFill>
              <a:srgbClr val="6F1FA7"/>
            </a:solidFill>
          </a:ln>
        </p:spPr>
        <p:txBody>
          <a:bodyPr rtlCol="0" anchor="ctr"/>
          <a:lstStyle/>
          <a:p>
            <a:pPr algn="ctr"/>
          </a:p>
        </p:txBody>
      </p:sp>
      <p:sp>
        <p:nvSpPr>
          <p:cNvPr id="161" name="TextBox 160"/>
          <p:cNvSpPr txBox="1"/>
          <p:nvPr/>
        </p:nvSpPr>
        <p:spPr>
          <a:xfrm>
            <a:off x="10418064"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16</a:t>
            </a:r>
          </a:p>
        </p:txBody>
      </p:sp>
      <p:cxnSp>
        <p:nvCxnSpPr>
          <p:cNvPr id="162" name="Connector 161"/>
          <p:cNvCxnSpPr/>
          <p:nvPr/>
        </p:nvCxnSpPr>
        <p:spPr>
          <a:xfrm flipV="1">
            <a:off x="11274552" y="3274172"/>
            <a:ext cx="0" cy="1402630"/>
          </a:xfrm>
          <a:prstGeom prst="line">
            <a:avLst/>
          </a:prstGeom>
          <a:ln w="15875">
            <a:solidFill>
              <a:srgbClr val="6F1FA7"/>
            </a:solidFill>
          </a:ln>
        </p:spPr>
      </p:cxnSp>
      <p:sp>
        <p:nvSpPr>
          <p:cNvPr id="163" name="Diamond 162"/>
          <p:cNvSpPr/>
          <p:nvPr/>
        </p:nvSpPr>
        <p:spPr>
          <a:xfrm>
            <a:off x="11215116" y="3933725"/>
            <a:ext cx="118872" cy="118872"/>
          </a:xfrm>
          <a:prstGeom prst="diamond">
            <a:avLst/>
          </a:prstGeom>
          <a:solidFill>
            <a:srgbClr val="FFFFFF"/>
          </a:solidFill>
          <a:ln w="15875">
            <a:solidFill>
              <a:srgbClr val="6F1FA7"/>
            </a:solidFill>
          </a:ln>
        </p:spPr>
        <p:txBody>
          <a:bodyPr rtlCol="0" anchor="ctr"/>
          <a:lstStyle/>
          <a:p>
            <a:pPr algn="ctr"/>
          </a:p>
        </p:txBody>
      </p:sp>
      <p:sp>
        <p:nvSpPr>
          <p:cNvPr id="164" name="TextBox 163"/>
          <p:cNvSpPr txBox="1"/>
          <p:nvPr/>
        </p:nvSpPr>
        <p:spPr>
          <a:xfrm>
            <a:off x="11045952" y="4928616"/>
            <a:ext cx="457200" cy="219456"/>
          </a:xfrm>
          <a:prstGeom prst="rect">
            <a:avLst/>
          </a:prstGeom>
          <a:noFill/>
        </p:spPr>
        <p:txBody>
          <a:bodyPr wrap="square" lIns="0" tIns="0" rIns="0" bIns="0" anchor="t"/>
          <a:lstStyle/>
          <a:p>
            <a:pPr algn="ctr"/>
            <a:r>
              <a:rPr sz="1200" b="0" i="0">
                <a:solidFill>
                  <a:srgbClr val="586B73"/>
                </a:solidFill>
                <a:latin typeface="Arial"/>
                <a:ea typeface="Arial"/>
                <a:cs typeface="Arial"/>
              </a:rPr>
              <a:t>32</a:t>
            </a:r>
          </a:p>
        </p:txBody>
      </p:sp>
      <p:cxnSp>
        <p:nvCxnSpPr>
          <p:cNvPr id="165" name="Connector 164"/>
          <p:cNvCxnSpPr/>
          <p:nvPr/>
        </p:nvCxnSpPr>
        <p:spPr>
          <a:xfrm>
            <a:off x="9189719" y="4892040"/>
            <a:ext cx="2286000" cy="0"/>
          </a:xfrm>
          <a:prstGeom prst="line">
            <a:avLst/>
          </a:prstGeom>
          <a:ln w="9525">
            <a:solidFill>
              <a:srgbClr val="6B7780"/>
            </a:solidFill>
          </a:ln>
        </p:spPr>
      </p:cxnSp>
      <p:sp>
        <p:nvSpPr>
          <p:cNvPr id="166" name="TextBox 165"/>
          <p:cNvSpPr txBox="1"/>
          <p:nvPr/>
        </p:nvSpPr>
        <p:spPr>
          <a:xfrm>
            <a:off x="1234440" y="5166359"/>
            <a:ext cx="10241280" cy="256032"/>
          </a:xfrm>
          <a:prstGeom prst="rect">
            <a:avLst/>
          </a:prstGeom>
          <a:noFill/>
        </p:spPr>
        <p:txBody>
          <a:bodyPr wrap="square" lIns="0" tIns="0" rIns="0" bIns="0" anchor="t"/>
          <a:lstStyle/>
          <a:p>
            <a:pPr algn="ctr"/>
            <a:r>
              <a:rPr sz="1300" b="0" i="0">
                <a:solidFill>
                  <a:srgbClr val="1B3A57"/>
                </a:solidFill>
                <a:latin typeface="Arial"/>
                <a:ea typeface="Arial"/>
                <a:cs typeface="Arial"/>
              </a:rPr>
              <a:t>Requests in flight, c</a:t>
            </a:r>
          </a:p>
        </p:txBody>
      </p:sp>
      <p:sp>
        <p:nvSpPr>
          <p:cNvPr id="167" name="TextBox 166"/>
          <p:cNvSpPr txBox="1"/>
          <p:nvPr/>
        </p:nvSpPr>
        <p:spPr>
          <a:xfrm>
            <a:off x="731520" y="5468112"/>
            <a:ext cx="10744200" cy="274320"/>
          </a:xfrm>
          <a:prstGeom prst="rect">
            <a:avLst/>
          </a:prstGeom>
          <a:noFill/>
        </p:spPr>
        <p:txBody>
          <a:bodyPr wrap="square" lIns="0" tIns="0" rIns="0" bIns="0" anchor="t"/>
          <a:lstStyle/>
          <a:p>
            <a:pPr algn="l"/>
            <a:r>
              <a:rPr sz="1250" b="0" i="0">
                <a:solidFill>
                  <a:srgbClr val="586B73"/>
                </a:solidFill>
                <a:latin typeface="Arial"/>
                <a:ea typeface="Arial"/>
                <a:cs typeface="Arial"/>
              </a:rPr>
              <a:t>Filled: 95% interval excludes 1 · bars: 95% intervals · grey ◇: prediction · shaded: head gated off</a:t>
            </a:r>
          </a:p>
        </p:txBody>
      </p:sp>
      <p:sp>
        <p:nvSpPr>
          <p:cNvPr id="168" name="TextBox 167"/>
          <p:cNvSpPr txBox="1"/>
          <p:nvPr/>
        </p:nvSpPr>
        <p:spPr>
          <a:xfrm>
            <a:off x="731520" y="5815584"/>
            <a:ext cx="10744200" cy="548640"/>
          </a:xfrm>
          <a:prstGeom prst="rect">
            <a:avLst/>
          </a:prstGeom>
          <a:noFill/>
        </p:spPr>
        <p:txBody>
          <a:bodyPr wrap="square" lIns="0" tIns="0" rIns="0" bIns="0" anchor="t"/>
          <a:lstStyle/>
          <a:p>
            <a:pPr algn="l"/>
            <a:r>
              <a:rPr sz="1450" b="1" i="0">
                <a:solidFill>
                  <a:srgbClr val="1B3A57"/>
                </a:solidFill>
                <a:latin typeface="Arial"/>
                <a:ea typeface="Arial"/>
                <a:cs typeface="Arial"/>
              </a:rPr>
              <a:t>At c = 1 the gain is 71% (plain), 53% (MTP) and 28% (16-token DFlash) of the prediction, tokens identical; gains continue to c = 32 (plain) and 8 (MTP); both DFlash arms lose 1.0–3.0% where the head is active.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Check mode found no differing token in 592,433 positions</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 (costs and exactness), Appendix E.5 · evidence/certified_head/served (check.csv, equality.csv, capture_memory.csv, README) · evidence/bf16_paths</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B05</a:t>
            </a:r>
          </a:p>
        </p:txBody>
      </p:sp>
      <p:sp>
        <p:nvSpPr>
          <p:cNvPr id="6" name="TextBox 5"/>
          <p:cNvSpPr txBox="1"/>
          <p:nvPr/>
        </p:nvSpPr>
        <p:spPr>
          <a:xfrm>
            <a:off x="731520" y="1737360"/>
            <a:ext cx="5120640" cy="731520"/>
          </a:xfrm>
          <a:prstGeom prst="rect">
            <a:avLst/>
          </a:prstGeom>
          <a:noFill/>
        </p:spPr>
        <p:txBody>
          <a:bodyPr wrap="square" lIns="0" tIns="0" rIns="0" bIns="0" anchor="t"/>
          <a:lstStyle/>
          <a:p>
            <a:pPr algn="l"/>
            <a:r>
              <a:rPr sz="3600" b="1" i="0">
                <a:solidFill>
                  <a:srgbClr val="0072B2"/>
                </a:solidFill>
                <a:latin typeface="Arial"/>
                <a:ea typeface="Arial"/>
                <a:cs typeface="Arial"/>
              </a:rPr>
              <a:t>0 of 592,433</a:t>
            </a:r>
          </a:p>
        </p:txBody>
      </p:sp>
      <p:sp>
        <p:nvSpPr>
          <p:cNvPr id="7" name="TextBox 6"/>
          <p:cNvSpPr txBox="1"/>
          <p:nvPr/>
        </p:nvSpPr>
        <p:spPr>
          <a:xfrm>
            <a:off x="731520" y="2514600"/>
            <a:ext cx="4937760" cy="822960"/>
          </a:xfrm>
          <a:prstGeom prst="rect">
            <a:avLst/>
          </a:prstGeom>
          <a:noFill/>
        </p:spPr>
        <p:txBody>
          <a:bodyPr wrap="square" lIns="0" tIns="0" rIns="0" bIns="0" anchor="t"/>
          <a:lstStyle/>
          <a:p>
            <a:pPr algn="l"/>
            <a:r>
              <a:rPr sz="1800" b="0" i="0">
                <a:solidFill>
                  <a:srgbClr val="1B3A57"/>
                </a:solidFill>
                <a:latin typeface="Arial"/>
                <a:ea typeface="Arial"/>
                <a:cs typeface="Arial"/>
              </a:rPr>
              <a:t>checked positions differ from the stock head run beside it</a:t>
            </a:r>
          </a:p>
        </p:txBody>
      </p:sp>
      <p:sp>
        <p:nvSpPr>
          <p:cNvPr id="8" name="TextBox 7"/>
          <p:cNvSpPr txBox="1"/>
          <p:nvPr/>
        </p:nvSpPr>
        <p:spPr>
          <a:xfrm>
            <a:off x="6217920" y="1737360"/>
            <a:ext cx="5120640" cy="731520"/>
          </a:xfrm>
          <a:prstGeom prst="rect">
            <a:avLst/>
          </a:prstGeom>
          <a:noFill/>
        </p:spPr>
        <p:txBody>
          <a:bodyPr wrap="square" lIns="0" tIns="0" rIns="0" bIns="0" anchor="t"/>
          <a:lstStyle/>
          <a:p>
            <a:pPr algn="l"/>
            <a:r>
              <a:rPr sz="3600" b="1" i="0">
                <a:solidFill>
                  <a:srgbClr val="1B3A57"/>
                </a:solidFill>
                <a:latin typeface="Arial"/>
                <a:ea typeface="Arial"/>
                <a:cs typeface="Arial"/>
              </a:rPr>
              <a:t>1.03–1.21×</a:t>
            </a:r>
          </a:p>
        </p:txBody>
      </p:sp>
      <p:sp>
        <p:nvSpPr>
          <p:cNvPr id="9" name="TextBox 8"/>
          <p:cNvSpPr txBox="1"/>
          <p:nvPr/>
        </p:nvSpPr>
        <p:spPr>
          <a:xfrm>
            <a:off x="6217920" y="2514600"/>
            <a:ext cx="4937760" cy="822960"/>
          </a:xfrm>
          <a:prstGeom prst="rect">
            <a:avLst/>
          </a:prstGeom>
          <a:noFill/>
        </p:spPr>
        <p:txBody>
          <a:bodyPr wrap="square" lIns="0" tIns="0" rIns="0" bIns="0" anchor="t"/>
          <a:lstStyle/>
          <a:p>
            <a:pPr algn="l"/>
            <a:r>
              <a:rPr sz="1800" b="0" i="0">
                <a:solidFill>
                  <a:srgbClr val="1B3A57"/>
                </a:solidFill>
                <a:latin typeface="Arial"/>
                <a:ea typeface="Arial"/>
                <a:cs typeface="Arial"/>
              </a:rPr>
              <a:t>closed-loop divergence, certified vs stock, over stock vs stock</a:t>
            </a:r>
          </a:p>
        </p:txBody>
      </p:sp>
      <p:sp>
        <p:nvSpPr>
          <p:cNvPr id="10" name="TextBox 9"/>
          <p:cNvSpPr txBox="1"/>
          <p:nvPr/>
        </p:nvSpPr>
        <p:spPr>
          <a:xfrm>
            <a:off x="731520" y="3886200"/>
            <a:ext cx="5120640" cy="731520"/>
          </a:xfrm>
          <a:prstGeom prst="rect">
            <a:avLst/>
          </a:prstGeom>
          <a:noFill/>
        </p:spPr>
        <p:txBody>
          <a:bodyPr wrap="square" lIns="0" tIns="0" rIns="0" bIns="0" anchor="t"/>
          <a:lstStyle/>
          <a:p>
            <a:pPr algn="l"/>
            <a:r>
              <a:rPr sz="3600" b="1" i="0">
                <a:solidFill>
                  <a:srgbClr val="D55E00"/>
                </a:solidFill>
                <a:latin typeface="Arial"/>
                <a:ea typeface="Arial"/>
                <a:cs typeface="Arial"/>
              </a:rPr>
              <a:t>3.8–25.7 GB</a:t>
            </a:r>
          </a:p>
        </p:txBody>
      </p:sp>
      <p:sp>
        <p:nvSpPr>
          <p:cNvPr id="11" name="TextBox 10"/>
          <p:cNvSpPr txBox="1"/>
          <p:nvPr/>
        </p:nvSpPr>
        <p:spPr>
          <a:xfrm>
            <a:off x="731520" y="4663440"/>
            <a:ext cx="4937760" cy="822960"/>
          </a:xfrm>
          <a:prstGeom prst="rect">
            <a:avLst/>
          </a:prstGeom>
          <a:noFill/>
        </p:spPr>
        <p:txBody>
          <a:bodyPr wrap="square" lIns="0" tIns="0" rIns="0" bIns="0" anchor="t"/>
          <a:lstStyle/>
          <a:p>
            <a:pPr algn="l"/>
            <a:r>
              <a:rPr sz="1800" b="0" i="0">
                <a:solidFill>
                  <a:srgbClr val="1B3A57"/>
                </a:solidFill>
                <a:latin typeface="Arial"/>
                <a:ea typeface="Arial"/>
                <a:cs typeface="Arial"/>
              </a:rPr>
              <a:t>more memory for the certified CUDA graphs</a:t>
            </a:r>
          </a:p>
        </p:txBody>
      </p:sp>
      <p:sp>
        <p:nvSpPr>
          <p:cNvPr id="12" name="TextBox 11"/>
          <p:cNvSpPr txBox="1"/>
          <p:nvPr/>
        </p:nvSpPr>
        <p:spPr>
          <a:xfrm>
            <a:off x="6217920" y="3886200"/>
            <a:ext cx="5120640" cy="731520"/>
          </a:xfrm>
          <a:prstGeom prst="rect">
            <a:avLst/>
          </a:prstGeom>
          <a:noFill/>
        </p:spPr>
        <p:txBody>
          <a:bodyPr wrap="square" lIns="0" tIns="0" rIns="0" bIns="0" anchor="t"/>
          <a:lstStyle/>
          <a:p>
            <a:pPr algn="l"/>
            <a:r>
              <a:rPr sz="3600" b="1" i="0">
                <a:solidFill>
                  <a:srgbClr val="D55E00"/>
                </a:solidFill>
                <a:latin typeface="Arial"/>
                <a:ea typeface="Arial"/>
                <a:cs typeface="Arial"/>
              </a:rPr>
              <a:t>0.6–1.2%</a:t>
            </a:r>
          </a:p>
        </p:txBody>
      </p:sp>
      <p:sp>
        <p:nvSpPr>
          <p:cNvPr id="13" name="TextBox 12"/>
          <p:cNvSpPr txBox="1"/>
          <p:nvPr/>
        </p:nvSpPr>
        <p:spPr>
          <a:xfrm>
            <a:off x="6217920" y="4663440"/>
            <a:ext cx="4937760" cy="822960"/>
          </a:xfrm>
          <a:prstGeom prst="rect">
            <a:avLst/>
          </a:prstGeom>
          <a:noFill/>
        </p:spPr>
        <p:txBody>
          <a:bodyPr wrap="square" lIns="0" tIns="0" rIns="0" bIns="0" anchor="t"/>
          <a:lstStyle/>
          <a:p>
            <a:pPr algn="l"/>
            <a:r>
              <a:rPr sz="1800" b="0" i="0">
                <a:solidFill>
                  <a:srgbClr val="1B3A57"/>
                </a:solidFill>
                <a:latin typeface="Arial"/>
                <a:ea typeface="Arial"/>
                <a:cs typeface="Arial"/>
              </a:rPr>
              <a:t>cost when gated off, at calls above 64 positions</a:t>
            </a:r>
          </a:p>
        </p:txBody>
      </p:sp>
      <p:cxnSp>
        <p:nvCxnSpPr>
          <p:cNvPr id="14" name="Connector 13"/>
          <p:cNvCxnSpPr/>
          <p:nvPr/>
        </p:nvCxnSpPr>
        <p:spPr>
          <a:xfrm>
            <a:off x="5989320" y="1783080"/>
            <a:ext cx="0" cy="3977640"/>
          </a:xfrm>
          <a:prstGeom prst="line">
            <a:avLst/>
          </a:prstGeom>
          <a:ln w="12700">
            <a:solidFill>
              <a:srgbClr val="D2DCDF"/>
            </a:solidFill>
          </a:ln>
        </p:spPr>
      </p:cxnSp>
      <p:cxnSp>
        <p:nvCxnSpPr>
          <p:cNvPr id="15" name="Connector 14"/>
          <p:cNvCxnSpPr/>
          <p:nvPr/>
        </p:nvCxnSpPr>
        <p:spPr>
          <a:xfrm>
            <a:off x="731520" y="3703320"/>
            <a:ext cx="10744200" cy="0"/>
          </a:xfrm>
          <a:prstGeom prst="line">
            <a:avLst/>
          </a:prstGeom>
          <a:ln w="12700">
            <a:solidFill>
              <a:srgbClr val="D2DCDF"/>
            </a:solidFill>
          </a:ln>
        </p:spPr>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Drafts agree with the target on tokens, not on head inputs</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§5.3, Appendix C.5–C.7 · evidence/head_geometry (stats_dflash4b.json, rho_*.json, transport_*.json, README) · scaled drift is a model extrapolation</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B15</a:t>
            </a:r>
          </a:p>
        </p:txBody>
      </p:sp>
      <p:sp>
        <p:nvSpPr>
          <p:cNvPr id="6" name="TextBox 5"/>
          <p:cNvSpPr txBox="1"/>
          <p:nvPr/>
        </p:nvSpPr>
        <p:spPr>
          <a:xfrm>
            <a:off x="731520" y="1691640"/>
            <a:ext cx="3429000" cy="731520"/>
          </a:xfrm>
          <a:prstGeom prst="rect">
            <a:avLst/>
          </a:prstGeom>
          <a:noFill/>
        </p:spPr>
        <p:txBody>
          <a:bodyPr wrap="square" lIns="0" tIns="0" rIns="0" bIns="0" anchor="t"/>
          <a:lstStyle/>
          <a:p>
            <a:pPr algn="l"/>
            <a:r>
              <a:rPr sz="3600" b="1" i="0">
                <a:solidFill>
                  <a:srgbClr val="CC79A7"/>
                </a:solidFill>
                <a:latin typeface="Arial"/>
                <a:ea typeface="Arial"/>
                <a:cs typeface="Arial"/>
              </a:rPr>
              <a:t>50.6 vs 159</a:t>
            </a:r>
          </a:p>
        </p:txBody>
      </p:sp>
      <p:sp>
        <p:nvSpPr>
          <p:cNvPr id="7" name="TextBox 6"/>
          <p:cNvSpPr txBox="1"/>
          <p:nvPr/>
        </p:nvSpPr>
        <p:spPr>
          <a:xfrm>
            <a:off x="731520" y="2514600"/>
            <a:ext cx="3291840" cy="960120"/>
          </a:xfrm>
          <a:prstGeom prst="rect">
            <a:avLst/>
          </a:prstGeom>
          <a:noFill/>
        </p:spPr>
        <p:txBody>
          <a:bodyPr wrap="square" lIns="0" tIns="0" rIns="0" bIns="0" anchor="t"/>
          <a:lstStyle/>
          <a:p>
            <a:pPr algn="l"/>
            <a:r>
              <a:rPr sz="1600" b="0" i="0">
                <a:solidFill>
                  <a:srgbClr val="1B3A57"/>
                </a:solidFill>
                <a:latin typeface="Arial"/>
                <a:ea typeface="Arial"/>
                <a:cs typeface="Arial"/>
              </a:rPr>
              <a:t>DFlash-4B’s head input norm is always √2560 (unit-gain final RMSNorm), a third of the target’s median</a:t>
            </a:r>
          </a:p>
        </p:txBody>
      </p:sp>
      <p:sp>
        <p:nvSpPr>
          <p:cNvPr id="8" name="TextBox 7"/>
          <p:cNvSpPr txBox="1"/>
          <p:nvPr/>
        </p:nvSpPr>
        <p:spPr>
          <a:xfrm>
            <a:off x="731520" y="3566160"/>
            <a:ext cx="3291840" cy="731520"/>
          </a:xfrm>
          <a:prstGeom prst="rect">
            <a:avLst/>
          </a:prstGeom>
          <a:noFill/>
        </p:spPr>
        <p:txBody>
          <a:bodyPr wrap="square" lIns="0" tIns="0" rIns="0" bIns="0" anchor="t"/>
          <a:lstStyle/>
          <a:p>
            <a:pPr algn="l"/>
            <a:r>
              <a:rPr sz="1500" b="1" i="0">
                <a:solidFill>
                  <a:srgbClr val="586B73"/>
                </a:solidFill>
                <a:latin typeface="Arial"/>
                <a:ea typeface="Arial"/>
                <a:cs typeface="Arial"/>
              </a:rPr>
              <a:t>Norms alone give drift ≥ 0.68</a:t>
            </a:r>
          </a:p>
        </p:txBody>
      </p:sp>
      <p:sp>
        <p:nvSpPr>
          <p:cNvPr id="9" name="TextBox 8"/>
          <p:cNvSpPr txBox="1"/>
          <p:nvPr/>
        </p:nvSpPr>
        <p:spPr>
          <a:xfrm>
            <a:off x="4389120" y="1691640"/>
            <a:ext cx="3429000" cy="731520"/>
          </a:xfrm>
          <a:prstGeom prst="rect">
            <a:avLst/>
          </a:prstGeom>
          <a:noFill/>
        </p:spPr>
        <p:txBody>
          <a:bodyPr wrap="square" lIns="0" tIns="0" rIns="0" bIns="0" anchor="t"/>
          <a:lstStyle/>
          <a:p>
            <a:pPr algn="l"/>
            <a:r>
              <a:rPr sz="3600" b="1" i="0">
                <a:solidFill>
                  <a:srgbClr val="CC79A7"/>
                </a:solidFill>
                <a:latin typeface="Arial"/>
                <a:ea typeface="Arial"/>
                <a:cs typeface="Arial"/>
              </a:rPr>
              <a:t>0.91</a:t>
            </a:r>
          </a:p>
        </p:txBody>
      </p:sp>
      <p:sp>
        <p:nvSpPr>
          <p:cNvPr id="10" name="TextBox 9"/>
          <p:cNvSpPr txBox="1"/>
          <p:nvPr/>
        </p:nvSpPr>
        <p:spPr>
          <a:xfrm>
            <a:off x="4389120" y="2514600"/>
            <a:ext cx="3291840" cy="960120"/>
          </a:xfrm>
          <a:prstGeom prst="rect">
            <a:avLst/>
          </a:prstGeom>
          <a:noFill/>
        </p:spPr>
        <p:txBody>
          <a:bodyPr wrap="square" lIns="0" tIns="0" rIns="0" bIns="0" anchor="t"/>
          <a:lstStyle/>
          <a:p>
            <a:pPr algn="l"/>
            <a:r>
              <a:rPr sz="1600" b="0" i="0">
                <a:solidFill>
                  <a:srgbClr val="1B3A57"/>
                </a:solidFill>
                <a:latin typeface="Arial"/>
                <a:ea typeface="Arial"/>
                <a:cs typeface="Arial"/>
              </a:rPr>
              <a:t>drift left after the best rescaling of the draft input (median cosine 0.41)</a:t>
            </a:r>
          </a:p>
        </p:txBody>
      </p:sp>
      <p:sp>
        <p:nvSpPr>
          <p:cNvPr id="11" name="TextBox 10"/>
          <p:cNvSpPr txBox="1"/>
          <p:nvPr/>
        </p:nvSpPr>
        <p:spPr>
          <a:xfrm>
            <a:off x="4389120" y="3566160"/>
            <a:ext cx="3291840" cy="731520"/>
          </a:xfrm>
          <a:prstGeom prst="rect">
            <a:avLst/>
          </a:prstGeom>
          <a:noFill/>
        </p:spPr>
        <p:txBody>
          <a:bodyPr wrap="square" lIns="0" tIns="0" rIns="0" bIns="0" anchor="t"/>
          <a:lstStyle/>
          <a:p>
            <a:pPr algn="l"/>
            <a:r>
              <a:rPr sz="1500" b="1" i="0">
                <a:solidFill>
                  <a:srgbClr val="586B73"/>
                </a:solidFill>
                <a:latin typeface="Arial"/>
                <a:ea typeface="Arial"/>
                <a:cs typeface="Arial"/>
              </a:rPr>
              <a:t>The angle is large too</a:t>
            </a:r>
          </a:p>
        </p:txBody>
      </p:sp>
      <p:sp>
        <p:nvSpPr>
          <p:cNvPr id="12" name="TextBox 11"/>
          <p:cNvSpPr txBox="1"/>
          <p:nvPr/>
        </p:nvSpPr>
        <p:spPr>
          <a:xfrm>
            <a:off x="8046720" y="1691640"/>
            <a:ext cx="3429000" cy="731520"/>
          </a:xfrm>
          <a:prstGeom prst="rect">
            <a:avLst/>
          </a:prstGeom>
          <a:noFill/>
        </p:spPr>
        <p:txBody>
          <a:bodyPr wrap="square" lIns="0" tIns="0" rIns="0" bIns="0" anchor="t"/>
          <a:lstStyle/>
          <a:p>
            <a:pPr algn="l"/>
            <a:r>
              <a:rPr sz="3600" b="1" i="0">
                <a:solidFill>
                  <a:srgbClr val="1B3A57"/>
                </a:solidFill>
                <a:latin typeface="Arial"/>
                <a:ea typeface="Arial"/>
                <a:cs typeface="Arial"/>
              </a:rPr>
              <a:t>0.91 / 0.99</a:t>
            </a:r>
          </a:p>
        </p:txBody>
      </p:sp>
      <p:sp>
        <p:nvSpPr>
          <p:cNvPr id="13" name="TextBox 12"/>
          <p:cNvSpPr txBox="1"/>
          <p:nvPr/>
        </p:nvSpPr>
        <p:spPr>
          <a:xfrm>
            <a:off x="8046720" y="2514600"/>
            <a:ext cx="3291840" cy="960120"/>
          </a:xfrm>
          <a:prstGeom prst="rect">
            <a:avLst/>
          </a:prstGeom>
          <a:noFill/>
        </p:spPr>
        <p:txBody>
          <a:bodyPr wrap="square" lIns="0" tIns="0" rIns="0" bIns="0" anchor="t"/>
          <a:lstStyle/>
          <a:p>
            <a:pPr algn="l"/>
            <a:r>
              <a:rPr sz="1600" b="0" i="0">
                <a:solidFill>
                  <a:srgbClr val="1B3A57"/>
                </a:solidFill>
                <a:latin typeface="Arial"/>
                <a:ea typeface="Arial"/>
                <a:cs typeface="Arial"/>
              </a:rPr>
              <a:t>median drift where the draft token was accepted (DFlash-4B / MTP-4B)</a:t>
            </a:r>
          </a:p>
        </p:txBody>
      </p:sp>
      <p:sp>
        <p:nvSpPr>
          <p:cNvPr id="14" name="TextBox 13"/>
          <p:cNvSpPr txBox="1"/>
          <p:nvPr/>
        </p:nvSpPr>
        <p:spPr>
          <a:xfrm>
            <a:off x="8046720" y="3566160"/>
            <a:ext cx="3291840" cy="731520"/>
          </a:xfrm>
          <a:prstGeom prst="rect">
            <a:avLst/>
          </a:prstGeom>
          <a:noFill/>
        </p:spPr>
        <p:txBody>
          <a:bodyPr wrap="square" lIns="0" tIns="0" rIns="0" bIns="0" anchor="t"/>
          <a:lstStyle/>
          <a:p>
            <a:pPr algn="l"/>
            <a:r>
              <a:rPr sz="1500" b="1" i="0">
                <a:solidFill>
                  <a:srgbClr val="586B73"/>
                </a:solidFill>
                <a:latin typeface="Arial"/>
                <a:ea typeface="Arial"/>
                <a:cs typeface="Arial"/>
              </a:rPr>
              <a:t>Same token, different head input</a:t>
            </a:r>
          </a:p>
        </p:txBody>
      </p:sp>
      <p:cxnSp>
        <p:nvCxnSpPr>
          <p:cNvPr id="15" name="Connector 14"/>
          <p:cNvCxnSpPr/>
          <p:nvPr/>
        </p:nvCxnSpPr>
        <p:spPr>
          <a:xfrm>
            <a:off x="4224528" y="1783080"/>
            <a:ext cx="0" cy="2560320"/>
          </a:xfrm>
          <a:prstGeom prst="line">
            <a:avLst/>
          </a:prstGeom>
          <a:ln w="12700">
            <a:solidFill>
              <a:srgbClr val="D2DCDF"/>
            </a:solidFill>
          </a:ln>
        </p:spPr>
      </p:cxnSp>
      <p:cxnSp>
        <p:nvCxnSpPr>
          <p:cNvPr id="16" name="Connector 15"/>
          <p:cNvCxnSpPr/>
          <p:nvPr/>
        </p:nvCxnSpPr>
        <p:spPr>
          <a:xfrm>
            <a:off x="7882127" y="1783080"/>
            <a:ext cx="0" cy="2560320"/>
          </a:xfrm>
          <a:prstGeom prst="line">
            <a:avLst/>
          </a:prstGeom>
          <a:ln w="12700">
            <a:solidFill>
              <a:srgbClr val="D2DCDF"/>
            </a:solidFill>
          </a:ln>
        </p:spPr>
      </p:cxnSp>
      <p:cxnSp>
        <p:nvCxnSpPr>
          <p:cNvPr id="17" name="Connector 16"/>
          <p:cNvCxnSpPr/>
          <p:nvPr/>
        </p:nvCxnSpPr>
        <p:spPr>
          <a:xfrm>
            <a:off x="731520" y="4526280"/>
            <a:ext cx="10744200" cy="0"/>
          </a:xfrm>
          <a:prstGeom prst="line">
            <a:avLst/>
          </a:prstGeom>
          <a:ln w="12700">
            <a:solidFill>
              <a:srgbClr val="D2DCDF"/>
            </a:solidFill>
          </a:ln>
        </p:spPr>
      </p:cxnSp>
      <p:sp>
        <p:nvSpPr>
          <p:cNvPr id="18" name="TextBox 17"/>
          <p:cNvSpPr txBox="1"/>
          <p:nvPr/>
        </p:nvSpPr>
        <p:spPr>
          <a:xfrm>
            <a:off x="731520" y="4663440"/>
            <a:ext cx="10744200" cy="1645920"/>
          </a:xfrm>
          <a:prstGeom prst="rect">
            <a:avLst/>
          </a:prstGeom>
          <a:noFill/>
        </p:spPr>
        <p:txBody>
          <a:bodyPr wrap="square" lIns="0" tIns="0" rIns="0" bIns="0" anchor="t"/>
          <a:lstStyle/>
          <a:p>
            <a:pPr algn="l"/>
            <a:r>
              <a:rPr sz="1500" b="1" i="0">
                <a:solidFill>
                  <a:srgbClr val="1B3A57"/>
                </a:solidFill>
                <a:latin typeface="Arial"/>
                <a:ea typeface="Arial"/>
                <a:cs typeface="Arial"/>
              </a:rPr>
              <a:t>Per position, draft and target logits differ by 2.0–2.1 RMS (medians): </a:t>
            </a:r>
            <a:r>
              <a:rPr sz="1500" b="0" i="0">
                <a:solidFill>
                  <a:srgbClr val="1B3A57"/>
                </a:solidFill>
                <a:latin typeface="Arial"/>
                <a:ea typeface="Arial"/>
                <a:cs typeface="Arial"/>
              </a:rPr>
              <a:t>draft scores are not small perturbations of target scores.</a:t>
            </a:r>
          </a:p>
          <a:p>
            <a:pPr algn="l">
              <a:spcBef>
                <a:spcPts val="600"/>
              </a:spcBef>
            </a:pPr>
            <a:r>
              <a:rPr sz="1500" b="1" i="0">
                <a:solidFill>
                  <a:srgbClr val="1B3A57"/>
                </a:solidFill>
                <a:latin typeface="Arial"/>
                <a:ea typeface="Arial"/>
                <a:cs typeface="Arial"/>
              </a:rPr>
              <a:t>The int8 copy leaves about 1.6 candidates </a:t>
            </a:r>
            <a:r>
              <a:rPr sz="1500" b="0" i="0">
                <a:solidFill>
                  <a:srgbClr val="1B3A57"/>
                </a:solidFill>
                <a:latin typeface="Arial"/>
                <a:ea typeface="Arial"/>
                <a:cs typeface="Arial"/>
              </a:rPr>
              <a:t>on the DFlash-4B verification positions a greedy verifier needs.</a:t>
            </a:r>
          </a:p>
          <a:p>
            <a:pPr algn="l">
              <a:spcBef>
                <a:spcPts val="600"/>
              </a:spcBef>
            </a:pPr>
            <a:r>
              <a:rPr sz="1500" b="1" i="0">
                <a:solidFill>
                  <a:srgbClr val="1B3A57"/>
                </a:solidFill>
                <a:latin typeface="Arial"/>
                <a:ea typeface="Arial"/>
                <a:cs typeface="Arial"/>
              </a:rPr>
              <a:t>What would rescue it: </a:t>
            </a:r>
            <a:r>
              <a:rPr sz="1500" b="0" i="0">
                <a:solidFill>
                  <a:srgbClr val="1B3A57"/>
                </a:solidFill>
                <a:latin typeface="Arial"/>
                <a:ea typeface="Arial"/>
                <a:cs typeface="Arial"/>
              </a:rPr>
              <a:t>a drafter whose head input tracks the target’s. Scaling the measured drift down 10× would let the same bounds skip 49% (DFlash-4B) of one position’s vocabulary; 100×, 84% (a model extrapolation). Batches would still need most of it: even oracle radii need 97% for random groups of 16 DFlash-4B pairs.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Every change against the arm it modifies</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§4.5 · evidence/: hostgap, admission, backbone, bench/confirm, drafter/fold_timing, speed_lowc/confirm, certified_head/served</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B19</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Ratio with ÷ without; brackets: run-pair range, session range or 95% interval</a:t>
            </a:r>
          </a:p>
        </p:txBody>
      </p:sp>
      <p:sp>
        <p:nvSpPr>
          <p:cNvPr id="7" name="Rectangle 6"/>
          <p:cNvSpPr/>
          <p:nvPr/>
        </p:nvSpPr>
        <p:spPr>
          <a:xfrm>
            <a:off x="731520" y="1920240"/>
            <a:ext cx="10744200" cy="384048"/>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1947672"/>
            <a:ext cx="2651760" cy="329184"/>
          </a:xfrm>
          <a:prstGeom prst="rect">
            <a:avLst/>
          </a:prstGeom>
          <a:noFill/>
        </p:spPr>
        <p:txBody>
          <a:bodyPr wrap="square" lIns="0" tIns="0" rIns="0" bIns="0" anchor="ctr"/>
          <a:lstStyle/>
          <a:p>
            <a:pPr algn="l"/>
            <a:r>
              <a:rPr sz="1300" b="1" i="0">
                <a:solidFill>
                  <a:srgbClr val="586B73"/>
                </a:solidFill>
                <a:latin typeface="Arial"/>
                <a:ea typeface="Arial"/>
                <a:cs typeface="Arial"/>
              </a:rPr>
              <a:t>Change</a:t>
            </a:r>
          </a:p>
        </p:txBody>
      </p:sp>
      <p:sp>
        <p:nvSpPr>
          <p:cNvPr id="9" name="TextBox 8"/>
          <p:cNvSpPr txBox="1"/>
          <p:nvPr/>
        </p:nvSpPr>
        <p:spPr>
          <a:xfrm>
            <a:off x="3630168" y="1947672"/>
            <a:ext cx="1554480" cy="329184"/>
          </a:xfrm>
          <a:prstGeom prst="rect">
            <a:avLst/>
          </a:prstGeom>
          <a:noFill/>
        </p:spPr>
        <p:txBody>
          <a:bodyPr wrap="square" lIns="0" tIns="0" rIns="0" bIns="0" anchor="ctr"/>
          <a:lstStyle/>
          <a:p>
            <a:pPr algn="l"/>
            <a:r>
              <a:rPr sz="1300" b="1" i="0">
                <a:solidFill>
                  <a:srgbClr val="586B73"/>
                </a:solidFill>
                <a:latin typeface="Arial"/>
                <a:ea typeface="Arial"/>
                <a:cs typeface="Arial"/>
              </a:rPr>
              <a:t>Arm</a:t>
            </a:r>
          </a:p>
        </p:txBody>
      </p:sp>
      <p:sp>
        <p:nvSpPr>
          <p:cNvPr id="10" name="TextBox 9"/>
          <p:cNvSpPr txBox="1"/>
          <p:nvPr/>
        </p:nvSpPr>
        <p:spPr>
          <a:xfrm>
            <a:off x="5321808" y="1947672"/>
            <a:ext cx="822960" cy="329184"/>
          </a:xfrm>
          <a:prstGeom prst="rect">
            <a:avLst/>
          </a:prstGeom>
          <a:noFill/>
        </p:spPr>
        <p:txBody>
          <a:bodyPr wrap="square" lIns="0" tIns="0" rIns="0" bIns="0" anchor="ctr"/>
          <a:lstStyle/>
          <a:p>
            <a:pPr algn="l"/>
            <a:r>
              <a:rPr sz="1300" b="1" i="0">
                <a:solidFill>
                  <a:srgbClr val="586B73"/>
                </a:solidFill>
                <a:latin typeface="Arial"/>
                <a:ea typeface="Arial"/>
                <a:cs typeface="Arial"/>
              </a:rPr>
              <a:t>c</a:t>
            </a:r>
          </a:p>
        </p:txBody>
      </p:sp>
      <p:sp>
        <p:nvSpPr>
          <p:cNvPr id="11" name="TextBox 10"/>
          <p:cNvSpPr txBox="1"/>
          <p:nvPr/>
        </p:nvSpPr>
        <p:spPr>
          <a:xfrm>
            <a:off x="6281928" y="1947672"/>
            <a:ext cx="2880360" cy="329184"/>
          </a:xfrm>
          <a:prstGeom prst="rect">
            <a:avLst/>
          </a:prstGeom>
          <a:noFill/>
        </p:spPr>
        <p:txBody>
          <a:bodyPr wrap="square" lIns="0" tIns="0" rIns="0" bIns="0" anchor="ctr"/>
          <a:lstStyle/>
          <a:p>
            <a:pPr algn="l"/>
            <a:r>
              <a:rPr sz="1300" b="1" i="0">
                <a:solidFill>
                  <a:srgbClr val="586B73"/>
                </a:solidFill>
                <a:latin typeface="Arial"/>
                <a:ea typeface="Arial"/>
                <a:cs typeface="Arial"/>
              </a:rPr>
              <a:t>Ratio</a:t>
            </a:r>
          </a:p>
        </p:txBody>
      </p:sp>
      <p:sp>
        <p:nvSpPr>
          <p:cNvPr id="12" name="TextBox 11"/>
          <p:cNvSpPr txBox="1"/>
          <p:nvPr/>
        </p:nvSpPr>
        <p:spPr>
          <a:xfrm>
            <a:off x="9299448" y="1947672"/>
            <a:ext cx="548640" cy="329184"/>
          </a:xfrm>
          <a:prstGeom prst="rect">
            <a:avLst/>
          </a:prstGeom>
          <a:noFill/>
        </p:spPr>
        <p:txBody>
          <a:bodyPr wrap="square" lIns="0" tIns="0" rIns="0" bIns="0" anchor="ctr"/>
          <a:lstStyle/>
          <a:p>
            <a:pPr algn="l"/>
            <a:r>
              <a:rPr sz="1300" b="1" i="0">
                <a:solidFill>
                  <a:srgbClr val="586B73"/>
                </a:solidFill>
                <a:latin typeface="Arial"/>
                <a:ea typeface="Arial"/>
                <a:cs typeface="Arial"/>
              </a:rPr>
              <a:t>Sess.</a:t>
            </a:r>
          </a:p>
        </p:txBody>
      </p:sp>
      <p:sp>
        <p:nvSpPr>
          <p:cNvPr id="13" name="TextBox 12"/>
          <p:cNvSpPr txBox="1"/>
          <p:nvPr/>
        </p:nvSpPr>
        <p:spPr>
          <a:xfrm>
            <a:off x="9985248" y="1947672"/>
            <a:ext cx="1463040" cy="329184"/>
          </a:xfrm>
          <a:prstGeom prst="rect">
            <a:avLst/>
          </a:prstGeom>
          <a:noFill/>
        </p:spPr>
        <p:txBody>
          <a:bodyPr wrap="square" lIns="0" tIns="0" rIns="0" bIns="0" anchor="ctr"/>
          <a:lstStyle/>
          <a:p>
            <a:pPr algn="l"/>
            <a:r>
              <a:rPr sz="1300" b="1" i="0">
                <a:solidFill>
                  <a:srgbClr val="586B73"/>
                </a:solidFill>
                <a:latin typeface="Arial"/>
                <a:ea typeface="Arial"/>
                <a:cs typeface="Arial"/>
              </a:rPr>
              <a:t>Outputs</a:t>
            </a:r>
          </a:p>
        </p:txBody>
      </p:sp>
      <p:sp>
        <p:nvSpPr>
          <p:cNvPr id="14" name="TextBox 13"/>
          <p:cNvSpPr txBox="1"/>
          <p:nvPr/>
        </p:nvSpPr>
        <p:spPr>
          <a:xfrm>
            <a:off x="841248" y="2368296"/>
            <a:ext cx="2651760" cy="338328"/>
          </a:xfrm>
          <a:prstGeom prst="rect">
            <a:avLst/>
          </a:prstGeom>
          <a:noFill/>
        </p:spPr>
        <p:txBody>
          <a:bodyPr wrap="square" lIns="0" tIns="0" rIns="0" bIns="0" anchor="ctr"/>
          <a:lstStyle/>
          <a:p>
            <a:pPr algn="l"/>
            <a:r>
              <a:rPr sz="1350" b="1" i="0">
                <a:solidFill>
                  <a:srgbClr val="1C6402"/>
                </a:solidFill>
                <a:latin typeface="Arial"/>
                <a:ea typeface="Arial"/>
                <a:cs typeface="Arial"/>
              </a:rPr>
              <a:t>Host-gap patches</a:t>
            </a:r>
          </a:p>
        </p:txBody>
      </p:sp>
      <p:sp>
        <p:nvSpPr>
          <p:cNvPr id="15" name="TextBox 14"/>
          <p:cNvSpPr txBox="1"/>
          <p:nvPr/>
        </p:nvSpPr>
        <p:spPr>
          <a:xfrm>
            <a:off x="3630168" y="2368296"/>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MTP</a:t>
            </a:r>
          </a:p>
        </p:txBody>
      </p:sp>
      <p:sp>
        <p:nvSpPr>
          <p:cNvPr id="16" name="TextBox 15"/>
          <p:cNvSpPr txBox="1"/>
          <p:nvPr/>
        </p:nvSpPr>
        <p:spPr>
          <a:xfrm>
            <a:off x="5321808" y="2368296"/>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1–8</a:t>
            </a:r>
          </a:p>
        </p:txBody>
      </p:sp>
      <p:sp>
        <p:nvSpPr>
          <p:cNvPr id="17" name="TextBox 16"/>
          <p:cNvSpPr txBox="1"/>
          <p:nvPr/>
        </p:nvSpPr>
        <p:spPr>
          <a:xfrm>
            <a:off x="6281928" y="2368296"/>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1.094–1.096</a:t>
            </a:r>
            <a:r>
              <a:rPr sz="1150" b="0" i="0">
                <a:solidFill>
                  <a:srgbClr val="586B73"/>
                </a:solidFill>
                <a:latin typeface="Arial"/>
                <a:ea typeface="Arial"/>
                <a:cs typeface="Arial"/>
              </a:rPr>
              <a:t>  (1.090–1.101)</a:t>
            </a:r>
          </a:p>
        </p:txBody>
      </p:sp>
      <p:sp>
        <p:nvSpPr>
          <p:cNvPr id="18" name="TextBox 17"/>
          <p:cNvSpPr txBox="1"/>
          <p:nvPr/>
        </p:nvSpPr>
        <p:spPr>
          <a:xfrm>
            <a:off x="9299448" y="2368296"/>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19" name="TextBox 18"/>
          <p:cNvSpPr txBox="1"/>
          <p:nvPr/>
        </p:nvSpPr>
        <p:spPr>
          <a:xfrm>
            <a:off x="9985248" y="2368296"/>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token-identical</a:t>
            </a:r>
          </a:p>
        </p:txBody>
      </p:sp>
      <p:cxnSp>
        <p:nvCxnSpPr>
          <p:cNvPr id="20" name="Connector 19"/>
          <p:cNvCxnSpPr/>
          <p:nvPr/>
        </p:nvCxnSpPr>
        <p:spPr>
          <a:xfrm>
            <a:off x="731520" y="2734056"/>
            <a:ext cx="10744200" cy="0"/>
          </a:xfrm>
          <a:prstGeom prst="line">
            <a:avLst/>
          </a:prstGeom>
          <a:ln w="12700">
            <a:solidFill>
              <a:srgbClr val="D2DCDF"/>
            </a:solidFill>
          </a:ln>
        </p:spPr>
      </p:cxnSp>
      <p:sp>
        <p:nvSpPr>
          <p:cNvPr id="21" name="TextBox 20"/>
          <p:cNvSpPr txBox="1"/>
          <p:nvPr/>
        </p:nvSpPr>
        <p:spPr>
          <a:xfrm>
            <a:off x="841248" y="2761488"/>
            <a:ext cx="2651760" cy="338328"/>
          </a:xfrm>
          <a:prstGeom prst="rect">
            <a:avLst/>
          </a:prstGeom>
          <a:noFill/>
        </p:spPr>
        <p:txBody>
          <a:bodyPr wrap="square" lIns="0" tIns="0" rIns="0" bIns="0" anchor="ctr"/>
          <a:lstStyle/>
          <a:p>
            <a:pPr algn="l"/>
            <a:r>
              <a:rPr sz="1350" b="1" i="0">
                <a:solidFill>
                  <a:srgbClr val="1C6402"/>
                </a:solidFill>
                <a:latin typeface="Arial"/>
                <a:ea typeface="Arial"/>
                <a:cs typeface="Arial"/>
              </a:rPr>
              <a:t>Prefill delay, cap 16</a:t>
            </a:r>
          </a:p>
        </p:txBody>
      </p:sp>
      <p:sp>
        <p:nvSpPr>
          <p:cNvPr id="22" name="TextBox 21"/>
          <p:cNvSpPr txBox="1"/>
          <p:nvPr/>
        </p:nvSpPr>
        <p:spPr>
          <a:xfrm>
            <a:off x="3630168" y="2761488"/>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MTP</a:t>
            </a:r>
          </a:p>
        </p:txBody>
      </p:sp>
      <p:sp>
        <p:nvSpPr>
          <p:cNvPr id="23" name="TextBox 22"/>
          <p:cNvSpPr txBox="1"/>
          <p:nvPr/>
        </p:nvSpPr>
        <p:spPr>
          <a:xfrm>
            <a:off x="5321808" y="2761488"/>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32–128</a:t>
            </a:r>
          </a:p>
        </p:txBody>
      </p:sp>
      <p:sp>
        <p:nvSpPr>
          <p:cNvPr id="24" name="TextBox 23"/>
          <p:cNvSpPr txBox="1"/>
          <p:nvPr/>
        </p:nvSpPr>
        <p:spPr>
          <a:xfrm>
            <a:off x="6281928" y="2761488"/>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1.19–1.48</a:t>
            </a:r>
            <a:r>
              <a:rPr sz="1150" b="0" i="0">
                <a:solidFill>
                  <a:srgbClr val="586B73"/>
                </a:solidFill>
                <a:latin typeface="Arial"/>
                <a:ea typeface="Arial"/>
                <a:cs typeface="Arial"/>
              </a:rPr>
              <a:t>  (1.17–1.50)</a:t>
            </a:r>
          </a:p>
        </p:txBody>
      </p:sp>
      <p:sp>
        <p:nvSpPr>
          <p:cNvPr id="25" name="TextBox 24"/>
          <p:cNvSpPr txBox="1"/>
          <p:nvPr/>
        </p:nvSpPr>
        <p:spPr>
          <a:xfrm>
            <a:off x="9299448" y="2761488"/>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3</a:t>
            </a:r>
          </a:p>
        </p:txBody>
      </p:sp>
      <p:sp>
        <p:nvSpPr>
          <p:cNvPr id="26" name="TextBox 25"/>
          <p:cNvSpPr txBox="1"/>
          <p:nvPr/>
        </p:nvSpPr>
        <p:spPr>
          <a:xfrm>
            <a:off x="9985248" y="2761488"/>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rounding (64, 128)</a:t>
            </a:r>
          </a:p>
        </p:txBody>
      </p:sp>
      <p:cxnSp>
        <p:nvCxnSpPr>
          <p:cNvPr id="27" name="Connector 26"/>
          <p:cNvCxnSpPr/>
          <p:nvPr/>
        </p:nvCxnSpPr>
        <p:spPr>
          <a:xfrm>
            <a:off x="731520" y="3127248"/>
            <a:ext cx="10744200" cy="0"/>
          </a:xfrm>
          <a:prstGeom prst="line">
            <a:avLst/>
          </a:prstGeom>
          <a:ln w="12700">
            <a:solidFill>
              <a:srgbClr val="D2DCDF"/>
            </a:solidFill>
          </a:ln>
        </p:spPr>
      </p:cxnSp>
      <p:sp>
        <p:nvSpPr>
          <p:cNvPr id="28" name="TextBox 27"/>
          <p:cNvSpPr txBox="1"/>
          <p:nvPr/>
        </p:nvSpPr>
        <p:spPr>
          <a:xfrm>
            <a:off x="841248" y="3154680"/>
            <a:ext cx="2651760" cy="338328"/>
          </a:xfrm>
          <a:prstGeom prst="rect">
            <a:avLst/>
          </a:prstGeom>
          <a:noFill/>
        </p:spPr>
        <p:txBody>
          <a:bodyPr wrap="square" lIns="0" tIns="0" rIns="0" bIns="0" anchor="ctr"/>
          <a:lstStyle/>
          <a:p>
            <a:pPr algn="l"/>
            <a:r>
              <a:rPr sz="1350" b="1" i="0">
                <a:solidFill>
                  <a:srgbClr val="1B3A57"/>
                </a:solidFill>
                <a:latin typeface="Arial"/>
                <a:ea typeface="Arial"/>
                <a:cs typeface="Arial"/>
              </a:rPr>
              <a:t>Backbone GEMM routing</a:t>
            </a:r>
          </a:p>
        </p:txBody>
      </p:sp>
      <p:sp>
        <p:nvSpPr>
          <p:cNvPr id="29" name="TextBox 28"/>
          <p:cNvSpPr txBox="1"/>
          <p:nvPr/>
        </p:nvSpPr>
        <p:spPr>
          <a:xfrm>
            <a:off x="3630168" y="3154680"/>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plain</a:t>
            </a:r>
          </a:p>
        </p:txBody>
      </p:sp>
      <p:sp>
        <p:nvSpPr>
          <p:cNvPr id="30" name="TextBox 29"/>
          <p:cNvSpPr txBox="1"/>
          <p:nvPr/>
        </p:nvSpPr>
        <p:spPr>
          <a:xfrm>
            <a:off x="5321808" y="3154680"/>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31" name="TextBox 30"/>
          <p:cNvSpPr txBox="1"/>
          <p:nvPr/>
        </p:nvSpPr>
        <p:spPr>
          <a:xfrm>
            <a:off x="6281928" y="3154680"/>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1.035</a:t>
            </a:r>
            <a:r>
              <a:rPr sz="1150" b="0" i="0">
                <a:solidFill>
                  <a:srgbClr val="586B73"/>
                </a:solidFill>
                <a:latin typeface="Arial"/>
                <a:ea typeface="Arial"/>
                <a:cs typeface="Arial"/>
              </a:rPr>
              <a:t>  (1.034–1.035)</a:t>
            </a:r>
          </a:p>
        </p:txBody>
      </p:sp>
      <p:sp>
        <p:nvSpPr>
          <p:cNvPr id="32" name="TextBox 31"/>
          <p:cNvSpPr txBox="1"/>
          <p:nvPr/>
        </p:nvSpPr>
        <p:spPr>
          <a:xfrm>
            <a:off x="9299448" y="3154680"/>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33" name="TextBox 32"/>
          <p:cNvSpPr txBox="1"/>
          <p:nvPr/>
        </p:nvSpPr>
        <p:spPr>
          <a:xfrm>
            <a:off x="9985248" y="3154680"/>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rounding</a:t>
            </a:r>
          </a:p>
        </p:txBody>
      </p:sp>
      <p:cxnSp>
        <p:nvCxnSpPr>
          <p:cNvPr id="34" name="Connector 33"/>
          <p:cNvCxnSpPr/>
          <p:nvPr/>
        </p:nvCxnSpPr>
        <p:spPr>
          <a:xfrm>
            <a:off x="731520" y="3520440"/>
            <a:ext cx="10744200" cy="0"/>
          </a:xfrm>
          <a:prstGeom prst="line">
            <a:avLst/>
          </a:prstGeom>
          <a:ln w="12700">
            <a:solidFill>
              <a:srgbClr val="D2DCDF"/>
            </a:solidFill>
          </a:ln>
        </p:spPr>
      </p:cxnSp>
      <p:sp>
        <p:nvSpPr>
          <p:cNvPr id="35" name="TextBox 34"/>
          <p:cNvSpPr txBox="1"/>
          <p:nvPr/>
        </p:nvSpPr>
        <p:spPr>
          <a:xfrm>
            <a:off x="841248" y="3547872"/>
            <a:ext cx="2651760" cy="338328"/>
          </a:xfrm>
          <a:prstGeom prst="rect">
            <a:avLst/>
          </a:prstGeom>
          <a:noFill/>
        </p:spPr>
        <p:txBody>
          <a:bodyPr wrap="square" lIns="0" tIns="0" rIns="0" bIns="0" anchor="ctr"/>
          <a:lstStyle/>
          <a:p>
            <a:pPr algn="l"/>
            <a:r>
              <a:rPr sz="1350" b="1" i="0">
                <a:solidFill>
                  <a:srgbClr val="1B3A57"/>
                </a:solidFill>
                <a:latin typeface="Arial"/>
                <a:ea typeface="Arial"/>
                <a:cs typeface="Arial"/>
              </a:rPr>
              <a:t>Replayed GDN decoding</a:t>
            </a:r>
          </a:p>
        </p:txBody>
      </p:sp>
      <p:sp>
        <p:nvSpPr>
          <p:cNvPr id="36" name="TextBox 35"/>
          <p:cNvSpPr txBox="1"/>
          <p:nvPr/>
        </p:nvSpPr>
        <p:spPr>
          <a:xfrm>
            <a:off x="3630168" y="3547872"/>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plain</a:t>
            </a:r>
          </a:p>
        </p:txBody>
      </p:sp>
      <p:sp>
        <p:nvSpPr>
          <p:cNvPr id="37" name="TextBox 36"/>
          <p:cNvSpPr txBox="1"/>
          <p:nvPr/>
        </p:nvSpPr>
        <p:spPr>
          <a:xfrm>
            <a:off x="5321808" y="3547872"/>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128</a:t>
            </a:r>
          </a:p>
        </p:txBody>
      </p:sp>
      <p:sp>
        <p:nvSpPr>
          <p:cNvPr id="38" name="TextBox 37"/>
          <p:cNvSpPr txBox="1"/>
          <p:nvPr/>
        </p:nvSpPr>
        <p:spPr>
          <a:xfrm>
            <a:off x="6281928" y="3547872"/>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1.081</a:t>
            </a:r>
            <a:r>
              <a:rPr sz="1150" b="0" i="0">
                <a:solidFill>
                  <a:srgbClr val="586B73"/>
                </a:solidFill>
                <a:latin typeface="Arial"/>
                <a:ea typeface="Arial"/>
                <a:cs typeface="Arial"/>
              </a:rPr>
              <a:t>  (one pair)</a:t>
            </a:r>
          </a:p>
        </p:txBody>
      </p:sp>
      <p:sp>
        <p:nvSpPr>
          <p:cNvPr id="39" name="TextBox 38"/>
          <p:cNvSpPr txBox="1"/>
          <p:nvPr/>
        </p:nvSpPr>
        <p:spPr>
          <a:xfrm>
            <a:off x="9299448" y="3547872"/>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40" name="TextBox 39"/>
          <p:cNvSpPr txBox="1"/>
          <p:nvPr/>
        </p:nvSpPr>
        <p:spPr>
          <a:xfrm>
            <a:off x="9985248" y="3547872"/>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rounding</a:t>
            </a:r>
          </a:p>
        </p:txBody>
      </p:sp>
      <p:cxnSp>
        <p:nvCxnSpPr>
          <p:cNvPr id="41" name="Connector 40"/>
          <p:cNvCxnSpPr/>
          <p:nvPr/>
        </p:nvCxnSpPr>
        <p:spPr>
          <a:xfrm>
            <a:off x="731520" y="3913632"/>
            <a:ext cx="10744200" cy="0"/>
          </a:xfrm>
          <a:prstGeom prst="line">
            <a:avLst/>
          </a:prstGeom>
          <a:ln w="12700">
            <a:solidFill>
              <a:srgbClr val="D2DCDF"/>
            </a:solidFill>
          </a:ln>
        </p:spPr>
      </p:cxnSp>
      <p:sp>
        <p:nvSpPr>
          <p:cNvPr id="42" name="TextBox 41"/>
          <p:cNvSpPr txBox="1"/>
          <p:nvPr/>
        </p:nvSpPr>
        <p:spPr>
          <a:xfrm>
            <a:off x="841248" y="3941064"/>
            <a:ext cx="2651760" cy="338328"/>
          </a:xfrm>
          <a:prstGeom prst="rect">
            <a:avLst/>
          </a:prstGeom>
          <a:noFill/>
        </p:spPr>
        <p:txBody>
          <a:bodyPr wrap="square" lIns="0" tIns="0" rIns="0" bIns="0" anchor="ctr"/>
          <a:lstStyle/>
          <a:p>
            <a:pPr algn="l"/>
            <a:r>
              <a:rPr sz="1350" b="1" i="0">
                <a:solidFill>
                  <a:srgbClr val="CC79A7"/>
                </a:solidFill>
                <a:latin typeface="Arial"/>
                <a:ea typeface="Arial"/>
                <a:cs typeface="Arial"/>
              </a:rPr>
              <a:t>Fold verify</a:t>
            </a:r>
          </a:p>
        </p:txBody>
      </p:sp>
      <p:sp>
        <p:nvSpPr>
          <p:cNvPr id="43" name="TextBox 42"/>
          <p:cNvSpPr txBox="1"/>
          <p:nvPr/>
        </p:nvSpPr>
        <p:spPr>
          <a:xfrm>
            <a:off x="3630168" y="3941064"/>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DFlash-16</a:t>
            </a:r>
          </a:p>
        </p:txBody>
      </p:sp>
      <p:sp>
        <p:nvSpPr>
          <p:cNvPr id="44" name="TextBox 43"/>
          <p:cNvSpPr txBox="1"/>
          <p:nvPr/>
        </p:nvSpPr>
        <p:spPr>
          <a:xfrm>
            <a:off x="5321808" y="3941064"/>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 · 8–32</a:t>
            </a:r>
          </a:p>
        </p:txBody>
      </p:sp>
      <p:sp>
        <p:nvSpPr>
          <p:cNvPr id="45" name="TextBox 44"/>
          <p:cNvSpPr txBox="1"/>
          <p:nvPr/>
        </p:nvSpPr>
        <p:spPr>
          <a:xfrm>
            <a:off x="6281928" y="3941064"/>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0.968 · 1.061–1.120</a:t>
            </a:r>
            <a:r>
              <a:rPr sz="1150" b="0" i="0">
                <a:solidFill>
                  <a:srgbClr val="586B73"/>
                </a:solidFill>
                <a:latin typeface="Arial"/>
                <a:ea typeface="Arial"/>
                <a:cs typeface="Arial"/>
              </a:rPr>
              <a:t/>
            </a:r>
          </a:p>
        </p:txBody>
      </p:sp>
      <p:sp>
        <p:nvSpPr>
          <p:cNvPr id="46" name="TextBox 45"/>
          <p:cNvSpPr txBox="1"/>
          <p:nvPr/>
        </p:nvSpPr>
        <p:spPr>
          <a:xfrm>
            <a:off x="9299448" y="3941064"/>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47" name="TextBox 46"/>
          <p:cNvSpPr txBox="1"/>
          <p:nvPr/>
        </p:nvSpPr>
        <p:spPr>
          <a:xfrm>
            <a:off x="9985248" y="3941064"/>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bitwise</a:t>
            </a:r>
          </a:p>
        </p:txBody>
      </p:sp>
      <p:cxnSp>
        <p:nvCxnSpPr>
          <p:cNvPr id="48" name="Connector 47"/>
          <p:cNvCxnSpPr/>
          <p:nvPr/>
        </p:nvCxnSpPr>
        <p:spPr>
          <a:xfrm>
            <a:off x="731520" y="4306824"/>
            <a:ext cx="10744200" cy="0"/>
          </a:xfrm>
          <a:prstGeom prst="line">
            <a:avLst/>
          </a:prstGeom>
          <a:ln w="12700">
            <a:solidFill>
              <a:srgbClr val="D2DCDF"/>
            </a:solidFill>
          </a:ln>
        </p:spPr>
      </p:cxnSp>
      <p:sp>
        <p:nvSpPr>
          <p:cNvPr id="49" name="TextBox 48"/>
          <p:cNvSpPr txBox="1"/>
          <p:nvPr/>
        </p:nvSpPr>
        <p:spPr>
          <a:xfrm>
            <a:off x="841248" y="4334256"/>
            <a:ext cx="2651760" cy="338328"/>
          </a:xfrm>
          <a:prstGeom prst="rect">
            <a:avLst/>
          </a:prstGeom>
          <a:noFill/>
        </p:spPr>
        <p:txBody>
          <a:bodyPr wrap="square" lIns="0" tIns="0" rIns="0" bIns="0" anchor="ctr"/>
          <a:lstStyle/>
          <a:p>
            <a:pPr algn="l"/>
            <a:r>
              <a:rPr sz="1350" b="1" i="0">
                <a:solidFill>
                  <a:srgbClr val="CC79A7"/>
                </a:solidFill>
                <a:latin typeface="Arial"/>
                <a:ea typeface="Arial"/>
                <a:cs typeface="Arial"/>
              </a:rPr>
              <a:t>Fold, narrow tiles, FA4</a:t>
            </a:r>
          </a:p>
        </p:txBody>
      </p:sp>
      <p:sp>
        <p:nvSpPr>
          <p:cNvPr id="50" name="TextBox 49"/>
          <p:cNvSpPr txBox="1"/>
          <p:nvPr/>
        </p:nvSpPr>
        <p:spPr>
          <a:xfrm>
            <a:off x="3630168" y="4334256"/>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DFlash-16</a:t>
            </a:r>
          </a:p>
        </p:txBody>
      </p:sp>
      <p:sp>
        <p:nvSpPr>
          <p:cNvPr id="51" name="TextBox 50"/>
          <p:cNvSpPr txBox="1"/>
          <p:nvPr/>
        </p:nvSpPr>
        <p:spPr>
          <a:xfrm>
            <a:off x="5321808" y="4334256"/>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1–4</a:t>
            </a:r>
          </a:p>
        </p:txBody>
      </p:sp>
      <p:sp>
        <p:nvSpPr>
          <p:cNvPr id="52" name="TextBox 51"/>
          <p:cNvSpPr txBox="1"/>
          <p:nvPr/>
        </p:nvSpPr>
        <p:spPr>
          <a:xfrm>
            <a:off x="6281928" y="4334256"/>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x 1.084–1.093</a:t>
            </a:r>
            <a:r>
              <a:rPr sz="1150" b="0" i="0">
                <a:solidFill>
                  <a:srgbClr val="586B73"/>
                </a:solidFill>
                <a:latin typeface="Arial"/>
                <a:ea typeface="Arial"/>
                <a:cs typeface="Arial"/>
              </a:rPr>
              <a:t>  (1.056–1.114)</a:t>
            </a:r>
          </a:p>
        </p:txBody>
      </p:sp>
      <p:sp>
        <p:nvSpPr>
          <p:cNvPr id="53" name="TextBox 52"/>
          <p:cNvSpPr txBox="1"/>
          <p:nvPr/>
        </p:nvSpPr>
        <p:spPr>
          <a:xfrm>
            <a:off x="9299448" y="4334256"/>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3</a:t>
            </a:r>
          </a:p>
        </p:txBody>
      </p:sp>
      <p:sp>
        <p:nvSpPr>
          <p:cNvPr id="54" name="TextBox 53"/>
          <p:cNvSpPr txBox="1"/>
          <p:nvPr/>
        </p:nvSpPr>
        <p:spPr>
          <a:xfrm>
            <a:off x="9985248" y="4334256"/>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rounding (c = 1)</a:t>
            </a:r>
          </a:p>
        </p:txBody>
      </p:sp>
      <p:cxnSp>
        <p:nvCxnSpPr>
          <p:cNvPr id="55" name="Connector 54"/>
          <p:cNvCxnSpPr/>
          <p:nvPr/>
        </p:nvCxnSpPr>
        <p:spPr>
          <a:xfrm>
            <a:off x="731520" y="4700016"/>
            <a:ext cx="10744200" cy="0"/>
          </a:xfrm>
          <a:prstGeom prst="line">
            <a:avLst/>
          </a:prstGeom>
          <a:ln w="12700">
            <a:solidFill>
              <a:srgbClr val="D2DCDF"/>
            </a:solidFill>
          </a:ln>
        </p:spPr>
      </p:cxnSp>
      <p:sp>
        <p:nvSpPr>
          <p:cNvPr id="56" name="TextBox 55"/>
          <p:cNvSpPr txBox="1"/>
          <p:nvPr/>
        </p:nvSpPr>
        <p:spPr>
          <a:xfrm>
            <a:off x="841248" y="4727448"/>
            <a:ext cx="2651760" cy="338328"/>
          </a:xfrm>
          <a:prstGeom prst="rect">
            <a:avLst/>
          </a:prstGeom>
          <a:noFill/>
        </p:spPr>
        <p:txBody>
          <a:bodyPr wrap="square" lIns="0" tIns="0" rIns="0" bIns="0" anchor="ctr"/>
          <a:lstStyle/>
          <a:p>
            <a:pPr algn="l"/>
            <a:r>
              <a:rPr sz="1350" b="1" i="0">
                <a:solidFill>
                  <a:srgbClr val="6F1FA7"/>
                </a:solidFill>
                <a:latin typeface="Arial"/>
                <a:ea typeface="Arial"/>
                <a:cs typeface="Arial"/>
              </a:rPr>
              <a:t>Fold, FA4 target</a:t>
            </a:r>
          </a:p>
        </p:txBody>
      </p:sp>
      <p:sp>
        <p:nvSpPr>
          <p:cNvPr id="57" name="TextBox 56"/>
          <p:cNvSpPr txBox="1"/>
          <p:nvPr/>
        </p:nvSpPr>
        <p:spPr>
          <a:xfrm>
            <a:off x="3630168" y="4727448"/>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DFlash-8</a:t>
            </a:r>
          </a:p>
        </p:txBody>
      </p:sp>
      <p:sp>
        <p:nvSpPr>
          <p:cNvPr id="58" name="TextBox 57"/>
          <p:cNvSpPr txBox="1"/>
          <p:nvPr/>
        </p:nvSpPr>
        <p:spPr>
          <a:xfrm>
            <a:off x="5321808" y="4727448"/>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8–32</a:t>
            </a:r>
          </a:p>
        </p:txBody>
      </p:sp>
      <p:sp>
        <p:nvSpPr>
          <p:cNvPr id="59" name="TextBox 58"/>
          <p:cNvSpPr txBox="1"/>
          <p:nvPr/>
        </p:nvSpPr>
        <p:spPr>
          <a:xfrm>
            <a:off x="6281928" y="4727448"/>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1.124–1.137</a:t>
            </a:r>
            <a:r>
              <a:rPr sz="1150" b="0" i="0">
                <a:solidFill>
                  <a:srgbClr val="586B73"/>
                </a:solidFill>
                <a:latin typeface="Arial"/>
                <a:ea typeface="Arial"/>
                <a:cs typeface="Arial"/>
              </a:rPr>
              <a:t>  (1.108–1.166)</a:t>
            </a:r>
          </a:p>
        </p:txBody>
      </p:sp>
      <p:sp>
        <p:nvSpPr>
          <p:cNvPr id="60" name="TextBox 59"/>
          <p:cNvSpPr txBox="1"/>
          <p:nvPr/>
        </p:nvSpPr>
        <p:spPr>
          <a:xfrm>
            <a:off x="9299448" y="4727448"/>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3</a:t>
            </a:r>
          </a:p>
        </p:txBody>
      </p:sp>
      <p:sp>
        <p:nvSpPr>
          <p:cNvPr id="61" name="TextBox 60"/>
          <p:cNvSpPr txBox="1"/>
          <p:nvPr/>
        </p:nvSpPr>
        <p:spPr>
          <a:xfrm>
            <a:off x="9985248" y="4727448"/>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rounding (c = 1)</a:t>
            </a:r>
          </a:p>
        </p:txBody>
      </p:sp>
      <p:cxnSp>
        <p:nvCxnSpPr>
          <p:cNvPr id="62" name="Connector 61"/>
          <p:cNvCxnSpPr/>
          <p:nvPr/>
        </p:nvCxnSpPr>
        <p:spPr>
          <a:xfrm>
            <a:off x="731520" y="5093207"/>
            <a:ext cx="10744200" cy="0"/>
          </a:xfrm>
          <a:prstGeom prst="line">
            <a:avLst/>
          </a:prstGeom>
          <a:ln w="12700">
            <a:solidFill>
              <a:srgbClr val="D2DCDF"/>
            </a:solidFill>
          </a:ln>
        </p:spPr>
      </p:cxnSp>
      <p:sp>
        <p:nvSpPr>
          <p:cNvPr id="63" name="TextBox 62"/>
          <p:cNvSpPr txBox="1"/>
          <p:nvPr/>
        </p:nvSpPr>
        <p:spPr>
          <a:xfrm>
            <a:off x="841248" y="5120640"/>
            <a:ext cx="2651760" cy="338328"/>
          </a:xfrm>
          <a:prstGeom prst="rect">
            <a:avLst/>
          </a:prstGeom>
          <a:noFill/>
        </p:spPr>
        <p:txBody>
          <a:bodyPr wrap="square" lIns="0" tIns="0" rIns="0" bIns="0" anchor="ctr"/>
          <a:lstStyle/>
          <a:p>
            <a:pPr algn="l"/>
            <a:r>
              <a:rPr sz="1350" b="1" i="0">
                <a:solidFill>
                  <a:srgbClr val="0072B2"/>
                </a:solidFill>
                <a:latin typeface="Arial"/>
                <a:ea typeface="Arial"/>
                <a:cs typeface="Arial"/>
              </a:rPr>
              <a:t>Certified head</a:t>
            </a:r>
          </a:p>
        </p:txBody>
      </p:sp>
      <p:sp>
        <p:nvSpPr>
          <p:cNvPr id="64" name="TextBox 63"/>
          <p:cNvSpPr txBox="1"/>
          <p:nvPr/>
        </p:nvSpPr>
        <p:spPr>
          <a:xfrm>
            <a:off x="3630168" y="5120640"/>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plain · MTP · D-16</a:t>
            </a:r>
          </a:p>
        </p:txBody>
      </p:sp>
      <p:sp>
        <p:nvSpPr>
          <p:cNvPr id="65" name="TextBox 64"/>
          <p:cNvSpPr txBox="1"/>
          <p:nvPr/>
        </p:nvSpPr>
        <p:spPr>
          <a:xfrm>
            <a:off x="5321808" y="5120640"/>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a:t>
            </a:r>
          </a:p>
        </p:txBody>
      </p:sp>
      <p:sp>
        <p:nvSpPr>
          <p:cNvPr id="66" name="TextBox 65"/>
          <p:cNvSpPr txBox="1"/>
          <p:nvPr/>
        </p:nvSpPr>
        <p:spPr>
          <a:xfrm>
            <a:off x="6281928" y="5120640"/>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1.025 · 1.046 · 1.013</a:t>
            </a:r>
            <a:r>
              <a:rPr sz="1150" b="0" i="0">
                <a:solidFill>
                  <a:srgbClr val="586B73"/>
                </a:solidFill>
                <a:latin typeface="Arial"/>
                <a:ea typeface="Arial"/>
                <a:cs typeface="Arial"/>
              </a:rPr>
              <a:t/>
            </a:r>
          </a:p>
        </p:txBody>
      </p:sp>
      <p:sp>
        <p:nvSpPr>
          <p:cNvPr id="67" name="TextBox 66"/>
          <p:cNvSpPr txBox="1"/>
          <p:nvPr/>
        </p:nvSpPr>
        <p:spPr>
          <a:xfrm>
            <a:off x="9299448" y="5120640"/>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3</a:t>
            </a:r>
          </a:p>
        </p:txBody>
      </p:sp>
      <p:sp>
        <p:nvSpPr>
          <p:cNvPr id="68" name="TextBox 67"/>
          <p:cNvSpPr txBox="1"/>
          <p:nvPr/>
        </p:nvSpPr>
        <p:spPr>
          <a:xfrm>
            <a:off x="9985248" y="5120640"/>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identical</a:t>
            </a:r>
          </a:p>
        </p:txBody>
      </p:sp>
      <p:cxnSp>
        <p:nvCxnSpPr>
          <p:cNvPr id="69" name="Connector 68"/>
          <p:cNvCxnSpPr/>
          <p:nvPr/>
        </p:nvCxnSpPr>
        <p:spPr>
          <a:xfrm>
            <a:off x="731520" y="5486399"/>
            <a:ext cx="10744200" cy="0"/>
          </a:xfrm>
          <a:prstGeom prst="line">
            <a:avLst/>
          </a:prstGeom>
          <a:ln w="12700">
            <a:solidFill>
              <a:srgbClr val="D2DCDF"/>
            </a:solidFill>
          </a:ln>
        </p:spPr>
      </p:cxnSp>
      <p:sp>
        <p:nvSpPr>
          <p:cNvPr id="70" name="TextBox 69"/>
          <p:cNvSpPr txBox="1"/>
          <p:nvPr/>
        </p:nvSpPr>
        <p:spPr>
          <a:xfrm>
            <a:off x="841248" y="5513831"/>
            <a:ext cx="2651760" cy="338328"/>
          </a:xfrm>
          <a:prstGeom prst="rect">
            <a:avLst/>
          </a:prstGeom>
          <a:noFill/>
        </p:spPr>
        <p:txBody>
          <a:bodyPr wrap="square" lIns="0" tIns="0" rIns="0" bIns="0" anchor="ctr"/>
          <a:lstStyle/>
          <a:p>
            <a:pPr algn="l"/>
            <a:r>
              <a:rPr sz="1350" b="1" i="0">
                <a:solidFill>
                  <a:srgbClr val="0072B2"/>
                </a:solidFill>
                <a:latin typeface="Arial"/>
                <a:ea typeface="Arial"/>
                <a:cs typeface="Arial"/>
              </a:rPr>
              <a:t>Certified head</a:t>
            </a:r>
          </a:p>
        </p:txBody>
      </p:sp>
      <p:sp>
        <p:nvSpPr>
          <p:cNvPr id="71" name="TextBox 70"/>
          <p:cNvSpPr txBox="1"/>
          <p:nvPr/>
        </p:nvSpPr>
        <p:spPr>
          <a:xfrm>
            <a:off x="3630168" y="5513831"/>
            <a:ext cx="1554480" cy="338328"/>
          </a:xfrm>
          <a:prstGeom prst="rect">
            <a:avLst/>
          </a:prstGeom>
          <a:noFill/>
        </p:spPr>
        <p:txBody>
          <a:bodyPr wrap="square" lIns="0" tIns="0" rIns="0" bIns="0" anchor="ctr"/>
          <a:lstStyle/>
          <a:p>
            <a:pPr algn="l"/>
            <a:r>
              <a:rPr sz="1350" b="0" i="0">
                <a:solidFill>
                  <a:srgbClr val="1B3A57"/>
                </a:solidFill>
                <a:latin typeface="Arial"/>
                <a:ea typeface="Arial"/>
                <a:cs typeface="Arial"/>
              </a:rPr>
              <a:t>D-16 · D-8</a:t>
            </a:r>
          </a:p>
        </p:txBody>
      </p:sp>
      <p:sp>
        <p:nvSpPr>
          <p:cNvPr id="72" name="TextBox 71"/>
          <p:cNvSpPr txBox="1"/>
          <p:nvPr/>
        </p:nvSpPr>
        <p:spPr>
          <a:xfrm>
            <a:off x="5321808" y="5513831"/>
            <a:ext cx="822960" cy="338328"/>
          </a:xfrm>
          <a:prstGeom prst="rect">
            <a:avLst/>
          </a:prstGeom>
          <a:noFill/>
        </p:spPr>
        <p:txBody>
          <a:bodyPr wrap="square" lIns="0" tIns="0" rIns="0" bIns="0" anchor="ctr"/>
          <a:lstStyle/>
          <a:p>
            <a:pPr algn="l"/>
            <a:r>
              <a:rPr sz="1350" b="0" i="0">
                <a:solidFill>
                  <a:srgbClr val="1B3A57"/>
                </a:solidFill>
                <a:latin typeface="Arial"/>
                <a:ea typeface="Arial"/>
                <a:cs typeface="Arial"/>
              </a:rPr>
              <a:t>2–4 · 4–8</a:t>
            </a:r>
          </a:p>
        </p:txBody>
      </p:sp>
      <p:sp>
        <p:nvSpPr>
          <p:cNvPr id="73" name="TextBox 72"/>
          <p:cNvSpPr txBox="1"/>
          <p:nvPr/>
        </p:nvSpPr>
        <p:spPr>
          <a:xfrm>
            <a:off x="6281928" y="5513831"/>
            <a:ext cx="2880360" cy="338328"/>
          </a:xfrm>
          <a:prstGeom prst="rect">
            <a:avLst/>
          </a:prstGeom>
          <a:noFill/>
        </p:spPr>
        <p:txBody>
          <a:bodyPr wrap="square" lIns="0" tIns="0" rIns="0" bIns="0" anchor="ctr"/>
          <a:lstStyle/>
          <a:p>
            <a:pPr algn="l"/>
            <a:r>
              <a:rPr sz="1350" b="0" i="0">
                <a:solidFill>
                  <a:srgbClr val="1B3A57"/>
                </a:solidFill>
                <a:latin typeface="Arial"/>
                <a:ea typeface="Arial"/>
                <a:cs typeface="Arial"/>
              </a:rPr>
              <a:t>0.970–0.990 · 0.975–0.988</a:t>
            </a:r>
            <a:r>
              <a:rPr sz="1150" b="0" i="0">
                <a:solidFill>
                  <a:srgbClr val="586B73"/>
                </a:solidFill>
                <a:latin typeface="Arial"/>
                <a:ea typeface="Arial"/>
                <a:cs typeface="Arial"/>
              </a:rPr>
              <a:t/>
            </a:r>
          </a:p>
        </p:txBody>
      </p:sp>
      <p:sp>
        <p:nvSpPr>
          <p:cNvPr id="74" name="TextBox 73"/>
          <p:cNvSpPr txBox="1"/>
          <p:nvPr/>
        </p:nvSpPr>
        <p:spPr>
          <a:xfrm>
            <a:off x="9299448" y="5513831"/>
            <a:ext cx="548640" cy="338328"/>
          </a:xfrm>
          <a:prstGeom prst="rect">
            <a:avLst/>
          </a:prstGeom>
          <a:noFill/>
        </p:spPr>
        <p:txBody>
          <a:bodyPr wrap="square" lIns="0" tIns="0" rIns="0" bIns="0" anchor="ctr"/>
          <a:lstStyle/>
          <a:p>
            <a:pPr algn="l"/>
            <a:r>
              <a:rPr sz="1350" b="0" i="0">
                <a:solidFill>
                  <a:srgbClr val="1B3A57"/>
                </a:solidFill>
                <a:latin typeface="Arial"/>
                <a:ea typeface="Arial"/>
                <a:cs typeface="Arial"/>
              </a:rPr>
              <a:t>3</a:t>
            </a:r>
          </a:p>
        </p:txBody>
      </p:sp>
      <p:sp>
        <p:nvSpPr>
          <p:cNvPr id="75" name="TextBox 74"/>
          <p:cNvSpPr txBox="1"/>
          <p:nvPr/>
        </p:nvSpPr>
        <p:spPr>
          <a:xfrm>
            <a:off x="9985248" y="5513831"/>
            <a:ext cx="1463040" cy="338328"/>
          </a:xfrm>
          <a:prstGeom prst="rect">
            <a:avLst/>
          </a:prstGeom>
          <a:noFill/>
        </p:spPr>
        <p:txBody>
          <a:bodyPr wrap="square" lIns="0" tIns="0" rIns="0" bIns="0" anchor="ctr"/>
          <a:lstStyle/>
          <a:p>
            <a:pPr algn="l"/>
            <a:r>
              <a:rPr sz="1350" b="0" i="0">
                <a:solidFill>
                  <a:srgbClr val="1B3A57"/>
                </a:solidFill>
                <a:latin typeface="Arial"/>
                <a:ea typeface="Arial"/>
                <a:cs typeface="Arial"/>
              </a:rPr>
              <a:t>check mode</a:t>
            </a:r>
          </a:p>
        </p:txBody>
      </p:sp>
      <p:cxnSp>
        <p:nvCxnSpPr>
          <p:cNvPr id="76" name="Connector 75"/>
          <p:cNvCxnSpPr/>
          <p:nvPr/>
        </p:nvCxnSpPr>
        <p:spPr>
          <a:xfrm>
            <a:off x="731520" y="5879591"/>
            <a:ext cx="10744200" cy="0"/>
          </a:xfrm>
          <a:prstGeom prst="line">
            <a:avLst/>
          </a:prstGeom>
          <a:ln w="12700">
            <a:solidFill>
              <a:srgbClr val="D2DCDF"/>
            </a:solidFill>
          </a:ln>
        </p:spPr>
      </p:cxnSp>
      <p:sp>
        <p:nvSpPr>
          <p:cNvPr id="77" name="TextBox 76"/>
          <p:cNvSpPr txBox="1"/>
          <p:nvPr/>
        </p:nvSpPr>
        <p:spPr>
          <a:xfrm>
            <a:off x="731520" y="5952743"/>
            <a:ext cx="10744200" cy="365760"/>
          </a:xfrm>
          <a:prstGeom prst="rect">
            <a:avLst/>
          </a:prstGeom>
          <a:noFill/>
        </p:spPr>
        <p:txBody>
          <a:bodyPr wrap="square" lIns="0" tIns="0" rIns="0" bIns="0" anchor="t"/>
          <a:lstStyle/>
          <a:p>
            <a:pPr algn="l"/>
            <a:r>
              <a:rPr sz="1250" b="0" i="0">
                <a:solidFill>
                  <a:srgbClr val="586B73"/>
                </a:solidFill>
                <a:latin typeface="Arial"/>
                <a:ea typeface="Arial"/>
                <a:cs typeface="Arial"/>
              </a:rPr>
              <a:t>“rounding”: exact up to rounding, as classed at the c given. The prefill delay against the best non-speculative arm: 1.18–1.32× at c = 48–128.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The fold, narrow tiles and FA4: 8–14% at c = 1–32</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 evidence/speed_lowc (probe1, probe3, confirm) · engine/sglang/README.md (speed-lowc) · three sessions against stock DFlash</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B20</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Target attention, 8 layers, one request: µs per forward (microbenchmark)</a:t>
            </a:r>
          </a:p>
        </p:txBody>
      </p:sp>
      <p:cxnSp>
        <p:nvCxnSpPr>
          <p:cNvPr id="7" name="Connector 6"/>
          <p:cNvCxnSpPr/>
          <p:nvPr/>
        </p:nvCxnSpPr>
        <p:spPr>
          <a:xfrm>
            <a:off x="1417320" y="5394960"/>
            <a:ext cx="3657600" cy="0"/>
          </a:xfrm>
          <a:prstGeom prst="line">
            <a:avLst/>
          </a:prstGeom>
          <a:ln w="9525">
            <a:solidFill>
              <a:srgbClr val="6B7780"/>
            </a:solidFill>
          </a:ln>
        </p:spPr>
      </p:cxnSp>
      <p:sp>
        <p:nvSpPr>
          <p:cNvPr id="8" name="TextBox 7"/>
          <p:cNvSpPr txBox="1"/>
          <p:nvPr/>
        </p:nvSpPr>
        <p:spPr>
          <a:xfrm>
            <a:off x="758952" y="527608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0</a:t>
            </a:r>
          </a:p>
        </p:txBody>
      </p:sp>
      <p:cxnSp>
        <p:nvCxnSpPr>
          <p:cNvPr id="9" name="Connector 8"/>
          <p:cNvCxnSpPr/>
          <p:nvPr/>
        </p:nvCxnSpPr>
        <p:spPr>
          <a:xfrm>
            <a:off x="1417320" y="4617720"/>
            <a:ext cx="3657600" cy="0"/>
          </a:xfrm>
          <a:prstGeom prst="line">
            <a:avLst/>
          </a:prstGeom>
          <a:ln w="9525">
            <a:solidFill>
              <a:srgbClr val="D2DCDF"/>
            </a:solidFill>
          </a:ln>
        </p:spPr>
      </p:cxnSp>
      <p:sp>
        <p:nvSpPr>
          <p:cNvPr id="10" name="TextBox 9"/>
          <p:cNvSpPr txBox="1"/>
          <p:nvPr/>
        </p:nvSpPr>
        <p:spPr>
          <a:xfrm>
            <a:off x="758952" y="449884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400</a:t>
            </a:r>
          </a:p>
        </p:txBody>
      </p:sp>
      <p:cxnSp>
        <p:nvCxnSpPr>
          <p:cNvPr id="11" name="Connector 10"/>
          <p:cNvCxnSpPr/>
          <p:nvPr/>
        </p:nvCxnSpPr>
        <p:spPr>
          <a:xfrm>
            <a:off x="1417320" y="3840480"/>
            <a:ext cx="3657600" cy="0"/>
          </a:xfrm>
          <a:prstGeom prst="line">
            <a:avLst/>
          </a:prstGeom>
          <a:ln w="9525">
            <a:solidFill>
              <a:srgbClr val="D2DCDF"/>
            </a:solidFill>
          </a:ln>
        </p:spPr>
      </p:cxnSp>
      <p:sp>
        <p:nvSpPr>
          <p:cNvPr id="12" name="TextBox 11"/>
          <p:cNvSpPr txBox="1"/>
          <p:nvPr/>
        </p:nvSpPr>
        <p:spPr>
          <a:xfrm>
            <a:off x="758952" y="372160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800</a:t>
            </a:r>
          </a:p>
        </p:txBody>
      </p:sp>
      <p:cxnSp>
        <p:nvCxnSpPr>
          <p:cNvPr id="13" name="Connector 12"/>
          <p:cNvCxnSpPr/>
          <p:nvPr/>
        </p:nvCxnSpPr>
        <p:spPr>
          <a:xfrm>
            <a:off x="1417320" y="3063240"/>
            <a:ext cx="3657600" cy="0"/>
          </a:xfrm>
          <a:prstGeom prst="line">
            <a:avLst/>
          </a:prstGeom>
          <a:ln w="9525">
            <a:solidFill>
              <a:srgbClr val="D2DCDF"/>
            </a:solidFill>
          </a:ln>
        </p:spPr>
      </p:cxnSp>
      <p:sp>
        <p:nvSpPr>
          <p:cNvPr id="14" name="TextBox 13"/>
          <p:cNvSpPr txBox="1"/>
          <p:nvPr/>
        </p:nvSpPr>
        <p:spPr>
          <a:xfrm>
            <a:off x="758952" y="294436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1,200</a:t>
            </a:r>
          </a:p>
        </p:txBody>
      </p:sp>
      <p:cxnSp>
        <p:nvCxnSpPr>
          <p:cNvPr id="15" name="Connector 14"/>
          <p:cNvCxnSpPr/>
          <p:nvPr/>
        </p:nvCxnSpPr>
        <p:spPr>
          <a:xfrm>
            <a:off x="1417320" y="2286000"/>
            <a:ext cx="3657600" cy="0"/>
          </a:xfrm>
          <a:prstGeom prst="line">
            <a:avLst/>
          </a:prstGeom>
          <a:ln w="9525">
            <a:solidFill>
              <a:srgbClr val="D2DCDF"/>
            </a:solidFill>
          </a:ln>
        </p:spPr>
      </p:cxnSp>
      <p:sp>
        <p:nvSpPr>
          <p:cNvPr id="16" name="TextBox 15"/>
          <p:cNvSpPr txBox="1"/>
          <p:nvPr/>
        </p:nvSpPr>
        <p:spPr>
          <a:xfrm>
            <a:off x="758952" y="216712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1,600</a:t>
            </a:r>
          </a:p>
        </p:txBody>
      </p:sp>
      <p:sp>
        <p:nvSpPr>
          <p:cNvPr id="17" name="TextBox 16"/>
          <p:cNvSpPr txBox="1"/>
          <p:nvPr/>
        </p:nvSpPr>
        <p:spPr>
          <a:xfrm>
            <a:off x="1051560" y="5440680"/>
            <a:ext cx="731520" cy="219456"/>
          </a:xfrm>
          <a:prstGeom prst="rect">
            <a:avLst/>
          </a:prstGeom>
          <a:noFill/>
        </p:spPr>
        <p:txBody>
          <a:bodyPr wrap="square" lIns="0" tIns="0" rIns="0" bIns="0" anchor="t"/>
          <a:lstStyle/>
          <a:p>
            <a:pPr algn="ctr"/>
            <a:r>
              <a:rPr sz="1200" b="0" i="0">
                <a:solidFill>
                  <a:srgbClr val="586B73"/>
                </a:solidFill>
                <a:latin typeface="Arial"/>
                <a:ea typeface="Arial"/>
                <a:cs typeface="Arial"/>
              </a:rPr>
              <a:t>256</a:t>
            </a:r>
          </a:p>
        </p:txBody>
      </p:sp>
      <p:sp>
        <p:nvSpPr>
          <p:cNvPr id="18" name="TextBox 17"/>
          <p:cNvSpPr txBox="1"/>
          <p:nvPr/>
        </p:nvSpPr>
        <p:spPr>
          <a:xfrm>
            <a:off x="2270760" y="5440680"/>
            <a:ext cx="731520" cy="219456"/>
          </a:xfrm>
          <a:prstGeom prst="rect">
            <a:avLst/>
          </a:prstGeom>
          <a:noFill/>
        </p:spPr>
        <p:txBody>
          <a:bodyPr wrap="square" lIns="0" tIns="0" rIns="0" bIns="0" anchor="t"/>
          <a:lstStyle/>
          <a:p>
            <a:pPr algn="ctr"/>
            <a:r>
              <a:rPr sz="1200" b="0" i="0">
                <a:solidFill>
                  <a:srgbClr val="586B73"/>
                </a:solidFill>
                <a:latin typeface="Arial"/>
                <a:ea typeface="Arial"/>
                <a:cs typeface="Arial"/>
              </a:rPr>
              <a:t>512</a:t>
            </a:r>
          </a:p>
        </p:txBody>
      </p:sp>
      <p:sp>
        <p:nvSpPr>
          <p:cNvPr id="19" name="TextBox 18"/>
          <p:cNvSpPr txBox="1"/>
          <p:nvPr/>
        </p:nvSpPr>
        <p:spPr>
          <a:xfrm>
            <a:off x="3489960" y="5440680"/>
            <a:ext cx="731520" cy="219456"/>
          </a:xfrm>
          <a:prstGeom prst="rect">
            <a:avLst/>
          </a:prstGeom>
          <a:noFill/>
        </p:spPr>
        <p:txBody>
          <a:bodyPr wrap="square" lIns="0" tIns="0" rIns="0" bIns="0" anchor="t"/>
          <a:lstStyle/>
          <a:p>
            <a:pPr algn="ctr"/>
            <a:r>
              <a:rPr sz="1200" b="0" i="0">
                <a:solidFill>
                  <a:srgbClr val="586B73"/>
                </a:solidFill>
                <a:latin typeface="Arial"/>
                <a:ea typeface="Arial"/>
                <a:cs typeface="Arial"/>
              </a:rPr>
              <a:t>1,024</a:t>
            </a:r>
          </a:p>
        </p:txBody>
      </p:sp>
      <p:sp>
        <p:nvSpPr>
          <p:cNvPr id="20" name="TextBox 19"/>
          <p:cNvSpPr txBox="1"/>
          <p:nvPr/>
        </p:nvSpPr>
        <p:spPr>
          <a:xfrm>
            <a:off x="4709159" y="5440680"/>
            <a:ext cx="731520" cy="219456"/>
          </a:xfrm>
          <a:prstGeom prst="rect">
            <a:avLst/>
          </a:prstGeom>
          <a:noFill/>
        </p:spPr>
        <p:txBody>
          <a:bodyPr wrap="square" lIns="0" tIns="0" rIns="0" bIns="0" anchor="t"/>
          <a:lstStyle/>
          <a:p>
            <a:pPr algn="ctr"/>
            <a:r>
              <a:rPr sz="1200" b="0" i="0">
                <a:solidFill>
                  <a:srgbClr val="586B73"/>
                </a:solidFill>
                <a:latin typeface="Arial"/>
                <a:ea typeface="Arial"/>
                <a:cs typeface="Arial"/>
              </a:rPr>
              <a:t>2,048</a:t>
            </a:r>
          </a:p>
        </p:txBody>
      </p:sp>
      <p:sp>
        <p:nvSpPr>
          <p:cNvPr id="21" name="TextBox 20"/>
          <p:cNvSpPr txBox="1"/>
          <p:nvPr/>
        </p:nvSpPr>
        <p:spPr>
          <a:xfrm>
            <a:off x="1417320" y="5687568"/>
            <a:ext cx="3657600" cy="237744"/>
          </a:xfrm>
          <a:prstGeom prst="rect">
            <a:avLst/>
          </a:prstGeom>
          <a:noFill/>
        </p:spPr>
        <p:txBody>
          <a:bodyPr wrap="square" lIns="0" tIns="0" rIns="0" bIns="0" anchor="t"/>
          <a:lstStyle/>
          <a:p>
            <a:pPr algn="ctr"/>
            <a:r>
              <a:rPr sz="1300" b="0" i="0">
                <a:solidFill>
                  <a:srgbClr val="1B3A57"/>
                </a:solidFill>
                <a:latin typeface="Arial"/>
                <a:ea typeface="Arial"/>
                <a:cs typeface="Arial"/>
              </a:rPr>
              <a:t>Context, tokens (log scale)</a:t>
            </a:r>
          </a:p>
        </p:txBody>
      </p:sp>
      <p:cxnSp>
        <p:nvCxnSpPr>
          <p:cNvPr id="22" name="Connector 21"/>
          <p:cNvCxnSpPr/>
          <p:nvPr/>
        </p:nvCxnSpPr>
        <p:spPr>
          <a:xfrm flipV="1">
            <a:off x="1417320" y="4673642"/>
            <a:ext cx="1219200" cy="302368"/>
          </a:xfrm>
          <a:prstGeom prst="line">
            <a:avLst/>
          </a:prstGeom>
          <a:ln w="25400">
            <a:solidFill>
              <a:srgbClr val="1B3A57"/>
            </a:solidFill>
          </a:ln>
        </p:spPr>
      </p:cxnSp>
      <p:cxnSp>
        <p:nvCxnSpPr>
          <p:cNvPr id="23" name="Connector 22"/>
          <p:cNvCxnSpPr/>
          <p:nvPr/>
        </p:nvCxnSpPr>
        <p:spPr>
          <a:xfrm flipV="1">
            <a:off x="2636520" y="3909376"/>
            <a:ext cx="1219200" cy="764266"/>
          </a:xfrm>
          <a:prstGeom prst="line">
            <a:avLst/>
          </a:prstGeom>
          <a:ln w="25400">
            <a:solidFill>
              <a:srgbClr val="1B3A57"/>
            </a:solidFill>
          </a:ln>
        </p:spPr>
      </p:cxnSp>
      <p:cxnSp>
        <p:nvCxnSpPr>
          <p:cNvPr id="24" name="Connector 23"/>
          <p:cNvCxnSpPr/>
          <p:nvPr/>
        </p:nvCxnSpPr>
        <p:spPr>
          <a:xfrm flipV="1">
            <a:off x="3855720" y="2405786"/>
            <a:ext cx="1219200" cy="1503590"/>
          </a:xfrm>
          <a:prstGeom prst="line">
            <a:avLst/>
          </a:prstGeom>
          <a:ln w="25400">
            <a:solidFill>
              <a:srgbClr val="1B3A57"/>
            </a:solidFill>
          </a:ln>
        </p:spPr>
      </p:cxnSp>
      <p:sp>
        <p:nvSpPr>
          <p:cNvPr id="25" name="Oval 24"/>
          <p:cNvSpPr/>
          <p:nvPr/>
        </p:nvSpPr>
        <p:spPr>
          <a:xfrm>
            <a:off x="1357884" y="4916574"/>
            <a:ext cx="118872" cy="118872"/>
          </a:xfrm>
          <a:prstGeom prst="ellipse">
            <a:avLst/>
          </a:prstGeom>
          <a:solidFill>
            <a:srgbClr val="1B3A57"/>
          </a:solidFill>
          <a:ln w="12700">
            <a:solidFill>
              <a:srgbClr val="1B3A57"/>
            </a:solidFill>
          </a:ln>
        </p:spPr>
        <p:txBody>
          <a:bodyPr rtlCol="0" anchor="ctr"/>
          <a:lstStyle/>
          <a:p>
            <a:pPr algn="ctr"/>
          </a:p>
        </p:txBody>
      </p:sp>
      <p:sp>
        <p:nvSpPr>
          <p:cNvPr id="26" name="Oval 25"/>
          <p:cNvSpPr/>
          <p:nvPr/>
        </p:nvSpPr>
        <p:spPr>
          <a:xfrm>
            <a:off x="2577084" y="4614206"/>
            <a:ext cx="118872" cy="118872"/>
          </a:xfrm>
          <a:prstGeom prst="ellipse">
            <a:avLst/>
          </a:prstGeom>
          <a:solidFill>
            <a:srgbClr val="1B3A57"/>
          </a:solidFill>
          <a:ln w="12700">
            <a:solidFill>
              <a:srgbClr val="1B3A57"/>
            </a:solidFill>
          </a:ln>
        </p:spPr>
        <p:txBody>
          <a:bodyPr rtlCol="0" anchor="ctr"/>
          <a:lstStyle/>
          <a:p>
            <a:pPr algn="ctr"/>
          </a:p>
        </p:txBody>
      </p:sp>
      <p:sp>
        <p:nvSpPr>
          <p:cNvPr id="27" name="Oval 26"/>
          <p:cNvSpPr/>
          <p:nvPr/>
        </p:nvSpPr>
        <p:spPr>
          <a:xfrm>
            <a:off x="3796283" y="3849940"/>
            <a:ext cx="118872" cy="118872"/>
          </a:xfrm>
          <a:prstGeom prst="ellipse">
            <a:avLst/>
          </a:prstGeom>
          <a:solidFill>
            <a:srgbClr val="1B3A57"/>
          </a:solidFill>
          <a:ln w="12700">
            <a:solidFill>
              <a:srgbClr val="1B3A57"/>
            </a:solidFill>
          </a:ln>
        </p:spPr>
        <p:txBody>
          <a:bodyPr rtlCol="0" anchor="ctr"/>
          <a:lstStyle/>
          <a:p>
            <a:pPr algn="ctr"/>
          </a:p>
        </p:txBody>
      </p:sp>
      <p:sp>
        <p:nvSpPr>
          <p:cNvPr id="28" name="Oval 27"/>
          <p:cNvSpPr/>
          <p:nvPr/>
        </p:nvSpPr>
        <p:spPr>
          <a:xfrm>
            <a:off x="5015483" y="2346350"/>
            <a:ext cx="118872" cy="118872"/>
          </a:xfrm>
          <a:prstGeom prst="ellipse">
            <a:avLst/>
          </a:prstGeom>
          <a:solidFill>
            <a:srgbClr val="1B3A57"/>
          </a:solidFill>
          <a:ln w="12700">
            <a:solidFill>
              <a:srgbClr val="1B3A57"/>
            </a:solidFill>
          </a:ln>
        </p:spPr>
        <p:txBody>
          <a:bodyPr rtlCol="0" anchor="ctr"/>
          <a:lstStyle/>
          <a:p>
            <a:pPr algn="ctr"/>
          </a:p>
        </p:txBody>
      </p:sp>
      <p:sp>
        <p:nvSpPr>
          <p:cNvPr id="29" name="TextBox 28"/>
          <p:cNvSpPr txBox="1"/>
          <p:nvPr/>
        </p:nvSpPr>
        <p:spPr>
          <a:xfrm>
            <a:off x="5184648" y="2277770"/>
            <a:ext cx="1234440" cy="256032"/>
          </a:xfrm>
          <a:prstGeom prst="rect">
            <a:avLst/>
          </a:prstGeom>
          <a:noFill/>
        </p:spPr>
        <p:txBody>
          <a:bodyPr wrap="square" lIns="0" tIns="0" rIns="0" bIns="0" anchor="t"/>
          <a:lstStyle/>
          <a:p>
            <a:pPr algn="l"/>
            <a:r>
              <a:rPr sz="1200" b="1" i="0">
                <a:solidFill>
                  <a:srgbClr val="1B3A57"/>
                </a:solidFill>
                <a:latin typeface="Arial"/>
                <a:ea typeface="Arial"/>
                <a:cs typeface="Arial"/>
              </a:rPr>
              <a:t>Triton (stock)</a:t>
            </a:r>
          </a:p>
        </p:txBody>
      </p:sp>
      <p:cxnSp>
        <p:nvCxnSpPr>
          <p:cNvPr id="30" name="Connector 29"/>
          <p:cNvCxnSpPr/>
          <p:nvPr/>
        </p:nvCxnSpPr>
        <p:spPr>
          <a:xfrm flipV="1">
            <a:off x="1417320" y="4688400"/>
            <a:ext cx="1219200" cy="65467"/>
          </a:xfrm>
          <a:prstGeom prst="line">
            <a:avLst/>
          </a:prstGeom>
          <a:ln w="25400">
            <a:solidFill>
              <a:srgbClr val="1B3A57"/>
            </a:solidFill>
            <a:prstDash val="sysDot"/>
          </a:ln>
        </p:spPr>
      </p:cxnSp>
      <p:cxnSp>
        <p:nvCxnSpPr>
          <p:cNvPr id="31" name="Connector 30"/>
          <p:cNvCxnSpPr/>
          <p:nvPr/>
        </p:nvCxnSpPr>
        <p:spPr>
          <a:xfrm flipV="1">
            <a:off x="2636520" y="4476145"/>
            <a:ext cx="1219200" cy="212255"/>
          </a:xfrm>
          <a:prstGeom prst="line">
            <a:avLst/>
          </a:prstGeom>
          <a:ln w="25400">
            <a:solidFill>
              <a:srgbClr val="1B3A57"/>
            </a:solidFill>
            <a:prstDash val="sysDot"/>
          </a:ln>
        </p:spPr>
      </p:cxnSp>
      <p:cxnSp>
        <p:nvCxnSpPr>
          <p:cNvPr id="32" name="Connector 31"/>
          <p:cNvCxnSpPr/>
          <p:nvPr/>
        </p:nvCxnSpPr>
        <p:spPr>
          <a:xfrm flipV="1">
            <a:off x="3855720" y="4108850"/>
            <a:ext cx="1219200" cy="367295"/>
          </a:xfrm>
          <a:prstGeom prst="line">
            <a:avLst/>
          </a:prstGeom>
          <a:ln w="25400">
            <a:solidFill>
              <a:srgbClr val="1B3A57"/>
            </a:solidFill>
            <a:prstDash val="sysDot"/>
          </a:ln>
        </p:spPr>
      </p:cxnSp>
      <p:sp>
        <p:nvSpPr>
          <p:cNvPr id="33" name="Diamond 32"/>
          <p:cNvSpPr/>
          <p:nvPr/>
        </p:nvSpPr>
        <p:spPr>
          <a:xfrm>
            <a:off x="1357884" y="4694431"/>
            <a:ext cx="118872" cy="118872"/>
          </a:xfrm>
          <a:prstGeom prst="diamond">
            <a:avLst/>
          </a:prstGeom>
          <a:solidFill>
            <a:srgbClr val="FFFFFF"/>
          </a:solidFill>
          <a:ln w="15875">
            <a:solidFill>
              <a:srgbClr val="1B3A57"/>
            </a:solidFill>
          </a:ln>
        </p:spPr>
        <p:txBody>
          <a:bodyPr rtlCol="0" anchor="ctr"/>
          <a:lstStyle/>
          <a:p>
            <a:pPr algn="ctr"/>
          </a:p>
        </p:txBody>
      </p:sp>
      <p:sp>
        <p:nvSpPr>
          <p:cNvPr id="34" name="Diamond 33"/>
          <p:cNvSpPr/>
          <p:nvPr/>
        </p:nvSpPr>
        <p:spPr>
          <a:xfrm>
            <a:off x="2577084" y="4628964"/>
            <a:ext cx="118872" cy="118872"/>
          </a:xfrm>
          <a:prstGeom prst="diamond">
            <a:avLst/>
          </a:prstGeom>
          <a:solidFill>
            <a:srgbClr val="FFFFFF"/>
          </a:solidFill>
          <a:ln w="15875">
            <a:solidFill>
              <a:srgbClr val="1B3A57"/>
            </a:solidFill>
          </a:ln>
        </p:spPr>
        <p:txBody>
          <a:bodyPr rtlCol="0" anchor="ctr"/>
          <a:lstStyle/>
          <a:p>
            <a:pPr algn="ctr"/>
          </a:p>
        </p:txBody>
      </p:sp>
      <p:sp>
        <p:nvSpPr>
          <p:cNvPr id="35" name="Diamond 34"/>
          <p:cNvSpPr/>
          <p:nvPr/>
        </p:nvSpPr>
        <p:spPr>
          <a:xfrm>
            <a:off x="3796283" y="4416709"/>
            <a:ext cx="118872" cy="118872"/>
          </a:xfrm>
          <a:prstGeom prst="diamond">
            <a:avLst/>
          </a:prstGeom>
          <a:solidFill>
            <a:srgbClr val="FFFFFF"/>
          </a:solidFill>
          <a:ln w="15875">
            <a:solidFill>
              <a:srgbClr val="1B3A57"/>
            </a:solidFill>
          </a:ln>
        </p:spPr>
        <p:txBody>
          <a:bodyPr rtlCol="0" anchor="ctr"/>
          <a:lstStyle/>
          <a:p>
            <a:pPr algn="ctr"/>
          </a:p>
        </p:txBody>
      </p:sp>
      <p:sp>
        <p:nvSpPr>
          <p:cNvPr id="36" name="Diamond 35"/>
          <p:cNvSpPr/>
          <p:nvPr/>
        </p:nvSpPr>
        <p:spPr>
          <a:xfrm>
            <a:off x="5015483" y="4049414"/>
            <a:ext cx="118872" cy="118872"/>
          </a:xfrm>
          <a:prstGeom prst="diamond">
            <a:avLst/>
          </a:prstGeom>
          <a:solidFill>
            <a:srgbClr val="FFFFFF"/>
          </a:solidFill>
          <a:ln w="15875">
            <a:solidFill>
              <a:srgbClr val="1B3A57"/>
            </a:solidFill>
          </a:ln>
        </p:spPr>
        <p:txBody>
          <a:bodyPr rtlCol="0" anchor="ctr"/>
          <a:lstStyle/>
          <a:p>
            <a:pPr algn="ctr"/>
          </a:p>
        </p:txBody>
      </p:sp>
      <p:sp>
        <p:nvSpPr>
          <p:cNvPr id="37" name="TextBox 36"/>
          <p:cNvSpPr txBox="1"/>
          <p:nvPr/>
        </p:nvSpPr>
        <p:spPr>
          <a:xfrm>
            <a:off x="5184648" y="3980834"/>
            <a:ext cx="1234440" cy="256032"/>
          </a:xfrm>
          <a:prstGeom prst="rect">
            <a:avLst/>
          </a:prstGeom>
          <a:noFill/>
        </p:spPr>
        <p:txBody>
          <a:bodyPr wrap="square" lIns="0" tIns="0" rIns="0" bIns="0" anchor="t"/>
          <a:lstStyle/>
          <a:p>
            <a:pPr algn="l"/>
            <a:r>
              <a:rPr sz="1200" b="1" i="0">
                <a:solidFill>
                  <a:srgbClr val="1B3A57"/>
                </a:solidFill>
                <a:latin typeface="Arial"/>
                <a:ea typeface="Arial"/>
                <a:cs typeface="Arial"/>
              </a:rPr>
              <a:t>split-KV</a:t>
            </a:r>
          </a:p>
        </p:txBody>
      </p:sp>
      <p:cxnSp>
        <p:nvCxnSpPr>
          <p:cNvPr id="38" name="Connector 37"/>
          <p:cNvCxnSpPr/>
          <p:nvPr/>
        </p:nvCxnSpPr>
        <p:spPr>
          <a:xfrm flipV="1">
            <a:off x="1417320" y="5131348"/>
            <a:ext cx="1219200" cy="66496"/>
          </a:xfrm>
          <a:prstGeom prst="line">
            <a:avLst/>
          </a:prstGeom>
          <a:ln w="25400">
            <a:solidFill>
              <a:srgbClr val="1B3A57"/>
            </a:solidFill>
            <a:prstDash val="dash"/>
          </a:ln>
        </p:spPr>
      </p:cxnSp>
      <p:cxnSp>
        <p:nvCxnSpPr>
          <p:cNvPr id="39" name="Connector 38"/>
          <p:cNvCxnSpPr/>
          <p:nvPr/>
        </p:nvCxnSpPr>
        <p:spPr>
          <a:xfrm flipV="1">
            <a:off x="2636520" y="5105537"/>
            <a:ext cx="1219200" cy="25811"/>
          </a:xfrm>
          <a:prstGeom prst="line">
            <a:avLst/>
          </a:prstGeom>
          <a:ln w="25400">
            <a:solidFill>
              <a:srgbClr val="1B3A57"/>
            </a:solidFill>
            <a:prstDash val="dash"/>
          </a:ln>
        </p:spPr>
      </p:cxnSp>
      <p:cxnSp>
        <p:nvCxnSpPr>
          <p:cNvPr id="40" name="Connector 39"/>
          <p:cNvCxnSpPr/>
          <p:nvPr/>
        </p:nvCxnSpPr>
        <p:spPr>
          <a:xfrm flipV="1">
            <a:off x="3855720" y="5035545"/>
            <a:ext cx="1219200" cy="69992"/>
          </a:xfrm>
          <a:prstGeom prst="line">
            <a:avLst/>
          </a:prstGeom>
          <a:ln w="25400">
            <a:solidFill>
              <a:srgbClr val="1B3A57"/>
            </a:solidFill>
            <a:prstDash val="dash"/>
          </a:ln>
        </p:spPr>
      </p:cxnSp>
      <p:sp>
        <p:nvSpPr>
          <p:cNvPr id="41" name="Rectangle 40"/>
          <p:cNvSpPr/>
          <p:nvPr/>
        </p:nvSpPr>
        <p:spPr>
          <a:xfrm>
            <a:off x="1357884" y="5138408"/>
            <a:ext cx="118872" cy="118872"/>
          </a:xfrm>
          <a:prstGeom prst="rect">
            <a:avLst/>
          </a:prstGeom>
          <a:solidFill>
            <a:srgbClr val="1B3A57"/>
          </a:solidFill>
          <a:ln w="12700">
            <a:solidFill>
              <a:srgbClr val="1B3A57"/>
            </a:solidFill>
          </a:ln>
        </p:spPr>
        <p:txBody>
          <a:bodyPr rtlCol="0" anchor="ctr"/>
          <a:lstStyle/>
          <a:p>
            <a:pPr algn="ctr"/>
          </a:p>
        </p:txBody>
      </p:sp>
      <p:sp>
        <p:nvSpPr>
          <p:cNvPr id="42" name="Rectangle 41"/>
          <p:cNvSpPr/>
          <p:nvPr/>
        </p:nvSpPr>
        <p:spPr>
          <a:xfrm>
            <a:off x="2577084" y="5071912"/>
            <a:ext cx="118872" cy="118872"/>
          </a:xfrm>
          <a:prstGeom prst="rect">
            <a:avLst/>
          </a:prstGeom>
          <a:solidFill>
            <a:srgbClr val="1B3A57"/>
          </a:solidFill>
          <a:ln w="12700">
            <a:solidFill>
              <a:srgbClr val="1B3A57"/>
            </a:solidFill>
          </a:ln>
        </p:spPr>
        <p:txBody>
          <a:bodyPr rtlCol="0" anchor="ctr"/>
          <a:lstStyle/>
          <a:p>
            <a:pPr algn="ctr"/>
          </a:p>
        </p:txBody>
      </p:sp>
      <p:sp>
        <p:nvSpPr>
          <p:cNvPr id="43" name="Rectangle 42"/>
          <p:cNvSpPr/>
          <p:nvPr/>
        </p:nvSpPr>
        <p:spPr>
          <a:xfrm>
            <a:off x="3796283" y="5046101"/>
            <a:ext cx="118872" cy="118872"/>
          </a:xfrm>
          <a:prstGeom prst="rect">
            <a:avLst/>
          </a:prstGeom>
          <a:solidFill>
            <a:srgbClr val="1B3A57"/>
          </a:solidFill>
          <a:ln w="12700">
            <a:solidFill>
              <a:srgbClr val="1B3A57"/>
            </a:solidFill>
          </a:ln>
        </p:spPr>
        <p:txBody>
          <a:bodyPr rtlCol="0" anchor="ctr"/>
          <a:lstStyle/>
          <a:p>
            <a:pPr algn="ctr"/>
          </a:p>
        </p:txBody>
      </p:sp>
      <p:sp>
        <p:nvSpPr>
          <p:cNvPr id="44" name="Rectangle 43"/>
          <p:cNvSpPr/>
          <p:nvPr/>
        </p:nvSpPr>
        <p:spPr>
          <a:xfrm>
            <a:off x="5015483" y="4976109"/>
            <a:ext cx="118872" cy="118872"/>
          </a:xfrm>
          <a:prstGeom prst="rect">
            <a:avLst/>
          </a:prstGeom>
          <a:solidFill>
            <a:srgbClr val="1B3A57"/>
          </a:solidFill>
          <a:ln w="12700">
            <a:solidFill>
              <a:srgbClr val="1B3A57"/>
            </a:solidFill>
          </a:ln>
        </p:spPr>
        <p:txBody>
          <a:bodyPr rtlCol="0" anchor="ctr"/>
          <a:lstStyle/>
          <a:p>
            <a:pPr algn="ctr"/>
          </a:p>
        </p:txBody>
      </p:sp>
      <p:sp>
        <p:nvSpPr>
          <p:cNvPr id="45" name="TextBox 44"/>
          <p:cNvSpPr txBox="1"/>
          <p:nvPr/>
        </p:nvSpPr>
        <p:spPr>
          <a:xfrm>
            <a:off x="5184648" y="4907529"/>
            <a:ext cx="1234440" cy="256032"/>
          </a:xfrm>
          <a:prstGeom prst="rect">
            <a:avLst/>
          </a:prstGeom>
          <a:noFill/>
        </p:spPr>
        <p:txBody>
          <a:bodyPr wrap="square" lIns="0" tIns="0" rIns="0" bIns="0" anchor="t"/>
          <a:lstStyle/>
          <a:p>
            <a:pPr algn="l"/>
            <a:r>
              <a:rPr sz="1200" b="1" i="0">
                <a:solidFill>
                  <a:srgbClr val="1B3A57"/>
                </a:solidFill>
                <a:latin typeface="Arial"/>
                <a:ea typeface="Arial"/>
                <a:cs typeface="Arial"/>
              </a:rPr>
              <a:t>FA4, fixed</a:t>
            </a:r>
          </a:p>
        </p:txBody>
      </p:sp>
      <p:cxnSp>
        <p:nvCxnSpPr>
          <p:cNvPr id="46" name="Connector 45"/>
          <p:cNvCxnSpPr/>
          <p:nvPr/>
        </p:nvCxnSpPr>
        <p:spPr>
          <a:xfrm>
            <a:off x="2636520" y="4755938"/>
            <a:ext cx="0" cy="293114"/>
          </a:xfrm>
          <a:prstGeom prst="line">
            <a:avLst/>
          </a:prstGeom>
          <a:ln w="15875">
            <a:solidFill>
              <a:srgbClr val="1B3A57"/>
            </a:solidFill>
            <a:tailEnd type="triangle" w="med" len="med"/>
          </a:ln>
        </p:spPr>
      </p:cxnSp>
      <p:sp>
        <p:nvSpPr>
          <p:cNvPr id="47" name="TextBox 46"/>
          <p:cNvSpPr txBox="1"/>
          <p:nvPr/>
        </p:nvSpPr>
        <p:spPr>
          <a:xfrm>
            <a:off x="1508760" y="2377440"/>
            <a:ext cx="2651760" cy="868680"/>
          </a:xfrm>
          <a:prstGeom prst="rect">
            <a:avLst/>
          </a:prstGeom>
          <a:noFill/>
        </p:spPr>
        <p:txBody>
          <a:bodyPr wrap="square" lIns="0" tIns="0" rIns="0" bIns="0" anchor="t"/>
          <a:lstStyle/>
          <a:p>
            <a:pPr algn="l"/>
            <a:r>
              <a:rPr sz="1300" b="0" i="0">
                <a:solidFill>
                  <a:srgbClr val="1B3A57"/>
                </a:solidFill>
                <a:latin typeface="Arial"/>
                <a:ea typeface="Arial"/>
                <a:cs typeface="Arial"/>
              </a:rPr>
              <a:t>At 512 tokens of context:</a:t>
            </a:r>
          </a:p>
          <a:p>
            <a:pPr algn="l"/>
            <a:r>
              <a:rPr sz="1300" b="0" i="0">
                <a:solidFill>
                  <a:srgbClr val="1B3A57"/>
                </a:solidFill>
                <a:latin typeface="Arial"/>
                <a:ea typeface="Arial"/>
                <a:cs typeface="Arial"/>
              </a:rPr>
              <a:t>FA4 saves 233 µs, split-KV 7.6 µs;</a:t>
            </a:r>
          </a:p>
          <a:p>
            <a:pPr algn="l"/>
            <a:r>
              <a:rPr sz="1300" b="0" i="0">
                <a:solidFill>
                  <a:srgbClr val="1B3A57"/>
                </a:solidFill>
                <a:latin typeface="Arial"/>
                <a:ea typeface="Arial"/>
                <a:cs typeface="Arial"/>
              </a:rPr>
              <a:t>the kill rule asked for 200 (arrow)</a:t>
            </a:r>
          </a:p>
        </p:txBody>
      </p:sp>
      <p:cxnSp>
        <p:nvCxnSpPr>
          <p:cNvPr id="48" name="Connector 47"/>
          <p:cNvCxnSpPr/>
          <p:nvPr/>
        </p:nvCxnSpPr>
        <p:spPr>
          <a:xfrm>
            <a:off x="6446520" y="2029968"/>
            <a:ext cx="0" cy="3730752"/>
          </a:xfrm>
          <a:prstGeom prst="line">
            <a:avLst/>
          </a:prstGeom>
          <a:ln w="12700">
            <a:solidFill>
              <a:srgbClr val="D2DCDF"/>
            </a:solidFill>
          </a:ln>
        </p:spPr>
      </p:cxnSp>
      <p:sp>
        <p:nvSpPr>
          <p:cNvPr id="49" name="TextBox 48"/>
          <p:cNvSpPr txBox="1"/>
          <p:nvPr/>
        </p:nvSpPr>
        <p:spPr>
          <a:xfrm>
            <a:off x="6720840" y="2057400"/>
            <a:ext cx="4754880" cy="457200"/>
          </a:xfrm>
          <a:prstGeom prst="rect">
            <a:avLst/>
          </a:prstGeom>
          <a:noFill/>
        </p:spPr>
        <p:txBody>
          <a:bodyPr wrap="square" lIns="0" tIns="0" rIns="0" bIns="0" anchor="t"/>
          <a:lstStyle/>
          <a:p>
            <a:pPr algn="l"/>
            <a:r>
              <a:rPr sz="2600" b="1" i="0">
                <a:solidFill>
                  <a:srgbClr val="1B3A57"/>
                </a:solidFill>
                <a:latin typeface="Arial"/>
                <a:ea typeface="Arial"/>
                <a:cs typeface="Arial"/>
              </a:rPr>
              <a:t>80 // 128 = 0</a:t>
            </a:r>
          </a:p>
        </p:txBody>
      </p:sp>
      <p:sp>
        <p:nvSpPr>
          <p:cNvPr id="50" name="TextBox 49"/>
          <p:cNvSpPr txBox="1"/>
          <p:nvPr/>
        </p:nvSpPr>
        <p:spPr>
          <a:xfrm>
            <a:off x="6720840" y="2532888"/>
            <a:ext cx="4754880" cy="960120"/>
          </a:xfrm>
          <a:prstGeom prst="rect">
            <a:avLst/>
          </a:prstGeom>
          <a:noFill/>
        </p:spPr>
        <p:txBody>
          <a:bodyPr wrap="square" lIns="0" tIns="0" rIns="0" bIns="0" anchor="t"/>
          <a:lstStyle/>
          <a:p>
            <a:pPr algn="l"/>
            <a:r>
              <a:rPr sz="1400" b="0" i="0">
                <a:solidFill>
                  <a:srgbClr val="1B3A57"/>
                </a:solidFill>
                <a:latin typeface="Arial"/>
                <a:ea typeface="Arial"/>
                <a:cs typeface="Arial"/>
              </a:rPr>
              <a:t>Qwen3.5’s head-dim-256 tile on sm_90 is 128 × 80: floor division gave 128 loader threads no page-table entries, so FA4 never compiled. The fix is in flash-attention and in SGLang PR #35757 (open); we backported it.</a:t>
            </a:r>
          </a:p>
        </p:txBody>
      </p:sp>
      <p:sp>
        <p:nvSpPr>
          <p:cNvPr id="51" name="TextBox 50"/>
          <p:cNvSpPr txBox="1"/>
          <p:nvPr/>
        </p:nvSpPr>
        <p:spPr>
          <a:xfrm>
            <a:off x="6720840" y="3429000"/>
            <a:ext cx="4754880" cy="457200"/>
          </a:xfrm>
          <a:prstGeom prst="rect">
            <a:avLst/>
          </a:prstGeom>
          <a:noFill/>
        </p:spPr>
        <p:txBody>
          <a:bodyPr wrap="square" lIns="0" tIns="0" rIns="0" bIns="0" anchor="t"/>
          <a:lstStyle/>
          <a:p>
            <a:pPr algn="l"/>
            <a:r>
              <a:rPr sz="2600" b="1" i="0">
                <a:solidFill>
                  <a:srgbClr val="CC79A7"/>
                </a:solidFill>
                <a:latin typeface="Arial"/>
                <a:ea typeface="Arial"/>
                <a:cs typeface="Arial"/>
              </a:rPr>
              <a:t>1.084–1.093</a:t>
            </a:r>
          </a:p>
        </p:txBody>
      </p:sp>
      <p:sp>
        <p:nvSpPr>
          <p:cNvPr id="52" name="TextBox 51"/>
          <p:cNvSpPr txBox="1"/>
          <p:nvPr/>
        </p:nvSpPr>
        <p:spPr>
          <a:xfrm>
            <a:off x="6720840" y="3904487"/>
            <a:ext cx="4754880" cy="566928"/>
          </a:xfrm>
          <a:prstGeom prst="rect">
            <a:avLst/>
          </a:prstGeom>
          <a:noFill/>
        </p:spPr>
        <p:txBody>
          <a:bodyPr wrap="square" lIns="0" tIns="0" rIns="0" bIns="0" anchor="t"/>
          <a:lstStyle/>
          <a:p>
            <a:pPr algn="l"/>
            <a:r>
              <a:rPr sz="1400" b="0" i="0">
                <a:solidFill>
                  <a:srgbClr val="1B3A57"/>
                </a:solidFill>
                <a:latin typeface="Arial"/>
                <a:ea typeface="Arial"/>
                <a:cs typeface="Arial"/>
              </a:rPr>
              <a:t>per request, 16-token DFlash, c = 1–4: fold, narrow tiles, FA4 for drafter and target</a:t>
            </a:r>
          </a:p>
        </p:txBody>
      </p:sp>
      <p:sp>
        <p:nvSpPr>
          <p:cNvPr id="53" name="TextBox 52"/>
          <p:cNvSpPr txBox="1"/>
          <p:nvPr/>
        </p:nvSpPr>
        <p:spPr>
          <a:xfrm>
            <a:off x="6720840" y="4617720"/>
            <a:ext cx="4754880" cy="457200"/>
          </a:xfrm>
          <a:prstGeom prst="rect">
            <a:avLst/>
          </a:prstGeom>
          <a:noFill/>
        </p:spPr>
        <p:txBody>
          <a:bodyPr wrap="square" lIns="0" tIns="0" rIns="0" bIns="0" anchor="t"/>
          <a:lstStyle/>
          <a:p>
            <a:pPr algn="l"/>
            <a:r>
              <a:rPr sz="2600" b="1" i="0">
                <a:solidFill>
                  <a:srgbClr val="6F1FA7"/>
                </a:solidFill>
                <a:latin typeface="Arial"/>
                <a:ea typeface="Arial"/>
                <a:cs typeface="Arial"/>
              </a:rPr>
              <a:t>1.124–1.137</a:t>
            </a:r>
          </a:p>
        </p:txBody>
      </p:sp>
      <p:sp>
        <p:nvSpPr>
          <p:cNvPr id="54" name="TextBox 53"/>
          <p:cNvSpPr txBox="1"/>
          <p:nvPr/>
        </p:nvSpPr>
        <p:spPr>
          <a:xfrm>
            <a:off x="6720840" y="5093208"/>
            <a:ext cx="4754880" cy="566928"/>
          </a:xfrm>
          <a:prstGeom prst="rect">
            <a:avLst/>
          </a:prstGeom>
          <a:noFill/>
        </p:spPr>
        <p:txBody>
          <a:bodyPr wrap="square" lIns="0" tIns="0" rIns="0" bIns="0" anchor="t"/>
          <a:lstStyle/>
          <a:p>
            <a:pPr algn="l"/>
            <a:r>
              <a:rPr sz="1400" b="0" i="0">
                <a:solidFill>
                  <a:srgbClr val="1B3A57"/>
                </a:solidFill>
                <a:latin typeface="Arial"/>
                <a:ea typeface="Arial"/>
                <a:cs typeface="Arial"/>
              </a:rPr>
              <a:t>throughput, 8-token DFlash (already drafting with FA4), c = 8–32: fold, FA4 target</a:t>
            </a:r>
          </a:p>
        </p:txBody>
      </p:sp>
      <p:sp>
        <p:nvSpPr>
          <p:cNvPr id="55" name="TextBox 54"/>
          <p:cNvSpPr txBox="1"/>
          <p:nvPr/>
        </p:nvSpPr>
        <p:spPr>
          <a:xfrm>
            <a:off x="731520" y="5925312"/>
            <a:ext cx="10744200" cy="512064"/>
          </a:xfrm>
          <a:prstGeom prst="rect">
            <a:avLst/>
          </a:prstGeom>
          <a:noFill/>
        </p:spPr>
        <p:txBody>
          <a:bodyPr wrap="square" lIns="0" tIns="0" rIns="0" bIns="0" anchor="t"/>
          <a:lstStyle/>
          <a:p>
            <a:pPr algn="l"/>
            <a:r>
              <a:rPr sz="1250" b="0" i="0">
                <a:solidFill>
                  <a:srgbClr val="586B73"/>
                </a:solidFill>
                <a:latin typeface="Arial"/>
                <a:ea typeface="Arial"/>
                <a:cs typeface="Arial"/>
              </a:rPr>
              <a:t>Exact up to rounding as classed at c = 1 (the fold alone bitwise); batched outputs not compared. Alone at c = 1–4 each FA4 change is a speedup (drafting 1.025–1.032, target 1.030–1.038 per request); at 4 neither is shown to shorten the cycle. The fold alone at 4: 1.005 (0.990–1.021).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A capped prefill delay puts MTP ahead at c = 48–128</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 evidence/admission (confirm_arms.csv, confirm_analysis.csv, logprob_classes.json, prefill_requests.json, prefill_trace.json) · three sessions</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B21</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Throughput, mean of three sessions; labels: × the best arm without speculation</a:t>
            </a:r>
          </a:p>
        </p:txBody>
      </p:sp>
      <p:cxnSp>
        <p:nvCxnSpPr>
          <p:cNvPr id="7" name="Connector 6"/>
          <p:cNvCxnSpPr/>
          <p:nvPr/>
        </p:nvCxnSpPr>
        <p:spPr>
          <a:xfrm>
            <a:off x="1417320" y="5007395"/>
            <a:ext cx="3794760" cy="0"/>
          </a:xfrm>
          <a:prstGeom prst="line">
            <a:avLst/>
          </a:prstGeom>
          <a:ln w="9525">
            <a:solidFill>
              <a:srgbClr val="D2DCDF"/>
            </a:solidFill>
          </a:ln>
        </p:spPr>
      </p:cxnSp>
      <p:sp>
        <p:nvSpPr>
          <p:cNvPr id="8" name="TextBox 7"/>
          <p:cNvSpPr txBox="1"/>
          <p:nvPr/>
        </p:nvSpPr>
        <p:spPr>
          <a:xfrm>
            <a:off x="758952" y="4888523"/>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6,000</a:t>
            </a:r>
          </a:p>
        </p:txBody>
      </p:sp>
      <p:cxnSp>
        <p:nvCxnSpPr>
          <p:cNvPr id="9" name="Connector 8"/>
          <p:cNvCxnSpPr/>
          <p:nvPr/>
        </p:nvCxnSpPr>
        <p:spPr>
          <a:xfrm>
            <a:off x="1417320" y="4338476"/>
            <a:ext cx="3794760" cy="0"/>
          </a:xfrm>
          <a:prstGeom prst="line">
            <a:avLst/>
          </a:prstGeom>
          <a:ln w="9525">
            <a:solidFill>
              <a:srgbClr val="D2DCDF"/>
            </a:solidFill>
          </a:ln>
        </p:spPr>
      </p:cxnSp>
      <p:sp>
        <p:nvSpPr>
          <p:cNvPr id="10" name="TextBox 9"/>
          <p:cNvSpPr txBox="1"/>
          <p:nvPr/>
        </p:nvSpPr>
        <p:spPr>
          <a:xfrm>
            <a:off x="758952" y="4219604"/>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9,000</a:t>
            </a:r>
          </a:p>
        </p:txBody>
      </p:sp>
      <p:cxnSp>
        <p:nvCxnSpPr>
          <p:cNvPr id="11" name="Connector 10"/>
          <p:cNvCxnSpPr/>
          <p:nvPr/>
        </p:nvCxnSpPr>
        <p:spPr>
          <a:xfrm>
            <a:off x="1417320" y="3669557"/>
            <a:ext cx="3794760" cy="0"/>
          </a:xfrm>
          <a:prstGeom prst="line">
            <a:avLst/>
          </a:prstGeom>
          <a:ln w="9525">
            <a:solidFill>
              <a:srgbClr val="D2DCDF"/>
            </a:solidFill>
          </a:ln>
        </p:spPr>
      </p:cxnSp>
      <p:sp>
        <p:nvSpPr>
          <p:cNvPr id="12" name="TextBox 11"/>
          <p:cNvSpPr txBox="1"/>
          <p:nvPr/>
        </p:nvSpPr>
        <p:spPr>
          <a:xfrm>
            <a:off x="758952" y="3550685"/>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12,000</a:t>
            </a:r>
          </a:p>
        </p:txBody>
      </p:sp>
      <p:cxnSp>
        <p:nvCxnSpPr>
          <p:cNvPr id="13" name="Connector 12"/>
          <p:cNvCxnSpPr/>
          <p:nvPr/>
        </p:nvCxnSpPr>
        <p:spPr>
          <a:xfrm>
            <a:off x="1417320" y="3000638"/>
            <a:ext cx="3794760" cy="0"/>
          </a:xfrm>
          <a:prstGeom prst="line">
            <a:avLst/>
          </a:prstGeom>
          <a:ln w="9525">
            <a:solidFill>
              <a:srgbClr val="D2DCDF"/>
            </a:solidFill>
          </a:ln>
        </p:spPr>
      </p:cxnSp>
      <p:sp>
        <p:nvSpPr>
          <p:cNvPr id="14" name="TextBox 13"/>
          <p:cNvSpPr txBox="1"/>
          <p:nvPr/>
        </p:nvSpPr>
        <p:spPr>
          <a:xfrm>
            <a:off x="758952" y="2881766"/>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15,000</a:t>
            </a:r>
          </a:p>
        </p:txBody>
      </p:sp>
      <p:cxnSp>
        <p:nvCxnSpPr>
          <p:cNvPr id="15" name="Connector 14"/>
          <p:cNvCxnSpPr/>
          <p:nvPr/>
        </p:nvCxnSpPr>
        <p:spPr>
          <a:xfrm>
            <a:off x="1417320" y="2331720"/>
            <a:ext cx="3794760" cy="0"/>
          </a:xfrm>
          <a:prstGeom prst="line">
            <a:avLst/>
          </a:prstGeom>
          <a:ln w="9525">
            <a:solidFill>
              <a:srgbClr val="D2DCDF"/>
            </a:solidFill>
          </a:ln>
        </p:spPr>
      </p:cxnSp>
      <p:sp>
        <p:nvSpPr>
          <p:cNvPr id="16" name="TextBox 15"/>
          <p:cNvSpPr txBox="1"/>
          <p:nvPr/>
        </p:nvSpPr>
        <p:spPr>
          <a:xfrm>
            <a:off x="758952" y="2212848"/>
            <a:ext cx="566928" cy="237744"/>
          </a:xfrm>
          <a:prstGeom prst="rect">
            <a:avLst/>
          </a:prstGeom>
          <a:noFill/>
        </p:spPr>
        <p:txBody>
          <a:bodyPr wrap="square" lIns="0" tIns="0" rIns="0" bIns="0" anchor="t"/>
          <a:lstStyle/>
          <a:p>
            <a:pPr algn="r"/>
            <a:r>
              <a:rPr sz="1200" b="0" i="0">
                <a:solidFill>
                  <a:srgbClr val="586B73"/>
                </a:solidFill>
                <a:latin typeface="Arial"/>
                <a:ea typeface="Arial"/>
                <a:cs typeface="Arial"/>
              </a:rPr>
              <a:t>18,000</a:t>
            </a:r>
          </a:p>
        </p:txBody>
      </p:sp>
      <p:sp>
        <p:nvSpPr>
          <p:cNvPr id="17" name="TextBox 16"/>
          <p:cNvSpPr txBox="1"/>
          <p:nvPr/>
        </p:nvSpPr>
        <p:spPr>
          <a:xfrm>
            <a:off x="1097280" y="5285231"/>
            <a:ext cx="640080" cy="219456"/>
          </a:xfrm>
          <a:prstGeom prst="rect">
            <a:avLst/>
          </a:prstGeom>
          <a:noFill/>
        </p:spPr>
        <p:txBody>
          <a:bodyPr wrap="square" lIns="0" tIns="0" rIns="0" bIns="0" anchor="t"/>
          <a:lstStyle/>
          <a:p>
            <a:pPr algn="ctr"/>
            <a:r>
              <a:rPr sz="1200" b="0" i="0">
                <a:solidFill>
                  <a:srgbClr val="586B73"/>
                </a:solidFill>
                <a:latin typeface="Arial"/>
                <a:ea typeface="Arial"/>
                <a:cs typeface="Arial"/>
              </a:rPr>
              <a:t>32</a:t>
            </a:r>
          </a:p>
        </p:txBody>
      </p:sp>
      <p:sp>
        <p:nvSpPr>
          <p:cNvPr id="18" name="TextBox 17"/>
          <p:cNvSpPr txBox="1"/>
          <p:nvPr/>
        </p:nvSpPr>
        <p:spPr>
          <a:xfrm>
            <a:off x="2207176" y="5285231"/>
            <a:ext cx="640080" cy="219456"/>
          </a:xfrm>
          <a:prstGeom prst="rect">
            <a:avLst/>
          </a:prstGeom>
          <a:noFill/>
        </p:spPr>
        <p:txBody>
          <a:bodyPr wrap="square" lIns="0" tIns="0" rIns="0" bIns="0" anchor="t"/>
          <a:lstStyle/>
          <a:p>
            <a:pPr algn="ctr"/>
            <a:r>
              <a:rPr sz="1200" b="0" i="0">
                <a:solidFill>
                  <a:srgbClr val="586B73"/>
                </a:solidFill>
                <a:latin typeface="Arial"/>
                <a:ea typeface="Arial"/>
                <a:cs typeface="Arial"/>
              </a:rPr>
              <a:t>48</a:t>
            </a:r>
          </a:p>
        </p:txBody>
      </p:sp>
      <p:sp>
        <p:nvSpPr>
          <p:cNvPr id="19" name="TextBox 18"/>
          <p:cNvSpPr txBox="1"/>
          <p:nvPr/>
        </p:nvSpPr>
        <p:spPr>
          <a:xfrm>
            <a:off x="2994660" y="5285231"/>
            <a:ext cx="640080" cy="219456"/>
          </a:xfrm>
          <a:prstGeom prst="rect">
            <a:avLst/>
          </a:prstGeom>
          <a:noFill/>
        </p:spPr>
        <p:txBody>
          <a:bodyPr wrap="square" lIns="0" tIns="0" rIns="0" bIns="0" anchor="t"/>
          <a:lstStyle/>
          <a:p>
            <a:pPr algn="ctr"/>
            <a:r>
              <a:rPr sz="1200" b="0" i="0">
                <a:solidFill>
                  <a:srgbClr val="586B73"/>
                </a:solidFill>
                <a:latin typeface="Arial"/>
                <a:ea typeface="Arial"/>
                <a:cs typeface="Arial"/>
              </a:rPr>
              <a:t>64</a:t>
            </a:r>
          </a:p>
        </p:txBody>
      </p:sp>
      <p:sp>
        <p:nvSpPr>
          <p:cNvPr id="20" name="TextBox 19"/>
          <p:cNvSpPr txBox="1"/>
          <p:nvPr/>
        </p:nvSpPr>
        <p:spPr>
          <a:xfrm>
            <a:off x="4104556" y="5285231"/>
            <a:ext cx="640080" cy="219456"/>
          </a:xfrm>
          <a:prstGeom prst="rect">
            <a:avLst/>
          </a:prstGeom>
          <a:noFill/>
        </p:spPr>
        <p:txBody>
          <a:bodyPr wrap="square" lIns="0" tIns="0" rIns="0" bIns="0" anchor="t"/>
          <a:lstStyle/>
          <a:p>
            <a:pPr algn="ctr"/>
            <a:r>
              <a:rPr sz="1200" b="0" i="0">
                <a:solidFill>
                  <a:srgbClr val="586B73"/>
                </a:solidFill>
                <a:latin typeface="Arial"/>
                <a:ea typeface="Arial"/>
                <a:cs typeface="Arial"/>
              </a:rPr>
              <a:t>96</a:t>
            </a:r>
          </a:p>
        </p:txBody>
      </p:sp>
      <p:sp>
        <p:nvSpPr>
          <p:cNvPr id="21" name="TextBox 20"/>
          <p:cNvSpPr txBox="1"/>
          <p:nvPr/>
        </p:nvSpPr>
        <p:spPr>
          <a:xfrm>
            <a:off x="4892040" y="5285231"/>
            <a:ext cx="640080" cy="219456"/>
          </a:xfrm>
          <a:prstGeom prst="rect">
            <a:avLst/>
          </a:prstGeom>
          <a:noFill/>
        </p:spPr>
        <p:txBody>
          <a:bodyPr wrap="square" lIns="0" tIns="0" rIns="0" bIns="0" anchor="t"/>
          <a:lstStyle/>
          <a:p>
            <a:pPr algn="ctr"/>
            <a:r>
              <a:rPr sz="1200" b="0" i="0">
                <a:solidFill>
                  <a:srgbClr val="586B73"/>
                </a:solidFill>
                <a:latin typeface="Arial"/>
                <a:ea typeface="Arial"/>
                <a:cs typeface="Arial"/>
              </a:rPr>
              <a:t>128</a:t>
            </a:r>
          </a:p>
        </p:txBody>
      </p:sp>
      <p:sp>
        <p:nvSpPr>
          <p:cNvPr id="22" name="TextBox 21"/>
          <p:cNvSpPr txBox="1"/>
          <p:nvPr/>
        </p:nvSpPr>
        <p:spPr>
          <a:xfrm>
            <a:off x="1417320" y="5522976"/>
            <a:ext cx="3794760" cy="237744"/>
          </a:xfrm>
          <a:prstGeom prst="rect">
            <a:avLst/>
          </a:prstGeom>
          <a:noFill/>
        </p:spPr>
        <p:txBody>
          <a:bodyPr wrap="square" lIns="0" tIns="0" rIns="0" bIns="0" anchor="t"/>
          <a:lstStyle/>
          <a:p>
            <a:pPr algn="ctr"/>
            <a:r>
              <a:rPr sz="1300" b="0" i="0">
                <a:solidFill>
                  <a:srgbClr val="1B3A57"/>
                </a:solidFill>
                <a:latin typeface="Arial"/>
                <a:ea typeface="Arial"/>
                <a:cs typeface="Arial"/>
              </a:rPr>
              <a:t>Requests in flight, c (log scale)</a:t>
            </a:r>
          </a:p>
        </p:txBody>
      </p:sp>
      <p:cxnSp>
        <p:nvCxnSpPr>
          <p:cNvPr id="23" name="Connector 22"/>
          <p:cNvCxnSpPr/>
          <p:nvPr/>
        </p:nvCxnSpPr>
        <p:spPr>
          <a:xfrm flipV="1">
            <a:off x="1417320" y="4497959"/>
            <a:ext cx="1109896" cy="460962"/>
          </a:xfrm>
          <a:prstGeom prst="line">
            <a:avLst/>
          </a:prstGeom>
          <a:ln w="25400">
            <a:solidFill>
              <a:srgbClr val="1B3A57"/>
            </a:solidFill>
          </a:ln>
        </p:spPr>
      </p:cxnSp>
      <p:cxnSp>
        <p:nvCxnSpPr>
          <p:cNvPr id="24" name="Connector 23"/>
          <p:cNvCxnSpPr/>
          <p:nvPr/>
        </p:nvCxnSpPr>
        <p:spPr>
          <a:xfrm flipV="1">
            <a:off x="2527216" y="4122767"/>
            <a:ext cx="787484" cy="375192"/>
          </a:xfrm>
          <a:prstGeom prst="line">
            <a:avLst/>
          </a:prstGeom>
          <a:ln w="25400">
            <a:solidFill>
              <a:srgbClr val="1B3A57"/>
            </a:solidFill>
          </a:ln>
        </p:spPr>
      </p:cxnSp>
      <p:cxnSp>
        <p:nvCxnSpPr>
          <p:cNvPr id="25" name="Connector 24"/>
          <p:cNvCxnSpPr/>
          <p:nvPr/>
        </p:nvCxnSpPr>
        <p:spPr>
          <a:xfrm flipV="1">
            <a:off x="3314700" y="3508748"/>
            <a:ext cx="1109896" cy="614019"/>
          </a:xfrm>
          <a:prstGeom prst="line">
            <a:avLst/>
          </a:prstGeom>
          <a:ln w="25400">
            <a:solidFill>
              <a:srgbClr val="1B3A57"/>
            </a:solidFill>
          </a:ln>
        </p:spPr>
      </p:cxnSp>
      <p:cxnSp>
        <p:nvCxnSpPr>
          <p:cNvPr id="26" name="Connector 25"/>
          <p:cNvCxnSpPr/>
          <p:nvPr/>
        </p:nvCxnSpPr>
        <p:spPr>
          <a:xfrm flipV="1">
            <a:off x="4424596" y="2997394"/>
            <a:ext cx="787484" cy="511354"/>
          </a:xfrm>
          <a:prstGeom prst="line">
            <a:avLst/>
          </a:prstGeom>
          <a:ln w="25400">
            <a:solidFill>
              <a:srgbClr val="1B3A57"/>
            </a:solidFill>
          </a:ln>
        </p:spPr>
      </p:cxnSp>
      <p:sp>
        <p:nvSpPr>
          <p:cNvPr id="27" name="Oval 26"/>
          <p:cNvSpPr/>
          <p:nvPr/>
        </p:nvSpPr>
        <p:spPr>
          <a:xfrm>
            <a:off x="1357884" y="4899485"/>
            <a:ext cx="118872" cy="118872"/>
          </a:xfrm>
          <a:prstGeom prst="ellipse">
            <a:avLst/>
          </a:prstGeom>
          <a:solidFill>
            <a:srgbClr val="1B3A57"/>
          </a:solidFill>
          <a:ln w="12700">
            <a:solidFill>
              <a:srgbClr val="1B3A57"/>
            </a:solidFill>
          </a:ln>
        </p:spPr>
        <p:txBody>
          <a:bodyPr rtlCol="0" anchor="ctr"/>
          <a:lstStyle/>
          <a:p>
            <a:pPr algn="ctr"/>
          </a:p>
        </p:txBody>
      </p:sp>
      <p:sp>
        <p:nvSpPr>
          <p:cNvPr id="28" name="Oval 27"/>
          <p:cNvSpPr/>
          <p:nvPr/>
        </p:nvSpPr>
        <p:spPr>
          <a:xfrm>
            <a:off x="2467780" y="4438523"/>
            <a:ext cx="118872" cy="118872"/>
          </a:xfrm>
          <a:prstGeom prst="ellipse">
            <a:avLst/>
          </a:prstGeom>
          <a:solidFill>
            <a:srgbClr val="1B3A57"/>
          </a:solidFill>
          <a:ln w="12700">
            <a:solidFill>
              <a:srgbClr val="1B3A57"/>
            </a:solidFill>
          </a:ln>
        </p:spPr>
        <p:txBody>
          <a:bodyPr rtlCol="0" anchor="ctr"/>
          <a:lstStyle/>
          <a:p>
            <a:pPr algn="ctr"/>
          </a:p>
        </p:txBody>
      </p:sp>
      <p:sp>
        <p:nvSpPr>
          <p:cNvPr id="29" name="Oval 28"/>
          <p:cNvSpPr/>
          <p:nvPr/>
        </p:nvSpPr>
        <p:spPr>
          <a:xfrm>
            <a:off x="3255264" y="4063331"/>
            <a:ext cx="118872" cy="118872"/>
          </a:xfrm>
          <a:prstGeom prst="ellipse">
            <a:avLst/>
          </a:prstGeom>
          <a:solidFill>
            <a:srgbClr val="1B3A57"/>
          </a:solidFill>
          <a:ln w="12700">
            <a:solidFill>
              <a:srgbClr val="1B3A57"/>
            </a:solidFill>
          </a:ln>
        </p:spPr>
        <p:txBody>
          <a:bodyPr rtlCol="0" anchor="ctr"/>
          <a:lstStyle/>
          <a:p>
            <a:pPr algn="ctr"/>
          </a:p>
        </p:txBody>
      </p:sp>
      <p:sp>
        <p:nvSpPr>
          <p:cNvPr id="30" name="Oval 29"/>
          <p:cNvSpPr/>
          <p:nvPr/>
        </p:nvSpPr>
        <p:spPr>
          <a:xfrm>
            <a:off x="4365160" y="3449312"/>
            <a:ext cx="118872" cy="118872"/>
          </a:xfrm>
          <a:prstGeom prst="ellipse">
            <a:avLst/>
          </a:prstGeom>
          <a:solidFill>
            <a:srgbClr val="1B3A57"/>
          </a:solidFill>
          <a:ln w="12700">
            <a:solidFill>
              <a:srgbClr val="1B3A57"/>
            </a:solidFill>
          </a:ln>
        </p:spPr>
        <p:txBody>
          <a:bodyPr rtlCol="0" anchor="ctr"/>
          <a:lstStyle/>
          <a:p>
            <a:pPr algn="ctr"/>
          </a:p>
        </p:txBody>
      </p:sp>
      <p:sp>
        <p:nvSpPr>
          <p:cNvPr id="31" name="Oval 30"/>
          <p:cNvSpPr/>
          <p:nvPr/>
        </p:nvSpPr>
        <p:spPr>
          <a:xfrm>
            <a:off x="5152644" y="2937958"/>
            <a:ext cx="118872" cy="118872"/>
          </a:xfrm>
          <a:prstGeom prst="ellipse">
            <a:avLst/>
          </a:prstGeom>
          <a:solidFill>
            <a:srgbClr val="1B3A57"/>
          </a:solidFill>
          <a:ln w="12700">
            <a:solidFill>
              <a:srgbClr val="1B3A57"/>
            </a:solidFill>
          </a:ln>
        </p:spPr>
        <p:txBody>
          <a:bodyPr rtlCol="0" anchor="ctr"/>
          <a:lstStyle/>
          <a:p>
            <a:pPr algn="ctr"/>
          </a:p>
        </p:txBody>
      </p:sp>
      <p:cxnSp>
        <p:nvCxnSpPr>
          <p:cNvPr id="32" name="Connector 31"/>
          <p:cNvCxnSpPr/>
          <p:nvPr/>
        </p:nvCxnSpPr>
        <p:spPr>
          <a:xfrm flipV="1">
            <a:off x="1417320" y="4509912"/>
            <a:ext cx="1109896" cy="341759"/>
          </a:xfrm>
          <a:prstGeom prst="line">
            <a:avLst/>
          </a:prstGeom>
          <a:ln w="25400">
            <a:solidFill>
              <a:srgbClr val="1C6402"/>
            </a:solidFill>
            <a:prstDash val="dashDot"/>
          </a:ln>
        </p:spPr>
      </p:cxnSp>
      <p:cxnSp>
        <p:nvCxnSpPr>
          <p:cNvPr id="33" name="Connector 32"/>
          <p:cNvCxnSpPr/>
          <p:nvPr/>
        </p:nvCxnSpPr>
        <p:spPr>
          <a:xfrm flipV="1">
            <a:off x="2527216" y="4290656"/>
            <a:ext cx="787484" cy="219256"/>
          </a:xfrm>
          <a:prstGeom prst="line">
            <a:avLst/>
          </a:prstGeom>
          <a:ln w="25400">
            <a:solidFill>
              <a:srgbClr val="1C6402"/>
            </a:solidFill>
            <a:prstDash val="dashDot"/>
          </a:ln>
        </p:spPr>
      </p:cxnSp>
      <p:cxnSp>
        <p:nvCxnSpPr>
          <p:cNvPr id="34" name="Connector 33"/>
          <p:cNvCxnSpPr/>
          <p:nvPr/>
        </p:nvCxnSpPr>
        <p:spPr>
          <a:xfrm flipV="1">
            <a:off x="3314700" y="3933932"/>
            <a:ext cx="1109896" cy="356724"/>
          </a:xfrm>
          <a:prstGeom prst="line">
            <a:avLst/>
          </a:prstGeom>
          <a:ln w="25400">
            <a:solidFill>
              <a:srgbClr val="1C6402"/>
            </a:solidFill>
            <a:prstDash val="dashDot"/>
          </a:ln>
        </p:spPr>
      </p:cxnSp>
      <p:cxnSp>
        <p:nvCxnSpPr>
          <p:cNvPr id="35" name="Connector 34"/>
          <p:cNvCxnSpPr/>
          <p:nvPr/>
        </p:nvCxnSpPr>
        <p:spPr>
          <a:xfrm flipV="1">
            <a:off x="4424596" y="3645389"/>
            <a:ext cx="787484" cy="288543"/>
          </a:xfrm>
          <a:prstGeom prst="line">
            <a:avLst/>
          </a:prstGeom>
          <a:ln w="25400">
            <a:solidFill>
              <a:srgbClr val="1C6402"/>
            </a:solidFill>
            <a:prstDash val="dashDot"/>
          </a:ln>
        </p:spPr>
      </p:cxnSp>
      <p:sp>
        <p:nvSpPr>
          <p:cNvPr id="36" name="Isosceles Triangle 35"/>
          <p:cNvSpPr/>
          <p:nvPr/>
        </p:nvSpPr>
        <p:spPr>
          <a:xfrm>
            <a:off x="1357884" y="4792235"/>
            <a:ext cx="118872" cy="118872"/>
          </a:xfrm>
          <a:prstGeom prst="triangle">
            <a:avLst/>
          </a:prstGeom>
          <a:solidFill>
            <a:srgbClr val="FFFFFF"/>
          </a:solidFill>
          <a:ln w="15875">
            <a:solidFill>
              <a:srgbClr val="1C6402"/>
            </a:solidFill>
          </a:ln>
        </p:spPr>
        <p:txBody>
          <a:bodyPr rtlCol="0" anchor="ctr"/>
          <a:lstStyle/>
          <a:p>
            <a:pPr algn="ctr"/>
          </a:p>
        </p:txBody>
      </p:sp>
      <p:sp>
        <p:nvSpPr>
          <p:cNvPr id="37" name="Isosceles Triangle 36"/>
          <p:cNvSpPr/>
          <p:nvPr/>
        </p:nvSpPr>
        <p:spPr>
          <a:xfrm>
            <a:off x="2467780" y="4450476"/>
            <a:ext cx="118872" cy="118872"/>
          </a:xfrm>
          <a:prstGeom prst="triangle">
            <a:avLst/>
          </a:prstGeom>
          <a:solidFill>
            <a:srgbClr val="FFFFFF"/>
          </a:solidFill>
          <a:ln w="15875">
            <a:solidFill>
              <a:srgbClr val="1C6402"/>
            </a:solidFill>
          </a:ln>
        </p:spPr>
        <p:txBody>
          <a:bodyPr rtlCol="0" anchor="ctr"/>
          <a:lstStyle/>
          <a:p>
            <a:pPr algn="ctr"/>
          </a:p>
        </p:txBody>
      </p:sp>
      <p:sp>
        <p:nvSpPr>
          <p:cNvPr id="38" name="Isosceles Triangle 37"/>
          <p:cNvSpPr/>
          <p:nvPr/>
        </p:nvSpPr>
        <p:spPr>
          <a:xfrm>
            <a:off x="3255264" y="4231220"/>
            <a:ext cx="118872" cy="118872"/>
          </a:xfrm>
          <a:prstGeom prst="triangle">
            <a:avLst/>
          </a:prstGeom>
          <a:solidFill>
            <a:srgbClr val="FFFFFF"/>
          </a:solidFill>
          <a:ln w="15875">
            <a:solidFill>
              <a:srgbClr val="1C6402"/>
            </a:solidFill>
          </a:ln>
        </p:spPr>
        <p:txBody>
          <a:bodyPr rtlCol="0" anchor="ctr"/>
          <a:lstStyle/>
          <a:p>
            <a:pPr algn="ctr"/>
          </a:p>
        </p:txBody>
      </p:sp>
      <p:sp>
        <p:nvSpPr>
          <p:cNvPr id="39" name="Isosceles Triangle 38"/>
          <p:cNvSpPr/>
          <p:nvPr/>
        </p:nvSpPr>
        <p:spPr>
          <a:xfrm>
            <a:off x="4365160" y="3874496"/>
            <a:ext cx="118872" cy="118872"/>
          </a:xfrm>
          <a:prstGeom prst="triangle">
            <a:avLst/>
          </a:prstGeom>
          <a:solidFill>
            <a:srgbClr val="FFFFFF"/>
          </a:solidFill>
          <a:ln w="15875">
            <a:solidFill>
              <a:srgbClr val="1C6402"/>
            </a:solidFill>
          </a:ln>
        </p:spPr>
        <p:txBody>
          <a:bodyPr rtlCol="0" anchor="ctr"/>
          <a:lstStyle/>
          <a:p>
            <a:pPr algn="ctr"/>
          </a:p>
        </p:txBody>
      </p:sp>
      <p:sp>
        <p:nvSpPr>
          <p:cNvPr id="40" name="Isosceles Triangle 39"/>
          <p:cNvSpPr/>
          <p:nvPr/>
        </p:nvSpPr>
        <p:spPr>
          <a:xfrm>
            <a:off x="5152644" y="3585953"/>
            <a:ext cx="118872" cy="118872"/>
          </a:xfrm>
          <a:prstGeom prst="triangle">
            <a:avLst/>
          </a:prstGeom>
          <a:solidFill>
            <a:srgbClr val="FFFFFF"/>
          </a:solidFill>
          <a:ln w="15875">
            <a:solidFill>
              <a:srgbClr val="1C6402"/>
            </a:solidFill>
          </a:ln>
        </p:spPr>
        <p:txBody>
          <a:bodyPr rtlCol="0" anchor="ctr"/>
          <a:lstStyle/>
          <a:p>
            <a:pPr algn="ctr"/>
          </a:p>
        </p:txBody>
      </p:sp>
      <p:cxnSp>
        <p:nvCxnSpPr>
          <p:cNvPr id="41" name="Connector 40"/>
          <p:cNvCxnSpPr/>
          <p:nvPr/>
        </p:nvCxnSpPr>
        <p:spPr>
          <a:xfrm flipV="1">
            <a:off x="1417320" y="3909103"/>
            <a:ext cx="1109896" cy="654895"/>
          </a:xfrm>
          <a:prstGeom prst="line">
            <a:avLst/>
          </a:prstGeom>
          <a:ln w="25400">
            <a:solidFill>
              <a:srgbClr val="1C6402"/>
            </a:solidFill>
          </a:ln>
        </p:spPr>
      </p:cxnSp>
      <p:cxnSp>
        <p:nvCxnSpPr>
          <p:cNvPr id="42" name="Connector 41"/>
          <p:cNvCxnSpPr/>
          <p:nvPr/>
        </p:nvCxnSpPr>
        <p:spPr>
          <a:xfrm flipV="1">
            <a:off x="2527216" y="3452612"/>
            <a:ext cx="787484" cy="456491"/>
          </a:xfrm>
          <a:prstGeom prst="line">
            <a:avLst/>
          </a:prstGeom>
          <a:ln w="25400">
            <a:solidFill>
              <a:srgbClr val="1C6402"/>
            </a:solidFill>
          </a:ln>
        </p:spPr>
      </p:cxnSp>
      <p:cxnSp>
        <p:nvCxnSpPr>
          <p:cNvPr id="43" name="Connector 42"/>
          <p:cNvCxnSpPr/>
          <p:nvPr/>
        </p:nvCxnSpPr>
        <p:spPr>
          <a:xfrm flipV="1">
            <a:off x="3314700" y="2788058"/>
            <a:ext cx="1109896" cy="664554"/>
          </a:xfrm>
          <a:prstGeom prst="line">
            <a:avLst/>
          </a:prstGeom>
          <a:ln w="25400">
            <a:solidFill>
              <a:srgbClr val="1C6402"/>
            </a:solidFill>
          </a:ln>
        </p:spPr>
      </p:cxnSp>
      <p:cxnSp>
        <p:nvCxnSpPr>
          <p:cNvPr id="44" name="Connector 43"/>
          <p:cNvCxnSpPr/>
          <p:nvPr/>
        </p:nvCxnSpPr>
        <p:spPr>
          <a:xfrm flipV="1">
            <a:off x="4424596" y="2391815"/>
            <a:ext cx="787484" cy="396243"/>
          </a:xfrm>
          <a:prstGeom prst="line">
            <a:avLst/>
          </a:prstGeom>
          <a:ln w="25400">
            <a:solidFill>
              <a:srgbClr val="1C6402"/>
            </a:solidFill>
          </a:ln>
        </p:spPr>
      </p:cxnSp>
      <p:sp>
        <p:nvSpPr>
          <p:cNvPr id="45" name="Isosceles Triangle 44"/>
          <p:cNvSpPr/>
          <p:nvPr/>
        </p:nvSpPr>
        <p:spPr>
          <a:xfrm>
            <a:off x="1357884" y="4504562"/>
            <a:ext cx="118872" cy="118872"/>
          </a:xfrm>
          <a:prstGeom prst="triangle">
            <a:avLst/>
          </a:prstGeom>
          <a:solidFill>
            <a:srgbClr val="1C6402"/>
          </a:solidFill>
          <a:ln w="12700">
            <a:solidFill>
              <a:srgbClr val="1C6402"/>
            </a:solidFill>
          </a:ln>
        </p:spPr>
        <p:txBody>
          <a:bodyPr rtlCol="0" anchor="ctr"/>
          <a:lstStyle/>
          <a:p>
            <a:pPr algn="ctr"/>
          </a:p>
        </p:txBody>
      </p:sp>
      <p:sp>
        <p:nvSpPr>
          <p:cNvPr id="46" name="Isosceles Triangle 45"/>
          <p:cNvSpPr/>
          <p:nvPr/>
        </p:nvSpPr>
        <p:spPr>
          <a:xfrm>
            <a:off x="2467780" y="3849667"/>
            <a:ext cx="118872" cy="118872"/>
          </a:xfrm>
          <a:prstGeom prst="triangle">
            <a:avLst/>
          </a:prstGeom>
          <a:solidFill>
            <a:srgbClr val="1C6402"/>
          </a:solidFill>
          <a:ln w="12700">
            <a:solidFill>
              <a:srgbClr val="1C6402"/>
            </a:solidFill>
          </a:ln>
        </p:spPr>
        <p:txBody>
          <a:bodyPr rtlCol="0" anchor="ctr"/>
          <a:lstStyle/>
          <a:p>
            <a:pPr algn="ctr"/>
          </a:p>
        </p:txBody>
      </p:sp>
      <p:sp>
        <p:nvSpPr>
          <p:cNvPr id="47" name="Isosceles Triangle 46"/>
          <p:cNvSpPr/>
          <p:nvPr/>
        </p:nvSpPr>
        <p:spPr>
          <a:xfrm>
            <a:off x="3255264" y="3393176"/>
            <a:ext cx="118872" cy="118872"/>
          </a:xfrm>
          <a:prstGeom prst="triangle">
            <a:avLst/>
          </a:prstGeom>
          <a:solidFill>
            <a:srgbClr val="1C6402"/>
          </a:solidFill>
          <a:ln w="12700">
            <a:solidFill>
              <a:srgbClr val="1C6402"/>
            </a:solidFill>
          </a:ln>
        </p:spPr>
        <p:txBody>
          <a:bodyPr rtlCol="0" anchor="ctr"/>
          <a:lstStyle/>
          <a:p>
            <a:pPr algn="ctr"/>
          </a:p>
        </p:txBody>
      </p:sp>
      <p:sp>
        <p:nvSpPr>
          <p:cNvPr id="48" name="Isosceles Triangle 47"/>
          <p:cNvSpPr/>
          <p:nvPr/>
        </p:nvSpPr>
        <p:spPr>
          <a:xfrm>
            <a:off x="4365160" y="2728622"/>
            <a:ext cx="118872" cy="118872"/>
          </a:xfrm>
          <a:prstGeom prst="triangle">
            <a:avLst/>
          </a:prstGeom>
          <a:solidFill>
            <a:srgbClr val="1C6402"/>
          </a:solidFill>
          <a:ln w="12700">
            <a:solidFill>
              <a:srgbClr val="1C6402"/>
            </a:solidFill>
          </a:ln>
        </p:spPr>
        <p:txBody>
          <a:bodyPr rtlCol="0" anchor="ctr"/>
          <a:lstStyle/>
          <a:p>
            <a:pPr algn="ctr"/>
          </a:p>
        </p:txBody>
      </p:sp>
      <p:sp>
        <p:nvSpPr>
          <p:cNvPr id="49" name="Isosceles Triangle 48"/>
          <p:cNvSpPr/>
          <p:nvPr/>
        </p:nvSpPr>
        <p:spPr>
          <a:xfrm>
            <a:off x="5152644" y="2332379"/>
            <a:ext cx="118872" cy="118872"/>
          </a:xfrm>
          <a:prstGeom prst="triangle">
            <a:avLst/>
          </a:prstGeom>
          <a:solidFill>
            <a:srgbClr val="1C6402"/>
          </a:solidFill>
          <a:ln w="12700">
            <a:solidFill>
              <a:srgbClr val="1C6402"/>
            </a:solidFill>
          </a:ln>
        </p:spPr>
        <p:txBody>
          <a:bodyPr rtlCol="0" anchor="ctr"/>
          <a:lstStyle/>
          <a:p>
            <a:pPr algn="ctr"/>
          </a:p>
        </p:txBody>
      </p:sp>
      <p:sp>
        <p:nvSpPr>
          <p:cNvPr id="50" name="TextBox 49"/>
          <p:cNvSpPr txBox="1"/>
          <p:nvPr/>
        </p:nvSpPr>
        <p:spPr>
          <a:xfrm>
            <a:off x="2880360" y="2080919"/>
            <a:ext cx="2240280" cy="237744"/>
          </a:xfrm>
          <a:prstGeom prst="rect">
            <a:avLst/>
          </a:prstGeom>
          <a:noFill/>
        </p:spPr>
        <p:txBody>
          <a:bodyPr wrap="square" lIns="0" tIns="0" rIns="0" bIns="0" anchor="t"/>
          <a:lstStyle/>
          <a:p>
            <a:pPr algn="r"/>
            <a:r>
              <a:rPr sz="1200" b="1" i="0">
                <a:solidFill>
                  <a:srgbClr val="1C6402"/>
                </a:solidFill>
                <a:latin typeface="Arial"/>
                <a:ea typeface="Arial"/>
                <a:cs typeface="Arial"/>
              </a:rPr>
              <a:t>MTP, prefill delay and cap</a:t>
            </a:r>
          </a:p>
        </p:txBody>
      </p:sp>
      <p:sp>
        <p:nvSpPr>
          <p:cNvPr id="51" name="TextBox 50"/>
          <p:cNvSpPr txBox="1"/>
          <p:nvPr/>
        </p:nvSpPr>
        <p:spPr>
          <a:xfrm>
            <a:off x="5321808" y="2814514"/>
            <a:ext cx="1005840" cy="457200"/>
          </a:xfrm>
          <a:prstGeom prst="rect">
            <a:avLst/>
          </a:prstGeom>
          <a:noFill/>
        </p:spPr>
        <p:txBody>
          <a:bodyPr wrap="square" lIns="0" tIns="0" rIns="0" bIns="0" anchor="t"/>
          <a:lstStyle/>
          <a:p>
            <a:pPr algn="l"/>
            <a:r>
              <a:rPr sz="1200" b="1" i="0">
                <a:solidFill>
                  <a:srgbClr val="1B3A57"/>
                </a:solidFill>
                <a:latin typeface="Arial"/>
                <a:ea typeface="Arial"/>
                <a:cs typeface="Arial"/>
              </a:rPr>
              <a:t>best without</a:t>
            </a:r>
          </a:p>
          <a:p>
            <a:pPr algn="l"/>
            <a:r>
              <a:rPr sz="1200" b="1" i="0">
                <a:solidFill>
                  <a:srgbClr val="1B3A57"/>
                </a:solidFill>
                <a:latin typeface="Arial"/>
                <a:ea typeface="Arial"/>
                <a:cs typeface="Arial"/>
              </a:rPr>
              <a:t>speculation</a:t>
            </a:r>
          </a:p>
        </p:txBody>
      </p:sp>
      <p:sp>
        <p:nvSpPr>
          <p:cNvPr id="52" name="TextBox 51"/>
          <p:cNvSpPr txBox="1"/>
          <p:nvPr/>
        </p:nvSpPr>
        <p:spPr>
          <a:xfrm>
            <a:off x="5321808" y="3590525"/>
            <a:ext cx="1005840" cy="237744"/>
          </a:xfrm>
          <a:prstGeom prst="rect">
            <a:avLst/>
          </a:prstGeom>
          <a:noFill/>
        </p:spPr>
        <p:txBody>
          <a:bodyPr wrap="square" lIns="0" tIns="0" rIns="0" bIns="0" anchor="t"/>
          <a:lstStyle/>
          <a:p>
            <a:pPr algn="l"/>
            <a:r>
              <a:rPr sz="1200" b="1" i="0">
                <a:solidFill>
                  <a:srgbClr val="1C6402"/>
                </a:solidFill>
                <a:latin typeface="Arial"/>
                <a:ea typeface="Arial"/>
                <a:cs typeface="Arial"/>
              </a:rPr>
              <a:t>MTP</a:t>
            </a:r>
          </a:p>
        </p:txBody>
      </p:sp>
      <p:sp>
        <p:nvSpPr>
          <p:cNvPr id="53" name="TextBox 52"/>
          <p:cNvSpPr txBox="1"/>
          <p:nvPr/>
        </p:nvSpPr>
        <p:spPr>
          <a:xfrm>
            <a:off x="2161456" y="4000543"/>
            <a:ext cx="731520" cy="219456"/>
          </a:xfrm>
          <a:prstGeom prst="rect">
            <a:avLst/>
          </a:prstGeom>
          <a:noFill/>
        </p:spPr>
        <p:txBody>
          <a:bodyPr wrap="square" lIns="0" tIns="0" rIns="0" bIns="0" anchor="t"/>
          <a:lstStyle/>
          <a:p>
            <a:pPr algn="ctr"/>
            <a:r>
              <a:rPr sz="1200" b="1" i="0">
                <a:solidFill>
                  <a:srgbClr val="1C6402"/>
                </a:solidFill>
                <a:latin typeface="Arial"/>
                <a:ea typeface="Arial"/>
                <a:cs typeface="Arial"/>
              </a:rPr>
              <a:t>1.32×</a:t>
            </a:r>
          </a:p>
        </p:txBody>
      </p:sp>
      <p:sp>
        <p:nvSpPr>
          <p:cNvPr id="54" name="TextBox 53"/>
          <p:cNvSpPr txBox="1"/>
          <p:nvPr/>
        </p:nvSpPr>
        <p:spPr>
          <a:xfrm>
            <a:off x="2948940" y="3544052"/>
            <a:ext cx="731520" cy="219456"/>
          </a:xfrm>
          <a:prstGeom prst="rect">
            <a:avLst/>
          </a:prstGeom>
          <a:noFill/>
        </p:spPr>
        <p:txBody>
          <a:bodyPr wrap="square" lIns="0" tIns="0" rIns="0" bIns="0" anchor="t"/>
          <a:lstStyle/>
          <a:p>
            <a:pPr algn="ctr"/>
            <a:r>
              <a:rPr sz="1200" b="1" i="0">
                <a:solidFill>
                  <a:srgbClr val="1C6402"/>
                </a:solidFill>
                <a:latin typeface="Arial"/>
                <a:ea typeface="Arial"/>
                <a:cs typeface="Arial"/>
              </a:rPr>
              <a:t>1.30×</a:t>
            </a:r>
          </a:p>
        </p:txBody>
      </p:sp>
      <p:sp>
        <p:nvSpPr>
          <p:cNvPr id="55" name="TextBox 54"/>
          <p:cNvSpPr txBox="1"/>
          <p:nvPr/>
        </p:nvSpPr>
        <p:spPr>
          <a:xfrm>
            <a:off x="4058836" y="2879498"/>
            <a:ext cx="731520" cy="219456"/>
          </a:xfrm>
          <a:prstGeom prst="rect">
            <a:avLst/>
          </a:prstGeom>
          <a:noFill/>
        </p:spPr>
        <p:txBody>
          <a:bodyPr wrap="square" lIns="0" tIns="0" rIns="0" bIns="0" anchor="t"/>
          <a:lstStyle/>
          <a:p>
            <a:pPr algn="ctr"/>
            <a:r>
              <a:rPr sz="1200" b="1" i="0">
                <a:solidFill>
                  <a:srgbClr val="1C6402"/>
                </a:solidFill>
                <a:latin typeface="Arial"/>
                <a:ea typeface="Arial"/>
                <a:cs typeface="Arial"/>
              </a:rPr>
              <a:t>1.25×</a:t>
            </a:r>
          </a:p>
        </p:txBody>
      </p:sp>
      <p:sp>
        <p:nvSpPr>
          <p:cNvPr id="56" name="TextBox 55"/>
          <p:cNvSpPr txBox="1"/>
          <p:nvPr/>
        </p:nvSpPr>
        <p:spPr>
          <a:xfrm>
            <a:off x="4846320" y="2483255"/>
            <a:ext cx="731520" cy="219456"/>
          </a:xfrm>
          <a:prstGeom prst="rect">
            <a:avLst/>
          </a:prstGeom>
          <a:noFill/>
        </p:spPr>
        <p:txBody>
          <a:bodyPr wrap="square" lIns="0" tIns="0" rIns="0" bIns="0" anchor="t"/>
          <a:lstStyle/>
          <a:p>
            <a:pPr algn="ctr"/>
            <a:r>
              <a:rPr sz="1200" b="1" i="0">
                <a:solidFill>
                  <a:srgbClr val="1C6402"/>
                </a:solidFill>
                <a:latin typeface="Arial"/>
                <a:ea typeface="Arial"/>
                <a:cs typeface="Arial"/>
              </a:rPr>
              <a:t>1.18×</a:t>
            </a:r>
          </a:p>
        </p:txBody>
      </p:sp>
      <p:cxnSp>
        <p:nvCxnSpPr>
          <p:cNvPr id="57" name="Connector 56"/>
          <p:cNvCxnSpPr/>
          <p:nvPr/>
        </p:nvCxnSpPr>
        <p:spPr>
          <a:xfrm>
            <a:off x="6446520" y="2029968"/>
            <a:ext cx="0" cy="3730752"/>
          </a:xfrm>
          <a:prstGeom prst="line">
            <a:avLst/>
          </a:prstGeom>
          <a:ln w="12700">
            <a:solidFill>
              <a:srgbClr val="D2DCDF"/>
            </a:solidFill>
          </a:ln>
        </p:spPr>
      </p:cxnSp>
      <p:sp>
        <p:nvSpPr>
          <p:cNvPr id="58" name="TextBox 57"/>
          <p:cNvSpPr txBox="1"/>
          <p:nvPr/>
        </p:nvSpPr>
        <p:spPr>
          <a:xfrm>
            <a:off x="6720840" y="2057400"/>
            <a:ext cx="4754880" cy="457200"/>
          </a:xfrm>
          <a:prstGeom prst="rect">
            <a:avLst/>
          </a:prstGeom>
          <a:noFill/>
        </p:spPr>
        <p:txBody>
          <a:bodyPr wrap="square" lIns="0" tIns="0" rIns="0" bIns="0" anchor="t"/>
          <a:lstStyle/>
          <a:p>
            <a:pPr algn="l"/>
            <a:r>
              <a:rPr sz="2600" b="1" i="0">
                <a:solidFill>
                  <a:srgbClr val="1B3A57"/>
                </a:solidFill>
                <a:latin typeface="Arial"/>
                <a:ea typeface="Arial"/>
                <a:cs typeface="Arial"/>
              </a:rPr>
              <a:t>33 ms</a:t>
            </a:r>
          </a:p>
        </p:txBody>
      </p:sp>
      <p:sp>
        <p:nvSpPr>
          <p:cNvPr id="59" name="TextBox 58"/>
          <p:cNvSpPr txBox="1"/>
          <p:nvPr/>
        </p:nvSpPr>
        <p:spPr>
          <a:xfrm>
            <a:off x="6720840" y="2532888"/>
            <a:ext cx="4754880" cy="960120"/>
          </a:xfrm>
          <a:prstGeom prst="rect">
            <a:avLst/>
          </a:prstGeom>
          <a:noFill/>
        </p:spPr>
        <p:txBody>
          <a:bodyPr wrap="square" lIns="0" tIns="0" rIns="0" bIns="0" anchor="t"/>
          <a:lstStyle/>
          <a:p>
            <a:pPr algn="l"/>
            <a:r>
              <a:rPr sz="1400" b="0" i="0">
                <a:solidFill>
                  <a:srgbClr val="1B3A57"/>
                </a:solidFill>
                <a:latin typeface="Arial"/>
                <a:ea typeface="Arial"/>
                <a:cs typeface="Arial"/>
              </a:rPr>
              <a:t>per lone prefill, 9 ms of it GPU work. Speculative requests finish one or two at a time and are prefilled alone; plain decoding’s equal-length requests finish together and share a prefill.</a:t>
            </a:r>
          </a:p>
        </p:txBody>
      </p:sp>
      <p:sp>
        <p:nvSpPr>
          <p:cNvPr id="60" name="TextBox 59"/>
          <p:cNvSpPr txBox="1"/>
          <p:nvPr/>
        </p:nvSpPr>
        <p:spPr>
          <a:xfrm>
            <a:off x="6720840" y="3429000"/>
            <a:ext cx="4754880" cy="457200"/>
          </a:xfrm>
          <a:prstGeom prst="rect">
            <a:avLst/>
          </a:prstGeom>
          <a:noFill/>
        </p:spPr>
        <p:txBody>
          <a:bodyPr wrap="square" lIns="0" tIns="0" rIns="0" bIns="0" anchor="t"/>
          <a:lstStyle/>
          <a:p>
            <a:pPr algn="l"/>
            <a:r>
              <a:rPr sz="2600" b="1" i="0">
                <a:solidFill>
                  <a:srgbClr val="1C6402"/>
                </a:solidFill>
                <a:latin typeface="Arial"/>
                <a:ea typeface="Arial"/>
                <a:cs typeface="Arial"/>
              </a:rPr>
              <a:t>1.18–1.32×</a:t>
            </a:r>
          </a:p>
        </p:txBody>
      </p:sp>
      <p:sp>
        <p:nvSpPr>
          <p:cNvPr id="61" name="TextBox 60"/>
          <p:cNvSpPr txBox="1"/>
          <p:nvPr/>
        </p:nvSpPr>
        <p:spPr>
          <a:xfrm>
            <a:off x="6720840" y="3904487"/>
            <a:ext cx="4754880" cy="566928"/>
          </a:xfrm>
          <a:prstGeom prst="rect">
            <a:avLst/>
          </a:prstGeom>
          <a:noFill/>
        </p:spPr>
        <p:txBody>
          <a:bodyPr wrap="square" lIns="0" tIns="0" rIns="0" bIns="0" anchor="t"/>
          <a:lstStyle/>
          <a:p>
            <a:pPr algn="l"/>
            <a:r>
              <a:rPr sz="1400" b="0" i="0">
                <a:solidFill>
                  <a:srgbClr val="1B3A57"/>
                </a:solidFill>
                <a:latin typeface="Arial"/>
                <a:ea typeface="Arial"/>
                <a:cs typeface="Arial"/>
              </a:rPr>
              <a:t>the best arm without speculation, every session; prefill batches at c = 128: 518 → 81</a:t>
            </a:r>
          </a:p>
        </p:txBody>
      </p:sp>
      <p:sp>
        <p:nvSpPr>
          <p:cNvPr id="62" name="TextBox 61"/>
          <p:cNvSpPr txBox="1"/>
          <p:nvPr/>
        </p:nvSpPr>
        <p:spPr>
          <a:xfrm>
            <a:off x="6720840" y="4617720"/>
            <a:ext cx="4754880" cy="457200"/>
          </a:xfrm>
          <a:prstGeom prst="rect">
            <a:avLst/>
          </a:prstGeom>
          <a:noFill/>
        </p:spPr>
        <p:txBody>
          <a:bodyPr wrap="square" lIns="0" tIns="0" rIns="0" bIns="0" anchor="t"/>
          <a:lstStyle/>
          <a:p>
            <a:pPr algn="l"/>
            <a:r>
              <a:rPr sz="2600" b="1" i="0">
                <a:solidFill>
                  <a:srgbClr val="D55E00"/>
                </a:solidFill>
                <a:latin typeface="Arial"/>
                <a:ea typeface="Arial"/>
                <a:cs typeface="Arial"/>
              </a:rPr>
              <a:t>2.6–3.1×</a:t>
            </a:r>
          </a:p>
        </p:txBody>
      </p:sp>
      <p:sp>
        <p:nvSpPr>
          <p:cNvPr id="63" name="TextBox 62"/>
          <p:cNvSpPr txBox="1"/>
          <p:nvPr/>
        </p:nvSpPr>
        <p:spPr>
          <a:xfrm>
            <a:off x="6720840" y="5093208"/>
            <a:ext cx="4754880" cy="566928"/>
          </a:xfrm>
          <a:prstGeom prst="rect">
            <a:avLst/>
          </a:prstGeom>
          <a:noFill/>
        </p:spPr>
        <p:txBody>
          <a:bodyPr wrap="square" lIns="0" tIns="0" rIns="0" bIns="0" anchor="t"/>
          <a:lstStyle/>
          <a:p>
            <a:pPr algn="l"/>
            <a:r>
              <a:rPr sz="1400" b="0" i="0">
                <a:solidFill>
                  <a:srgbClr val="1B3A57"/>
                </a:solidFill>
                <a:latin typeface="Arial"/>
                <a:ea typeface="Arial"/>
                <a:cs typeface="Arial"/>
              </a:rPr>
              <a:t>plain decoding’s 99th-percentile time to first token, at c = 48–128 (385–635 ms)</a:t>
            </a:r>
          </a:p>
        </p:txBody>
      </p:sp>
      <p:sp>
        <p:nvSpPr>
          <p:cNvPr id="64" name="TextBox 63"/>
          <p:cNvSpPr txBox="1"/>
          <p:nvPr/>
        </p:nvSpPr>
        <p:spPr>
          <a:xfrm>
            <a:off x="731520" y="5897880"/>
            <a:ext cx="10744200" cy="530352"/>
          </a:xfrm>
          <a:prstGeom prst="rect">
            <a:avLst/>
          </a:prstGeom>
          <a:noFill/>
        </p:spPr>
        <p:txBody>
          <a:bodyPr wrap="square" lIns="0" tIns="0" rIns="0" bIns="0" anchor="t"/>
          <a:lstStyle/>
          <a:p>
            <a:pPr algn="l"/>
            <a:r>
              <a:rPr sz="1250" b="0" i="0">
                <a:solidFill>
                  <a:srgbClr val="586B73"/>
                </a:solidFill>
                <a:latin typeface="Arial"/>
                <a:ea typeface="Arial"/>
                <a:cs typeface="Arial"/>
              </a:rPr>
              <a:t>Exact up to rounding against MTP without it, classed at c = 64 and 128. At c = 1 and 8 it passes the no-harm rule (0.994, 0.992), but median time to first token rises 0.6–2.7 ms in every session pair. One setting, not tuned; no arm separates the delay from the cap.</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731520" y="1417320"/>
            <a:ext cx="10744200" cy="914400"/>
          </a:xfrm>
          <a:prstGeom prst="rect">
            <a:avLst/>
          </a:prstGeom>
          <a:noFill/>
        </p:spPr>
        <p:txBody>
          <a:bodyPr wrap="square" lIns="0" tIns="0" rIns="0" bIns="0" anchor="t"/>
          <a:lstStyle/>
          <a:p>
            <a:pPr algn="l"/>
            <a:r>
              <a:rPr sz="4400" b="1" i="0">
                <a:solidFill>
                  <a:srgbClr val="1B3A57"/>
                </a:solidFill>
                <a:latin typeface="Arial"/>
                <a:ea typeface="Arial"/>
                <a:cs typeface="Arial"/>
              </a:rPr>
              <a:t>The Work a Verifier Needs</a:t>
            </a:r>
          </a:p>
        </p:txBody>
      </p:sp>
      <p:sp>
        <p:nvSpPr>
          <p:cNvPr id="3" name="TextBox 2"/>
          <p:cNvSpPr txBox="1"/>
          <p:nvPr/>
        </p:nvSpPr>
        <p:spPr>
          <a:xfrm>
            <a:off x="731520" y="2331720"/>
            <a:ext cx="10744200" cy="868680"/>
          </a:xfrm>
          <a:prstGeom prst="rect">
            <a:avLst/>
          </a:prstGeom>
          <a:noFill/>
        </p:spPr>
        <p:txBody>
          <a:bodyPr wrap="square" lIns="0" tIns="0" rIns="0" bIns="0" anchor="t"/>
          <a:lstStyle/>
          <a:p>
            <a:pPr algn="l"/>
            <a:r>
              <a:rPr sz="2600" b="0" i="0">
                <a:solidFill>
                  <a:srgbClr val="1B3A57"/>
                </a:solidFill>
                <a:latin typeface="Arial"/>
                <a:ea typeface="Arial"/>
                <a:cs typeface="Arial"/>
              </a:rPr>
              <a:t>Certified Int8 Output Heads That Match a Production Kernel’s Rounding</a:t>
            </a:r>
          </a:p>
        </p:txBody>
      </p:sp>
      <p:cxnSp>
        <p:nvCxnSpPr>
          <p:cNvPr id="4" name="Connector 3"/>
          <p:cNvCxnSpPr/>
          <p:nvPr/>
        </p:nvCxnSpPr>
        <p:spPr>
          <a:xfrm>
            <a:off x="731520" y="3429000"/>
            <a:ext cx="10744200" cy="0"/>
          </a:xfrm>
          <a:prstGeom prst="line">
            <a:avLst/>
          </a:prstGeom>
          <a:ln w="12700">
            <a:solidFill>
              <a:srgbClr val="D2DCDF"/>
            </a:solidFill>
          </a:ln>
        </p:spPr>
      </p:cxnSp>
      <p:sp>
        <p:nvSpPr>
          <p:cNvPr id="5" name="TextBox 4"/>
          <p:cNvSpPr txBox="1"/>
          <p:nvPr/>
        </p:nvSpPr>
        <p:spPr>
          <a:xfrm>
            <a:off x="731520" y="3657600"/>
            <a:ext cx="10744200" cy="411480"/>
          </a:xfrm>
          <a:prstGeom prst="rect">
            <a:avLst/>
          </a:prstGeom>
          <a:noFill/>
        </p:spPr>
        <p:txBody>
          <a:bodyPr wrap="square" lIns="0" tIns="0" rIns="0" bIns="0" anchor="t"/>
          <a:lstStyle/>
          <a:p>
            <a:pPr algn="l"/>
            <a:r>
              <a:rPr sz="2400" b="1" i="0">
                <a:solidFill>
                  <a:srgbClr val="1B3A57"/>
                </a:solidFill>
                <a:latin typeface="Arial"/>
                <a:ea typeface="Arial"/>
                <a:cs typeface="Arial"/>
              </a:rPr>
              <a:t>Samuel Mausberg</a:t>
            </a:r>
          </a:p>
        </p:txBody>
      </p:sp>
      <p:sp>
        <p:nvSpPr>
          <p:cNvPr id="6" name="TextBox 5"/>
          <p:cNvSpPr txBox="1"/>
          <p:nvPr/>
        </p:nvSpPr>
        <p:spPr>
          <a:xfrm>
            <a:off x="731520" y="4160520"/>
            <a:ext cx="10744200" cy="365760"/>
          </a:xfrm>
          <a:prstGeom prst="rect">
            <a:avLst/>
          </a:prstGeom>
          <a:noFill/>
        </p:spPr>
        <p:txBody>
          <a:bodyPr wrap="square" lIns="0" tIns="0" rIns="0" bIns="0" anchor="t"/>
          <a:lstStyle/>
          <a:p>
            <a:pPr algn="l"/>
            <a:r>
              <a:rPr sz="2000" b="0" i="0">
                <a:solidFill>
                  <a:srgbClr val="586B73"/>
                </a:solidFill>
                <a:latin typeface="Arial"/>
                <a:ea typeface="Arial"/>
                <a:cs typeface="Arial"/>
              </a:rPr>
              <a:t>Preprint · Qwen3.5-4B in SGLang on one NVIDIA GH200</a:t>
            </a:r>
          </a:p>
        </p:txBody>
      </p:sp>
      <p:sp>
        <p:nvSpPr>
          <p:cNvPr id="7" name="TextBox 6"/>
          <p:cNvSpPr txBox="1"/>
          <p:nvPr/>
        </p:nvSpPr>
        <p:spPr>
          <a:xfrm>
            <a:off x="731520" y="4572000"/>
            <a:ext cx="10744200" cy="365760"/>
          </a:xfrm>
          <a:prstGeom prst="rect">
            <a:avLst/>
          </a:prstGeom>
          <a:noFill/>
        </p:spPr>
        <p:txBody>
          <a:bodyPr wrap="square" lIns="0" tIns="0" rIns="0" bIns="0" anchor="t"/>
          <a:lstStyle/>
          <a:p>
            <a:pPr algn="l"/>
            <a:r>
              <a:rPr sz="2000" b="0" i="0">
                <a:solidFill>
                  <a:srgbClr val="586B73"/>
                </a:solidFill>
                <a:latin typeface="Arial"/>
                <a:ea typeface="Arial"/>
                <a:cs typeface="Arial"/>
              </a:rPr>
              <a:t>github.com/SamMausberg/verified-progress</a:t>
            </a:r>
          </a:p>
        </p:txBody>
      </p:sp>
      <p:sp>
        <p:nvSpPr>
          <p:cNvPr id="8" name="TextBox 7"/>
          <p:cNvSpPr txBox="1"/>
          <p:nvPr/>
        </p:nvSpPr>
        <p:spPr>
          <a:xfrm>
            <a:off x="731520" y="5760720"/>
            <a:ext cx="10744200" cy="320040"/>
          </a:xfrm>
          <a:prstGeom prst="rect">
            <a:avLst/>
          </a:prstGeom>
          <a:noFill/>
        </p:spPr>
        <p:txBody>
          <a:bodyPr wrap="square" lIns="0" tIns="0" rIns="0" bIns="0" anchor="t"/>
          <a:lstStyle/>
          <a:p>
            <a:pPr algn="l"/>
            <a:r>
              <a:rPr sz="1400" b="0" i="0">
                <a:solidFill>
                  <a:srgbClr val="586B73"/>
                </a:solidFill>
                <a:latin typeface="Arial"/>
                <a:ea typeface="Arial"/>
                <a:cs typeface="Arial"/>
              </a:rPr>
              <a:t>AI (Claude Opus 5.5, GPT-6 Astra Pro) was used in developing the paper and the code.</a:t>
            </a:r>
          </a:p>
        </p:txBody>
      </p:sp>
      <p:sp>
        <p:nvSpPr>
          <p:cNvPr id="9" name="TextBox 8"/>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and evidence at 02b9c5f</a:t>
            </a:r>
          </a:p>
        </p:txBody>
      </p:sp>
      <p:sp>
        <p:nvSpPr>
          <p:cNvPr id="10" name="TextBox 9"/>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A verifier needs one token, yet the engine scores 248,320</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§1</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02</a:t>
            </a:r>
          </a:p>
        </p:txBody>
      </p:sp>
      <p:sp>
        <p:nvSpPr>
          <p:cNvPr id="6" name="TextBox 5"/>
          <p:cNvSpPr txBox="1"/>
          <p:nvPr/>
        </p:nvSpPr>
        <p:spPr>
          <a:xfrm>
            <a:off x="731520" y="1645920"/>
            <a:ext cx="6400800" cy="685800"/>
          </a:xfrm>
          <a:prstGeom prst="rect">
            <a:avLst/>
          </a:prstGeom>
          <a:noFill/>
        </p:spPr>
        <p:txBody>
          <a:bodyPr wrap="square" lIns="0" tIns="0" rIns="0" bIns="0" anchor="t"/>
          <a:lstStyle/>
          <a:p>
            <a:pPr algn="l"/>
            <a:r>
              <a:rPr sz="1800" b="0" i="0">
                <a:solidFill>
                  <a:srgbClr val="586B73"/>
                </a:solidFill>
                <a:latin typeface="Arial"/>
                <a:ea typeface="Arial"/>
                <a:cs typeface="Arial"/>
              </a:rPr>
              <a:t>Speculative decoding: a drafter proposes tokens; the target checks them all in one forward pass.</a:t>
            </a:r>
          </a:p>
        </p:txBody>
      </p:sp>
      <p:sp>
        <p:nvSpPr>
          <p:cNvPr id="7" name="TextBox 6"/>
          <p:cNvSpPr txBox="1"/>
          <p:nvPr/>
        </p:nvSpPr>
        <p:spPr>
          <a:xfrm>
            <a:off x="731520" y="2606040"/>
            <a:ext cx="6035040" cy="1188720"/>
          </a:xfrm>
          <a:prstGeom prst="rect">
            <a:avLst/>
          </a:prstGeom>
          <a:noFill/>
        </p:spPr>
        <p:txBody>
          <a:bodyPr wrap="square" lIns="0" tIns="0" rIns="0" bIns="0" anchor="t"/>
          <a:lstStyle/>
          <a:p>
            <a:pPr algn="l"/>
            <a:r>
              <a:rPr sz="2600" b="0" i="0">
                <a:solidFill>
                  <a:srgbClr val="1B3A57"/>
                </a:solidFill>
                <a:latin typeface="Arial"/>
                <a:ea typeface="Arial"/>
                <a:cs typeface="Arial"/>
              </a:rPr>
              <a:t>A greedy verifier accepts a drafted token only if it is the target’s top-scoring entry.</a:t>
            </a:r>
          </a:p>
        </p:txBody>
      </p:sp>
      <p:sp>
        <p:nvSpPr>
          <p:cNvPr id="8" name="TextBox 7"/>
          <p:cNvSpPr txBox="1"/>
          <p:nvPr/>
        </p:nvSpPr>
        <p:spPr>
          <a:xfrm>
            <a:off x="731520" y="4160520"/>
            <a:ext cx="6035040" cy="1188720"/>
          </a:xfrm>
          <a:prstGeom prst="rect">
            <a:avLst/>
          </a:prstGeom>
          <a:noFill/>
        </p:spPr>
        <p:txBody>
          <a:bodyPr wrap="square" lIns="0" tIns="0" rIns="0" bIns="0" anchor="t"/>
          <a:lstStyle/>
          <a:p>
            <a:pPr algn="l"/>
            <a:r>
              <a:rPr sz="2800" b="1" i="0">
                <a:solidFill>
                  <a:srgbClr val="0072B2"/>
                </a:solidFill>
                <a:latin typeface="Arial"/>
                <a:ea typeface="Arial"/>
                <a:cs typeface="Arial"/>
              </a:rPr>
              <a:t>How little of the head can an exact shortcut compute?</a:t>
            </a:r>
          </a:p>
        </p:txBody>
      </p:sp>
      <p:sp>
        <p:nvSpPr>
          <p:cNvPr id="9" name="Rectangle 8"/>
          <p:cNvSpPr/>
          <p:nvPr/>
        </p:nvSpPr>
        <p:spPr>
          <a:xfrm>
            <a:off x="7406640" y="1874519"/>
            <a:ext cx="1069848" cy="141731"/>
          </a:xfrm>
          <a:prstGeom prst="rect">
            <a:avLst/>
          </a:prstGeom>
          <a:solidFill>
            <a:srgbClr val="D3D6D9"/>
          </a:solidFill>
          <a:ln>
            <a:noFill/>
          </a:ln>
        </p:spPr>
        <p:txBody>
          <a:bodyPr rtlCol="0" anchor="ctr"/>
          <a:lstStyle/>
          <a:p>
            <a:pPr algn="ctr"/>
          </a:p>
        </p:txBody>
      </p:sp>
      <p:sp>
        <p:nvSpPr>
          <p:cNvPr id="10" name="Rectangle 9"/>
          <p:cNvSpPr/>
          <p:nvPr/>
        </p:nvSpPr>
        <p:spPr>
          <a:xfrm>
            <a:off x="7406640" y="2061972"/>
            <a:ext cx="1961388" cy="141731"/>
          </a:xfrm>
          <a:prstGeom prst="rect">
            <a:avLst/>
          </a:prstGeom>
          <a:solidFill>
            <a:srgbClr val="D3D6D9"/>
          </a:solidFill>
          <a:ln>
            <a:noFill/>
          </a:ln>
        </p:spPr>
        <p:txBody>
          <a:bodyPr rtlCol="0" anchor="ctr"/>
          <a:lstStyle/>
          <a:p>
            <a:pPr algn="ctr"/>
          </a:p>
        </p:txBody>
      </p:sp>
      <p:sp>
        <p:nvSpPr>
          <p:cNvPr id="11" name="Rectangle 10"/>
          <p:cNvSpPr/>
          <p:nvPr/>
        </p:nvSpPr>
        <p:spPr>
          <a:xfrm>
            <a:off x="7406640" y="2249424"/>
            <a:ext cx="784555" cy="141731"/>
          </a:xfrm>
          <a:prstGeom prst="rect">
            <a:avLst/>
          </a:prstGeom>
          <a:solidFill>
            <a:srgbClr val="D3D6D9"/>
          </a:solidFill>
          <a:ln>
            <a:noFill/>
          </a:ln>
        </p:spPr>
        <p:txBody>
          <a:bodyPr rtlCol="0" anchor="ctr"/>
          <a:lstStyle/>
          <a:p>
            <a:pPr algn="ctr"/>
          </a:p>
        </p:txBody>
      </p:sp>
      <p:sp>
        <p:nvSpPr>
          <p:cNvPr id="12" name="Rectangle 11"/>
          <p:cNvSpPr/>
          <p:nvPr/>
        </p:nvSpPr>
        <p:spPr>
          <a:xfrm>
            <a:off x="7406640" y="2436876"/>
            <a:ext cx="2852928" cy="141731"/>
          </a:xfrm>
          <a:prstGeom prst="rect">
            <a:avLst/>
          </a:prstGeom>
          <a:solidFill>
            <a:srgbClr val="D3D6D9"/>
          </a:solidFill>
          <a:ln>
            <a:noFill/>
          </a:ln>
        </p:spPr>
        <p:txBody>
          <a:bodyPr rtlCol="0" anchor="ctr"/>
          <a:lstStyle/>
          <a:p>
            <a:pPr algn="ctr"/>
          </a:p>
        </p:txBody>
      </p:sp>
      <p:sp>
        <p:nvSpPr>
          <p:cNvPr id="13" name="Rectangle 12"/>
          <p:cNvSpPr/>
          <p:nvPr/>
        </p:nvSpPr>
        <p:spPr>
          <a:xfrm>
            <a:off x="7406640" y="2624327"/>
            <a:ext cx="1462125" cy="141731"/>
          </a:xfrm>
          <a:prstGeom prst="rect">
            <a:avLst/>
          </a:prstGeom>
          <a:solidFill>
            <a:srgbClr val="D3D6D9"/>
          </a:solidFill>
          <a:ln>
            <a:noFill/>
          </a:ln>
        </p:spPr>
        <p:txBody>
          <a:bodyPr rtlCol="0" anchor="ctr"/>
          <a:lstStyle/>
          <a:p>
            <a:pPr algn="ctr"/>
          </a:p>
        </p:txBody>
      </p:sp>
      <p:sp>
        <p:nvSpPr>
          <p:cNvPr id="14" name="Rectangle 13"/>
          <p:cNvSpPr/>
          <p:nvPr/>
        </p:nvSpPr>
        <p:spPr>
          <a:xfrm>
            <a:off x="7406640" y="2811779"/>
            <a:ext cx="1248156" cy="141731"/>
          </a:xfrm>
          <a:prstGeom prst="rect">
            <a:avLst/>
          </a:prstGeom>
          <a:solidFill>
            <a:srgbClr val="D3D6D9"/>
          </a:solidFill>
          <a:ln>
            <a:noFill/>
          </a:ln>
        </p:spPr>
        <p:txBody>
          <a:bodyPr rtlCol="0" anchor="ctr"/>
          <a:lstStyle/>
          <a:p>
            <a:pPr algn="ctr"/>
          </a:p>
        </p:txBody>
      </p:sp>
      <p:sp>
        <p:nvSpPr>
          <p:cNvPr id="15" name="Rectangle 14"/>
          <p:cNvSpPr/>
          <p:nvPr/>
        </p:nvSpPr>
        <p:spPr>
          <a:xfrm>
            <a:off x="7406640" y="2999232"/>
            <a:ext cx="2211019" cy="141731"/>
          </a:xfrm>
          <a:prstGeom prst="rect">
            <a:avLst/>
          </a:prstGeom>
          <a:solidFill>
            <a:srgbClr val="D3D6D9"/>
          </a:solidFill>
          <a:ln>
            <a:noFill/>
          </a:ln>
        </p:spPr>
        <p:txBody>
          <a:bodyPr rtlCol="0" anchor="ctr"/>
          <a:lstStyle/>
          <a:p>
            <a:pPr algn="ctr"/>
          </a:p>
        </p:txBody>
      </p:sp>
      <p:sp>
        <p:nvSpPr>
          <p:cNvPr id="16" name="Rectangle 15"/>
          <p:cNvSpPr/>
          <p:nvPr/>
        </p:nvSpPr>
        <p:spPr>
          <a:xfrm>
            <a:off x="7406640" y="3186683"/>
            <a:ext cx="998524" cy="141731"/>
          </a:xfrm>
          <a:prstGeom prst="rect">
            <a:avLst/>
          </a:prstGeom>
          <a:solidFill>
            <a:srgbClr val="D3D6D9"/>
          </a:solidFill>
          <a:ln>
            <a:noFill/>
          </a:ln>
        </p:spPr>
        <p:txBody>
          <a:bodyPr rtlCol="0" anchor="ctr"/>
          <a:lstStyle/>
          <a:p>
            <a:pPr algn="ctr"/>
          </a:p>
        </p:txBody>
      </p:sp>
      <p:sp>
        <p:nvSpPr>
          <p:cNvPr id="17" name="Rectangle 16"/>
          <p:cNvSpPr/>
          <p:nvPr/>
        </p:nvSpPr>
        <p:spPr>
          <a:xfrm>
            <a:off x="7406640" y="3374135"/>
            <a:ext cx="3566160" cy="141731"/>
          </a:xfrm>
          <a:prstGeom prst="rect">
            <a:avLst/>
          </a:prstGeom>
          <a:solidFill>
            <a:srgbClr val="1B3A57"/>
          </a:solidFill>
          <a:ln>
            <a:noFill/>
          </a:ln>
        </p:spPr>
        <p:txBody>
          <a:bodyPr rtlCol="0" anchor="ctr"/>
          <a:lstStyle/>
          <a:p>
            <a:pPr algn="ctr"/>
          </a:p>
        </p:txBody>
      </p:sp>
      <p:sp>
        <p:nvSpPr>
          <p:cNvPr id="18" name="Rectangle 17"/>
          <p:cNvSpPr/>
          <p:nvPr/>
        </p:nvSpPr>
        <p:spPr>
          <a:xfrm>
            <a:off x="7406640" y="3561587"/>
            <a:ext cx="1676095" cy="141731"/>
          </a:xfrm>
          <a:prstGeom prst="rect">
            <a:avLst/>
          </a:prstGeom>
          <a:solidFill>
            <a:srgbClr val="D3D6D9"/>
          </a:solidFill>
          <a:ln>
            <a:noFill/>
          </a:ln>
        </p:spPr>
        <p:txBody>
          <a:bodyPr rtlCol="0" anchor="ctr"/>
          <a:lstStyle/>
          <a:p>
            <a:pPr algn="ctr"/>
          </a:p>
        </p:txBody>
      </p:sp>
      <p:sp>
        <p:nvSpPr>
          <p:cNvPr id="19" name="Rectangle 18"/>
          <p:cNvSpPr/>
          <p:nvPr/>
        </p:nvSpPr>
        <p:spPr>
          <a:xfrm>
            <a:off x="7406640" y="3749039"/>
            <a:ext cx="891540" cy="141731"/>
          </a:xfrm>
          <a:prstGeom prst="rect">
            <a:avLst/>
          </a:prstGeom>
          <a:solidFill>
            <a:srgbClr val="D3D6D9"/>
          </a:solidFill>
          <a:ln>
            <a:noFill/>
          </a:ln>
        </p:spPr>
        <p:txBody>
          <a:bodyPr rtlCol="0" anchor="ctr"/>
          <a:lstStyle/>
          <a:p>
            <a:pPr algn="ctr"/>
          </a:p>
        </p:txBody>
      </p:sp>
      <p:sp>
        <p:nvSpPr>
          <p:cNvPr id="20" name="Rectangle 19"/>
          <p:cNvSpPr/>
          <p:nvPr/>
        </p:nvSpPr>
        <p:spPr>
          <a:xfrm>
            <a:off x="7406640" y="3936491"/>
            <a:ext cx="2068372" cy="141731"/>
          </a:xfrm>
          <a:prstGeom prst="rect">
            <a:avLst/>
          </a:prstGeom>
          <a:solidFill>
            <a:srgbClr val="D3D6D9"/>
          </a:solidFill>
          <a:ln>
            <a:noFill/>
          </a:ln>
        </p:spPr>
        <p:txBody>
          <a:bodyPr rtlCol="0" anchor="ctr"/>
          <a:lstStyle/>
          <a:p>
            <a:pPr algn="ctr"/>
          </a:p>
        </p:txBody>
      </p:sp>
      <p:sp>
        <p:nvSpPr>
          <p:cNvPr id="21" name="Rectangle 20"/>
          <p:cNvSpPr/>
          <p:nvPr/>
        </p:nvSpPr>
        <p:spPr>
          <a:xfrm>
            <a:off x="7406640" y="4123944"/>
            <a:ext cx="1176832" cy="141731"/>
          </a:xfrm>
          <a:prstGeom prst="rect">
            <a:avLst/>
          </a:prstGeom>
          <a:solidFill>
            <a:srgbClr val="D3D6D9"/>
          </a:solidFill>
          <a:ln>
            <a:noFill/>
          </a:ln>
        </p:spPr>
        <p:txBody>
          <a:bodyPr rtlCol="0" anchor="ctr"/>
          <a:lstStyle/>
          <a:p>
            <a:pPr algn="ctr"/>
          </a:p>
        </p:txBody>
      </p:sp>
      <p:sp>
        <p:nvSpPr>
          <p:cNvPr id="22" name="Rectangle 21"/>
          <p:cNvSpPr/>
          <p:nvPr/>
        </p:nvSpPr>
        <p:spPr>
          <a:xfrm>
            <a:off x="7406640" y="4311396"/>
            <a:ext cx="2496312" cy="141731"/>
          </a:xfrm>
          <a:prstGeom prst="rect">
            <a:avLst/>
          </a:prstGeom>
          <a:solidFill>
            <a:srgbClr val="D3D6D9"/>
          </a:solidFill>
          <a:ln>
            <a:noFill/>
          </a:ln>
        </p:spPr>
        <p:txBody>
          <a:bodyPr rtlCol="0" anchor="ctr"/>
          <a:lstStyle/>
          <a:p>
            <a:pPr algn="ctr"/>
          </a:p>
        </p:txBody>
      </p:sp>
      <p:sp>
        <p:nvSpPr>
          <p:cNvPr id="23" name="Rectangle 22"/>
          <p:cNvSpPr/>
          <p:nvPr/>
        </p:nvSpPr>
        <p:spPr>
          <a:xfrm>
            <a:off x="7406640" y="4498848"/>
            <a:ext cx="1426464" cy="141731"/>
          </a:xfrm>
          <a:prstGeom prst="rect">
            <a:avLst/>
          </a:prstGeom>
          <a:solidFill>
            <a:srgbClr val="D3D6D9"/>
          </a:solidFill>
          <a:ln>
            <a:noFill/>
          </a:ln>
        </p:spPr>
        <p:txBody>
          <a:bodyPr rtlCol="0" anchor="ctr"/>
          <a:lstStyle/>
          <a:p>
            <a:pPr algn="ctr"/>
          </a:p>
        </p:txBody>
      </p:sp>
      <p:sp>
        <p:nvSpPr>
          <p:cNvPr id="24" name="Rectangle 23"/>
          <p:cNvSpPr/>
          <p:nvPr/>
        </p:nvSpPr>
        <p:spPr>
          <a:xfrm>
            <a:off x="7406640" y="4686300"/>
            <a:ext cx="748893" cy="141731"/>
          </a:xfrm>
          <a:prstGeom prst="rect">
            <a:avLst/>
          </a:prstGeom>
          <a:solidFill>
            <a:srgbClr val="D3D6D9"/>
          </a:solidFill>
          <a:ln>
            <a:noFill/>
          </a:ln>
        </p:spPr>
        <p:txBody>
          <a:bodyPr rtlCol="0" anchor="ctr"/>
          <a:lstStyle/>
          <a:p>
            <a:pPr algn="ctr"/>
          </a:p>
        </p:txBody>
      </p:sp>
      <p:sp>
        <p:nvSpPr>
          <p:cNvPr id="25" name="Rectangle 24"/>
          <p:cNvSpPr/>
          <p:nvPr/>
        </p:nvSpPr>
        <p:spPr>
          <a:xfrm>
            <a:off x="7406640" y="4873752"/>
            <a:ext cx="1854403" cy="141731"/>
          </a:xfrm>
          <a:prstGeom prst="rect">
            <a:avLst/>
          </a:prstGeom>
          <a:solidFill>
            <a:srgbClr val="D3D6D9"/>
          </a:solidFill>
          <a:ln>
            <a:noFill/>
          </a:ln>
        </p:spPr>
        <p:txBody>
          <a:bodyPr rtlCol="0" anchor="ctr"/>
          <a:lstStyle/>
          <a:p>
            <a:pPr algn="ctr"/>
          </a:p>
        </p:txBody>
      </p:sp>
      <p:sp>
        <p:nvSpPr>
          <p:cNvPr id="26" name="Rectangle 25"/>
          <p:cNvSpPr/>
          <p:nvPr/>
        </p:nvSpPr>
        <p:spPr>
          <a:xfrm>
            <a:off x="7406640" y="5061204"/>
            <a:ext cx="1283817" cy="141731"/>
          </a:xfrm>
          <a:prstGeom prst="rect">
            <a:avLst/>
          </a:prstGeom>
          <a:solidFill>
            <a:srgbClr val="D3D6D9"/>
          </a:solidFill>
          <a:ln>
            <a:noFill/>
          </a:ln>
        </p:spPr>
        <p:txBody>
          <a:bodyPr rtlCol="0" anchor="ctr"/>
          <a:lstStyle/>
          <a:p>
            <a:pPr algn="ctr"/>
          </a:p>
        </p:txBody>
      </p:sp>
      <p:sp>
        <p:nvSpPr>
          <p:cNvPr id="27" name="Rectangle 26"/>
          <p:cNvSpPr/>
          <p:nvPr/>
        </p:nvSpPr>
        <p:spPr>
          <a:xfrm>
            <a:off x="7406640" y="5248656"/>
            <a:ext cx="2282342" cy="141731"/>
          </a:xfrm>
          <a:prstGeom prst="rect">
            <a:avLst/>
          </a:prstGeom>
          <a:solidFill>
            <a:srgbClr val="D3D6D9"/>
          </a:solidFill>
          <a:ln>
            <a:noFill/>
          </a:ln>
        </p:spPr>
        <p:txBody>
          <a:bodyPr rtlCol="0" anchor="ctr"/>
          <a:lstStyle/>
          <a:p>
            <a:pPr algn="ctr"/>
          </a:p>
        </p:txBody>
      </p:sp>
      <p:sp>
        <p:nvSpPr>
          <p:cNvPr id="28" name="Rectangle 27"/>
          <p:cNvSpPr/>
          <p:nvPr/>
        </p:nvSpPr>
        <p:spPr>
          <a:xfrm>
            <a:off x="7406640" y="5436107"/>
            <a:ext cx="962863" cy="141731"/>
          </a:xfrm>
          <a:prstGeom prst="rect">
            <a:avLst/>
          </a:prstGeom>
          <a:solidFill>
            <a:srgbClr val="D3D6D9"/>
          </a:solidFill>
          <a:ln>
            <a:noFill/>
          </a:ln>
        </p:spPr>
        <p:txBody>
          <a:bodyPr rtlCol="0" anchor="ctr"/>
          <a:lstStyle/>
          <a:p>
            <a:pPr algn="ctr"/>
          </a:p>
        </p:txBody>
      </p:sp>
      <p:sp>
        <p:nvSpPr>
          <p:cNvPr id="29" name="TextBox 28"/>
          <p:cNvSpPr txBox="1"/>
          <p:nvPr/>
        </p:nvSpPr>
        <p:spPr>
          <a:xfrm>
            <a:off x="11064240" y="3264407"/>
            <a:ext cx="1097280" cy="365760"/>
          </a:xfrm>
          <a:prstGeom prst="rect">
            <a:avLst/>
          </a:prstGeom>
          <a:noFill/>
        </p:spPr>
        <p:txBody>
          <a:bodyPr wrap="square" lIns="0" tIns="0" rIns="0" bIns="0" anchor="t"/>
          <a:lstStyle/>
          <a:p>
            <a:pPr algn="l"/>
            <a:r>
              <a:rPr sz="1800" b="1" i="0">
                <a:solidFill>
                  <a:srgbClr val="1B3A57"/>
                </a:solidFill>
                <a:latin typeface="Arial"/>
                <a:ea typeface="Arial"/>
                <a:cs typeface="Arial"/>
              </a:rPr>
              <a:t>← token</a:t>
            </a:r>
          </a:p>
        </p:txBody>
      </p:sp>
      <p:sp>
        <p:nvSpPr>
          <p:cNvPr id="30" name="TextBox 29"/>
          <p:cNvSpPr txBox="1"/>
          <p:nvPr/>
        </p:nvSpPr>
        <p:spPr>
          <a:xfrm>
            <a:off x="7406640" y="5733288"/>
            <a:ext cx="4206240" cy="640080"/>
          </a:xfrm>
          <a:prstGeom prst="rect">
            <a:avLst/>
          </a:prstGeom>
          <a:noFill/>
        </p:spPr>
        <p:txBody>
          <a:bodyPr wrap="square" lIns="0" tIns="0" rIns="0" bIns="0" anchor="t"/>
          <a:lstStyle/>
          <a:p>
            <a:pPr algn="l"/>
            <a:r>
              <a:rPr sz="1800" b="0" i="0">
                <a:solidFill>
                  <a:srgbClr val="586B73"/>
                </a:solidFill>
                <a:latin typeface="Arial"/>
                <a:ea typeface="Arial"/>
                <a:cs typeface="Arial"/>
              </a:rPr>
              <a:t>one logit per vocabulary entry:</a:t>
            </a:r>
          </a:p>
          <a:p>
            <a:pPr algn="l"/>
            <a:r>
              <a:rPr sz="1800" b="0" i="0">
                <a:solidFill>
                  <a:srgbClr val="586B73"/>
                </a:solidFill>
                <a:latin typeface="Arial"/>
                <a:ea typeface="Arial"/>
                <a:cs typeface="Arial"/>
              </a:rPr>
              <a:t>248,320 per position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Measured on recorded engine states, then served</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§4.1, §4.5</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03</a:t>
            </a:r>
          </a:p>
        </p:txBody>
      </p:sp>
      <p:sp>
        <p:nvSpPr>
          <p:cNvPr id="6" name="Rectangle 5"/>
          <p:cNvSpPr/>
          <p:nvPr/>
        </p:nvSpPr>
        <p:spPr>
          <a:xfrm>
            <a:off x="731520" y="1801368"/>
            <a:ext cx="64008" cy="786384"/>
          </a:xfrm>
          <a:prstGeom prst="rect">
            <a:avLst/>
          </a:prstGeom>
          <a:solidFill>
            <a:srgbClr val="1B3A57"/>
          </a:solidFill>
          <a:ln>
            <a:noFill/>
          </a:ln>
        </p:spPr>
        <p:txBody>
          <a:bodyPr rtlCol="0" anchor="ctr"/>
          <a:lstStyle/>
          <a:p>
            <a:pPr algn="ctr"/>
          </a:p>
        </p:txBody>
      </p:sp>
      <p:sp>
        <p:nvSpPr>
          <p:cNvPr id="7" name="TextBox 6"/>
          <p:cNvSpPr txBox="1"/>
          <p:nvPr/>
        </p:nvSpPr>
        <p:spPr>
          <a:xfrm>
            <a:off x="960120" y="1783080"/>
            <a:ext cx="10515600" cy="329184"/>
          </a:xfrm>
          <a:prstGeom prst="rect">
            <a:avLst/>
          </a:prstGeom>
          <a:noFill/>
        </p:spPr>
        <p:txBody>
          <a:bodyPr wrap="square" lIns="0" tIns="0" rIns="0" bIns="0" anchor="t"/>
          <a:lstStyle/>
          <a:p>
            <a:pPr algn="l"/>
            <a:r>
              <a:rPr sz="1600" b="1" i="0">
                <a:solidFill>
                  <a:srgbClr val="1B3A57"/>
                </a:solidFill>
                <a:latin typeface="Arial"/>
                <a:ea typeface="Arial"/>
                <a:cs typeface="Arial"/>
              </a:rPr>
              <a:t>Model and engine</a:t>
            </a:r>
          </a:p>
        </p:txBody>
      </p:sp>
      <p:sp>
        <p:nvSpPr>
          <p:cNvPr id="8" name="TextBox 7"/>
          <p:cNvSpPr txBox="1"/>
          <p:nvPr/>
        </p:nvSpPr>
        <p:spPr>
          <a:xfrm>
            <a:off x="960120" y="2148840"/>
            <a:ext cx="10515600" cy="457200"/>
          </a:xfrm>
          <a:prstGeom prst="rect">
            <a:avLst/>
          </a:prstGeom>
          <a:noFill/>
        </p:spPr>
        <p:txBody>
          <a:bodyPr wrap="square" lIns="0" tIns="0" rIns="0" bIns="0" anchor="t"/>
          <a:lstStyle/>
          <a:p>
            <a:pPr algn="l"/>
            <a:r>
              <a:rPr sz="2000" b="0" i="0">
                <a:solidFill>
                  <a:srgbClr val="1B3A57"/>
                </a:solidFill>
                <a:latin typeface="Arial"/>
                <a:ea typeface="Arial"/>
                <a:cs typeface="Arial"/>
              </a:rPr>
              <a:t>Qwen3.5-4B with MTP-4B and DFlash-4B, SGLang at one commit, one GH200</a:t>
            </a:r>
          </a:p>
        </p:txBody>
      </p:sp>
      <p:sp>
        <p:nvSpPr>
          <p:cNvPr id="9" name="Rectangle 8"/>
          <p:cNvSpPr/>
          <p:nvPr/>
        </p:nvSpPr>
        <p:spPr>
          <a:xfrm>
            <a:off x="731520" y="2990088"/>
            <a:ext cx="64008" cy="786384"/>
          </a:xfrm>
          <a:prstGeom prst="rect">
            <a:avLst/>
          </a:prstGeom>
          <a:solidFill>
            <a:srgbClr val="0072B2"/>
          </a:solidFill>
          <a:ln>
            <a:noFill/>
          </a:ln>
        </p:spPr>
        <p:txBody>
          <a:bodyPr rtlCol="0" anchor="ctr"/>
          <a:lstStyle/>
          <a:p>
            <a:pPr algn="ctr"/>
          </a:p>
        </p:txBody>
      </p:sp>
      <p:sp>
        <p:nvSpPr>
          <p:cNvPr id="10" name="TextBox 9"/>
          <p:cNvSpPr txBox="1"/>
          <p:nvPr/>
        </p:nvSpPr>
        <p:spPr>
          <a:xfrm>
            <a:off x="960120" y="2971800"/>
            <a:ext cx="10515600" cy="329184"/>
          </a:xfrm>
          <a:prstGeom prst="rect">
            <a:avLst/>
          </a:prstGeom>
          <a:noFill/>
        </p:spPr>
        <p:txBody>
          <a:bodyPr wrap="square" lIns="0" tIns="0" rIns="0" bIns="0" anchor="t"/>
          <a:lstStyle/>
          <a:p>
            <a:pPr algn="l"/>
            <a:r>
              <a:rPr sz="1600" b="1" i="0">
                <a:solidFill>
                  <a:srgbClr val="0072B2"/>
                </a:solidFill>
                <a:latin typeface="Arial"/>
                <a:ea typeface="Arial"/>
                <a:cs typeface="Arial"/>
              </a:rPr>
              <a:t>Decisions</a:t>
            </a:r>
          </a:p>
        </p:txBody>
      </p:sp>
      <p:sp>
        <p:nvSpPr>
          <p:cNvPr id="11" name="TextBox 10"/>
          <p:cNvSpPr txBox="1"/>
          <p:nvPr/>
        </p:nvSpPr>
        <p:spPr>
          <a:xfrm>
            <a:off x="960120" y="3337560"/>
            <a:ext cx="10515600" cy="457200"/>
          </a:xfrm>
          <a:prstGeom prst="rect">
            <a:avLst/>
          </a:prstGeom>
          <a:noFill/>
        </p:spPr>
        <p:txBody>
          <a:bodyPr wrap="square" lIns="0" tIns="0" rIns="0" bIns="0" anchor="t"/>
          <a:lstStyle/>
          <a:p>
            <a:pPr algn="l"/>
            <a:r>
              <a:rPr sz="2000" b="0" i="0">
                <a:solidFill>
                  <a:srgbClr val="1B3A57"/>
                </a:solidFill>
                <a:latin typeface="Arial"/>
                <a:ea typeface="Arial"/>
                <a:cs typeface="Arial"/>
              </a:rPr>
              <a:t>Captured head inputs replayed in FP64, in our kernel, and checked inside SGLang</a:t>
            </a:r>
          </a:p>
        </p:txBody>
      </p:sp>
      <p:sp>
        <p:nvSpPr>
          <p:cNvPr id="12" name="Rectangle 11"/>
          <p:cNvSpPr/>
          <p:nvPr/>
        </p:nvSpPr>
        <p:spPr>
          <a:xfrm>
            <a:off x="731520" y="4178807"/>
            <a:ext cx="64008" cy="786384"/>
          </a:xfrm>
          <a:prstGeom prst="rect">
            <a:avLst/>
          </a:prstGeom>
          <a:solidFill>
            <a:srgbClr val="1B3A57"/>
          </a:solidFill>
          <a:ln>
            <a:noFill/>
          </a:ln>
        </p:spPr>
        <p:txBody>
          <a:bodyPr rtlCol="0" anchor="ctr"/>
          <a:lstStyle/>
          <a:p>
            <a:pPr algn="ctr"/>
          </a:p>
        </p:txBody>
      </p:sp>
      <p:sp>
        <p:nvSpPr>
          <p:cNvPr id="13" name="TextBox 12"/>
          <p:cNvSpPr txBox="1"/>
          <p:nvPr/>
        </p:nvSpPr>
        <p:spPr>
          <a:xfrm>
            <a:off x="960120" y="4160520"/>
            <a:ext cx="10515600" cy="329184"/>
          </a:xfrm>
          <a:prstGeom prst="rect">
            <a:avLst/>
          </a:prstGeom>
          <a:noFill/>
        </p:spPr>
        <p:txBody>
          <a:bodyPr wrap="square" lIns="0" tIns="0" rIns="0" bIns="0" anchor="t"/>
          <a:lstStyle/>
          <a:p>
            <a:pPr algn="l"/>
            <a:r>
              <a:rPr sz="1600" b="1" i="0">
                <a:solidFill>
                  <a:srgbClr val="1B3A57"/>
                </a:solidFill>
                <a:latin typeface="Arial"/>
                <a:ea typeface="Arial"/>
                <a:cs typeface="Arial"/>
              </a:rPr>
              <a:t>Speed</a:t>
            </a:r>
          </a:p>
        </p:txBody>
      </p:sp>
      <p:sp>
        <p:nvSpPr>
          <p:cNvPr id="14" name="TextBox 13"/>
          <p:cNvSpPr txBox="1"/>
          <p:nvPr/>
        </p:nvSpPr>
        <p:spPr>
          <a:xfrm>
            <a:off x="960120" y="4526280"/>
            <a:ext cx="10515600" cy="457200"/>
          </a:xfrm>
          <a:prstGeom prst="rect">
            <a:avLst/>
          </a:prstGeom>
          <a:noFill/>
        </p:spPr>
        <p:txBody>
          <a:bodyPr wrap="square" lIns="0" tIns="0" rIns="0" bIns="0" anchor="t"/>
          <a:lstStyle/>
          <a:p>
            <a:pPr algn="l"/>
            <a:r>
              <a:rPr sz="2000" b="0" i="0">
                <a:solidFill>
                  <a:srgbClr val="1B3A57"/>
                </a:solidFill>
                <a:latin typeface="Arial"/>
                <a:ea typeface="Arial"/>
                <a:cs typeface="Arial"/>
              </a:rPr>
              <a:t>c = 1–128 requests in flight, 1,152 prompts × 512 tokens, three sessions per confirmed result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Each drafter’s best arm beats plain decoding up to c = 32</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04</a:t>
            </a:r>
          </a:p>
        </p:txBody>
      </p:sp>
      <p:cxnSp>
        <p:nvCxnSpPr>
          <p:cNvPr id="6" name="Connector 5"/>
          <p:cNvCxnSpPr/>
          <p:nvPr/>
        </p:nvCxnSpPr>
        <p:spPr>
          <a:xfrm>
            <a:off x="2395324" y="2011680"/>
            <a:ext cx="0" cy="3246120"/>
          </a:xfrm>
          <a:prstGeom prst="line">
            <a:avLst/>
          </a:prstGeom>
          <a:ln w="9525">
            <a:solidFill>
              <a:srgbClr val="D2DCDF"/>
            </a:solidFill>
          </a:ln>
        </p:spPr>
      </p:cxnSp>
      <p:sp>
        <p:nvSpPr>
          <p:cNvPr id="7" name="TextBox 6"/>
          <p:cNvSpPr txBox="1"/>
          <p:nvPr/>
        </p:nvSpPr>
        <p:spPr>
          <a:xfrm>
            <a:off x="1983844" y="5312664"/>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100</a:t>
            </a:r>
          </a:p>
        </p:txBody>
      </p:sp>
      <p:cxnSp>
        <p:nvCxnSpPr>
          <p:cNvPr id="8" name="Connector 7"/>
          <p:cNvCxnSpPr/>
          <p:nvPr/>
        </p:nvCxnSpPr>
        <p:spPr>
          <a:xfrm>
            <a:off x="3895407" y="2011680"/>
            <a:ext cx="0" cy="3246120"/>
          </a:xfrm>
          <a:prstGeom prst="line">
            <a:avLst/>
          </a:prstGeom>
          <a:ln w="9525">
            <a:solidFill>
              <a:srgbClr val="D2DCDF"/>
            </a:solidFill>
          </a:ln>
        </p:spPr>
      </p:cxnSp>
      <p:sp>
        <p:nvSpPr>
          <p:cNvPr id="9" name="TextBox 8"/>
          <p:cNvSpPr txBox="1"/>
          <p:nvPr/>
        </p:nvSpPr>
        <p:spPr>
          <a:xfrm>
            <a:off x="3483927" y="5312664"/>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200</a:t>
            </a:r>
          </a:p>
        </p:txBody>
      </p:sp>
      <p:cxnSp>
        <p:nvCxnSpPr>
          <p:cNvPr id="10" name="Connector 9"/>
          <p:cNvCxnSpPr/>
          <p:nvPr/>
        </p:nvCxnSpPr>
        <p:spPr>
          <a:xfrm>
            <a:off x="5878409" y="2011680"/>
            <a:ext cx="0" cy="3246120"/>
          </a:xfrm>
          <a:prstGeom prst="line">
            <a:avLst/>
          </a:prstGeom>
          <a:ln w="9525">
            <a:solidFill>
              <a:srgbClr val="D2DCDF"/>
            </a:solidFill>
          </a:ln>
        </p:spPr>
      </p:cxnSp>
      <p:sp>
        <p:nvSpPr>
          <p:cNvPr id="11" name="TextBox 10"/>
          <p:cNvSpPr txBox="1"/>
          <p:nvPr/>
        </p:nvSpPr>
        <p:spPr>
          <a:xfrm>
            <a:off x="5466929" y="5312664"/>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500</a:t>
            </a:r>
          </a:p>
        </p:txBody>
      </p:sp>
      <p:cxnSp>
        <p:nvCxnSpPr>
          <p:cNvPr id="12" name="Connector 11"/>
          <p:cNvCxnSpPr/>
          <p:nvPr/>
        </p:nvCxnSpPr>
        <p:spPr>
          <a:xfrm>
            <a:off x="7378492" y="2011680"/>
            <a:ext cx="0" cy="3246120"/>
          </a:xfrm>
          <a:prstGeom prst="line">
            <a:avLst/>
          </a:prstGeom>
          <a:ln w="9525">
            <a:solidFill>
              <a:srgbClr val="D2DCDF"/>
            </a:solidFill>
          </a:ln>
        </p:spPr>
      </p:cxnSp>
      <p:sp>
        <p:nvSpPr>
          <p:cNvPr id="13" name="TextBox 12"/>
          <p:cNvSpPr txBox="1"/>
          <p:nvPr/>
        </p:nvSpPr>
        <p:spPr>
          <a:xfrm>
            <a:off x="6967012" y="5312664"/>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1,000</a:t>
            </a:r>
          </a:p>
        </p:txBody>
      </p:sp>
      <p:cxnSp>
        <p:nvCxnSpPr>
          <p:cNvPr id="14" name="Connector 13"/>
          <p:cNvCxnSpPr/>
          <p:nvPr/>
        </p:nvCxnSpPr>
        <p:spPr>
          <a:xfrm>
            <a:off x="1463040" y="4921701"/>
            <a:ext cx="6217920" cy="0"/>
          </a:xfrm>
          <a:prstGeom prst="line">
            <a:avLst/>
          </a:prstGeom>
          <a:ln w="9525">
            <a:solidFill>
              <a:srgbClr val="D2DCDF"/>
            </a:solidFill>
          </a:ln>
        </p:spPr>
      </p:cxnSp>
      <p:sp>
        <p:nvSpPr>
          <p:cNvPr id="15" name="TextBox 14"/>
          <p:cNvSpPr txBox="1"/>
          <p:nvPr/>
        </p:nvSpPr>
        <p:spPr>
          <a:xfrm>
            <a:off x="804672" y="4775397"/>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300</a:t>
            </a:r>
          </a:p>
        </p:txBody>
      </p:sp>
      <p:cxnSp>
        <p:nvCxnSpPr>
          <p:cNvPr id="16" name="Connector 15"/>
          <p:cNvCxnSpPr/>
          <p:nvPr/>
        </p:nvCxnSpPr>
        <p:spPr>
          <a:xfrm>
            <a:off x="1463040" y="4129545"/>
            <a:ext cx="6217920" cy="0"/>
          </a:xfrm>
          <a:prstGeom prst="line">
            <a:avLst/>
          </a:prstGeom>
          <a:ln w="9525">
            <a:solidFill>
              <a:srgbClr val="D2DCDF"/>
            </a:solidFill>
          </a:ln>
        </p:spPr>
      </p:cxnSp>
      <p:sp>
        <p:nvSpPr>
          <p:cNvPr id="17" name="TextBox 16"/>
          <p:cNvSpPr txBox="1"/>
          <p:nvPr/>
        </p:nvSpPr>
        <p:spPr>
          <a:xfrm>
            <a:off x="804672" y="3983241"/>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1k</a:t>
            </a:r>
          </a:p>
        </p:txBody>
      </p:sp>
      <p:cxnSp>
        <p:nvCxnSpPr>
          <p:cNvPr id="18" name="Connector 17"/>
          <p:cNvCxnSpPr/>
          <p:nvPr/>
        </p:nvCxnSpPr>
        <p:spPr>
          <a:xfrm>
            <a:off x="1463040" y="3406711"/>
            <a:ext cx="6217920" cy="0"/>
          </a:xfrm>
          <a:prstGeom prst="line">
            <a:avLst/>
          </a:prstGeom>
          <a:ln w="9525">
            <a:solidFill>
              <a:srgbClr val="D2DCDF"/>
            </a:solidFill>
          </a:ln>
        </p:spPr>
      </p:cxnSp>
      <p:sp>
        <p:nvSpPr>
          <p:cNvPr id="19" name="TextBox 18"/>
          <p:cNvSpPr txBox="1"/>
          <p:nvPr/>
        </p:nvSpPr>
        <p:spPr>
          <a:xfrm>
            <a:off x="804672" y="3260407"/>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3k</a:t>
            </a:r>
          </a:p>
        </p:txBody>
      </p:sp>
      <p:cxnSp>
        <p:nvCxnSpPr>
          <p:cNvPr id="20" name="Connector 19"/>
          <p:cNvCxnSpPr/>
          <p:nvPr/>
        </p:nvCxnSpPr>
        <p:spPr>
          <a:xfrm>
            <a:off x="1463040" y="2614555"/>
            <a:ext cx="6217920" cy="0"/>
          </a:xfrm>
          <a:prstGeom prst="line">
            <a:avLst/>
          </a:prstGeom>
          <a:ln w="9525">
            <a:solidFill>
              <a:srgbClr val="D2DCDF"/>
            </a:solidFill>
          </a:ln>
        </p:spPr>
      </p:cxnSp>
      <p:sp>
        <p:nvSpPr>
          <p:cNvPr id="21" name="TextBox 20"/>
          <p:cNvSpPr txBox="1"/>
          <p:nvPr/>
        </p:nvSpPr>
        <p:spPr>
          <a:xfrm>
            <a:off x="804672" y="2468251"/>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10k</a:t>
            </a:r>
          </a:p>
        </p:txBody>
      </p:sp>
      <p:cxnSp>
        <p:nvCxnSpPr>
          <p:cNvPr id="22" name="Connector 21"/>
          <p:cNvCxnSpPr/>
          <p:nvPr/>
        </p:nvCxnSpPr>
        <p:spPr>
          <a:xfrm>
            <a:off x="1463040" y="5257800"/>
            <a:ext cx="6217920" cy="0"/>
          </a:xfrm>
          <a:prstGeom prst="line">
            <a:avLst/>
          </a:prstGeom>
          <a:ln w="9525">
            <a:solidFill>
              <a:srgbClr val="6B7780"/>
            </a:solidFill>
          </a:ln>
        </p:spPr>
      </p:cxnSp>
      <p:cxnSp>
        <p:nvCxnSpPr>
          <p:cNvPr id="23" name="Connector 22"/>
          <p:cNvCxnSpPr/>
          <p:nvPr/>
        </p:nvCxnSpPr>
        <p:spPr>
          <a:xfrm>
            <a:off x="1463040" y="2011680"/>
            <a:ext cx="0" cy="3246120"/>
          </a:xfrm>
          <a:prstGeom prst="line">
            <a:avLst/>
          </a:prstGeom>
          <a:ln w="9525">
            <a:solidFill>
              <a:srgbClr val="6B7780"/>
            </a:solidFill>
          </a:ln>
        </p:spPr>
      </p:cxnSp>
      <p:sp>
        <p:nvSpPr>
          <p:cNvPr id="24" name="TextBox 23"/>
          <p:cNvSpPr txBox="1"/>
          <p:nvPr/>
        </p:nvSpPr>
        <p:spPr>
          <a:xfrm>
            <a:off x="1463040" y="5605272"/>
            <a:ext cx="6217920" cy="310896"/>
          </a:xfrm>
          <a:prstGeom prst="rect">
            <a:avLst/>
          </a:prstGeom>
          <a:noFill/>
        </p:spPr>
        <p:txBody>
          <a:bodyPr wrap="square" lIns="0" tIns="0" rIns="0" bIns="0" anchor="t"/>
          <a:lstStyle/>
          <a:p>
            <a:pPr algn="ctr"/>
            <a:r>
              <a:rPr sz="1800" b="0" i="0">
                <a:solidFill>
                  <a:srgbClr val="1B3A57"/>
                </a:solidFill>
                <a:latin typeface="Arial"/>
                <a:ea typeface="Arial"/>
                <a:cs typeface="Arial"/>
              </a:rPr>
              <a:t>Output tokens/s per request (log)</a:t>
            </a:r>
          </a:p>
        </p:txBody>
      </p:sp>
      <p:sp>
        <p:nvSpPr>
          <p:cNvPr id="25" name="TextBox 24"/>
          <p:cNvSpPr txBox="1"/>
          <p:nvPr/>
        </p:nvSpPr>
        <p:spPr>
          <a:xfrm>
            <a:off x="804672" y="1554480"/>
            <a:ext cx="4572000" cy="310896"/>
          </a:xfrm>
          <a:prstGeom prst="rect">
            <a:avLst/>
          </a:prstGeom>
          <a:noFill/>
        </p:spPr>
        <p:txBody>
          <a:bodyPr wrap="square" lIns="0" tIns="0" rIns="0" bIns="0" anchor="t"/>
          <a:lstStyle/>
          <a:p>
            <a:pPr algn="l"/>
            <a:r>
              <a:rPr sz="1800" b="0" i="0">
                <a:solidFill>
                  <a:srgbClr val="1B3A57"/>
                </a:solidFill>
                <a:latin typeface="Arial"/>
                <a:ea typeface="Arial"/>
                <a:cs typeface="Arial"/>
              </a:rPr>
              <a:t>Output tokens/s on the GPU (log)</a:t>
            </a:r>
          </a:p>
        </p:txBody>
      </p:sp>
      <p:cxnSp>
        <p:nvCxnSpPr>
          <p:cNvPr id="26" name="Connector 25"/>
          <p:cNvCxnSpPr/>
          <p:nvPr/>
        </p:nvCxnSpPr>
        <p:spPr>
          <a:xfrm>
            <a:off x="2575356" y="2397965"/>
            <a:ext cx="336794" cy="86823"/>
          </a:xfrm>
          <a:prstGeom prst="line">
            <a:avLst/>
          </a:prstGeom>
          <a:ln w="127000">
            <a:solidFill>
              <a:srgbClr val="DEE1E3"/>
            </a:solidFill>
          </a:ln>
        </p:spPr>
      </p:cxnSp>
      <p:cxnSp>
        <p:nvCxnSpPr>
          <p:cNvPr id="27" name="Connector 26"/>
          <p:cNvCxnSpPr/>
          <p:nvPr/>
        </p:nvCxnSpPr>
        <p:spPr>
          <a:xfrm>
            <a:off x="2912150" y="2484788"/>
            <a:ext cx="429055" cy="136325"/>
          </a:xfrm>
          <a:prstGeom prst="line">
            <a:avLst/>
          </a:prstGeom>
          <a:ln w="127000">
            <a:solidFill>
              <a:srgbClr val="DEE1E3"/>
            </a:solidFill>
          </a:ln>
        </p:spPr>
      </p:cxnSp>
      <p:cxnSp>
        <p:nvCxnSpPr>
          <p:cNvPr id="28" name="Connector 27"/>
          <p:cNvCxnSpPr/>
          <p:nvPr/>
        </p:nvCxnSpPr>
        <p:spPr>
          <a:xfrm>
            <a:off x="3341205" y="2621113"/>
            <a:ext cx="237352" cy="117132"/>
          </a:xfrm>
          <a:prstGeom prst="line">
            <a:avLst/>
          </a:prstGeom>
          <a:ln w="127000">
            <a:solidFill>
              <a:srgbClr val="DEE1E3"/>
            </a:solidFill>
          </a:ln>
        </p:spPr>
      </p:cxnSp>
      <p:cxnSp>
        <p:nvCxnSpPr>
          <p:cNvPr id="29" name="Connector 28"/>
          <p:cNvCxnSpPr/>
          <p:nvPr/>
        </p:nvCxnSpPr>
        <p:spPr>
          <a:xfrm>
            <a:off x="3578557" y="2738245"/>
            <a:ext cx="89721" cy="15681"/>
          </a:xfrm>
          <a:prstGeom prst="line">
            <a:avLst/>
          </a:prstGeom>
          <a:ln w="127000">
            <a:solidFill>
              <a:srgbClr val="DEE1E3"/>
            </a:solidFill>
          </a:ln>
        </p:spPr>
      </p:cxnSp>
      <p:cxnSp>
        <p:nvCxnSpPr>
          <p:cNvPr id="30" name="Connector 29"/>
          <p:cNvCxnSpPr/>
          <p:nvPr/>
        </p:nvCxnSpPr>
        <p:spPr>
          <a:xfrm>
            <a:off x="3668278" y="2753926"/>
            <a:ext cx="605280" cy="110117"/>
          </a:xfrm>
          <a:prstGeom prst="line">
            <a:avLst/>
          </a:prstGeom>
          <a:ln w="127000">
            <a:solidFill>
              <a:srgbClr val="DEE1E3"/>
            </a:solidFill>
          </a:ln>
        </p:spPr>
      </p:cxnSp>
      <p:cxnSp>
        <p:nvCxnSpPr>
          <p:cNvPr id="31" name="Connector 30"/>
          <p:cNvCxnSpPr/>
          <p:nvPr/>
        </p:nvCxnSpPr>
        <p:spPr>
          <a:xfrm>
            <a:off x="4273558" y="2864043"/>
            <a:ext cx="952398" cy="173761"/>
          </a:xfrm>
          <a:prstGeom prst="line">
            <a:avLst/>
          </a:prstGeom>
          <a:ln w="127000">
            <a:solidFill>
              <a:srgbClr val="DEE1E3"/>
            </a:solidFill>
          </a:ln>
        </p:spPr>
      </p:cxnSp>
      <p:cxnSp>
        <p:nvCxnSpPr>
          <p:cNvPr id="32" name="Connector 31"/>
          <p:cNvCxnSpPr/>
          <p:nvPr/>
        </p:nvCxnSpPr>
        <p:spPr>
          <a:xfrm>
            <a:off x="5225956" y="3037804"/>
            <a:ext cx="734908" cy="239633"/>
          </a:xfrm>
          <a:prstGeom prst="line">
            <a:avLst/>
          </a:prstGeom>
          <a:ln w="127000">
            <a:solidFill>
              <a:srgbClr val="DEE1E3"/>
            </a:solidFill>
          </a:ln>
        </p:spPr>
      </p:cxnSp>
      <p:cxnSp>
        <p:nvCxnSpPr>
          <p:cNvPr id="33" name="Connector 32"/>
          <p:cNvCxnSpPr/>
          <p:nvPr/>
        </p:nvCxnSpPr>
        <p:spPr>
          <a:xfrm>
            <a:off x="5960864" y="3277437"/>
            <a:ext cx="43485" cy="27564"/>
          </a:xfrm>
          <a:prstGeom prst="line">
            <a:avLst/>
          </a:prstGeom>
          <a:ln w="127000">
            <a:solidFill>
              <a:srgbClr val="DEE1E3"/>
            </a:solidFill>
          </a:ln>
        </p:spPr>
      </p:cxnSp>
      <p:cxnSp>
        <p:nvCxnSpPr>
          <p:cNvPr id="34" name="Connector 33"/>
          <p:cNvCxnSpPr/>
          <p:nvPr/>
        </p:nvCxnSpPr>
        <p:spPr>
          <a:xfrm>
            <a:off x="6004349" y="3305001"/>
            <a:ext cx="641944" cy="239474"/>
          </a:xfrm>
          <a:prstGeom prst="line">
            <a:avLst/>
          </a:prstGeom>
          <a:ln w="127000">
            <a:solidFill>
              <a:srgbClr val="DEE1E3"/>
            </a:solidFill>
          </a:ln>
        </p:spPr>
      </p:cxnSp>
      <p:cxnSp>
        <p:nvCxnSpPr>
          <p:cNvPr id="35" name="Connector 34"/>
          <p:cNvCxnSpPr/>
          <p:nvPr/>
        </p:nvCxnSpPr>
        <p:spPr>
          <a:xfrm>
            <a:off x="6646293" y="3544475"/>
            <a:ext cx="446673" cy="313991"/>
          </a:xfrm>
          <a:prstGeom prst="line">
            <a:avLst/>
          </a:prstGeom>
          <a:ln w="127000">
            <a:solidFill>
              <a:srgbClr val="DEE1E3"/>
            </a:solidFill>
          </a:ln>
        </p:spPr>
      </p:cxnSp>
      <p:cxnSp>
        <p:nvCxnSpPr>
          <p:cNvPr id="36" name="Connector 35"/>
          <p:cNvCxnSpPr/>
          <p:nvPr/>
        </p:nvCxnSpPr>
        <p:spPr>
          <a:xfrm>
            <a:off x="7092966" y="3858466"/>
            <a:ext cx="256962" cy="359408"/>
          </a:xfrm>
          <a:prstGeom prst="line">
            <a:avLst/>
          </a:prstGeom>
          <a:ln w="127000">
            <a:solidFill>
              <a:srgbClr val="DEE1E3"/>
            </a:solidFill>
          </a:ln>
        </p:spPr>
      </p:cxnSp>
      <p:cxnSp>
        <p:nvCxnSpPr>
          <p:cNvPr id="37" name="Connector 36"/>
          <p:cNvCxnSpPr/>
          <p:nvPr/>
        </p:nvCxnSpPr>
        <p:spPr>
          <a:xfrm flipH="1" flipV="1">
            <a:off x="4571838" y="4527397"/>
            <a:ext cx="69516" cy="434961"/>
          </a:xfrm>
          <a:prstGeom prst="line">
            <a:avLst/>
          </a:prstGeom>
          <a:ln w="28575">
            <a:solidFill>
              <a:srgbClr val="1B3A57"/>
            </a:solidFill>
          </a:ln>
        </p:spPr>
      </p:cxnSp>
      <p:cxnSp>
        <p:nvCxnSpPr>
          <p:cNvPr id="38" name="Connector 37"/>
          <p:cNvCxnSpPr/>
          <p:nvPr/>
        </p:nvCxnSpPr>
        <p:spPr>
          <a:xfrm flipH="1" flipV="1">
            <a:off x="4492717" y="4095353"/>
            <a:ext cx="79121" cy="432044"/>
          </a:xfrm>
          <a:prstGeom prst="line">
            <a:avLst/>
          </a:prstGeom>
          <a:ln w="28575">
            <a:solidFill>
              <a:srgbClr val="1B3A57"/>
            </a:solidFill>
          </a:ln>
        </p:spPr>
      </p:cxnSp>
      <p:cxnSp>
        <p:nvCxnSpPr>
          <p:cNvPr id="39" name="Connector 38"/>
          <p:cNvCxnSpPr/>
          <p:nvPr/>
        </p:nvCxnSpPr>
        <p:spPr>
          <a:xfrm flipH="1" flipV="1">
            <a:off x="4382745" y="3672674"/>
            <a:ext cx="109972" cy="422679"/>
          </a:xfrm>
          <a:prstGeom prst="line">
            <a:avLst/>
          </a:prstGeom>
          <a:ln w="28575">
            <a:solidFill>
              <a:srgbClr val="1B3A57"/>
            </a:solidFill>
          </a:ln>
        </p:spPr>
      </p:cxnSp>
      <p:cxnSp>
        <p:nvCxnSpPr>
          <p:cNvPr id="40" name="Connector 39"/>
          <p:cNvCxnSpPr/>
          <p:nvPr/>
        </p:nvCxnSpPr>
        <p:spPr>
          <a:xfrm flipH="1" flipV="1">
            <a:off x="4180091" y="3278336"/>
            <a:ext cx="202654" cy="394338"/>
          </a:xfrm>
          <a:prstGeom prst="line">
            <a:avLst/>
          </a:prstGeom>
          <a:ln w="28575">
            <a:solidFill>
              <a:srgbClr val="1B3A57"/>
            </a:solidFill>
          </a:ln>
        </p:spPr>
      </p:cxnSp>
      <p:cxnSp>
        <p:nvCxnSpPr>
          <p:cNvPr id="41" name="Connector 40"/>
          <p:cNvCxnSpPr/>
          <p:nvPr/>
        </p:nvCxnSpPr>
        <p:spPr>
          <a:xfrm flipH="1" flipV="1">
            <a:off x="3839949" y="2925579"/>
            <a:ext cx="340142" cy="352757"/>
          </a:xfrm>
          <a:prstGeom prst="line">
            <a:avLst/>
          </a:prstGeom>
          <a:ln w="28575">
            <a:solidFill>
              <a:srgbClr val="1B3A57"/>
            </a:solidFill>
          </a:ln>
        </p:spPr>
      </p:cxnSp>
      <p:cxnSp>
        <p:nvCxnSpPr>
          <p:cNvPr id="42" name="Connector 41"/>
          <p:cNvCxnSpPr/>
          <p:nvPr/>
        </p:nvCxnSpPr>
        <p:spPr>
          <a:xfrm flipH="1" flipV="1">
            <a:off x="3578557" y="2738245"/>
            <a:ext cx="261392" cy="187334"/>
          </a:xfrm>
          <a:prstGeom prst="line">
            <a:avLst/>
          </a:prstGeom>
          <a:ln w="28575">
            <a:solidFill>
              <a:srgbClr val="1B3A57"/>
            </a:solidFill>
          </a:ln>
        </p:spPr>
      </p:cxnSp>
      <p:cxnSp>
        <p:nvCxnSpPr>
          <p:cNvPr id="43" name="Connector 42"/>
          <p:cNvCxnSpPr/>
          <p:nvPr/>
        </p:nvCxnSpPr>
        <p:spPr>
          <a:xfrm flipH="1" flipV="1">
            <a:off x="3341205" y="2621113"/>
            <a:ext cx="237352" cy="117132"/>
          </a:xfrm>
          <a:prstGeom prst="line">
            <a:avLst/>
          </a:prstGeom>
          <a:ln w="28575">
            <a:solidFill>
              <a:srgbClr val="1B3A57"/>
            </a:solidFill>
          </a:ln>
        </p:spPr>
      </p:cxnSp>
      <p:cxnSp>
        <p:nvCxnSpPr>
          <p:cNvPr id="44" name="Connector 43"/>
          <p:cNvCxnSpPr/>
          <p:nvPr/>
        </p:nvCxnSpPr>
        <p:spPr>
          <a:xfrm flipH="1" flipV="1">
            <a:off x="2912150" y="2484788"/>
            <a:ext cx="429055" cy="136325"/>
          </a:xfrm>
          <a:prstGeom prst="line">
            <a:avLst/>
          </a:prstGeom>
          <a:ln w="28575">
            <a:solidFill>
              <a:srgbClr val="1B3A57"/>
            </a:solidFill>
          </a:ln>
        </p:spPr>
      </p:cxnSp>
      <p:cxnSp>
        <p:nvCxnSpPr>
          <p:cNvPr id="45" name="Connector 44"/>
          <p:cNvCxnSpPr/>
          <p:nvPr/>
        </p:nvCxnSpPr>
        <p:spPr>
          <a:xfrm flipH="1" flipV="1">
            <a:off x="2575356" y="2397965"/>
            <a:ext cx="336794" cy="86823"/>
          </a:xfrm>
          <a:prstGeom prst="line">
            <a:avLst/>
          </a:prstGeom>
          <a:ln w="28575">
            <a:solidFill>
              <a:srgbClr val="1B3A57"/>
            </a:solidFill>
          </a:ln>
        </p:spPr>
      </p:cxnSp>
      <p:sp>
        <p:nvSpPr>
          <p:cNvPr id="46" name="Oval 45"/>
          <p:cNvSpPr/>
          <p:nvPr/>
        </p:nvSpPr>
        <p:spPr>
          <a:xfrm>
            <a:off x="4572774" y="4893778"/>
            <a:ext cx="137160" cy="137160"/>
          </a:xfrm>
          <a:prstGeom prst="ellipse">
            <a:avLst/>
          </a:prstGeom>
          <a:solidFill>
            <a:srgbClr val="1B3A57"/>
          </a:solidFill>
          <a:ln w="12700">
            <a:solidFill>
              <a:srgbClr val="1B3A57"/>
            </a:solidFill>
          </a:ln>
        </p:spPr>
        <p:txBody>
          <a:bodyPr rtlCol="0" anchor="ctr"/>
          <a:lstStyle/>
          <a:p>
            <a:pPr algn="ctr"/>
          </a:p>
        </p:txBody>
      </p:sp>
      <p:sp>
        <p:nvSpPr>
          <p:cNvPr id="47" name="Oval 46"/>
          <p:cNvSpPr/>
          <p:nvPr/>
        </p:nvSpPr>
        <p:spPr>
          <a:xfrm>
            <a:off x="4503258" y="4458817"/>
            <a:ext cx="137160" cy="137160"/>
          </a:xfrm>
          <a:prstGeom prst="ellipse">
            <a:avLst/>
          </a:prstGeom>
          <a:solidFill>
            <a:srgbClr val="1B3A57"/>
          </a:solidFill>
          <a:ln w="12700">
            <a:solidFill>
              <a:srgbClr val="1B3A57"/>
            </a:solidFill>
          </a:ln>
        </p:spPr>
        <p:txBody>
          <a:bodyPr rtlCol="0" anchor="ctr"/>
          <a:lstStyle/>
          <a:p>
            <a:pPr algn="ctr"/>
          </a:p>
        </p:txBody>
      </p:sp>
      <p:sp>
        <p:nvSpPr>
          <p:cNvPr id="48" name="Oval 47"/>
          <p:cNvSpPr/>
          <p:nvPr/>
        </p:nvSpPr>
        <p:spPr>
          <a:xfrm>
            <a:off x="4424137" y="4026773"/>
            <a:ext cx="137160" cy="137160"/>
          </a:xfrm>
          <a:prstGeom prst="ellipse">
            <a:avLst/>
          </a:prstGeom>
          <a:solidFill>
            <a:srgbClr val="1B3A57"/>
          </a:solidFill>
          <a:ln w="12700">
            <a:solidFill>
              <a:srgbClr val="1B3A57"/>
            </a:solidFill>
          </a:ln>
        </p:spPr>
        <p:txBody>
          <a:bodyPr rtlCol="0" anchor="ctr"/>
          <a:lstStyle/>
          <a:p>
            <a:pPr algn="ctr"/>
          </a:p>
        </p:txBody>
      </p:sp>
      <p:sp>
        <p:nvSpPr>
          <p:cNvPr id="49" name="Oval 48"/>
          <p:cNvSpPr/>
          <p:nvPr/>
        </p:nvSpPr>
        <p:spPr>
          <a:xfrm>
            <a:off x="4314165" y="3604094"/>
            <a:ext cx="137160" cy="137160"/>
          </a:xfrm>
          <a:prstGeom prst="ellipse">
            <a:avLst/>
          </a:prstGeom>
          <a:solidFill>
            <a:srgbClr val="1B3A57"/>
          </a:solidFill>
          <a:ln w="12700">
            <a:solidFill>
              <a:srgbClr val="1B3A57"/>
            </a:solidFill>
          </a:ln>
        </p:spPr>
        <p:txBody>
          <a:bodyPr rtlCol="0" anchor="ctr"/>
          <a:lstStyle/>
          <a:p>
            <a:pPr algn="ctr"/>
          </a:p>
        </p:txBody>
      </p:sp>
      <p:sp>
        <p:nvSpPr>
          <p:cNvPr id="50" name="Oval 49"/>
          <p:cNvSpPr/>
          <p:nvPr/>
        </p:nvSpPr>
        <p:spPr>
          <a:xfrm>
            <a:off x="4111511" y="3209756"/>
            <a:ext cx="137160" cy="137160"/>
          </a:xfrm>
          <a:prstGeom prst="ellipse">
            <a:avLst/>
          </a:prstGeom>
          <a:solidFill>
            <a:srgbClr val="1B3A57"/>
          </a:solidFill>
          <a:ln w="12700">
            <a:solidFill>
              <a:srgbClr val="1B3A57"/>
            </a:solidFill>
          </a:ln>
        </p:spPr>
        <p:txBody>
          <a:bodyPr rtlCol="0" anchor="ctr"/>
          <a:lstStyle/>
          <a:p>
            <a:pPr algn="ctr"/>
          </a:p>
        </p:txBody>
      </p:sp>
      <p:sp>
        <p:nvSpPr>
          <p:cNvPr id="51" name="Oval 50"/>
          <p:cNvSpPr/>
          <p:nvPr/>
        </p:nvSpPr>
        <p:spPr>
          <a:xfrm>
            <a:off x="3771369" y="2856999"/>
            <a:ext cx="137160" cy="137160"/>
          </a:xfrm>
          <a:prstGeom prst="ellipse">
            <a:avLst/>
          </a:prstGeom>
          <a:solidFill>
            <a:srgbClr val="1B3A57"/>
          </a:solidFill>
          <a:ln w="12700">
            <a:solidFill>
              <a:srgbClr val="1B3A57"/>
            </a:solidFill>
          </a:ln>
        </p:spPr>
        <p:txBody>
          <a:bodyPr rtlCol="0" anchor="ctr"/>
          <a:lstStyle/>
          <a:p>
            <a:pPr algn="ctr"/>
          </a:p>
        </p:txBody>
      </p:sp>
      <p:sp>
        <p:nvSpPr>
          <p:cNvPr id="52" name="Oval 51"/>
          <p:cNvSpPr/>
          <p:nvPr/>
        </p:nvSpPr>
        <p:spPr>
          <a:xfrm>
            <a:off x="3509977" y="2669665"/>
            <a:ext cx="137160" cy="137160"/>
          </a:xfrm>
          <a:prstGeom prst="ellipse">
            <a:avLst/>
          </a:prstGeom>
          <a:solidFill>
            <a:srgbClr val="1B3A57"/>
          </a:solidFill>
          <a:ln w="12700">
            <a:solidFill>
              <a:srgbClr val="1B3A57"/>
            </a:solidFill>
          </a:ln>
        </p:spPr>
        <p:txBody>
          <a:bodyPr rtlCol="0" anchor="ctr"/>
          <a:lstStyle/>
          <a:p>
            <a:pPr algn="ctr"/>
          </a:p>
        </p:txBody>
      </p:sp>
      <p:sp>
        <p:nvSpPr>
          <p:cNvPr id="53" name="Oval 52"/>
          <p:cNvSpPr/>
          <p:nvPr/>
        </p:nvSpPr>
        <p:spPr>
          <a:xfrm>
            <a:off x="3272625" y="2552533"/>
            <a:ext cx="137160" cy="137160"/>
          </a:xfrm>
          <a:prstGeom prst="ellipse">
            <a:avLst/>
          </a:prstGeom>
          <a:solidFill>
            <a:srgbClr val="1B3A57"/>
          </a:solidFill>
          <a:ln w="12700">
            <a:solidFill>
              <a:srgbClr val="1B3A57"/>
            </a:solidFill>
          </a:ln>
        </p:spPr>
        <p:txBody>
          <a:bodyPr rtlCol="0" anchor="ctr"/>
          <a:lstStyle/>
          <a:p>
            <a:pPr algn="ctr"/>
          </a:p>
        </p:txBody>
      </p:sp>
      <p:sp>
        <p:nvSpPr>
          <p:cNvPr id="54" name="Oval 53"/>
          <p:cNvSpPr/>
          <p:nvPr/>
        </p:nvSpPr>
        <p:spPr>
          <a:xfrm>
            <a:off x="2843570" y="2416208"/>
            <a:ext cx="137160" cy="137160"/>
          </a:xfrm>
          <a:prstGeom prst="ellipse">
            <a:avLst/>
          </a:prstGeom>
          <a:solidFill>
            <a:srgbClr val="1B3A57"/>
          </a:solidFill>
          <a:ln w="12700">
            <a:solidFill>
              <a:srgbClr val="1B3A57"/>
            </a:solidFill>
          </a:ln>
        </p:spPr>
        <p:txBody>
          <a:bodyPr rtlCol="0" anchor="ctr"/>
          <a:lstStyle/>
          <a:p>
            <a:pPr algn="ctr"/>
          </a:p>
        </p:txBody>
      </p:sp>
      <p:sp>
        <p:nvSpPr>
          <p:cNvPr id="55" name="Oval 54"/>
          <p:cNvSpPr/>
          <p:nvPr/>
        </p:nvSpPr>
        <p:spPr>
          <a:xfrm>
            <a:off x="2506776" y="2329385"/>
            <a:ext cx="137160" cy="137160"/>
          </a:xfrm>
          <a:prstGeom prst="ellipse">
            <a:avLst/>
          </a:prstGeom>
          <a:solidFill>
            <a:srgbClr val="1B3A57"/>
          </a:solidFill>
          <a:ln w="12700">
            <a:solidFill>
              <a:srgbClr val="1B3A57"/>
            </a:solidFill>
          </a:ln>
        </p:spPr>
        <p:txBody>
          <a:bodyPr rtlCol="0" anchor="ctr"/>
          <a:lstStyle/>
          <a:p>
            <a:pPr algn="ctr"/>
          </a:p>
        </p:txBody>
      </p:sp>
      <p:cxnSp>
        <p:nvCxnSpPr>
          <p:cNvPr id="56" name="Connector 55"/>
          <p:cNvCxnSpPr/>
          <p:nvPr/>
        </p:nvCxnSpPr>
        <p:spPr>
          <a:xfrm flipH="1" flipV="1">
            <a:off x="6763473" y="3904229"/>
            <a:ext cx="170713" cy="399470"/>
          </a:xfrm>
          <a:prstGeom prst="line">
            <a:avLst/>
          </a:prstGeom>
          <a:ln w="28575">
            <a:solidFill>
              <a:srgbClr val="6F1FA7"/>
            </a:solidFill>
          </a:ln>
        </p:spPr>
      </p:cxnSp>
      <p:cxnSp>
        <p:nvCxnSpPr>
          <p:cNvPr id="57" name="Connector 56"/>
          <p:cNvCxnSpPr/>
          <p:nvPr/>
        </p:nvCxnSpPr>
        <p:spPr>
          <a:xfrm flipH="1" flipV="1">
            <a:off x="6446619" y="3560092"/>
            <a:ext cx="316854" cy="344137"/>
          </a:xfrm>
          <a:prstGeom prst="line">
            <a:avLst/>
          </a:prstGeom>
          <a:ln w="28575">
            <a:solidFill>
              <a:srgbClr val="6F1FA7"/>
            </a:solidFill>
          </a:ln>
        </p:spPr>
      </p:cxnSp>
      <p:cxnSp>
        <p:nvCxnSpPr>
          <p:cNvPr id="58" name="Connector 57"/>
          <p:cNvCxnSpPr/>
          <p:nvPr/>
        </p:nvCxnSpPr>
        <p:spPr>
          <a:xfrm flipH="1" flipV="1">
            <a:off x="5960864" y="3277437"/>
            <a:ext cx="485755" cy="282655"/>
          </a:xfrm>
          <a:prstGeom prst="line">
            <a:avLst/>
          </a:prstGeom>
          <a:ln w="28575">
            <a:solidFill>
              <a:srgbClr val="6F1FA7"/>
            </a:solidFill>
          </a:ln>
        </p:spPr>
      </p:cxnSp>
      <p:cxnSp>
        <p:nvCxnSpPr>
          <p:cNvPr id="59" name="Connector 58"/>
          <p:cNvCxnSpPr/>
          <p:nvPr/>
        </p:nvCxnSpPr>
        <p:spPr>
          <a:xfrm flipH="1" flipV="1">
            <a:off x="5225956" y="3037804"/>
            <a:ext cx="734908" cy="239633"/>
          </a:xfrm>
          <a:prstGeom prst="line">
            <a:avLst/>
          </a:prstGeom>
          <a:ln w="28575">
            <a:solidFill>
              <a:srgbClr val="6F1FA7"/>
            </a:solidFill>
          </a:ln>
        </p:spPr>
      </p:cxnSp>
      <p:cxnSp>
        <p:nvCxnSpPr>
          <p:cNvPr id="60" name="Connector 59"/>
          <p:cNvCxnSpPr/>
          <p:nvPr/>
        </p:nvCxnSpPr>
        <p:spPr>
          <a:xfrm flipH="1" flipV="1">
            <a:off x="4273558" y="2864043"/>
            <a:ext cx="952398" cy="173761"/>
          </a:xfrm>
          <a:prstGeom prst="line">
            <a:avLst/>
          </a:prstGeom>
          <a:ln w="28575">
            <a:solidFill>
              <a:srgbClr val="6F1FA7"/>
            </a:solidFill>
          </a:ln>
        </p:spPr>
      </p:cxnSp>
      <p:cxnSp>
        <p:nvCxnSpPr>
          <p:cNvPr id="61" name="Connector 60"/>
          <p:cNvCxnSpPr/>
          <p:nvPr/>
        </p:nvCxnSpPr>
        <p:spPr>
          <a:xfrm flipH="1" flipV="1">
            <a:off x="3592258" y="2797861"/>
            <a:ext cx="681300" cy="66182"/>
          </a:xfrm>
          <a:prstGeom prst="line">
            <a:avLst/>
          </a:prstGeom>
          <a:ln w="28575">
            <a:solidFill>
              <a:srgbClr val="6F1FA7"/>
            </a:solidFill>
          </a:ln>
        </p:spPr>
      </p:cxnSp>
      <p:cxnSp>
        <p:nvCxnSpPr>
          <p:cNvPr id="62" name="Connector 61"/>
          <p:cNvCxnSpPr/>
          <p:nvPr/>
        </p:nvCxnSpPr>
        <p:spPr>
          <a:xfrm flipH="1" flipV="1">
            <a:off x="3093984" y="2768213"/>
            <a:ext cx="498274" cy="29648"/>
          </a:xfrm>
          <a:prstGeom prst="line">
            <a:avLst/>
          </a:prstGeom>
          <a:ln w="28575">
            <a:solidFill>
              <a:srgbClr val="6F1FA7"/>
            </a:solidFill>
          </a:ln>
        </p:spPr>
      </p:cxnSp>
      <p:cxnSp>
        <p:nvCxnSpPr>
          <p:cNvPr id="63" name="Connector 62"/>
          <p:cNvCxnSpPr/>
          <p:nvPr/>
        </p:nvCxnSpPr>
        <p:spPr>
          <a:xfrm flipH="1" flipV="1">
            <a:off x="2345370" y="2725048"/>
            <a:ext cx="748614" cy="43165"/>
          </a:xfrm>
          <a:prstGeom prst="line">
            <a:avLst/>
          </a:prstGeom>
          <a:ln w="28575">
            <a:solidFill>
              <a:srgbClr val="6F1FA7"/>
            </a:solidFill>
          </a:ln>
        </p:spPr>
      </p:cxnSp>
      <p:cxnSp>
        <p:nvCxnSpPr>
          <p:cNvPr id="64" name="Connector 63"/>
          <p:cNvCxnSpPr/>
          <p:nvPr/>
        </p:nvCxnSpPr>
        <p:spPr>
          <a:xfrm flipH="1" flipV="1">
            <a:off x="2176813" y="2579555"/>
            <a:ext cx="168557" cy="145493"/>
          </a:xfrm>
          <a:prstGeom prst="line">
            <a:avLst/>
          </a:prstGeom>
          <a:ln w="28575">
            <a:solidFill>
              <a:srgbClr val="6F1FA7"/>
            </a:solidFill>
          </a:ln>
        </p:spPr>
      </p:cxnSp>
      <p:sp>
        <p:nvSpPr>
          <p:cNvPr id="65" name="Diamond 64"/>
          <p:cNvSpPr/>
          <p:nvPr/>
        </p:nvSpPr>
        <p:spPr>
          <a:xfrm>
            <a:off x="6865606" y="4235119"/>
            <a:ext cx="137160" cy="137160"/>
          </a:xfrm>
          <a:prstGeom prst="diamond">
            <a:avLst/>
          </a:prstGeom>
          <a:solidFill>
            <a:srgbClr val="6F1FA7"/>
          </a:solidFill>
          <a:ln w="12700">
            <a:solidFill>
              <a:srgbClr val="6F1FA7"/>
            </a:solidFill>
          </a:ln>
        </p:spPr>
        <p:txBody>
          <a:bodyPr rtlCol="0" anchor="ctr"/>
          <a:lstStyle/>
          <a:p>
            <a:pPr algn="ctr"/>
          </a:p>
        </p:txBody>
      </p:sp>
      <p:sp>
        <p:nvSpPr>
          <p:cNvPr id="66" name="Diamond 65"/>
          <p:cNvSpPr/>
          <p:nvPr/>
        </p:nvSpPr>
        <p:spPr>
          <a:xfrm>
            <a:off x="6694893" y="3835649"/>
            <a:ext cx="137160" cy="137160"/>
          </a:xfrm>
          <a:prstGeom prst="diamond">
            <a:avLst/>
          </a:prstGeom>
          <a:solidFill>
            <a:srgbClr val="6F1FA7"/>
          </a:solidFill>
          <a:ln w="12700">
            <a:solidFill>
              <a:srgbClr val="6F1FA7"/>
            </a:solidFill>
          </a:ln>
        </p:spPr>
        <p:txBody>
          <a:bodyPr rtlCol="0" anchor="ctr"/>
          <a:lstStyle/>
          <a:p>
            <a:pPr algn="ctr"/>
          </a:p>
        </p:txBody>
      </p:sp>
      <p:sp>
        <p:nvSpPr>
          <p:cNvPr id="67" name="Diamond 66"/>
          <p:cNvSpPr/>
          <p:nvPr/>
        </p:nvSpPr>
        <p:spPr>
          <a:xfrm>
            <a:off x="6378039" y="3491512"/>
            <a:ext cx="137160" cy="137160"/>
          </a:xfrm>
          <a:prstGeom prst="diamond">
            <a:avLst/>
          </a:prstGeom>
          <a:solidFill>
            <a:srgbClr val="6F1FA7"/>
          </a:solidFill>
          <a:ln w="12700">
            <a:solidFill>
              <a:srgbClr val="6F1FA7"/>
            </a:solidFill>
          </a:ln>
        </p:spPr>
        <p:txBody>
          <a:bodyPr rtlCol="0" anchor="ctr"/>
          <a:lstStyle/>
          <a:p>
            <a:pPr algn="ctr"/>
          </a:p>
        </p:txBody>
      </p:sp>
      <p:sp>
        <p:nvSpPr>
          <p:cNvPr id="68" name="Diamond 67"/>
          <p:cNvSpPr/>
          <p:nvPr/>
        </p:nvSpPr>
        <p:spPr>
          <a:xfrm>
            <a:off x="5892284" y="3208857"/>
            <a:ext cx="137160" cy="137160"/>
          </a:xfrm>
          <a:prstGeom prst="diamond">
            <a:avLst/>
          </a:prstGeom>
          <a:solidFill>
            <a:srgbClr val="6F1FA7"/>
          </a:solidFill>
          <a:ln w="12700">
            <a:solidFill>
              <a:srgbClr val="6F1FA7"/>
            </a:solidFill>
          </a:ln>
        </p:spPr>
        <p:txBody>
          <a:bodyPr rtlCol="0" anchor="ctr"/>
          <a:lstStyle/>
          <a:p>
            <a:pPr algn="ctr"/>
          </a:p>
        </p:txBody>
      </p:sp>
      <p:sp>
        <p:nvSpPr>
          <p:cNvPr id="69" name="Diamond 68"/>
          <p:cNvSpPr/>
          <p:nvPr/>
        </p:nvSpPr>
        <p:spPr>
          <a:xfrm>
            <a:off x="5157376" y="2969224"/>
            <a:ext cx="137160" cy="137160"/>
          </a:xfrm>
          <a:prstGeom prst="diamond">
            <a:avLst/>
          </a:prstGeom>
          <a:solidFill>
            <a:srgbClr val="6F1FA7"/>
          </a:solidFill>
          <a:ln w="12700">
            <a:solidFill>
              <a:srgbClr val="6F1FA7"/>
            </a:solidFill>
          </a:ln>
        </p:spPr>
        <p:txBody>
          <a:bodyPr rtlCol="0" anchor="ctr"/>
          <a:lstStyle/>
          <a:p>
            <a:pPr algn="ctr"/>
          </a:p>
        </p:txBody>
      </p:sp>
      <p:sp>
        <p:nvSpPr>
          <p:cNvPr id="70" name="Diamond 69"/>
          <p:cNvSpPr/>
          <p:nvPr/>
        </p:nvSpPr>
        <p:spPr>
          <a:xfrm>
            <a:off x="4204978" y="2795463"/>
            <a:ext cx="137160" cy="137160"/>
          </a:xfrm>
          <a:prstGeom prst="diamond">
            <a:avLst/>
          </a:prstGeom>
          <a:solidFill>
            <a:srgbClr val="6F1FA7"/>
          </a:solidFill>
          <a:ln w="12700">
            <a:solidFill>
              <a:srgbClr val="6F1FA7"/>
            </a:solidFill>
          </a:ln>
        </p:spPr>
        <p:txBody>
          <a:bodyPr rtlCol="0" anchor="ctr"/>
          <a:lstStyle/>
          <a:p>
            <a:pPr algn="ctr"/>
          </a:p>
        </p:txBody>
      </p:sp>
      <p:sp>
        <p:nvSpPr>
          <p:cNvPr id="71" name="Diamond 70"/>
          <p:cNvSpPr/>
          <p:nvPr/>
        </p:nvSpPr>
        <p:spPr>
          <a:xfrm>
            <a:off x="3523678" y="2729281"/>
            <a:ext cx="137160" cy="137160"/>
          </a:xfrm>
          <a:prstGeom prst="diamond">
            <a:avLst/>
          </a:prstGeom>
          <a:solidFill>
            <a:srgbClr val="6F1FA7"/>
          </a:solidFill>
          <a:ln w="12700">
            <a:solidFill>
              <a:srgbClr val="6F1FA7"/>
            </a:solidFill>
          </a:ln>
        </p:spPr>
        <p:txBody>
          <a:bodyPr rtlCol="0" anchor="ctr"/>
          <a:lstStyle/>
          <a:p>
            <a:pPr algn="ctr"/>
          </a:p>
        </p:txBody>
      </p:sp>
      <p:sp>
        <p:nvSpPr>
          <p:cNvPr id="72" name="Diamond 71"/>
          <p:cNvSpPr/>
          <p:nvPr/>
        </p:nvSpPr>
        <p:spPr>
          <a:xfrm>
            <a:off x="3025404" y="2699633"/>
            <a:ext cx="137160" cy="137160"/>
          </a:xfrm>
          <a:prstGeom prst="diamond">
            <a:avLst/>
          </a:prstGeom>
          <a:solidFill>
            <a:srgbClr val="6F1FA7"/>
          </a:solidFill>
          <a:ln w="12700">
            <a:solidFill>
              <a:srgbClr val="6F1FA7"/>
            </a:solidFill>
          </a:ln>
        </p:spPr>
        <p:txBody>
          <a:bodyPr rtlCol="0" anchor="ctr"/>
          <a:lstStyle/>
          <a:p>
            <a:pPr algn="ctr"/>
          </a:p>
        </p:txBody>
      </p:sp>
      <p:sp>
        <p:nvSpPr>
          <p:cNvPr id="73" name="Diamond 72"/>
          <p:cNvSpPr/>
          <p:nvPr/>
        </p:nvSpPr>
        <p:spPr>
          <a:xfrm>
            <a:off x="2276790" y="2656468"/>
            <a:ext cx="137160" cy="137160"/>
          </a:xfrm>
          <a:prstGeom prst="diamond">
            <a:avLst/>
          </a:prstGeom>
          <a:solidFill>
            <a:srgbClr val="6F1FA7"/>
          </a:solidFill>
          <a:ln w="12700">
            <a:solidFill>
              <a:srgbClr val="6F1FA7"/>
            </a:solidFill>
          </a:ln>
        </p:spPr>
        <p:txBody>
          <a:bodyPr rtlCol="0" anchor="ctr"/>
          <a:lstStyle/>
          <a:p>
            <a:pPr algn="ctr"/>
          </a:p>
        </p:txBody>
      </p:sp>
      <p:sp>
        <p:nvSpPr>
          <p:cNvPr id="74" name="Diamond 73"/>
          <p:cNvSpPr/>
          <p:nvPr/>
        </p:nvSpPr>
        <p:spPr>
          <a:xfrm>
            <a:off x="2108233" y="2510975"/>
            <a:ext cx="137160" cy="137160"/>
          </a:xfrm>
          <a:prstGeom prst="diamond">
            <a:avLst/>
          </a:prstGeom>
          <a:solidFill>
            <a:srgbClr val="6F1FA7"/>
          </a:solidFill>
          <a:ln w="12700">
            <a:solidFill>
              <a:srgbClr val="6F1FA7"/>
            </a:solidFill>
          </a:ln>
        </p:spPr>
        <p:txBody>
          <a:bodyPr rtlCol="0" anchor="ctr"/>
          <a:lstStyle/>
          <a:p>
            <a:pPr algn="ctr"/>
          </a:p>
        </p:txBody>
      </p:sp>
      <p:cxnSp>
        <p:nvCxnSpPr>
          <p:cNvPr id="75" name="Connector 74"/>
          <p:cNvCxnSpPr/>
          <p:nvPr/>
        </p:nvCxnSpPr>
        <p:spPr>
          <a:xfrm flipH="1" flipV="1">
            <a:off x="7092966" y="3858466"/>
            <a:ext cx="256962" cy="359408"/>
          </a:xfrm>
          <a:prstGeom prst="line">
            <a:avLst/>
          </a:prstGeom>
          <a:ln w="28575">
            <a:solidFill>
              <a:srgbClr val="CC79A7"/>
            </a:solidFill>
            <a:prstDash val="dash"/>
          </a:ln>
        </p:spPr>
      </p:cxnSp>
      <p:cxnSp>
        <p:nvCxnSpPr>
          <p:cNvPr id="76" name="Connector 75"/>
          <p:cNvCxnSpPr/>
          <p:nvPr/>
        </p:nvCxnSpPr>
        <p:spPr>
          <a:xfrm flipH="1" flipV="1">
            <a:off x="6646293" y="3544475"/>
            <a:ext cx="446673" cy="313991"/>
          </a:xfrm>
          <a:prstGeom prst="line">
            <a:avLst/>
          </a:prstGeom>
          <a:ln w="28575">
            <a:solidFill>
              <a:srgbClr val="CC79A7"/>
            </a:solidFill>
            <a:prstDash val="dash"/>
          </a:ln>
        </p:spPr>
      </p:cxnSp>
      <p:cxnSp>
        <p:nvCxnSpPr>
          <p:cNvPr id="77" name="Connector 76"/>
          <p:cNvCxnSpPr/>
          <p:nvPr/>
        </p:nvCxnSpPr>
        <p:spPr>
          <a:xfrm flipH="1" flipV="1">
            <a:off x="6004349" y="3305001"/>
            <a:ext cx="641944" cy="239474"/>
          </a:xfrm>
          <a:prstGeom prst="line">
            <a:avLst/>
          </a:prstGeom>
          <a:ln w="28575">
            <a:solidFill>
              <a:srgbClr val="CC79A7"/>
            </a:solidFill>
            <a:prstDash val="dash"/>
          </a:ln>
        </p:spPr>
      </p:cxnSp>
      <p:cxnSp>
        <p:nvCxnSpPr>
          <p:cNvPr id="78" name="Connector 77"/>
          <p:cNvCxnSpPr/>
          <p:nvPr/>
        </p:nvCxnSpPr>
        <p:spPr>
          <a:xfrm flipH="1" flipV="1">
            <a:off x="4988453" y="3157716"/>
            <a:ext cx="1015896" cy="147285"/>
          </a:xfrm>
          <a:prstGeom prst="line">
            <a:avLst/>
          </a:prstGeom>
          <a:ln w="28575">
            <a:solidFill>
              <a:srgbClr val="CC79A7"/>
            </a:solidFill>
            <a:prstDash val="dash"/>
          </a:ln>
        </p:spPr>
      </p:cxnSp>
      <p:cxnSp>
        <p:nvCxnSpPr>
          <p:cNvPr id="79" name="Connector 78"/>
          <p:cNvCxnSpPr/>
          <p:nvPr/>
        </p:nvCxnSpPr>
        <p:spPr>
          <a:xfrm flipH="1" flipV="1">
            <a:off x="3713399" y="3065500"/>
            <a:ext cx="1275054" cy="92216"/>
          </a:xfrm>
          <a:prstGeom prst="line">
            <a:avLst/>
          </a:prstGeom>
          <a:ln w="28575">
            <a:solidFill>
              <a:srgbClr val="CC79A7"/>
            </a:solidFill>
            <a:prstDash val="dash"/>
          </a:ln>
        </p:spPr>
      </p:cxnSp>
      <p:cxnSp>
        <p:nvCxnSpPr>
          <p:cNvPr id="80" name="Connector 79"/>
          <p:cNvCxnSpPr/>
          <p:nvPr/>
        </p:nvCxnSpPr>
        <p:spPr>
          <a:xfrm flipH="1" flipV="1">
            <a:off x="2958219" y="3029090"/>
            <a:ext cx="755180" cy="36410"/>
          </a:xfrm>
          <a:prstGeom prst="line">
            <a:avLst/>
          </a:prstGeom>
          <a:ln w="28575">
            <a:solidFill>
              <a:srgbClr val="CC79A7"/>
            </a:solidFill>
            <a:prstDash val="dash"/>
          </a:ln>
        </p:spPr>
      </p:cxnSp>
      <p:cxnSp>
        <p:nvCxnSpPr>
          <p:cNvPr id="81" name="Connector 80"/>
          <p:cNvCxnSpPr/>
          <p:nvPr/>
        </p:nvCxnSpPr>
        <p:spPr>
          <a:xfrm flipH="1" flipV="1">
            <a:off x="2675505" y="2922862"/>
            <a:ext cx="282714" cy="106228"/>
          </a:xfrm>
          <a:prstGeom prst="line">
            <a:avLst/>
          </a:prstGeom>
          <a:ln w="28575">
            <a:solidFill>
              <a:srgbClr val="CC79A7"/>
            </a:solidFill>
            <a:prstDash val="dash"/>
          </a:ln>
        </p:spPr>
      </p:cxnSp>
      <p:sp>
        <p:nvSpPr>
          <p:cNvPr id="82" name="Diamond 81"/>
          <p:cNvSpPr/>
          <p:nvPr/>
        </p:nvSpPr>
        <p:spPr>
          <a:xfrm>
            <a:off x="7281348" y="4149294"/>
            <a:ext cx="137160" cy="137160"/>
          </a:xfrm>
          <a:prstGeom prst="diamond">
            <a:avLst/>
          </a:prstGeom>
          <a:solidFill>
            <a:srgbClr val="CC79A7"/>
          </a:solidFill>
          <a:ln w="12700">
            <a:solidFill>
              <a:srgbClr val="CC79A7"/>
            </a:solidFill>
          </a:ln>
        </p:spPr>
        <p:txBody>
          <a:bodyPr rtlCol="0" anchor="ctr"/>
          <a:lstStyle/>
          <a:p>
            <a:pPr algn="ctr"/>
          </a:p>
        </p:txBody>
      </p:sp>
      <p:sp>
        <p:nvSpPr>
          <p:cNvPr id="83" name="Diamond 82"/>
          <p:cNvSpPr/>
          <p:nvPr/>
        </p:nvSpPr>
        <p:spPr>
          <a:xfrm>
            <a:off x="7024386" y="3789886"/>
            <a:ext cx="137160" cy="137160"/>
          </a:xfrm>
          <a:prstGeom prst="diamond">
            <a:avLst/>
          </a:prstGeom>
          <a:solidFill>
            <a:srgbClr val="CC79A7"/>
          </a:solidFill>
          <a:ln w="12700">
            <a:solidFill>
              <a:srgbClr val="CC79A7"/>
            </a:solidFill>
          </a:ln>
        </p:spPr>
        <p:txBody>
          <a:bodyPr rtlCol="0" anchor="ctr"/>
          <a:lstStyle/>
          <a:p>
            <a:pPr algn="ctr"/>
          </a:p>
        </p:txBody>
      </p:sp>
      <p:sp>
        <p:nvSpPr>
          <p:cNvPr id="84" name="Diamond 83"/>
          <p:cNvSpPr/>
          <p:nvPr/>
        </p:nvSpPr>
        <p:spPr>
          <a:xfrm>
            <a:off x="6577713" y="3475895"/>
            <a:ext cx="137160" cy="137160"/>
          </a:xfrm>
          <a:prstGeom prst="diamond">
            <a:avLst/>
          </a:prstGeom>
          <a:solidFill>
            <a:srgbClr val="CC79A7"/>
          </a:solidFill>
          <a:ln w="12700">
            <a:solidFill>
              <a:srgbClr val="CC79A7"/>
            </a:solidFill>
          </a:ln>
        </p:spPr>
        <p:txBody>
          <a:bodyPr rtlCol="0" anchor="ctr"/>
          <a:lstStyle/>
          <a:p>
            <a:pPr algn="ctr"/>
          </a:p>
        </p:txBody>
      </p:sp>
      <p:sp>
        <p:nvSpPr>
          <p:cNvPr id="85" name="Diamond 84"/>
          <p:cNvSpPr/>
          <p:nvPr/>
        </p:nvSpPr>
        <p:spPr>
          <a:xfrm>
            <a:off x="5935769" y="3236421"/>
            <a:ext cx="137160" cy="137160"/>
          </a:xfrm>
          <a:prstGeom prst="diamond">
            <a:avLst/>
          </a:prstGeom>
          <a:solidFill>
            <a:srgbClr val="CC79A7"/>
          </a:solidFill>
          <a:ln w="12700">
            <a:solidFill>
              <a:srgbClr val="CC79A7"/>
            </a:solidFill>
          </a:ln>
        </p:spPr>
        <p:txBody>
          <a:bodyPr rtlCol="0" anchor="ctr"/>
          <a:lstStyle/>
          <a:p>
            <a:pPr algn="ctr"/>
          </a:p>
        </p:txBody>
      </p:sp>
      <p:sp>
        <p:nvSpPr>
          <p:cNvPr id="86" name="Diamond 85"/>
          <p:cNvSpPr/>
          <p:nvPr/>
        </p:nvSpPr>
        <p:spPr>
          <a:xfrm>
            <a:off x="4919873" y="3089136"/>
            <a:ext cx="137160" cy="137160"/>
          </a:xfrm>
          <a:prstGeom prst="diamond">
            <a:avLst/>
          </a:prstGeom>
          <a:solidFill>
            <a:srgbClr val="CC79A7"/>
          </a:solidFill>
          <a:ln w="12700">
            <a:solidFill>
              <a:srgbClr val="CC79A7"/>
            </a:solidFill>
          </a:ln>
        </p:spPr>
        <p:txBody>
          <a:bodyPr rtlCol="0" anchor="ctr"/>
          <a:lstStyle/>
          <a:p>
            <a:pPr algn="ctr"/>
          </a:p>
        </p:txBody>
      </p:sp>
      <p:sp>
        <p:nvSpPr>
          <p:cNvPr id="87" name="Diamond 86"/>
          <p:cNvSpPr/>
          <p:nvPr/>
        </p:nvSpPr>
        <p:spPr>
          <a:xfrm>
            <a:off x="3644819" y="2996920"/>
            <a:ext cx="137160" cy="137160"/>
          </a:xfrm>
          <a:prstGeom prst="diamond">
            <a:avLst/>
          </a:prstGeom>
          <a:solidFill>
            <a:srgbClr val="CC79A7"/>
          </a:solidFill>
          <a:ln w="12700">
            <a:solidFill>
              <a:srgbClr val="CC79A7"/>
            </a:solidFill>
          </a:ln>
        </p:spPr>
        <p:txBody>
          <a:bodyPr rtlCol="0" anchor="ctr"/>
          <a:lstStyle/>
          <a:p>
            <a:pPr algn="ctr"/>
          </a:p>
        </p:txBody>
      </p:sp>
      <p:sp>
        <p:nvSpPr>
          <p:cNvPr id="88" name="Diamond 87"/>
          <p:cNvSpPr/>
          <p:nvPr/>
        </p:nvSpPr>
        <p:spPr>
          <a:xfrm>
            <a:off x="2889639" y="2960510"/>
            <a:ext cx="137160" cy="137160"/>
          </a:xfrm>
          <a:prstGeom prst="diamond">
            <a:avLst/>
          </a:prstGeom>
          <a:solidFill>
            <a:srgbClr val="CC79A7"/>
          </a:solidFill>
          <a:ln w="12700">
            <a:solidFill>
              <a:srgbClr val="CC79A7"/>
            </a:solidFill>
          </a:ln>
        </p:spPr>
        <p:txBody>
          <a:bodyPr rtlCol="0" anchor="ctr"/>
          <a:lstStyle/>
          <a:p>
            <a:pPr algn="ctr"/>
          </a:p>
        </p:txBody>
      </p:sp>
      <p:sp>
        <p:nvSpPr>
          <p:cNvPr id="89" name="Diamond 88"/>
          <p:cNvSpPr/>
          <p:nvPr/>
        </p:nvSpPr>
        <p:spPr>
          <a:xfrm>
            <a:off x="2606925" y="2854282"/>
            <a:ext cx="137160" cy="137160"/>
          </a:xfrm>
          <a:prstGeom prst="diamond">
            <a:avLst/>
          </a:prstGeom>
          <a:solidFill>
            <a:srgbClr val="CC79A7"/>
          </a:solidFill>
          <a:ln w="12700">
            <a:solidFill>
              <a:srgbClr val="CC79A7"/>
            </a:solidFill>
          </a:ln>
        </p:spPr>
        <p:txBody>
          <a:bodyPr rtlCol="0" anchor="ctr"/>
          <a:lstStyle/>
          <a:p>
            <a:pPr algn="ctr"/>
          </a:p>
        </p:txBody>
      </p:sp>
      <p:cxnSp>
        <p:nvCxnSpPr>
          <p:cNvPr id="90" name="Connector 89"/>
          <p:cNvCxnSpPr/>
          <p:nvPr/>
        </p:nvCxnSpPr>
        <p:spPr>
          <a:xfrm flipH="1" flipV="1">
            <a:off x="5587187" y="4234098"/>
            <a:ext cx="116521" cy="412149"/>
          </a:xfrm>
          <a:prstGeom prst="line">
            <a:avLst/>
          </a:prstGeom>
          <a:ln w="28575">
            <a:solidFill>
              <a:srgbClr val="1C6402"/>
            </a:solidFill>
            <a:prstDash val="dashDot"/>
          </a:ln>
        </p:spPr>
      </p:cxnSp>
      <p:cxnSp>
        <p:nvCxnSpPr>
          <p:cNvPr id="91" name="Connector 90"/>
          <p:cNvCxnSpPr/>
          <p:nvPr/>
        </p:nvCxnSpPr>
        <p:spPr>
          <a:xfrm flipH="1" flipV="1">
            <a:off x="5436658" y="3828858"/>
            <a:ext cx="150529" cy="405240"/>
          </a:xfrm>
          <a:prstGeom prst="line">
            <a:avLst/>
          </a:prstGeom>
          <a:ln w="28575">
            <a:solidFill>
              <a:srgbClr val="1C6402"/>
            </a:solidFill>
            <a:prstDash val="dashDot"/>
          </a:ln>
        </p:spPr>
      </p:cxnSp>
      <p:cxnSp>
        <p:nvCxnSpPr>
          <p:cNvPr id="92" name="Connector 91"/>
          <p:cNvCxnSpPr/>
          <p:nvPr/>
        </p:nvCxnSpPr>
        <p:spPr>
          <a:xfrm flipH="1" flipV="1">
            <a:off x="5163989" y="3480446"/>
            <a:ext cx="272669" cy="348412"/>
          </a:xfrm>
          <a:prstGeom prst="line">
            <a:avLst/>
          </a:prstGeom>
          <a:ln w="28575">
            <a:solidFill>
              <a:srgbClr val="1C6402"/>
            </a:solidFill>
            <a:prstDash val="dashDot"/>
          </a:ln>
        </p:spPr>
      </p:cxnSp>
      <p:cxnSp>
        <p:nvCxnSpPr>
          <p:cNvPr id="93" name="Connector 92"/>
          <p:cNvCxnSpPr/>
          <p:nvPr/>
        </p:nvCxnSpPr>
        <p:spPr>
          <a:xfrm flipH="1" flipV="1">
            <a:off x="4732263" y="3148433"/>
            <a:ext cx="431726" cy="332013"/>
          </a:xfrm>
          <a:prstGeom prst="line">
            <a:avLst/>
          </a:prstGeom>
          <a:ln w="28575">
            <a:solidFill>
              <a:srgbClr val="1C6402"/>
            </a:solidFill>
            <a:prstDash val="dashDot"/>
          </a:ln>
        </p:spPr>
      </p:cxnSp>
      <p:cxnSp>
        <p:nvCxnSpPr>
          <p:cNvPr id="94" name="Connector 93"/>
          <p:cNvCxnSpPr/>
          <p:nvPr/>
        </p:nvCxnSpPr>
        <p:spPr>
          <a:xfrm flipH="1" flipV="1">
            <a:off x="4115193" y="2892304"/>
            <a:ext cx="617070" cy="256129"/>
          </a:xfrm>
          <a:prstGeom prst="line">
            <a:avLst/>
          </a:prstGeom>
          <a:ln w="28575">
            <a:solidFill>
              <a:srgbClr val="1C6402"/>
            </a:solidFill>
            <a:prstDash val="dashDot"/>
          </a:ln>
        </p:spPr>
      </p:cxnSp>
      <p:cxnSp>
        <p:nvCxnSpPr>
          <p:cNvPr id="95" name="Connector 94"/>
          <p:cNvCxnSpPr/>
          <p:nvPr/>
        </p:nvCxnSpPr>
        <p:spPr>
          <a:xfrm flipH="1" flipV="1">
            <a:off x="3668278" y="2753926"/>
            <a:ext cx="446915" cy="138378"/>
          </a:xfrm>
          <a:prstGeom prst="line">
            <a:avLst/>
          </a:prstGeom>
          <a:ln w="28575">
            <a:solidFill>
              <a:srgbClr val="1C6402"/>
            </a:solidFill>
            <a:prstDash val="dashDot"/>
          </a:ln>
        </p:spPr>
      </p:cxnSp>
      <p:cxnSp>
        <p:nvCxnSpPr>
          <p:cNvPr id="96" name="Connector 95"/>
          <p:cNvCxnSpPr/>
          <p:nvPr/>
        </p:nvCxnSpPr>
        <p:spPr>
          <a:xfrm flipH="1" flipV="1">
            <a:off x="3314931" y="2681454"/>
            <a:ext cx="353347" cy="72472"/>
          </a:xfrm>
          <a:prstGeom prst="line">
            <a:avLst/>
          </a:prstGeom>
          <a:ln w="28575">
            <a:solidFill>
              <a:srgbClr val="1C6402"/>
            </a:solidFill>
            <a:prstDash val="dashDot"/>
          </a:ln>
        </p:spPr>
      </p:cxnSp>
      <p:cxnSp>
        <p:nvCxnSpPr>
          <p:cNvPr id="97" name="Connector 96"/>
          <p:cNvCxnSpPr/>
          <p:nvPr/>
        </p:nvCxnSpPr>
        <p:spPr>
          <a:xfrm flipH="1" flipV="1">
            <a:off x="2768152" y="2577894"/>
            <a:ext cx="546779" cy="103560"/>
          </a:xfrm>
          <a:prstGeom prst="line">
            <a:avLst/>
          </a:prstGeom>
          <a:ln w="28575">
            <a:solidFill>
              <a:srgbClr val="1C6402"/>
            </a:solidFill>
            <a:prstDash val="dashDot"/>
          </a:ln>
        </p:spPr>
      </p:cxnSp>
      <p:cxnSp>
        <p:nvCxnSpPr>
          <p:cNvPr id="98" name="Connector 97"/>
          <p:cNvCxnSpPr/>
          <p:nvPr/>
        </p:nvCxnSpPr>
        <p:spPr>
          <a:xfrm flipH="1" flipV="1">
            <a:off x="2407390" y="2494453"/>
            <a:ext cx="360762" cy="83441"/>
          </a:xfrm>
          <a:prstGeom prst="line">
            <a:avLst/>
          </a:prstGeom>
          <a:ln w="28575">
            <a:solidFill>
              <a:srgbClr val="1C6402"/>
            </a:solidFill>
            <a:prstDash val="dashDot"/>
          </a:ln>
        </p:spPr>
      </p:cxnSp>
      <p:sp>
        <p:nvSpPr>
          <p:cNvPr id="99" name="Isosceles Triangle 98"/>
          <p:cNvSpPr/>
          <p:nvPr/>
        </p:nvSpPr>
        <p:spPr>
          <a:xfrm>
            <a:off x="5635128" y="4577667"/>
            <a:ext cx="137160" cy="137160"/>
          </a:xfrm>
          <a:prstGeom prst="triangle">
            <a:avLst/>
          </a:prstGeom>
          <a:solidFill>
            <a:srgbClr val="FFFFFF"/>
          </a:solidFill>
          <a:ln w="15875">
            <a:solidFill>
              <a:srgbClr val="1C6402"/>
            </a:solidFill>
          </a:ln>
        </p:spPr>
        <p:txBody>
          <a:bodyPr rtlCol="0" anchor="ctr"/>
          <a:lstStyle/>
          <a:p>
            <a:pPr algn="ctr"/>
          </a:p>
        </p:txBody>
      </p:sp>
      <p:sp>
        <p:nvSpPr>
          <p:cNvPr id="100" name="Isosceles Triangle 99"/>
          <p:cNvSpPr/>
          <p:nvPr/>
        </p:nvSpPr>
        <p:spPr>
          <a:xfrm>
            <a:off x="5518607" y="4165518"/>
            <a:ext cx="137160" cy="137160"/>
          </a:xfrm>
          <a:prstGeom prst="triangle">
            <a:avLst/>
          </a:prstGeom>
          <a:solidFill>
            <a:srgbClr val="FFFFFF"/>
          </a:solidFill>
          <a:ln w="15875">
            <a:solidFill>
              <a:srgbClr val="1C6402"/>
            </a:solidFill>
          </a:ln>
        </p:spPr>
        <p:txBody>
          <a:bodyPr rtlCol="0" anchor="ctr"/>
          <a:lstStyle/>
          <a:p>
            <a:pPr algn="ctr"/>
          </a:p>
        </p:txBody>
      </p:sp>
      <p:sp>
        <p:nvSpPr>
          <p:cNvPr id="101" name="Isosceles Triangle 100"/>
          <p:cNvSpPr/>
          <p:nvPr/>
        </p:nvSpPr>
        <p:spPr>
          <a:xfrm>
            <a:off x="5368078" y="3760278"/>
            <a:ext cx="137160" cy="137160"/>
          </a:xfrm>
          <a:prstGeom prst="triangle">
            <a:avLst/>
          </a:prstGeom>
          <a:solidFill>
            <a:srgbClr val="FFFFFF"/>
          </a:solidFill>
          <a:ln w="15875">
            <a:solidFill>
              <a:srgbClr val="1C6402"/>
            </a:solidFill>
          </a:ln>
        </p:spPr>
        <p:txBody>
          <a:bodyPr rtlCol="0" anchor="ctr"/>
          <a:lstStyle/>
          <a:p>
            <a:pPr algn="ctr"/>
          </a:p>
        </p:txBody>
      </p:sp>
      <p:sp>
        <p:nvSpPr>
          <p:cNvPr id="102" name="Isosceles Triangle 101"/>
          <p:cNvSpPr/>
          <p:nvPr/>
        </p:nvSpPr>
        <p:spPr>
          <a:xfrm>
            <a:off x="5095409" y="3411866"/>
            <a:ext cx="137160" cy="137160"/>
          </a:xfrm>
          <a:prstGeom prst="triangle">
            <a:avLst/>
          </a:prstGeom>
          <a:solidFill>
            <a:srgbClr val="FFFFFF"/>
          </a:solidFill>
          <a:ln w="15875">
            <a:solidFill>
              <a:srgbClr val="1C6402"/>
            </a:solidFill>
          </a:ln>
        </p:spPr>
        <p:txBody>
          <a:bodyPr rtlCol="0" anchor="ctr"/>
          <a:lstStyle/>
          <a:p>
            <a:pPr algn="ctr"/>
          </a:p>
        </p:txBody>
      </p:sp>
      <p:sp>
        <p:nvSpPr>
          <p:cNvPr id="103" name="Isosceles Triangle 102"/>
          <p:cNvSpPr/>
          <p:nvPr/>
        </p:nvSpPr>
        <p:spPr>
          <a:xfrm>
            <a:off x="4663683" y="3079853"/>
            <a:ext cx="137160" cy="137160"/>
          </a:xfrm>
          <a:prstGeom prst="triangle">
            <a:avLst/>
          </a:prstGeom>
          <a:solidFill>
            <a:srgbClr val="FFFFFF"/>
          </a:solidFill>
          <a:ln w="15875">
            <a:solidFill>
              <a:srgbClr val="1C6402"/>
            </a:solidFill>
          </a:ln>
        </p:spPr>
        <p:txBody>
          <a:bodyPr rtlCol="0" anchor="ctr"/>
          <a:lstStyle/>
          <a:p>
            <a:pPr algn="ctr"/>
          </a:p>
        </p:txBody>
      </p:sp>
      <p:sp>
        <p:nvSpPr>
          <p:cNvPr id="104" name="Isosceles Triangle 103"/>
          <p:cNvSpPr/>
          <p:nvPr/>
        </p:nvSpPr>
        <p:spPr>
          <a:xfrm>
            <a:off x="4046613" y="2823724"/>
            <a:ext cx="137160" cy="137160"/>
          </a:xfrm>
          <a:prstGeom prst="triangle">
            <a:avLst/>
          </a:prstGeom>
          <a:solidFill>
            <a:srgbClr val="1C6402"/>
          </a:solidFill>
          <a:ln w="12700">
            <a:solidFill>
              <a:srgbClr val="1C6402"/>
            </a:solidFill>
          </a:ln>
        </p:spPr>
        <p:txBody>
          <a:bodyPr rtlCol="0" anchor="ctr"/>
          <a:lstStyle/>
          <a:p>
            <a:pPr algn="ctr"/>
          </a:p>
        </p:txBody>
      </p:sp>
      <p:sp>
        <p:nvSpPr>
          <p:cNvPr id="105" name="Isosceles Triangle 104"/>
          <p:cNvSpPr/>
          <p:nvPr/>
        </p:nvSpPr>
        <p:spPr>
          <a:xfrm>
            <a:off x="3599698" y="2685346"/>
            <a:ext cx="137160" cy="137160"/>
          </a:xfrm>
          <a:prstGeom prst="triangle">
            <a:avLst/>
          </a:prstGeom>
          <a:solidFill>
            <a:srgbClr val="1C6402"/>
          </a:solidFill>
          <a:ln w="12700">
            <a:solidFill>
              <a:srgbClr val="1C6402"/>
            </a:solidFill>
          </a:ln>
        </p:spPr>
        <p:txBody>
          <a:bodyPr rtlCol="0" anchor="ctr"/>
          <a:lstStyle/>
          <a:p>
            <a:pPr algn="ctr"/>
          </a:p>
        </p:txBody>
      </p:sp>
      <p:sp>
        <p:nvSpPr>
          <p:cNvPr id="106" name="Isosceles Triangle 105"/>
          <p:cNvSpPr/>
          <p:nvPr/>
        </p:nvSpPr>
        <p:spPr>
          <a:xfrm>
            <a:off x="3246351" y="2612874"/>
            <a:ext cx="137160" cy="137160"/>
          </a:xfrm>
          <a:prstGeom prst="triangle">
            <a:avLst/>
          </a:prstGeom>
          <a:solidFill>
            <a:srgbClr val="1C6402"/>
          </a:solidFill>
          <a:ln w="12700">
            <a:solidFill>
              <a:srgbClr val="1C6402"/>
            </a:solidFill>
          </a:ln>
        </p:spPr>
        <p:txBody>
          <a:bodyPr rtlCol="0" anchor="ctr"/>
          <a:lstStyle/>
          <a:p>
            <a:pPr algn="ctr"/>
          </a:p>
        </p:txBody>
      </p:sp>
      <p:sp>
        <p:nvSpPr>
          <p:cNvPr id="107" name="Isosceles Triangle 106"/>
          <p:cNvSpPr/>
          <p:nvPr/>
        </p:nvSpPr>
        <p:spPr>
          <a:xfrm>
            <a:off x="2699572" y="2509314"/>
            <a:ext cx="137160" cy="137160"/>
          </a:xfrm>
          <a:prstGeom prst="triangle">
            <a:avLst/>
          </a:prstGeom>
          <a:solidFill>
            <a:srgbClr val="1C6402"/>
          </a:solidFill>
          <a:ln w="12700">
            <a:solidFill>
              <a:srgbClr val="1C6402"/>
            </a:solidFill>
          </a:ln>
        </p:spPr>
        <p:txBody>
          <a:bodyPr rtlCol="0" anchor="ctr"/>
          <a:lstStyle/>
          <a:p>
            <a:pPr algn="ctr"/>
          </a:p>
        </p:txBody>
      </p:sp>
      <p:sp>
        <p:nvSpPr>
          <p:cNvPr id="108" name="Isosceles Triangle 107"/>
          <p:cNvSpPr/>
          <p:nvPr/>
        </p:nvSpPr>
        <p:spPr>
          <a:xfrm>
            <a:off x="2338810" y="2425873"/>
            <a:ext cx="137160" cy="137160"/>
          </a:xfrm>
          <a:prstGeom prst="triangle">
            <a:avLst/>
          </a:prstGeom>
          <a:solidFill>
            <a:srgbClr val="1C6402"/>
          </a:solidFill>
          <a:ln w="12700">
            <a:solidFill>
              <a:srgbClr val="1C6402"/>
            </a:solidFill>
          </a:ln>
        </p:spPr>
        <p:txBody>
          <a:bodyPr rtlCol="0" anchor="ctr"/>
          <a:lstStyle/>
          <a:p>
            <a:pPr algn="ctr"/>
          </a:p>
        </p:txBody>
      </p:sp>
      <p:sp>
        <p:nvSpPr>
          <p:cNvPr id="109" name="TextBox 108"/>
          <p:cNvSpPr txBox="1"/>
          <p:nvPr/>
        </p:nvSpPr>
        <p:spPr>
          <a:xfrm>
            <a:off x="4751082" y="4816054"/>
            <a:ext cx="868680" cy="292608"/>
          </a:xfrm>
          <a:prstGeom prst="rect">
            <a:avLst/>
          </a:prstGeom>
          <a:noFill/>
        </p:spPr>
        <p:txBody>
          <a:bodyPr wrap="square" lIns="0" tIns="0" rIns="0" bIns="0" anchor="t"/>
          <a:lstStyle/>
          <a:p>
            <a:pPr algn="l"/>
            <a:r>
              <a:rPr sz="1600" b="0" i="0">
                <a:solidFill>
                  <a:srgbClr val="1B3A57"/>
                </a:solidFill>
                <a:latin typeface="Arial"/>
                <a:ea typeface="Arial"/>
                <a:cs typeface="Arial"/>
              </a:rPr>
              <a:t>c = 1</a:t>
            </a:r>
          </a:p>
        </p:txBody>
      </p:sp>
      <p:sp>
        <p:nvSpPr>
          <p:cNvPr id="110" name="TextBox 109"/>
          <p:cNvSpPr txBox="1"/>
          <p:nvPr/>
        </p:nvSpPr>
        <p:spPr>
          <a:xfrm>
            <a:off x="1478076" y="2251661"/>
            <a:ext cx="960120" cy="292608"/>
          </a:xfrm>
          <a:prstGeom prst="rect">
            <a:avLst/>
          </a:prstGeom>
          <a:noFill/>
        </p:spPr>
        <p:txBody>
          <a:bodyPr wrap="square" lIns="0" tIns="0" rIns="0" bIns="0" anchor="t"/>
          <a:lstStyle/>
          <a:p>
            <a:pPr algn="r"/>
            <a:r>
              <a:rPr sz="1600" b="0" i="0">
                <a:solidFill>
                  <a:srgbClr val="1B3A57"/>
                </a:solidFill>
                <a:latin typeface="Arial"/>
                <a:ea typeface="Arial"/>
                <a:cs typeface="Arial"/>
              </a:rPr>
              <a:t>c = 128</a:t>
            </a:r>
          </a:p>
        </p:txBody>
      </p:sp>
      <p:sp>
        <p:nvSpPr>
          <p:cNvPr id="111" name="TextBox 110"/>
          <p:cNvSpPr txBox="1"/>
          <p:nvPr/>
        </p:nvSpPr>
        <p:spPr>
          <a:xfrm>
            <a:off x="2275206" y="4538532"/>
            <a:ext cx="2103120" cy="310896"/>
          </a:xfrm>
          <a:prstGeom prst="rect">
            <a:avLst/>
          </a:prstGeom>
          <a:noFill/>
        </p:spPr>
        <p:txBody>
          <a:bodyPr wrap="square" lIns="0" tIns="0" rIns="0" bIns="0" anchor="t"/>
          <a:lstStyle/>
          <a:p>
            <a:pPr algn="r"/>
            <a:r>
              <a:rPr sz="1800" b="1" i="0">
                <a:solidFill>
                  <a:srgbClr val="1B3A57"/>
                </a:solidFill>
                <a:latin typeface="Arial"/>
                <a:ea typeface="Arial"/>
                <a:cs typeface="Arial"/>
              </a:rPr>
              <a:t>plain</a:t>
            </a:r>
          </a:p>
        </p:txBody>
      </p:sp>
      <p:sp>
        <p:nvSpPr>
          <p:cNvPr id="112" name="TextBox 111"/>
          <p:cNvSpPr txBox="1"/>
          <p:nvPr/>
        </p:nvSpPr>
        <p:spPr>
          <a:xfrm>
            <a:off x="5790220" y="4700318"/>
            <a:ext cx="914400" cy="310896"/>
          </a:xfrm>
          <a:prstGeom prst="rect">
            <a:avLst/>
          </a:prstGeom>
          <a:noFill/>
        </p:spPr>
        <p:txBody>
          <a:bodyPr wrap="square" lIns="0" tIns="0" rIns="0" bIns="0" anchor="t"/>
          <a:lstStyle/>
          <a:p>
            <a:pPr algn="l"/>
            <a:r>
              <a:rPr sz="1800" b="1" i="0">
                <a:solidFill>
                  <a:srgbClr val="1C6402"/>
                </a:solidFill>
                <a:latin typeface="Arial"/>
                <a:ea typeface="Arial"/>
                <a:cs typeface="Arial"/>
              </a:rPr>
              <a:t>MTP</a:t>
            </a:r>
          </a:p>
        </p:txBody>
      </p:sp>
      <p:sp>
        <p:nvSpPr>
          <p:cNvPr id="113" name="TextBox 112"/>
          <p:cNvSpPr txBox="1"/>
          <p:nvPr/>
        </p:nvSpPr>
        <p:spPr>
          <a:xfrm>
            <a:off x="5284483" y="2611999"/>
            <a:ext cx="2377440" cy="310896"/>
          </a:xfrm>
          <a:prstGeom prst="rect">
            <a:avLst/>
          </a:prstGeom>
          <a:noFill/>
        </p:spPr>
        <p:txBody>
          <a:bodyPr wrap="square" lIns="0" tIns="0" rIns="0" bIns="0" anchor="t"/>
          <a:lstStyle/>
          <a:p>
            <a:pPr algn="l"/>
            <a:r>
              <a:rPr sz="1800" b="1" i="0">
                <a:solidFill>
                  <a:srgbClr val="6F1FA7"/>
                </a:solidFill>
                <a:latin typeface="Arial"/>
                <a:ea typeface="Arial"/>
                <a:cs typeface="Arial"/>
              </a:rPr>
              <a:t>DFlash, 8-token</a:t>
            </a:r>
          </a:p>
        </p:txBody>
      </p:sp>
      <p:sp>
        <p:nvSpPr>
          <p:cNvPr id="114" name="TextBox 113"/>
          <p:cNvSpPr txBox="1"/>
          <p:nvPr/>
        </p:nvSpPr>
        <p:spPr>
          <a:xfrm>
            <a:off x="2081764" y="3268725"/>
            <a:ext cx="1828800" cy="310896"/>
          </a:xfrm>
          <a:prstGeom prst="rect">
            <a:avLst/>
          </a:prstGeom>
          <a:noFill/>
        </p:spPr>
        <p:txBody>
          <a:bodyPr wrap="square" lIns="0" tIns="0" rIns="0" bIns="0" anchor="t"/>
          <a:lstStyle/>
          <a:p>
            <a:pPr algn="ctr"/>
            <a:r>
              <a:rPr sz="1800" b="1" i="0">
                <a:solidFill>
                  <a:srgbClr val="CC79A7"/>
                </a:solidFill>
                <a:latin typeface="Arial"/>
                <a:ea typeface="Arial"/>
                <a:cs typeface="Arial"/>
              </a:rPr>
              <a:t>DFlash, 16-token</a:t>
            </a:r>
          </a:p>
        </p:txBody>
      </p:sp>
      <p:sp>
        <p:nvSpPr>
          <p:cNvPr id="115" name="TextBox 114"/>
          <p:cNvSpPr txBox="1"/>
          <p:nvPr/>
        </p:nvSpPr>
        <p:spPr>
          <a:xfrm>
            <a:off x="731520" y="5989320"/>
            <a:ext cx="10744200" cy="292608"/>
          </a:xfrm>
          <a:prstGeom prst="rect">
            <a:avLst/>
          </a:prstGeom>
          <a:noFill/>
        </p:spPr>
        <p:txBody>
          <a:bodyPr wrap="square" lIns="0" tIns="0" rIns="0" bIns="0" anchor="t"/>
          <a:lstStyle/>
          <a:p>
            <a:pPr algn="l"/>
            <a:r>
              <a:rPr sz="1600" b="0" i="0">
                <a:solidFill>
                  <a:srgbClr val="586B73"/>
                </a:solidFill>
                <a:latin typeface="Arial"/>
                <a:ea typeface="Arial"/>
                <a:cs typeface="Arial"/>
              </a:rPr>
              <a:t>Arm: a tuned serving configuration · grey band: the envelope, the best arm at each c · hollow: one session</a:t>
            </a:r>
          </a:p>
        </p:txBody>
      </p:sp>
      <p:cxnSp>
        <p:nvCxnSpPr>
          <p:cNvPr id="116" name="Connector 115"/>
          <p:cNvCxnSpPr/>
          <p:nvPr/>
        </p:nvCxnSpPr>
        <p:spPr>
          <a:xfrm>
            <a:off x="8046720" y="1783080"/>
            <a:ext cx="0" cy="3977640"/>
          </a:xfrm>
          <a:prstGeom prst="line">
            <a:avLst/>
          </a:prstGeom>
          <a:ln w="12700">
            <a:solidFill>
              <a:srgbClr val="D2DCDF"/>
            </a:solidFill>
          </a:ln>
        </p:spPr>
      </p:cxnSp>
      <p:sp>
        <p:nvSpPr>
          <p:cNvPr id="117" name="TextBox 116"/>
          <p:cNvSpPr txBox="1"/>
          <p:nvPr/>
        </p:nvSpPr>
        <p:spPr>
          <a:xfrm>
            <a:off x="8275320" y="1645920"/>
            <a:ext cx="3200400" cy="731520"/>
          </a:xfrm>
          <a:prstGeom prst="rect">
            <a:avLst/>
          </a:prstGeom>
          <a:noFill/>
        </p:spPr>
        <p:txBody>
          <a:bodyPr wrap="square" lIns="0" tIns="0" rIns="0" bIns="0" anchor="t"/>
          <a:lstStyle/>
          <a:p>
            <a:pPr algn="l"/>
            <a:r>
              <a:rPr sz="4400" b="1" i="0">
                <a:solidFill>
                  <a:srgbClr val="CC79A7"/>
                </a:solidFill>
                <a:latin typeface="Arial"/>
                <a:ea typeface="Arial"/>
                <a:cs typeface="Arial"/>
              </a:rPr>
              <a:t>3.06×</a:t>
            </a:r>
          </a:p>
        </p:txBody>
      </p:sp>
      <p:sp>
        <p:nvSpPr>
          <p:cNvPr id="118" name="TextBox 117"/>
          <p:cNvSpPr txBox="1"/>
          <p:nvPr/>
        </p:nvSpPr>
        <p:spPr>
          <a:xfrm>
            <a:off x="8275320" y="2395728"/>
            <a:ext cx="3200400" cy="914400"/>
          </a:xfrm>
          <a:prstGeom prst="rect">
            <a:avLst/>
          </a:prstGeom>
          <a:noFill/>
        </p:spPr>
        <p:txBody>
          <a:bodyPr wrap="square" lIns="0" tIns="0" rIns="0" bIns="0" anchor="t"/>
          <a:lstStyle/>
          <a:p>
            <a:pPr algn="l"/>
            <a:r>
              <a:rPr sz="1800" b="0" i="0">
                <a:solidFill>
                  <a:srgbClr val="1B3A57"/>
                </a:solidFill>
                <a:latin typeface="Arial"/>
                <a:ea typeface="Arial"/>
                <a:cs typeface="Arial"/>
              </a:rPr>
              <a:t>throughput at c = 1: 16-token DFlash over plain decoding, same attention</a:t>
            </a:r>
          </a:p>
        </p:txBody>
      </p:sp>
      <p:sp>
        <p:nvSpPr>
          <p:cNvPr id="119" name="TextBox 118"/>
          <p:cNvSpPr txBox="1"/>
          <p:nvPr/>
        </p:nvSpPr>
        <p:spPr>
          <a:xfrm>
            <a:off x="8275320" y="3474720"/>
            <a:ext cx="3200400" cy="502920"/>
          </a:xfrm>
          <a:prstGeom prst="rect">
            <a:avLst/>
          </a:prstGeom>
          <a:noFill/>
        </p:spPr>
        <p:txBody>
          <a:bodyPr wrap="square" lIns="0" tIns="0" rIns="0" bIns="0" anchor="t"/>
          <a:lstStyle/>
          <a:p>
            <a:pPr algn="l"/>
            <a:r>
              <a:rPr sz="1600" b="1" i="0">
                <a:solidFill>
                  <a:srgbClr val="586B73"/>
                </a:solidFill>
                <a:latin typeface="Arial"/>
                <a:ea typeface="Arial"/>
                <a:cs typeface="Arial"/>
              </a:rPr>
              <a:t>Mean accepted tokens per verify cycle</a:t>
            </a:r>
          </a:p>
        </p:txBody>
      </p:sp>
      <p:sp>
        <p:nvSpPr>
          <p:cNvPr id="120" name="TextBox 119"/>
          <p:cNvSpPr txBox="1"/>
          <p:nvPr/>
        </p:nvSpPr>
        <p:spPr>
          <a:xfrm>
            <a:off x="8275320" y="4023360"/>
            <a:ext cx="1463040" cy="329184"/>
          </a:xfrm>
          <a:prstGeom prst="rect">
            <a:avLst/>
          </a:prstGeom>
          <a:noFill/>
        </p:spPr>
        <p:txBody>
          <a:bodyPr wrap="square" lIns="0" tIns="0" rIns="0" bIns="0" anchor="t"/>
          <a:lstStyle/>
          <a:p>
            <a:pPr algn="l"/>
            <a:r>
              <a:rPr sz="1800" b="1" i="0">
                <a:solidFill>
                  <a:srgbClr val="CC79A7"/>
                </a:solidFill>
                <a:latin typeface="Arial"/>
                <a:ea typeface="Arial"/>
                <a:cs typeface="Arial"/>
              </a:rPr>
              <a:t>DFlash-16</a:t>
            </a:r>
          </a:p>
        </p:txBody>
      </p:sp>
      <p:sp>
        <p:nvSpPr>
          <p:cNvPr id="121" name="TextBox 120"/>
          <p:cNvSpPr txBox="1"/>
          <p:nvPr/>
        </p:nvSpPr>
        <p:spPr>
          <a:xfrm>
            <a:off x="9738360" y="4023360"/>
            <a:ext cx="1737360" cy="329184"/>
          </a:xfrm>
          <a:prstGeom prst="rect">
            <a:avLst/>
          </a:prstGeom>
          <a:noFill/>
        </p:spPr>
        <p:txBody>
          <a:bodyPr wrap="square" lIns="0" tIns="0" rIns="0" bIns="0" anchor="t"/>
          <a:lstStyle/>
          <a:p>
            <a:pPr algn="r"/>
            <a:r>
              <a:rPr sz="1800" b="0" i="0">
                <a:solidFill>
                  <a:srgbClr val="1B3A57"/>
                </a:solidFill>
                <a:latin typeface="Arial"/>
                <a:ea typeface="Arial"/>
                <a:cs typeface="Arial"/>
              </a:rPr>
              <a:t>5.59–5.77</a:t>
            </a:r>
          </a:p>
        </p:txBody>
      </p:sp>
      <p:sp>
        <p:nvSpPr>
          <p:cNvPr id="122" name="TextBox 121"/>
          <p:cNvSpPr txBox="1"/>
          <p:nvPr/>
        </p:nvSpPr>
        <p:spPr>
          <a:xfrm>
            <a:off x="8275320" y="4389120"/>
            <a:ext cx="1463040" cy="329184"/>
          </a:xfrm>
          <a:prstGeom prst="rect">
            <a:avLst/>
          </a:prstGeom>
          <a:noFill/>
        </p:spPr>
        <p:txBody>
          <a:bodyPr wrap="square" lIns="0" tIns="0" rIns="0" bIns="0" anchor="t"/>
          <a:lstStyle/>
          <a:p>
            <a:pPr algn="l"/>
            <a:r>
              <a:rPr sz="1800" b="1" i="0">
                <a:solidFill>
                  <a:srgbClr val="6F1FA7"/>
                </a:solidFill>
                <a:latin typeface="Arial"/>
                <a:ea typeface="Arial"/>
                <a:cs typeface="Arial"/>
              </a:rPr>
              <a:t>DFlash-8</a:t>
            </a:r>
          </a:p>
        </p:txBody>
      </p:sp>
      <p:sp>
        <p:nvSpPr>
          <p:cNvPr id="123" name="TextBox 122"/>
          <p:cNvSpPr txBox="1"/>
          <p:nvPr/>
        </p:nvSpPr>
        <p:spPr>
          <a:xfrm>
            <a:off x="9738360" y="4389120"/>
            <a:ext cx="1737360" cy="329184"/>
          </a:xfrm>
          <a:prstGeom prst="rect">
            <a:avLst/>
          </a:prstGeom>
          <a:noFill/>
        </p:spPr>
        <p:txBody>
          <a:bodyPr wrap="square" lIns="0" tIns="0" rIns="0" bIns="0" anchor="t"/>
          <a:lstStyle/>
          <a:p>
            <a:pPr algn="r"/>
            <a:r>
              <a:rPr sz="1800" b="0" i="0">
                <a:solidFill>
                  <a:srgbClr val="1B3A57"/>
                </a:solidFill>
                <a:latin typeface="Arial"/>
                <a:ea typeface="Arial"/>
                <a:cs typeface="Arial"/>
              </a:rPr>
              <a:t>4.66–4.81</a:t>
            </a:r>
          </a:p>
        </p:txBody>
      </p:sp>
      <p:sp>
        <p:nvSpPr>
          <p:cNvPr id="124" name="TextBox 123"/>
          <p:cNvSpPr txBox="1"/>
          <p:nvPr/>
        </p:nvSpPr>
        <p:spPr>
          <a:xfrm>
            <a:off x="8275320" y="4754880"/>
            <a:ext cx="1463040" cy="329184"/>
          </a:xfrm>
          <a:prstGeom prst="rect">
            <a:avLst/>
          </a:prstGeom>
          <a:noFill/>
        </p:spPr>
        <p:txBody>
          <a:bodyPr wrap="square" lIns="0" tIns="0" rIns="0" bIns="0" anchor="t"/>
          <a:lstStyle/>
          <a:p>
            <a:pPr algn="l"/>
            <a:r>
              <a:rPr sz="1800" b="1" i="0">
                <a:solidFill>
                  <a:srgbClr val="1C6402"/>
                </a:solidFill>
                <a:latin typeface="Arial"/>
                <a:ea typeface="Arial"/>
                <a:cs typeface="Arial"/>
              </a:rPr>
              <a:t>MTP</a:t>
            </a:r>
          </a:p>
        </p:txBody>
      </p:sp>
      <p:sp>
        <p:nvSpPr>
          <p:cNvPr id="125" name="TextBox 124"/>
          <p:cNvSpPr txBox="1"/>
          <p:nvPr/>
        </p:nvSpPr>
        <p:spPr>
          <a:xfrm>
            <a:off x="9738360" y="4754880"/>
            <a:ext cx="1737360" cy="329184"/>
          </a:xfrm>
          <a:prstGeom prst="rect">
            <a:avLst/>
          </a:prstGeom>
          <a:noFill/>
        </p:spPr>
        <p:txBody>
          <a:bodyPr wrap="square" lIns="0" tIns="0" rIns="0" bIns="0" anchor="t"/>
          <a:lstStyle/>
          <a:p>
            <a:pPr algn="r"/>
            <a:r>
              <a:rPr sz="1800" b="0" i="0">
                <a:solidFill>
                  <a:srgbClr val="1B3A57"/>
                </a:solidFill>
                <a:latin typeface="Arial"/>
                <a:ea typeface="Arial"/>
                <a:cs typeface="Arial"/>
              </a:rPr>
              <a:t>3.24–3.28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The head is 10% of a plain step at batch 1, 6% at 128</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§1, Appendix E.2</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05</a:t>
            </a:r>
          </a:p>
        </p:txBody>
      </p:sp>
      <p:sp>
        <p:nvSpPr>
          <p:cNvPr id="6" name="TextBox 5"/>
          <p:cNvSpPr txBox="1"/>
          <p:nvPr/>
        </p:nvSpPr>
        <p:spPr>
          <a:xfrm>
            <a:off x="731520" y="2020824"/>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Plain, B = 1</a:t>
            </a:r>
          </a:p>
        </p:txBody>
      </p:sp>
      <p:sp>
        <p:nvSpPr>
          <p:cNvPr id="7" name="Rectangle 6"/>
          <p:cNvSpPr/>
          <p:nvPr/>
        </p:nvSpPr>
        <p:spPr>
          <a:xfrm>
            <a:off x="2788920" y="2057400"/>
            <a:ext cx="684867" cy="384048"/>
          </a:xfrm>
          <a:prstGeom prst="rect">
            <a:avLst/>
          </a:prstGeom>
          <a:solidFill>
            <a:srgbClr val="1B3A57"/>
          </a:solidFill>
          <a:ln w="9525">
            <a:solidFill>
              <a:srgbClr val="FFFFFF"/>
            </a:solidFill>
          </a:ln>
        </p:spPr>
        <p:txBody>
          <a:bodyPr rtlCol="0" anchor="ctr"/>
          <a:lstStyle/>
          <a:p>
            <a:pPr algn="ctr"/>
          </a:p>
        </p:txBody>
      </p:sp>
      <p:sp>
        <p:nvSpPr>
          <p:cNvPr id="8" name="Rectangle 7"/>
          <p:cNvSpPr/>
          <p:nvPr/>
        </p:nvSpPr>
        <p:spPr>
          <a:xfrm>
            <a:off x="3473787" y="2057400"/>
            <a:ext cx="410519" cy="384048"/>
          </a:xfrm>
          <a:prstGeom prst="rect">
            <a:avLst/>
          </a:prstGeom>
          <a:solidFill>
            <a:srgbClr val="899299"/>
          </a:solidFill>
          <a:ln w="9525">
            <a:solidFill>
              <a:srgbClr val="FFFFFF"/>
            </a:solidFill>
          </a:ln>
        </p:spPr>
        <p:txBody>
          <a:bodyPr rtlCol="0" anchor="ctr"/>
          <a:lstStyle/>
          <a:p>
            <a:pPr algn="ctr"/>
          </a:p>
        </p:txBody>
      </p:sp>
      <p:sp>
        <p:nvSpPr>
          <p:cNvPr id="9" name="Rectangle 8"/>
          <p:cNvSpPr/>
          <p:nvPr/>
        </p:nvSpPr>
        <p:spPr>
          <a:xfrm>
            <a:off x="3884307" y="2057400"/>
            <a:ext cx="5294037" cy="384048"/>
          </a:xfrm>
          <a:prstGeom prst="rect">
            <a:avLst/>
          </a:prstGeom>
          <a:solidFill>
            <a:srgbClr val="D6D9DB"/>
          </a:solidFill>
          <a:ln w="9525">
            <a:solidFill>
              <a:srgbClr val="FFFFFF"/>
            </a:solidFill>
          </a:ln>
        </p:spPr>
        <p:txBody>
          <a:bodyPr rtlCol="0" anchor="ctr"/>
          <a:lstStyle/>
          <a:p>
            <a:pPr algn="ctr"/>
          </a:p>
        </p:txBody>
      </p:sp>
      <p:sp>
        <p:nvSpPr>
          <p:cNvPr id="10" name="Rectangle 9"/>
          <p:cNvSpPr/>
          <p:nvPr/>
        </p:nvSpPr>
        <p:spPr>
          <a:xfrm>
            <a:off x="9178344" y="2057400"/>
            <a:ext cx="285695" cy="384048"/>
          </a:xfrm>
          <a:prstGeom prst="rect">
            <a:avLst/>
          </a:prstGeom>
          <a:solidFill>
            <a:srgbClr val="FFFFFF"/>
          </a:solidFill>
          <a:ln w="9525">
            <a:solidFill>
              <a:srgbClr val="6B7780"/>
            </a:solidFill>
          </a:ln>
        </p:spPr>
        <p:txBody>
          <a:bodyPr rtlCol="0" anchor="ctr"/>
          <a:lstStyle/>
          <a:p>
            <a:pPr algn="ctr"/>
          </a:p>
        </p:txBody>
      </p:sp>
      <p:sp>
        <p:nvSpPr>
          <p:cNvPr id="11" name="TextBox 10"/>
          <p:cNvSpPr txBox="1"/>
          <p:nvPr/>
        </p:nvSpPr>
        <p:spPr>
          <a:xfrm>
            <a:off x="9646920" y="2020824"/>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10.3%</a:t>
            </a:r>
          </a:p>
        </p:txBody>
      </p:sp>
      <p:sp>
        <p:nvSpPr>
          <p:cNvPr id="12" name="TextBox 11"/>
          <p:cNvSpPr txBox="1"/>
          <p:nvPr/>
        </p:nvSpPr>
        <p:spPr>
          <a:xfrm>
            <a:off x="731520" y="2532888"/>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Plain, B = 8</a:t>
            </a:r>
          </a:p>
        </p:txBody>
      </p:sp>
      <p:sp>
        <p:nvSpPr>
          <p:cNvPr id="13" name="Rectangle 12"/>
          <p:cNvSpPr/>
          <p:nvPr/>
        </p:nvSpPr>
        <p:spPr>
          <a:xfrm>
            <a:off x="2788920" y="2569464"/>
            <a:ext cx="624791" cy="384048"/>
          </a:xfrm>
          <a:prstGeom prst="rect">
            <a:avLst/>
          </a:prstGeom>
          <a:solidFill>
            <a:srgbClr val="1B3A57"/>
          </a:solidFill>
          <a:ln w="9525">
            <a:solidFill>
              <a:srgbClr val="FFFFFF"/>
            </a:solidFill>
          </a:ln>
        </p:spPr>
        <p:txBody>
          <a:bodyPr rtlCol="0" anchor="ctr"/>
          <a:lstStyle/>
          <a:p>
            <a:pPr algn="ctr"/>
          </a:p>
        </p:txBody>
      </p:sp>
      <p:sp>
        <p:nvSpPr>
          <p:cNvPr id="14" name="Rectangle 13"/>
          <p:cNvSpPr/>
          <p:nvPr/>
        </p:nvSpPr>
        <p:spPr>
          <a:xfrm>
            <a:off x="3413711" y="2569464"/>
            <a:ext cx="638808" cy="384048"/>
          </a:xfrm>
          <a:prstGeom prst="rect">
            <a:avLst/>
          </a:prstGeom>
          <a:solidFill>
            <a:srgbClr val="899299"/>
          </a:solidFill>
          <a:ln w="9525">
            <a:solidFill>
              <a:srgbClr val="FFFFFF"/>
            </a:solidFill>
          </a:ln>
        </p:spPr>
        <p:txBody>
          <a:bodyPr rtlCol="0" anchor="ctr"/>
          <a:lstStyle/>
          <a:p>
            <a:pPr algn="ctr"/>
          </a:p>
        </p:txBody>
      </p:sp>
      <p:sp>
        <p:nvSpPr>
          <p:cNvPr id="15" name="Rectangle 14"/>
          <p:cNvSpPr/>
          <p:nvPr/>
        </p:nvSpPr>
        <p:spPr>
          <a:xfrm>
            <a:off x="4052520" y="2569464"/>
            <a:ext cx="5143179" cy="384048"/>
          </a:xfrm>
          <a:prstGeom prst="rect">
            <a:avLst/>
          </a:prstGeom>
          <a:solidFill>
            <a:srgbClr val="D6D9DB"/>
          </a:solidFill>
          <a:ln w="9525">
            <a:solidFill>
              <a:srgbClr val="FFFFFF"/>
            </a:solidFill>
          </a:ln>
        </p:spPr>
        <p:txBody>
          <a:bodyPr rtlCol="0" anchor="ctr"/>
          <a:lstStyle/>
          <a:p>
            <a:pPr algn="ctr"/>
          </a:p>
        </p:txBody>
      </p:sp>
      <p:sp>
        <p:nvSpPr>
          <p:cNvPr id="16" name="Rectangle 15"/>
          <p:cNvSpPr/>
          <p:nvPr/>
        </p:nvSpPr>
        <p:spPr>
          <a:xfrm>
            <a:off x="9195700" y="2569464"/>
            <a:ext cx="268339" cy="384048"/>
          </a:xfrm>
          <a:prstGeom prst="rect">
            <a:avLst/>
          </a:prstGeom>
          <a:solidFill>
            <a:srgbClr val="FFFFFF"/>
          </a:solidFill>
          <a:ln w="9525">
            <a:solidFill>
              <a:srgbClr val="6B7780"/>
            </a:solidFill>
          </a:ln>
        </p:spPr>
        <p:txBody>
          <a:bodyPr rtlCol="0" anchor="ctr"/>
          <a:lstStyle/>
          <a:p>
            <a:pPr algn="ctr"/>
          </a:p>
        </p:txBody>
      </p:sp>
      <p:sp>
        <p:nvSpPr>
          <p:cNvPr id="17" name="TextBox 16"/>
          <p:cNvSpPr txBox="1"/>
          <p:nvPr/>
        </p:nvSpPr>
        <p:spPr>
          <a:xfrm>
            <a:off x="9646920" y="2532888"/>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9.4%</a:t>
            </a:r>
          </a:p>
        </p:txBody>
      </p:sp>
      <p:sp>
        <p:nvSpPr>
          <p:cNvPr id="18" name="TextBox 17"/>
          <p:cNvSpPr txBox="1"/>
          <p:nvPr/>
        </p:nvSpPr>
        <p:spPr>
          <a:xfrm>
            <a:off x="731520" y="3044952"/>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Plain, B = 32</a:t>
            </a:r>
          </a:p>
        </p:txBody>
      </p:sp>
      <p:sp>
        <p:nvSpPr>
          <p:cNvPr id="19" name="Rectangle 18"/>
          <p:cNvSpPr/>
          <p:nvPr/>
        </p:nvSpPr>
        <p:spPr>
          <a:xfrm>
            <a:off x="2788920" y="3081528"/>
            <a:ext cx="520659" cy="384048"/>
          </a:xfrm>
          <a:prstGeom prst="rect">
            <a:avLst/>
          </a:prstGeom>
          <a:solidFill>
            <a:srgbClr val="1B3A57"/>
          </a:solidFill>
          <a:ln w="9525">
            <a:solidFill>
              <a:srgbClr val="FFFFFF"/>
            </a:solidFill>
          </a:ln>
        </p:spPr>
        <p:txBody>
          <a:bodyPr rtlCol="0" anchor="ctr"/>
          <a:lstStyle/>
          <a:p>
            <a:pPr algn="ctr"/>
          </a:p>
        </p:txBody>
      </p:sp>
      <p:sp>
        <p:nvSpPr>
          <p:cNvPr id="20" name="Rectangle 19"/>
          <p:cNvSpPr/>
          <p:nvPr/>
        </p:nvSpPr>
        <p:spPr>
          <a:xfrm>
            <a:off x="3309579" y="3081528"/>
            <a:ext cx="1425805" cy="384048"/>
          </a:xfrm>
          <a:prstGeom prst="rect">
            <a:avLst/>
          </a:prstGeom>
          <a:solidFill>
            <a:srgbClr val="899299"/>
          </a:solidFill>
          <a:ln w="9525">
            <a:solidFill>
              <a:srgbClr val="FFFFFF"/>
            </a:solidFill>
          </a:ln>
        </p:spPr>
        <p:txBody>
          <a:bodyPr rtlCol="0" anchor="ctr"/>
          <a:lstStyle/>
          <a:p>
            <a:pPr algn="ctr"/>
          </a:p>
        </p:txBody>
      </p:sp>
      <p:sp>
        <p:nvSpPr>
          <p:cNvPr id="21" name="Rectangle 20"/>
          <p:cNvSpPr/>
          <p:nvPr/>
        </p:nvSpPr>
        <p:spPr>
          <a:xfrm>
            <a:off x="4735384" y="3081528"/>
            <a:ext cx="4531071" cy="384048"/>
          </a:xfrm>
          <a:prstGeom prst="rect">
            <a:avLst/>
          </a:prstGeom>
          <a:solidFill>
            <a:srgbClr val="D6D9DB"/>
          </a:solidFill>
          <a:ln w="9525">
            <a:solidFill>
              <a:srgbClr val="FFFFFF"/>
            </a:solidFill>
          </a:ln>
        </p:spPr>
        <p:txBody>
          <a:bodyPr rtlCol="0" anchor="ctr"/>
          <a:lstStyle/>
          <a:p>
            <a:pPr algn="ctr"/>
          </a:p>
        </p:txBody>
      </p:sp>
      <p:sp>
        <p:nvSpPr>
          <p:cNvPr id="22" name="Rectangle 21"/>
          <p:cNvSpPr/>
          <p:nvPr/>
        </p:nvSpPr>
        <p:spPr>
          <a:xfrm>
            <a:off x="9266456" y="3081528"/>
            <a:ext cx="197583" cy="384048"/>
          </a:xfrm>
          <a:prstGeom prst="rect">
            <a:avLst/>
          </a:prstGeom>
          <a:solidFill>
            <a:srgbClr val="FFFFFF"/>
          </a:solidFill>
          <a:ln w="9525">
            <a:solidFill>
              <a:srgbClr val="6B7780"/>
            </a:solidFill>
          </a:ln>
        </p:spPr>
        <p:txBody>
          <a:bodyPr rtlCol="0" anchor="ctr"/>
          <a:lstStyle/>
          <a:p>
            <a:pPr algn="ctr"/>
          </a:p>
        </p:txBody>
      </p:sp>
      <p:sp>
        <p:nvSpPr>
          <p:cNvPr id="23" name="TextBox 22"/>
          <p:cNvSpPr txBox="1"/>
          <p:nvPr/>
        </p:nvSpPr>
        <p:spPr>
          <a:xfrm>
            <a:off x="9646920" y="3044952"/>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7.8%</a:t>
            </a:r>
          </a:p>
        </p:txBody>
      </p:sp>
      <p:sp>
        <p:nvSpPr>
          <p:cNvPr id="24" name="TextBox 23"/>
          <p:cNvSpPr txBox="1"/>
          <p:nvPr/>
        </p:nvSpPr>
        <p:spPr>
          <a:xfrm>
            <a:off x="731520" y="3557016"/>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Plain, B = 128</a:t>
            </a:r>
          </a:p>
        </p:txBody>
      </p:sp>
      <p:sp>
        <p:nvSpPr>
          <p:cNvPr id="25" name="Rectangle 24"/>
          <p:cNvSpPr/>
          <p:nvPr/>
        </p:nvSpPr>
        <p:spPr>
          <a:xfrm>
            <a:off x="2788920" y="3593592"/>
            <a:ext cx="408517" cy="384048"/>
          </a:xfrm>
          <a:prstGeom prst="rect">
            <a:avLst/>
          </a:prstGeom>
          <a:solidFill>
            <a:srgbClr val="1B3A57"/>
          </a:solidFill>
          <a:ln w="9525">
            <a:solidFill>
              <a:srgbClr val="FFFFFF"/>
            </a:solidFill>
          </a:ln>
        </p:spPr>
        <p:txBody>
          <a:bodyPr rtlCol="0" anchor="ctr"/>
          <a:lstStyle/>
          <a:p>
            <a:pPr algn="ctr"/>
          </a:p>
        </p:txBody>
      </p:sp>
      <p:sp>
        <p:nvSpPr>
          <p:cNvPr id="26" name="Rectangle 25"/>
          <p:cNvSpPr/>
          <p:nvPr/>
        </p:nvSpPr>
        <p:spPr>
          <a:xfrm>
            <a:off x="3197437" y="3593592"/>
            <a:ext cx="3031171" cy="384048"/>
          </a:xfrm>
          <a:prstGeom prst="rect">
            <a:avLst/>
          </a:prstGeom>
          <a:solidFill>
            <a:srgbClr val="899299"/>
          </a:solidFill>
          <a:ln w="9525">
            <a:solidFill>
              <a:srgbClr val="FFFFFF"/>
            </a:solidFill>
          </a:ln>
        </p:spPr>
        <p:txBody>
          <a:bodyPr rtlCol="0" anchor="ctr"/>
          <a:lstStyle/>
          <a:p>
            <a:pPr algn="ctr"/>
          </a:p>
        </p:txBody>
      </p:sp>
      <p:sp>
        <p:nvSpPr>
          <p:cNvPr id="27" name="Rectangle 26"/>
          <p:cNvSpPr/>
          <p:nvPr/>
        </p:nvSpPr>
        <p:spPr>
          <a:xfrm>
            <a:off x="6228609" y="3593592"/>
            <a:ext cx="3119951" cy="384048"/>
          </a:xfrm>
          <a:prstGeom prst="rect">
            <a:avLst/>
          </a:prstGeom>
          <a:solidFill>
            <a:srgbClr val="D6D9DB"/>
          </a:solidFill>
          <a:ln w="9525">
            <a:solidFill>
              <a:srgbClr val="FFFFFF"/>
            </a:solidFill>
          </a:ln>
        </p:spPr>
        <p:txBody>
          <a:bodyPr rtlCol="0" anchor="ctr"/>
          <a:lstStyle/>
          <a:p>
            <a:pPr algn="ctr"/>
          </a:p>
        </p:txBody>
      </p:sp>
      <p:sp>
        <p:nvSpPr>
          <p:cNvPr id="28" name="Rectangle 27"/>
          <p:cNvSpPr/>
          <p:nvPr/>
        </p:nvSpPr>
        <p:spPr>
          <a:xfrm>
            <a:off x="9348560" y="3593592"/>
            <a:ext cx="115479" cy="384048"/>
          </a:xfrm>
          <a:prstGeom prst="rect">
            <a:avLst/>
          </a:prstGeom>
          <a:solidFill>
            <a:srgbClr val="FFFFFF"/>
          </a:solidFill>
          <a:ln w="9525">
            <a:solidFill>
              <a:srgbClr val="6B7780"/>
            </a:solidFill>
          </a:ln>
        </p:spPr>
        <p:txBody>
          <a:bodyPr rtlCol="0" anchor="ctr"/>
          <a:lstStyle/>
          <a:p>
            <a:pPr algn="ctr"/>
          </a:p>
        </p:txBody>
      </p:sp>
      <p:sp>
        <p:nvSpPr>
          <p:cNvPr id="29" name="TextBox 28"/>
          <p:cNvSpPr txBox="1"/>
          <p:nvPr/>
        </p:nvSpPr>
        <p:spPr>
          <a:xfrm>
            <a:off x="9646920" y="3557016"/>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6.1%</a:t>
            </a:r>
          </a:p>
        </p:txBody>
      </p:sp>
      <p:sp>
        <p:nvSpPr>
          <p:cNvPr id="30" name="TextBox 29"/>
          <p:cNvSpPr txBox="1"/>
          <p:nvPr/>
        </p:nvSpPr>
        <p:spPr>
          <a:xfrm>
            <a:off x="731520" y="4325112"/>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MTP, B = 1</a:t>
            </a:r>
          </a:p>
        </p:txBody>
      </p:sp>
      <p:sp>
        <p:nvSpPr>
          <p:cNvPr id="31" name="Rectangle 30"/>
          <p:cNvSpPr/>
          <p:nvPr/>
        </p:nvSpPr>
        <p:spPr>
          <a:xfrm>
            <a:off x="2788920" y="4361688"/>
            <a:ext cx="291035" cy="384048"/>
          </a:xfrm>
          <a:prstGeom prst="rect">
            <a:avLst/>
          </a:prstGeom>
          <a:solidFill>
            <a:srgbClr val="1B3A57"/>
          </a:solidFill>
          <a:ln w="9525">
            <a:solidFill>
              <a:srgbClr val="FFFFFF"/>
            </a:solidFill>
          </a:ln>
        </p:spPr>
        <p:txBody>
          <a:bodyPr rtlCol="0" anchor="ctr"/>
          <a:lstStyle/>
          <a:p>
            <a:pPr algn="ctr"/>
          </a:p>
        </p:txBody>
      </p:sp>
      <p:sp>
        <p:nvSpPr>
          <p:cNvPr id="32" name="Rectangle 31"/>
          <p:cNvSpPr/>
          <p:nvPr/>
        </p:nvSpPr>
        <p:spPr>
          <a:xfrm>
            <a:off x="3079955" y="4361688"/>
            <a:ext cx="859087" cy="384048"/>
          </a:xfrm>
          <a:prstGeom prst="rect">
            <a:avLst/>
          </a:prstGeom>
          <a:solidFill>
            <a:srgbClr val="1C6402"/>
          </a:solidFill>
          <a:ln w="9525">
            <a:solidFill>
              <a:srgbClr val="FFFFFF"/>
            </a:solidFill>
          </a:ln>
        </p:spPr>
        <p:txBody>
          <a:bodyPr rtlCol="0" anchor="ctr"/>
          <a:lstStyle/>
          <a:p>
            <a:pPr algn="ctr"/>
          </a:p>
        </p:txBody>
      </p:sp>
      <p:sp>
        <p:nvSpPr>
          <p:cNvPr id="33" name="Rectangle 32"/>
          <p:cNvSpPr/>
          <p:nvPr/>
        </p:nvSpPr>
        <p:spPr>
          <a:xfrm>
            <a:off x="3939043" y="4361688"/>
            <a:ext cx="283692" cy="384048"/>
          </a:xfrm>
          <a:prstGeom prst="rect">
            <a:avLst/>
          </a:prstGeom>
          <a:solidFill>
            <a:srgbClr val="899299"/>
          </a:solidFill>
          <a:ln w="9525">
            <a:solidFill>
              <a:srgbClr val="FFFFFF"/>
            </a:solidFill>
          </a:ln>
        </p:spPr>
        <p:txBody>
          <a:bodyPr rtlCol="0" anchor="ctr"/>
          <a:lstStyle/>
          <a:p>
            <a:pPr algn="ctr"/>
          </a:p>
        </p:txBody>
      </p:sp>
      <p:sp>
        <p:nvSpPr>
          <p:cNvPr id="34" name="Rectangle 33"/>
          <p:cNvSpPr/>
          <p:nvPr/>
        </p:nvSpPr>
        <p:spPr>
          <a:xfrm>
            <a:off x="4222735" y="4361688"/>
            <a:ext cx="2753486" cy="384048"/>
          </a:xfrm>
          <a:prstGeom prst="rect">
            <a:avLst/>
          </a:prstGeom>
          <a:solidFill>
            <a:srgbClr val="D6D9DB"/>
          </a:solidFill>
          <a:ln w="9525">
            <a:solidFill>
              <a:srgbClr val="FFFFFF"/>
            </a:solidFill>
          </a:ln>
        </p:spPr>
        <p:txBody>
          <a:bodyPr rtlCol="0" anchor="ctr"/>
          <a:lstStyle/>
          <a:p>
            <a:pPr algn="ctr"/>
          </a:p>
        </p:txBody>
      </p:sp>
      <p:sp>
        <p:nvSpPr>
          <p:cNvPr id="35" name="Rectangle 34"/>
          <p:cNvSpPr/>
          <p:nvPr/>
        </p:nvSpPr>
        <p:spPr>
          <a:xfrm>
            <a:off x="6976222" y="4361688"/>
            <a:ext cx="2487817" cy="384048"/>
          </a:xfrm>
          <a:prstGeom prst="rect">
            <a:avLst/>
          </a:prstGeom>
          <a:solidFill>
            <a:srgbClr val="FFFFFF"/>
          </a:solidFill>
          <a:ln w="9525">
            <a:solidFill>
              <a:srgbClr val="6B7780"/>
            </a:solidFill>
          </a:ln>
        </p:spPr>
        <p:txBody>
          <a:bodyPr rtlCol="0" anchor="ctr"/>
          <a:lstStyle/>
          <a:p>
            <a:pPr algn="ctr"/>
          </a:p>
        </p:txBody>
      </p:sp>
      <p:sp>
        <p:nvSpPr>
          <p:cNvPr id="36" name="TextBox 35"/>
          <p:cNvSpPr txBox="1"/>
          <p:nvPr/>
        </p:nvSpPr>
        <p:spPr>
          <a:xfrm>
            <a:off x="9646920" y="4325112"/>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4.4</a:t>
            </a:r>
            <a:r>
              <a:rPr sz="2000" b="1" i="0">
                <a:solidFill>
                  <a:srgbClr val="586B73"/>
                </a:solidFill>
                <a:latin typeface="Arial"/>
                <a:ea typeface="Arial"/>
                <a:cs typeface="Arial"/>
              </a:rPr>
              <a:t> + </a:t>
            </a:r>
            <a:r>
              <a:rPr sz="2000" b="1" i="0">
                <a:solidFill>
                  <a:srgbClr val="1C6402"/>
                </a:solidFill>
                <a:latin typeface="Arial"/>
                <a:ea typeface="Arial"/>
                <a:cs typeface="Arial"/>
              </a:rPr>
              <a:t>12.9</a:t>
            </a:r>
          </a:p>
        </p:txBody>
      </p:sp>
      <p:sp>
        <p:nvSpPr>
          <p:cNvPr id="37" name="TextBox 36"/>
          <p:cNvSpPr txBox="1"/>
          <p:nvPr/>
        </p:nvSpPr>
        <p:spPr>
          <a:xfrm>
            <a:off x="731520" y="4837176"/>
            <a:ext cx="2011680" cy="457200"/>
          </a:xfrm>
          <a:prstGeom prst="rect">
            <a:avLst/>
          </a:prstGeom>
          <a:noFill/>
        </p:spPr>
        <p:txBody>
          <a:bodyPr wrap="square" lIns="0" tIns="0" rIns="0" bIns="0" anchor="ctr"/>
          <a:lstStyle/>
          <a:p>
            <a:pPr algn="l"/>
            <a:r>
              <a:rPr sz="1800" b="0" i="0">
                <a:solidFill>
                  <a:srgbClr val="1B3A57"/>
                </a:solidFill>
                <a:latin typeface="Arial"/>
                <a:ea typeface="Arial"/>
                <a:cs typeface="Arial"/>
              </a:rPr>
              <a:t>DFlash, B = 1</a:t>
            </a:r>
          </a:p>
        </p:txBody>
      </p:sp>
      <p:sp>
        <p:nvSpPr>
          <p:cNvPr id="38" name="Rectangle 37"/>
          <p:cNvSpPr/>
          <p:nvPr/>
        </p:nvSpPr>
        <p:spPr>
          <a:xfrm>
            <a:off x="2788920" y="4873752"/>
            <a:ext cx="322408" cy="384048"/>
          </a:xfrm>
          <a:prstGeom prst="rect">
            <a:avLst/>
          </a:prstGeom>
          <a:solidFill>
            <a:srgbClr val="1B3A57"/>
          </a:solidFill>
          <a:ln w="9525">
            <a:solidFill>
              <a:srgbClr val="FFFFFF"/>
            </a:solidFill>
          </a:ln>
        </p:spPr>
        <p:txBody>
          <a:bodyPr rtlCol="0" anchor="ctr"/>
          <a:lstStyle/>
          <a:p>
            <a:pPr algn="ctr"/>
          </a:p>
        </p:txBody>
      </p:sp>
      <p:sp>
        <p:nvSpPr>
          <p:cNvPr id="39" name="Rectangle 38"/>
          <p:cNvSpPr/>
          <p:nvPr/>
        </p:nvSpPr>
        <p:spPr>
          <a:xfrm>
            <a:off x="3111328" y="4873752"/>
            <a:ext cx="312395" cy="384048"/>
          </a:xfrm>
          <a:prstGeom prst="rect">
            <a:avLst/>
          </a:prstGeom>
          <a:solidFill>
            <a:srgbClr val="CC79A7"/>
          </a:solidFill>
          <a:ln w="9525">
            <a:solidFill>
              <a:srgbClr val="FFFFFF"/>
            </a:solidFill>
          </a:ln>
        </p:spPr>
        <p:txBody>
          <a:bodyPr rtlCol="0" anchor="ctr"/>
          <a:lstStyle/>
          <a:p>
            <a:pPr algn="ctr"/>
          </a:p>
        </p:txBody>
      </p:sp>
      <p:sp>
        <p:nvSpPr>
          <p:cNvPr id="40" name="Rectangle 39"/>
          <p:cNvSpPr/>
          <p:nvPr/>
        </p:nvSpPr>
        <p:spPr>
          <a:xfrm>
            <a:off x="3423723" y="4873752"/>
            <a:ext cx="725585" cy="384048"/>
          </a:xfrm>
          <a:prstGeom prst="rect">
            <a:avLst/>
          </a:prstGeom>
          <a:solidFill>
            <a:srgbClr val="899299"/>
          </a:solidFill>
          <a:ln w="9525">
            <a:solidFill>
              <a:srgbClr val="FFFFFF"/>
            </a:solidFill>
          </a:ln>
        </p:spPr>
        <p:txBody>
          <a:bodyPr rtlCol="0" anchor="ctr"/>
          <a:lstStyle/>
          <a:p>
            <a:pPr algn="ctr"/>
          </a:p>
        </p:txBody>
      </p:sp>
      <p:sp>
        <p:nvSpPr>
          <p:cNvPr id="41" name="Rectangle 40"/>
          <p:cNvSpPr/>
          <p:nvPr/>
        </p:nvSpPr>
        <p:spPr>
          <a:xfrm>
            <a:off x="4149309" y="4873752"/>
            <a:ext cx="5089779" cy="384048"/>
          </a:xfrm>
          <a:prstGeom prst="rect">
            <a:avLst/>
          </a:prstGeom>
          <a:solidFill>
            <a:srgbClr val="D6D9DB"/>
          </a:solidFill>
          <a:ln w="9525">
            <a:solidFill>
              <a:srgbClr val="FFFFFF"/>
            </a:solidFill>
          </a:ln>
        </p:spPr>
        <p:txBody>
          <a:bodyPr rtlCol="0" anchor="ctr"/>
          <a:lstStyle/>
          <a:p>
            <a:pPr algn="ctr"/>
          </a:p>
        </p:txBody>
      </p:sp>
      <p:sp>
        <p:nvSpPr>
          <p:cNvPr id="42" name="Rectangle 41"/>
          <p:cNvSpPr/>
          <p:nvPr/>
        </p:nvSpPr>
        <p:spPr>
          <a:xfrm>
            <a:off x="9239088" y="4873752"/>
            <a:ext cx="224951" cy="384048"/>
          </a:xfrm>
          <a:prstGeom prst="rect">
            <a:avLst/>
          </a:prstGeom>
          <a:solidFill>
            <a:srgbClr val="FFFFFF"/>
          </a:solidFill>
          <a:ln w="9525">
            <a:solidFill>
              <a:srgbClr val="6B7780"/>
            </a:solidFill>
          </a:ln>
        </p:spPr>
        <p:txBody>
          <a:bodyPr rtlCol="0" anchor="ctr"/>
          <a:lstStyle/>
          <a:p>
            <a:pPr algn="ctr"/>
          </a:p>
        </p:txBody>
      </p:sp>
      <p:sp>
        <p:nvSpPr>
          <p:cNvPr id="43" name="TextBox 42"/>
          <p:cNvSpPr txBox="1"/>
          <p:nvPr/>
        </p:nvSpPr>
        <p:spPr>
          <a:xfrm>
            <a:off x="9646920" y="4837176"/>
            <a:ext cx="1828800" cy="457200"/>
          </a:xfrm>
          <a:prstGeom prst="rect">
            <a:avLst/>
          </a:prstGeom>
          <a:noFill/>
        </p:spPr>
        <p:txBody>
          <a:bodyPr wrap="square" lIns="0" tIns="0" rIns="0" bIns="0" anchor="ctr"/>
          <a:lstStyle/>
          <a:p>
            <a:pPr algn="l"/>
            <a:r>
              <a:rPr sz="2000" b="1" i="0">
                <a:solidFill>
                  <a:srgbClr val="1B3A57"/>
                </a:solidFill>
                <a:latin typeface="Arial"/>
                <a:ea typeface="Arial"/>
                <a:cs typeface="Arial"/>
              </a:rPr>
              <a:t>4.8</a:t>
            </a:r>
            <a:r>
              <a:rPr sz="2000" b="1" i="0">
                <a:solidFill>
                  <a:srgbClr val="586B73"/>
                </a:solidFill>
                <a:latin typeface="Arial"/>
                <a:ea typeface="Arial"/>
                <a:cs typeface="Arial"/>
              </a:rPr>
              <a:t> + </a:t>
            </a:r>
            <a:r>
              <a:rPr sz="2000" b="1" i="0">
                <a:solidFill>
                  <a:srgbClr val="CC79A7"/>
                </a:solidFill>
                <a:latin typeface="Arial"/>
                <a:ea typeface="Arial"/>
                <a:cs typeface="Arial"/>
              </a:rPr>
              <a:t>4.7</a:t>
            </a:r>
          </a:p>
        </p:txBody>
      </p:sp>
      <p:sp>
        <p:nvSpPr>
          <p:cNvPr id="44" name="TextBox 43"/>
          <p:cNvSpPr txBox="1"/>
          <p:nvPr/>
        </p:nvSpPr>
        <p:spPr>
          <a:xfrm>
            <a:off x="9646920" y="1444752"/>
            <a:ext cx="1828800" cy="566928"/>
          </a:xfrm>
          <a:prstGeom prst="rect">
            <a:avLst/>
          </a:prstGeom>
          <a:noFill/>
        </p:spPr>
        <p:txBody>
          <a:bodyPr wrap="square" lIns="0" tIns="0" rIns="0" bIns="0" anchor="t"/>
          <a:lstStyle/>
          <a:p>
            <a:pPr algn="l"/>
            <a:r>
              <a:rPr sz="1600" b="1" i="0">
                <a:solidFill>
                  <a:srgbClr val="586B73"/>
                </a:solidFill>
                <a:latin typeface="Arial"/>
                <a:ea typeface="Arial"/>
                <a:cs typeface="Arial"/>
              </a:rPr>
              <a:t>head share</a:t>
            </a:r>
          </a:p>
          <a:p>
            <a:pPr algn="l"/>
            <a:r>
              <a:rPr sz="1600" b="1" i="0">
                <a:solidFill>
                  <a:srgbClr val="586B73"/>
                </a:solidFill>
                <a:latin typeface="Arial"/>
                <a:ea typeface="Arial"/>
                <a:cs typeface="Arial"/>
              </a:rPr>
              <a:t>target + drafter</a:t>
            </a:r>
          </a:p>
        </p:txBody>
      </p:sp>
      <p:sp>
        <p:nvSpPr>
          <p:cNvPr id="45" name="TextBox 44"/>
          <p:cNvSpPr txBox="1"/>
          <p:nvPr/>
        </p:nvSpPr>
        <p:spPr>
          <a:xfrm>
            <a:off x="2788920" y="1691640"/>
            <a:ext cx="1828800" cy="329184"/>
          </a:xfrm>
          <a:prstGeom prst="rect">
            <a:avLst/>
          </a:prstGeom>
          <a:noFill/>
        </p:spPr>
        <p:txBody>
          <a:bodyPr wrap="square" lIns="0" tIns="0" rIns="0" bIns="0" anchor="t"/>
          <a:lstStyle/>
          <a:p>
            <a:pPr algn="l"/>
            <a:r>
              <a:rPr sz="1800" b="1" i="0">
                <a:solidFill>
                  <a:srgbClr val="1B3A57"/>
                </a:solidFill>
                <a:latin typeface="Arial"/>
                <a:ea typeface="Arial"/>
                <a:cs typeface="Arial"/>
              </a:rPr>
              <a:t>target head</a:t>
            </a:r>
          </a:p>
        </p:txBody>
      </p:sp>
      <p:sp>
        <p:nvSpPr>
          <p:cNvPr id="46" name="TextBox 45"/>
          <p:cNvSpPr txBox="1"/>
          <p:nvPr/>
        </p:nvSpPr>
        <p:spPr>
          <a:xfrm>
            <a:off x="4791456" y="2075688"/>
            <a:ext cx="3657600" cy="329184"/>
          </a:xfrm>
          <a:prstGeom prst="rect">
            <a:avLst/>
          </a:prstGeom>
          <a:noFill/>
        </p:spPr>
        <p:txBody>
          <a:bodyPr wrap="square" lIns="0" tIns="0" rIns="0" bIns="0" anchor="t"/>
          <a:lstStyle/>
          <a:p>
            <a:pPr algn="l"/>
            <a:r>
              <a:rPr sz="1800" b="0" i="0">
                <a:solidFill>
                  <a:srgbClr val="1B3A57"/>
                </a:solidFill>
                <a:latin typeface="Arial"/>
                <a:ea typeface="Arial"/>
                <a:cs typeface="Arial"/>
              </a:rPr>
              <a:t>everything else</a:t>
            </a:r>
          </a:p>
        </p:txBody>
      </p:sp>
      <p:sp>
        <p:nvSpPr>
          <p:cNvPr id="47" name="TextBox 46"/>
          <p:cNvSpPr txBox="1"/>
          <p:nvPr/>
        </p:nvSpPr>
        <p:spPr>
          <a:xfrm>
            <a:off x="3197437" y="3593592"/>
            <a:ext cx="3031171" cy="384048"/>
          </a:xfrm>
          <a:prstGeom prst="rect">
            <a:avLst/>
          </a:prstGeom>
          <a:noFill/>
        </p:spPr>
        <p:txBody>
          <a:bodyPr wrap="square" lIns="0" tIns="0" rIns="0" bIns="0" anchor="ctr"/>
          <a:lstStyle/>
          <a:p>
            <a:pPr algn="ctr"/>
            <a:r>
              <a:rPr sz="1600" b="1" i="0">
                <a:solidFill>
                  <a:srgbClr val="FFFFFF"/>
                </a:solidFill>
                <a:latin typeface="Arial"/>
                <a:ea typeface="Arial"/>
                <a:cs typeface="Arial"/>
              </a:rPr>
              <a:t>GDN kernels 45%</a:t>
            </a:r>
          </a:p>
        </p:txBody>
      </p:sp>
      <p:sp>
        <p:nvSpPr>
          <p:cNvPr id="48" name="TextBox 47"/>
          <p:cNvSpPr txBox="1"/>
          <p:nvPr/>
        </p:nvSpPr>
        <p:spPr>
          <a:xfrm>
            <a:off x="6976222" y="4361688"/>
            <a:ext cx="2487817" cy="384048"/>
          </a:xfrm>
          <a:prstGeom prst="rect">
            <a:avLst/>
          </a:prstGeom>
          <a:noFill/>
        </p:spPr>
        <p:txBody>
          <a:bodyPr wrap="square" lIns="0" tIns="0" rIns="0" bIns="0" anchor="ctr"/>
          <a:lstStyle/>
          <a:p>
            <a:pPr algn="ctr"/>
            <a:r>
              <a:rPr sz="1600" b="0" i="0">
                <a:solidFill>
                  <a:srgbClr val="586B73"/>
                </a:solidFill>
                <a:latin typeface="Arial"/>
                <a:ea typeface="Arial"/>
                <a:cs typeface="Arial"/>
              </a:rPr>
              <a:t>GPU idle</a:t>
            </a:r>
          </a:p>
        </p:txBody>
      </p:sp>
      <p:sp>
        <p:nvSpPr>
          <p:cNvPr id="49" name="TextBox 48"/>
          <p:cNvSpPr txBox="1"/>
          <p:nvPr/>
        </p:nvSpPr>
        <p:spPr>
          <a:xfrm>
            <a:off x="3079955" y="4014216"/>
            <a:ext cx="2743200" cy="310896"/>
          </a:xfrm>
          <a:prstGeom prst="rect">
            <a:avLst/>
          </a:prstGeom>
          <a:noFill/>
        </p:spPr>
        <p:txBody>
          <a:bodyPr wrap="square" lIns="0" tIns="0" rIns="0" bIns="0" anchor="t"/>
          <a:lstStyle/>
          <a:p>
            <a:pPr algn="l"/>
            <a:r>
              <a:rPr sz="1800" b="1" i="0">
                <a:solidFill>
                  <a:srgbClr val="1C6402"/>
                </a:solidFill>
                <a:latin typeface="Arial"/>
                <a:ea typeface="Arial"/>
                <a:cs typeface="Arial"/>
              </a:rPr>
              <a:t>drafter’s heads</a:t>
            </a:r>
          </a:p>
        </p:txBody>
      </p:sp>
      <p:sp>
        <p:nvSpPr>
          <p:cNvPr id="50" name="TextBox 49"/>
          <p:cNvSpPr txBox="1"/>
          <p:nvPr/>
        </p:nvSpPr>
        <p:spPr>
          <a:xfrm>
            <a:off x="731520" y="5349240"/>
            <a:ext cx="10744200" cy="329184"/>
          </a:xfrm>
          <a:prstGeom prst="rect">
            <a:avLst/>
          </a:prstGeom>
          <a:noFill/>
        </p:spPr>
        <p:txBody>
          <a:bodyPr wrap="square" lIns="0" tIns="0" rIns="0" bIns="0" anchor="t"/>
          <a:lstStyle/>
          <a:p>
            <a:pPr algn="l"/>
            <a:r>
              <a:rPr sz="1600" b="0" i="0">
                <a:solidFill>
                  <a:srgbClr val="586B73"/>
                </a:solidFill>
                <a:latin typeface="Arial"/>
                <a:ea typeface="Arial"/>
                <a:cs typeface="Arial"/>
              </a:rPr>
              <a:t>GDN: Gated DeltaNet, the linear attention in three of the model’s four layers, with a recurrent state per request</a:t>
            </a:r>
          </a:p>
        </p:txBody>
      </p:sp>
      <p:sp>
        <p:nvSpPr>
          <p:cNvPr id="51" name="TextBox 50"/>
          <p:cNvSpPr txBox="1"/>
          <p:nvPr/>
        </p:nvSpPr>
        <p:spPr>
          <a:xfrm>
            <a:off x="731520" y="5760720"/>
            <a:ext cx="10744200" cy="411480"/>
          </a:xfrm>
          <a:prstGeom prst="rect">
            <a:avLst/>
          </a:prstGeom>
          <a:noFill/>
        </p:spPr>
        <p:txBody>
          <a:bodyPr wrap="square" lIns="0" tIns="0" rIns="0" bIns="0" anchor="t"/>
          <a:lstStyle/>
          <a:p>
            <a:pPr algn="l"/>
            <a:r>
              <a:rPr sz="2000" b="1" i="0">
                <a:solidFill>
                  <a:srgbClr val="1B3A57"/>
                </a:solidFill>
                <a:latin typeface="Arial"/>
                <a:ea typeface="Arial"/>
                <a:cs typeface="Arial"/>
              </a:rPr>
              <a:t>A free head would make a batch-1 plain step only about 11% faster.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“Exact” must mean the engine’s token, not the exact winner</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§1, §§2.1–2.2</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06</a:t>
            </a:r>
          </a:p>
        </p:txBody>
      </p:sp>
      <p:sp>
        <p:nvSpPr>
          <p:cNvPr id="6" name="TextBox 5"/>
          <p:cNvSpPr txBox="1"/>
          <p:nvPr/>
        </p:nvSpPr>
        <p:spPr>
          <a:xfrm>
            <a:off x="731520" y="1645920"/>
            <a:ext cx="6217920" cy="329184"/>
          </a:xfrm>
          <a:prstGeom prst="rect">
            <a:avLst/>
          </a:prstGeom>
          <a:noFill/>
        </p:spPr>
        <p:txBody>
          <a:bodyPr wrap="square" lIns="0" tIns="0" rIns="0" bIns="0" anchor="t"/>
          <a:lstStyle/>
          <a:p>
            <a:pPr algn="l"/>
            <a:r>
              <a:rPr sz="1600" b="0" i="0">
                <a:solidFill>
                  <a:srgbClr val="586B73"/>
                </a:solidFill>
                <a:latin typeface="Arial"/>
                <a:ea typeface="Arial"/>
                <a:cs typeface="Arial"/>
              </a:rPr>
              <a:t>A made-up example</a:t>
            </a:r>
          </a:p>
        </p:txBody>
      </p:sp>
      <p:sp>
        <p:nvSpPr>
          <p:cNvPr id="7" name="Rectangle 6"/>
          <p:cNvSpPr/>
          <p:nvPr/>
        </p:nvSpPr>
        <p:spPr>
          <a:xfrm>
            <a:off x="2621279" y="2103120"/>
            <a:ext cx="2438400" cy="1920240"/>
          </a:xfrm>
          <a:prstGeom prst="rect">
            <a:avLst/>
          </a:prstGeom>
          <a:solidFill>
            <a:srgbClr val="F1F3F5"/>
          </a:solidFill>
          <a:ln>
            <a:noFill/>
          </a:ln>
        </p:spPr>
        <p:txBody>
          <a:bodyPr rtlCol="0" anchor="ctr"/>
          <a:lstStyle/>
          <a:p>
            <a:pPr algn="ctr"/>
          </a:p>
        </p:txBody>
      </p:sp>
      <p:sp>
        <p:nvSpPr>
          <p:cNvPr id="8" name="TextBox 7"/>
          <p:cNvSpPr txBox="1"/>
          <p:nvPr/>
        </p:nvSpPr>
        <p:spPr>
          <a:xfrm>
            <a:off x="2621279" y="2148840"/>
            <a:ext cx="2438400" cy="310896"/>
          </a:xfrm>
          <a:prstGeom prst="rect">
            <a:avLst/>
          </a:prstGeom>
          <a:noFill/>
        </p:spPr>
        <p:txBody>
          <a:bodyPr wrap="square" lIns="0" tIns="0" rIns="0" bIns="0" anchor="t"/>
          <a:lstStyle/>
          <a:p>
            <a:pPr algn="ctr"/>
            <a:r>
              <a:rPr sz="1800" b="0" i="0">
                <a:solidFill>
                  <a:srgbClr val="586B73"/>
                </a:solidFill>
                <a:latin typeface="Arial"/>
                <a:ea typeface="Arial"/>
                <a:cs typeface="Arial"/>
              </a:rPr>
              <a:t>rounds to 20.0</a:t>
            </a:r>
          </a:p>
        </p:txBody>
      </p:sp>
      <p:cxnSp>
        <p:nvCxnSpPr>
          <p:cNvPr id="9" name="Connector 8"/>
          <p:cNvCxnSpPr/>
          <p:nvPr/>
        </p:nvCxnSpPr>
        <p:spPr>
          <a:xfrm>
            <a:off x="914400" y="3886200"/>
            <a:ext cx="5852160" cy="0"/>
          </a:xfrm>
          <a:prstGeom prst="line">
            <a:avLst/>
          </a:prstGeom>
          <a:ln w="19050">
            <a:solidFill>
              <a:srgbClr val="1B3A57"/>
            </a:solidFill>
          </a:ln>
        </p:spPr>
      </p:cxnSp>
      <p:cxnSp>
        <p:nvCxnSpPr>
          <p:cNvPr id="10" name="Connector 9"/>
          <p:cNvCxnSpPr/>
          <p:nvPr/>
        </p:nvCxnSpPr>
        <p:spPr>
          <a:xfrm>
            <a:off x="1402079" y="3776472"/>
            <a:ext cx="0" cy="219456"/>
          </a:xfrm>
          <a:prstGeom prst="line">
            <a:avLst/>
          </a:prstGeom>
          <a:ln w="19050">
            <a:solidFill>
              <a:srgbClr val="1B3A57"/>
            </a:solidFill>
          </a:ln>
        </p:spPr>
      </p:cxnSp>
      <p:sp>
        <p:nvSpPr>
          <p:cNvPr id="11" name="TextBox 10"/>
          <p:cNvSpPr txBox="1"/>
          <p:nvPr/>
        </p:nvSpPr>
        <p:spPr>
          <a:xfrm>
            <a:off x="761999" y="4050791"/>
            <a:ext cx="1280160" cy="310896"/>
          </a:xfrm>
          <a:prstGeom prst="rect">
            <a:avLst/>
          </a:prstGeom>
          <a:noFill/>
        </p:spPr>
        <p:txBody>
          <a:bodyPr wrap="square" lIns="0" tIns="0" rIns="0" bIns="0" anchor="t"/>
          <a:lstStyle/>
          <a:p>
            <a:pPr algn="ctr"/>
            <a:r>
              <a:rPr sz="1800" b="0" i="0">
                <a:solidFill>
                  <a:srgbClr val="1B3A57"/>
                </a:solidFill>
                <a:latin typeface="Arial"/>
                <a:ea typeface="Arial"/>
                <a:cs typeface="Arial"/>
              </a:rPr>
              <a:t>19.875</a:t>
            </a:r>
          </a:p>
        </p:txBody>
      </p:sp>
      <p:cxnSp>
        <p:nvCxnSpPr>
          <p:cNvPr id="12" name="Connector 11"/>
          <p:cNvCxnSpPr/>
          <p:nvPr/>
        </p:nvCxnSpPr>
        <p:spPr>
          <a:xfrm>
            <a:off x="3840480" y="3776472"/>
            <a:ext cx="0" cy="219456"/>
          </a:xfrm>
          <a:prstGeom prst="line">
            <a:avLst/>
          </a:prstGeom>
          <a:ln w="19050">
            <a:solidFill>
              <a:srgbClr val="1B3A57"/>
            </a:solidFill>
          </a:ln>
        </p:spPr>
      </p:cxnSp>
      <p:sp>
        <p:nvSpPr>
          <p:cNvPr id="13" name="TextBox 12"/>
          <p:cNvSpPr txBox="1"/>
          <p:nvPr/>
        </p:nvSpPr>
        <p:spPr>
          <a:xfrm>
            <a:off x="3200400" y="4050791"/>
            <a:ext cx="1280160" cy="310896"/>
          </a:xfrm>
          <a:prstGeom prst="rect">
            <a:avLst/>
          </a:prstGeom>
          <a:noFill/>
        </p:spPr>
        <p:txBody>
          <a:bodyPr wrap="square" lIns="0" tIns="0" rIns="0" bIns="0" anchor="t"/>
          <a:lstStyle/>
          <a:p>
            <a:pPr algn="ctr"/>
            <a:r>
              <a:rPr sz="1800" b="0" i="0">
                <a:solidFill>
                  <a:srgbClr val="1B3A57"/>
                </a:solidFill>
                <a:latin typeface="Arial"/>
                <a:ea typeface="Arial"/>
                <a:cs typeface="Arial"/>
              </a:rPr>
              <a:t>20.0</a:t>
            </a:r>
          </a:p>
        </p:txBody>
      </p:sp>
      <p:cxnSp>
        <p:nvCxnSpPr>
          <p:cNvPr id="14" name="Connector 13"/>
          <p:cNvCxnSpPr/>
          <p:nvPr/>
        </p:nvCxnSpPr>
        <p:spPr>
          <a:xfrm>
            <a:off x="6278880" y="3776472"/>
            <a:ext cx="0" cy="219456"/>
          </a:xfrm>
          <a:prstGeom prst="line">
            <a:avLst/>
          </a:prstGeom>
          <a:ln w="19050">
            <a:solidFill>
              <a:srgbClr val="1B3A57"/>
            </a:solidFill>
          </a:ln>
        </p:spPr>
      </p:cxnSp>
      <p:sp>
        <p:nvSpPr>
          <p:cNvPr id="15" name="TextBox 14"/>
          <p:cNvSpPr txBox="1"/>
          <p:nvPr/>
        </p:nvSpPr>
        <p:spPr>
          <a:xfrm>
            <a:off x="5638800" y="4050791"/>
            <a:ext cx="1280160" cy="310896"/>
          </a:xfrm>
          <a:prstGeom prst="rect">
            <a:avLst/>
          </a:prstGeom>
          <a:noFill/>
        </p:spPr>
        <p:txBody>
          <a:bodyPr wrap="square" lIns="0" tIns="0" rIns="0" bIns="0" anchor="t"/>
          <a:lstStyle/>
          <a:p>
            <a:pPr algn="ctr"/>
            <a:r>
              <a:rPr sz="1800" b="0" i="0">
                <a:solidFill>
                  <a:srgbClr val="1B3A57"/>
                </a:solidFill>
                <a:latin typeface="Arial"/>
                <a:ea typeface="Arial"/>
                <a:cs typeface="Arial"/>
              </a:rPr>
              <a:t>20.125</a:t>
            </a:r>
          </a:p>
        </p:txBody>
      </p:sp>
      <p:sp>
        <p:nvSpPr>
          <p:cNvPr id="16" name="Oval 15"/>
          <p:cNvSpPr/>
          <p:nvPr/>
        </p:nvSpPr>
        <p:spPr>
          <a:xfrm>
            <a:off x="4139183" y="2834640"/>
            <a:ext cx="182880" cy="182880"/>
          </a:xfrm>
          <a:prstGeom prst="ellipse">
            <a:avLst/>
          </a:prstGeom>
          <a:solidFill>
            <a:srgbClr val="1B3A57"/>
          </a:solidFill>
          <a:ln w="12700">
            <a:solidFill>
              <a:srgbClr val="1B3A57"/>
            </a:solidFill>
          </a:ln>
        </p:spPr>
        <p:txBody>
          <a:bodyPr rtlCol="0" anchor="ctr"/>
          <a:lstStyle/>
          <a:p>
            <a:pPr algn="ctr"/>
          </a:p>
        </p:txBody>
      </p:sp>
      <p:sp>
        <p:nvSpPr>
          <p:cNvPr id="17" name="TextBox 16"/>
          <p:cNvSpPr txBox="1"/>
          <p:nvPr/>
        </p:nvSpPr>
        <p:spPr>
          <a:xfrm>
            <a:off x="1990343" y="2743200"/>
            <a:ext cx="2103120" cy="365760"/>
          </a:xfrm>
          <a:prstGeom prst="rect">
            <a:avLst/>
          </a:prstGeom>
          <a:noFill/>
        </p:spPr>
        <p:txBody>
          <a:bodyPr wrap="square" lIns="0" tIns="0" rIns="0" bIns="0" anchor="t"/>
          <a:lstStyle/>
          <a:p>
            <a:pPr algn="r"/>
            <a:r>
              <a:rPr sz="1800" b="1" i="0">
                <a:solidFill>
                  <a:srgbClr val="1B3A57"/>
                </a:solidFill>
                <a:latin typeface="Arial"/>
                <a:ea typeface="Arial"/>
                <a:cs typeface="Arial"/>
              </a:rPr>
              <a:t>entry 17: 20.02</a:t>
            </a:r>
          </a:p>
        </p:txBody>
      </p:sp>
      <p:cxnSp>
        <p:nvCxnSpPr>
          <p:cNvPr id="18" name="Connector 17"/>
          <p:cNvCxnSpPr/>
          <p:nvPr/>
        </p:nvCxnSpPr>
        <p:spPr>
          <a:xfrm flipH="1">
            <a:off x="3840480" y="3035808"/>
            <a:ext cx="390143" cy="758952"/>
          </a:xfrm>
          <a:prstGeom prst="line">
            <a:avLst/>
          </a:prstGeom>
          <a:ln w="15875">
            <a:solidFill>
              <a:srgbClr val="6B7780"/>
            </a:solidFill>
            <a:tailEnd type="triangle" w="med" len="med"/>
          </a:ln>
        </p:spPr>
      </p:cxnSp>
      <p:sp>
        <p:nvSpPr>
          <p:cNvPr id="19" name="Oval 18"/>
          <p:cNvSpPr/>
          <p:nvPr/>
        </p:nvSpPr>
        <p:spPr>
          <a:xfrm>
            <a:off x="4724400" y="2834640"/>
            <a:ext cx="182880" cy="182880"/>
          </a:xfrm>
          <a:prstGeom prst="ellipse">
            <a:avLst/>
          </a:prstGeom>
          <a:solidFill>
            <a:srgbClr val="1B3A57"/>
          </a:solidFill>
          <a:ln w="12700">
            <a:solidFill>
              <a:srgbClr val="1B3A57"/>
            </a:solidFill>
          </a:ln>
        </p:spPr>
        <p:txBody>
          <a:bodyPr rtlCol="0" anchor="ctr"/>
          <a:lstStyle/>
          <a:p>
            <a:pPr algn="ctr"/>
          </a:p>
        </p:txBody>
      </p:sp>
      <p:sp>
        <p:nvSpPr>
          <p:cNvPr id="20" name="TextBox 19"/>
          <p:cNvSpPr txBox="1"/>
          <p:nvPr/>
        </p:nvSpPr>
        <p:spPr>
          <a:xfrm>
            <a:off x="4971288" y="2743200"/>
            <a:ext cx="2103120" cy="365760"/>
          </a:xfrm>
          <a:prstGeom prst="rect">
            <a:avLst/>
          </a:prstGeom>
          <a:noFill/>
        </p:spPr>
        <p:txBody>
          <a:bodyPr wrap="square" lIns="0" tIns="0" rIns="0" bIns="0" anchor="t"/>
          <a:lstStyle/>
          <a:p>
            <a:pPr algn="l"/>
            <a:r>
              <a:rPr sz="1800" b="1" i="0">
                <a:solidFill>
                  <a:srgbClr val="1B3A57"/>
                </a:solidFill>
                <a:latin typeface="Arial"/>
                <a:ea typeface="Arial"/>
                <a:cs typeface="Arial"/>
              </a:rPr>
              <a:t>entry 42: 20.05</a:t>
            </a:r>
          </a:p>
        </p:txBody>
      </p:sp>
      <p:cxnSp>
        <p:nvCxnSpPr>
          <p:cNvPr id="21" name="Connector 20"/>
          <p:cNvCxnSpPr/>
          <p:nvPr/>
        </p:nvCxnSpPr>
        <p:spPr>
          <a:xfrm flipH="1">
            <a:off x="3840480" y="3035808"/>
            <a:ext cx="975360" cy="758952"/>
          </a:xfrm>
          <a:prstGeom prst="line">
            <a:avLst/>
          </a:prstGeom>
          <a:ln w="15875">
            <a:solidFill>
              <a:srgbClr val="6B7780"/>
            </a:solidFill>
            <a:tailEnd type="triangle" w="med" len="med"/>
          </a:ln>
        </p:spPr>
      </p:cxnSp>
      <p:sp>
        <p:nvSpPr>
          <p:cNvPr id="22" name="TextBox 21"/>
          <p:cNvSpPr txBox="1"/>
          <p:nvPr/>
        </p:nvSpPr>
        <p:spPr>
          <a:xfrm>
            <a:off x="731520" y="4663440"/>
            <a:ext cx="6217920" cy="1097280"/>
          </a:xfrm>
          <a:prstGeom prst="rect">
            <a:avLst/>
          </a:prstGeom>
          <a:noFill/>
        </p:spPr>
        <p:txBody>
          <a:bodyPr wrap="square" lIns="0" tIns="0" rIns="0" bIns="0" anchor="t"/>
          <a:lstStyle/>
          <a:p>
            <a:pPr algn="l"/>
            <a:r>
              <a:rPr sz="2000" b="1" i="0">
                <a:solidFill>
                  <a:srgbClr val="1B3A57"/>
                </a:solidFill>
                <a:latin typeface="Arial"/>
                <a:ea typeface="Arial"/>
                <a:cs typeface="Arial"/>
              </a:rPr>
              <a:t>Exact winner: 42. </a:t>
            </a:r>
            <a:r>
              <a:rPr sz="2000" b="0" i="0">
                <a:solidFill>
                  <a:srgbClr val="1B3A57"/>
                </a:solidFill>
                <a:latin typeface="Arial"/>
                <a:ea typeface="Arial"/>
                <a:cs typeface="Arial"/>
              </a:rPr>
              <a:t>The engine returns 17: both round to 20.0, and argmax takes the first index.</a:t>
            </a:r>
          </a:p>
        </p:txBody>
      </p:sp>
      <p:cxnSp>
        <p:nvCxnSpPr>
          <p:cNvPr id="23" name="Connector 22"/>
          <p:cNvCxnSpPr/>
          <p:nvPr/>
        </p:nvCxnSpPr>
        <p:spPr>
          <a:xfrm>
            <a:off x="7360920" y="1783080"/>
            <a:ext cx="0" cy="4434840"/>
          </a:xfrm>
          <a:prstGeom prst="line">
            <a:avLst/>
          </a:prstGeom>
          <a:ln w="12700">
            <a:solidFill>
              <a:srgbClr val="D2DCDF"/>
            </a:solidFill>
          </a:ln>
        </p:spPr>
      </p:cxnSp>
      <p:sp>
        <p:nvSpPr>
          <p:cNvPr id="24" name="TextBox 23"/>
          <p:cNvSpPr txBox="1"/>
          <p:nvPr/>
        </p:nvSpPr>
        <p:spPr>
          <a:xfrm>
            <a:off x="7635240" y="1828800"/>
            <a:ext cx="3840480" cy="822960"/>
          </a:xfrm>
          <a:prstGeom prst="rect">
            <a:avLst/>
          </a:prstGeom>
          <a:noFill/>
        </p:spPr>
        <p:txBody>
          <a:bodyPr wrap="square" lIns="0" tIns="0" rIns="0" bIns="0" anchor="t"/>
          <a:lstStyle/>
          <a:p>
            <a:pPr algn="l"/>
            <a:r>
              <a:rPr sz="5400" b="1" i="0">
                <a:solidFill>
                  <a:srgbClr val="1B3A57"/>
                </a:solidFill>
                <a:latin typeface="Arial"/>
                <a:ea typeface="Arial"/>
                <a:cs typeface="Arial"/>
              </a:rPr>
              <a:t>0.5%</a:t>
            </a:r>
          </a:p>
        </p:txBody>
      </p:sp>
      <p:sp>
        <p:nvSpPr>
          <p:cNvPr id="25" name="TextBox 24"/>
          <p:cNvSpPr txBox="1"/>
          <p:nvPr/>
        </p:nvSpPr>
        <p:spPr>
          <a:xfrm>
            <a:off x="7635240" y="2697480"/>
            <a:ext cx="3840480" cy="1097280"/>
          </a:xfrm>
          <a:prstGeom prst="rect">
            <a:avLst/>
          </a:prstGeom>
          <a:noFill/>
        </p:spPr>
        <p:txBody>
          <a:bodyPr wrap="square" lIns="0" tIns="0" rIns="0" bIns="0" anchor="t"/>
          <a:lstStyle/>
          <a:p>
            <a:pPr algn="l"/>
            <a:r>
              <a:rPr sz="2000" b="0" i="0">
                <a:solidFill>
                  <a:srgbClr val="1B3A57"/>
                </a:solidFill>
                <a:latin typeface="Arial"/>
                <a:ea typeface="Arial"/>
                <a:cs typeface="Arial"/>
              </a:rPr>
              <a:t>of greedy positions: the exact winner is not the engine’s token</a:t>
            </a:r>
          </a:p>
        </p:txBody>
      </p:sp>
      <p:sp>
        <p:nvSpPr>
          <p:cNvPr id="26" name="TextBox 25"/>
          <p:cNvSpPr txBox="1"/>
          <p:nvPr/>
        </p:nvSpPr>
        <p:spPr>
          <a:xfrm>
            <a:off x="7635240" y="4069080"/>
            <a:ext cx="3840480" cy="640080"/>
          </a:xfrm>
          <a:prstGeom prst="rect">
            <a:avLst/>
          </a:prstGeom>
          <a:noFill/>
        </p:spPr>
        <p:txBody>
          <a:bodyPr wrap="square" lIns="0" tIns="0" rIns="0" bIns="0" anchor="t"/>
          <a:lstStyle/>
          <a:p>
            <a:pPr algn="l"/>
            <a:r>
              <a:rPr sz="3600" b="1" i="0">
                <a:solidFill>
                  <a:srgbClr val="1B3A57"/>
                </a:solidFill>
                <a:latin typeface="Arial"/>
                <a:ea typeface="Arial"/>
                <a:cs typeface="Arial"/>
              </a:rPr>
              <a:t>1.0%</a:t>
            </a:r>
          </a:p>
        </p:txBody>
      </p:sp>
      <p:sp>
        <p:nvSpPr>
          <p:cNvPr id="27" name="TextBox 26"/>
          <p:cNvSpPr txBox="1"/>
          <p:nvPr/>
        </p:nvSpPr>
        <p:spPr>
          <a:xfrm>
            <a:off x="7635240" y="4709160"/>
            <a:ext cx="3840480" cy="822960"/>
          </a:xfrm>
          <a:prstGeom prst="rect">
            <a:avLst/>
          </a:prstGeom>
          <a:noFill/>
        </p:spPr>
        <p:txBody>
          <a:bodyPr wrap="square" lIns="0" tIns="0" rIns="0" bIns="0" anchor="t"/>
          <a:lstStyle/>
          <a:p>
            <a:pPr algn="l"/>
            <a:r>
              <a:rPr sz="2000" b="0" i="0">
                <a:solidFill>
                  <a:srgbClr val="1B3A57"/>
                </a:solidFill>
                <a:latin typeface="Arial"/>
                <a:ea typeface="Arial"/>
                <a:cs typeface="Arial"/>
              </a:rPr>
              <a:t>the top two logits tie in BF16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Even stock SGLang changes its output with the batch</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§4.1, Appendix D.4–D.6</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07</a:t>
            </a:r>
          </a:p>
        </p:txBody>
      </p:sp>
      <p:sp>
        <p:nvSpPr>
          <p:cNvPr id="6" name="TextBox 5"/>
          <p:cNvSpPr txBox="1"/>
          <p:nvPr/>
        </p:nvSpPr>
        <p:spPr>
          <a:xfrm>
            <a:off x="731520" y="1920240"/>
            <a:ext cx="5120640" cy="1005840"/>
          </a:xfrm>
          <a:prstGeom prst="rect">
            <a:avLst/>
          </a:prstGeom>
          <a:noFill/>
        </p:spPr>
        <p:txBody>
          <a:bodyPr wrap="square" lIns="0" tIns="0" rIns="0" bIns="0" anchor="t"/>
          <a:lstStyle/>
          <a:p>
            <a:pPr algn="l"/>
            <a:r>
              <a:rPr sz="6000" b="1" i="0">
                <a:solidFill>
                  <a:srgbClr val="1B3A57"/>
                </a:solidFill>
                <a:latin typeface="Arial"/>
                <a:ea typeface="Arial"/>
                <a:cs typeface="Arial"/>
              </a:rPr>
              <a:t>167 of 320</a:t>
            </a:r>
          </a:p>
        </p:txBody>
      </p:sp>
      <p:sp>
        <p:nvSpPr>
          <p:cNvPr id="7" name="TextBox 6"/>
          <p:cNvSpPr txBox="1"/>
          <p:nvPr/>
        </p:nvSpPr>
        <p:spPr>
          <a:xfrm>
            <a:off x="731520" y="3063240"/>
            <a:ext cx="5120640" cy="1645920"/>
          </a:xfrm>
          <a:prstGeom prst="rect">
            <a:avLst/>
          </a:prstGeom>
          <a:noFill/>
        </p:spPr>
        <p:txBody>
          <a:bodyPr wrap="square" lIns="0" tIns="0" rIns="0" bIns="0" anchor="t"/>
          <a:lstStyle/>
          <a:p>
            <a:pPr algn="l"/>
            <a:r>
              <a:rPr sz="2200" b="0" i="0">
                <a:solidFill>
                  <a:srgbClr val="1B3A57"/>
                </a:solidFill>
                <a:latin typeface="Arial"/>
                <a:ea typeface="Arial"/>
                <a:cs typeface="Arial"/>
              </a:rPr>
              <a:t>prompts’ greedy outputs differ between 1 and 32 requests in flight on one stock server</a:t>
            </a:r>
          </a:p>
        </p:txBody>
      </p:sp>
      <p:cxnSp>
        <p:nvCxnSpPr>
          <p:cNvPr id="8" name="Connector 7"/>
          <p:cNvCxnSpPr/>
          <p:nvPr/>
        </p:nvCxnSpPr>
        <p:spPr>
          <a:xfrm>
            <a:off x="6126480" y="1828800"/>
            <a:ext cx="0" cy="4206240"/>
          </a:xfrm>
          <a:prstGeom prst="line">
            <a:avLst/>
          </a:prstGeom>
          <a:ln w="12700">
            <a:solidFill>
              <a:srgbClr val="D2DCDF"/>
            </a:solidFill>
          </a:ln>
        </p:spPr>
      </p:cxnSp>
      <p:sp>
        <p:nvSpPr>
          <p:cNvPr id="9" name="TextBox 8"/>
          <p:cNvSpPr txBox="1"/>
          <p:nvPr/>
        </p:nvSpPr>
        <p:spPr>
          <a:xfrm>
            <a:off x="6400800" y="1965960"/>
            <a:ext cx="5074920" cy="3931920"/>
          </a:xfrm>
          <a:prstGeom prst="rect">
            <a:avLst/>
          </a:prstGeom>
          <a:noFill/>
        </p:spPr>
        <p:txBody>
          <a:bodyPr wrap="square" lIns="0" tIns="0" rIns="0" bIns="0" anchor="t"/>
          <a:lstStyle/>
          <a:p>
            <a:pPr algn="l"/>
            <a:r>
              <a:rPr sz="2200" b="0" i="0">
                <a:solidFill>
                  <a:srgbClr val="1B3A57"/>
                </a:solidFill>
                <a:latin typeface="Arial"/>
                <a:ea typeface="Arial"/>
                <a:cs typeface="Arial"/>
              </a:rPr>
              <a:t>First differences come from batch-dependent kernels upstream of the head</a:t>
            </a:r>
          </a:p>
          <a:p>
            <a:pPr algn="l">
              <a:spcBef>
                <a:spcPts val="1800"/>
              </a:spcBef>
            </a:pPr>
            <a:r>
              <a:rPr sz="2200" b="0" i="0">
                <a:solidFill>
                  <a:srgbClr val="1B3A57"/>
                </a:solidFill>
                <a:latin typeface="Arial"/>
                <a:ea typeface="Arial"/>
                <a:cs typeface="Arial"/>
              </a:rPr>
              <a:t>Never from the head GEMM or its tie rule</a:t>
            </a:r>
          </a:p>
          <a:p>
            <a:pPr algn="l">
              <a:spcBef>
                <a:spcPts val="1800"/>
              </a:spcBef>
            </a:pPr>
            <a:r>
              <a:rPr sz="2200" b="1" i="0">
                <a:solidFill>
                  <a:srgbClr val="1B3A57"/>
                </a:solidFill>
                <a:latin typeface="Arial"/>
                <a:ea typeface="Arial"/>
                <a:cs typeface="Arial"/>
              </a:rPr>
              <a:t>So every comparison fixes the batch shape and configuration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Bound every score, recompute the few that could win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§3</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08</a:t>
            </a:r>
          </a:p>
        </p:txBody>
      </p:sp>
      <p:sp>
        <p:nvSpPr>
          <p:cNvPr id="6" name="TextBox 5"/>
          <p:cNvSpPr txBox="1"/>
          <p:nvPr/>
        </p:nvSpPr>
        <p:spPr>
          <a:xfrm>
            <a:off x="731520" y="1645920"/>
            <a:ext cx="3566160" cy="365760"/>
          </a:xfrm>
          <a:prstGeom prst="rect">
            <a:avLst/>
          </a:prstGeom>
          <a:noFill/>
        </p:spPr>
        <p:txBody>
          <a:bodyPr wrap="square" lIns="0" tIns="0" rIns="0" bIns="0" anchor="t"/>
          <a:lstStyle/>
          <a:p>
            <a:pPr algn="l"/>
            <a:r>
              <a:rPr sz="2000" b="1" i="0">
                <a:solidFill>
                  <a:srgbClr val="1B3A57"/>
                </a:solidFill>
                <a:latin typeface="Arial"/>
                <a:ea typeface="Arial"/>
                <a:cs typeface="Arial"/>
              </a:rPr>
              <a:t>1  Screen with int8</a:t>
            </a:r>
          </a:p>
        </p:txBody>
      </p:sp>
      <p:sp>
        <p:nvSpPr>
          <p:cNvPr id="7" name="TextBox 6"/>
          <p:cNvSpPr txBox="1"/>
          <p:nvPr/>
        </p:nvSpPr>
        <p:spPr>
          <a:xfrm>
            <a:off x="4617720" y="1645920"/>
            <a:ext cx="3017520" cy="365760"/>
          </a:xfrm>
          <a:prstGeom prst="rect">
            <a:avLst/>
          </a:prstGeom>
          <a:noFill/>
        </p:spPr>
        <p:txBody>
          <a:bodyPr wrap="square" lIns="0" tIns="0" rIns="0" bIns="0" anchor="t"/>
          <a:lstStyle/>
          <a:p>
            <a:pPr algn="l"/>
            <a:r>
              <a:rPr sz="2000" b="1" i="0">
                <a:solidFill>
                  <a:srgbClr val="1B3A57"/>
                </a:solidFill>
                <a:latin typeface="Arial"/>
                <a:ea typeface="Arial"/>
                <a:cs typeface="Arial"/>
              </a:rPr>
              <a:t>2  Recompute a few</a:t>
            </a:r>
          </a:p>
        </p:txBody>
      </p:sp>
      <p:sp>
        <p:nvSpPr>
          <p:cNvPr id="8" name="TextBox 7"/>
          <p:cNvSpPr txBox="1"/>
          <p:nvPr/>
        </p:nvSpPr>
        <p:spPr>
          <a:xfrm>
            <a:off x="8366760" y="1645920"/>
            <a:ext cx="3108960" cy="365760"/>
          </a:xfrm>
          <a:prstGeom prst="rect">
            <a:avLst/>
          </a:prstGeom>
          <a:noFill/>
        </p:spPr>
        <p:txBody>
          <a:bodyPr wrap="square" lIns="0" tIns="0" rIns="0" bIns="0" anchor="t"/>
          <a:lstStyle/>
          <a:p>
            <a:pPr algn="l"/>
            <a:r>
              <a:rPr sz="2000" b="1" i="0">
                <a:solidFill>
                  <a:srgbClr val="1B3A57"/>
                </a:solidFill>
                <a:latin typeface="Arial"/>
                <a:ea typeface="Arial"/>
                <a:cs typeface="Arial"/>
              </a:rPr>
              <a:t>3  Decide or fall back</a:t>
            </a:r>
          </a:p>
        </p:txBody>
      </p:sp>
      <p:sp>
        <p:nvSpPr>
          <p:cNvPr id="9" name="Rectangle 8"/>
          <p:cNvSpPr/>
          <p:nvPr/>
        </p:nvSpPr>
        <p:spPr>
          <a:xfrm>
            <a:off x="960120" y="3922776"/>
            <a:ext cx="173736" cy="329184"/>
          </a:xfrm>
          <a:prstGeom prst="rect">
            <a:avLst/>
          </a:prstGeom>
          <a:solidFill>
            <a:srgbClr val="CBCFD3"/>
          </a:solidFill>
          <a:ln>
            <a:noFill/>
          </a:ln>
        </p:spPr>
        <p:txBody>
          <a:bodyPr rtlCol="0" anchor="ctr"/>
          <a:lstStyle/>
          <a:p>
            <a:pPr algn="ctr"/>
          </a:p>
        </p:txBody>
      </p:sp>
      <p:sp>
        <p:nvSpPr>
          <p:cNvPr id="10" name="Rectangle 9"/>
          <p:cNvSpPr/>
          <p:nvPr/>
        </p:nvSpPr>
        <p:spPr>
          <a:xfrm>
            <a:off x="1234440" y="4087368"/>
            <a:ext cx="173736" cy="384048"/>
          </a:xfrm>
          <a:prstGeom prst="rect">
            <a:avLst/>
          </a:prstGeom>
          <a:solidFill>
            <a:srgbClr val="CBCFD3"/>
          </a:solidFill>
          <a:ln>
            <a:noFill/>
          </a:ln>
        </p:spPr>
        <p:txBody>
          <a:bodyPr rtlCol="0" anchor="ctr"/>
          <a:lstStyle/>
          <a:p>
            <a:pPr algn="ctr"/>
          </a:p>
        </p:txBody>
      </p:sp>
      <p:sp>
        <p:nvSpPr>
          <p:cNvPr id="11" name="Rectangle 10"/>
          <p:cNvSpPr/>
          <p:nvPr/>
        </p:nvSpPr>
        <p:spPr>
          <a:xfrm>
            <a:off x="1508760" y="3648456"/>
            <a:ext cx="173736" cy="329184"/>
          </a:xfrm>
          <a:prstGeom prst="rect">
            <a:avLst/>
          </a:prstGeom>
          <a:solidFill>
            <a:srgbClr val="CBCFD3"/>
          </a:solidFill>
          <a:ln>
            <a:noFill/>
          </a:ln>
        </p:spPr>
        <p:txBody>
          <a:bodyPr rtlCol="0" anchor="ctr"/>
          <a:lstStyle/>
          <a:p>
            <a:pPr algn="ctr"/>
          </a:p>
        </p:txBody>
      </p:sp>
      <p:sp>
        <p:nvSpPr>
          <p:cNvPr id="12" name="Rectangle 11"/>
          <p:cNvSpPr/>
          <p:nvPr/>
        </p:nvSpPr>
        <p:spPr>
          <a:xfrm>
            <a:off x="1783080" y="3785615"/>
            <a:ext cx="173736" cy="329184"/>
          </a:xfrm>
          <a:prstGeom prst="rect">
            <a:avLst/>
          </a:prstGeom>
          <a:solidFill>
            <a:srgbClr val="CBCFD3"/>
          </a:solidFill>
          <a:ln>
            <a:noFill/>
          </a:ln>
        </p:spPr>
        <p:txBody>
          <a:bodyPr rtlCol="0" anchor="ctr"/>
          <a:lstStyle/>
          <a:p>
            <a:pPr algn="ctr"/>
          </a:p>
        </p:txBody>
      </p:sp>
      <p:sp>
        <p:nvSpPr>
          <p:cNvPr id="13" name="Rectangle 12"/>
          <p:cNvSpPr/>
          <p:nvPr/>
        </p:nvSpPr>
        <p:spPr>
          <a:xfrm>
            <a:off x="2057400" y="3977639"/>
            <a:ext cx="173736" cy="329184"/>
          </a:xfrm>
          <a:prstGeom prst="rect">
            <a:avLst/>
          </a:prstGeom>
          <a:solidFill>
            <a:srgbClr val="CBCFD3"/>
          </a:solidFill>
          <a:ln>
            <a:noFill/>
          </a:ln>
        </p:spPr>
        <p:txBody>
          <a:bodyPr rtlCol="0" anchor="ctr"/>
          <a:lstStyle/>
          <a:p>
            <a:pPr algn="ctr"/>
          </a:p>
        </p:txBody>
      </p:sp>
      <p:sp>
        <p:nvSpPr>
          <p:cNvPr id="14" name="Rectangle 13"/>
          <p:cNvSpPr/>
          <p:nvPr/>
        </p:nvSpPr>
        <p:spPr>
          <a:xfrm>
            <a:off x="2331720" y="3538728"/>
            <a:ext cx="173736" cy="329183"/>
          </a:xfrm>
          <a:prstGeom prst="rect">
            <a:avLst/>
          </a:prstGeom>
          <a:solidFill>
            <a:srgbClr val="CBCFD3"/>
          </a:solidFill>
          <a:ln>
            <a:noFill/>
          </a:ln>
        </p:spPr>
        <p:txBody>
          <a:bodyPr rtlCol="0" anchor="ctr"/>
          <a:lstStyle/>
          <a:p>
            <a:pPr algn="ctr"/>
          </a:p>
        </p:txBody>
      </p:sp>
      <p:sp>
        <p:nvSpPr>
          <p:cNvPr id="15" name="Rectangle 14"/>
          <p:cNvSpPr/>
          <p:nvPr/>
        </p:nvSpPr>
        <p:spPr>
          <a:xfrm>
            <a:off x="2606039" y="4224528"/>
            <a:ext cx="173736" cy="329184"/>
          </a:xfrm>
          <a:prstGeom prst="rect">
            <a:avLst/>
          </a:prstGeom>
          <a:solidFill>
            <a:srgbClr val="CBCFD3"/>
          </a:solidFill>
          <a:ln>
            <a:noFill/>
          </a:ln>
        </p:spPr>
        <p:txBody>
          <a:bodyPr rtlCol="0" anchor="ctr"/>
          <a:lstStyle/>
          <a:p>
            <a:pPr algn="ctr"/>
          </a:p>
        </p:txBody>
      </p:sp>
      <p:sp>
        <p:nvSpPr>
          <p:cNvPr id="16" name="Rectangle 15"/>
          <p:cNvSpPr/>
          <p:nvPr/>
        </p:nvSpPr>
        <p:spPr>
          <a:xfrm>
            <a:off x="2880360" y="3703320"/>
            <a:ext cx="173736" cy="329184"/>
          </a:xfrm>
          <a:prstGeom prst="rect">
            <a:avLst/>
          </a:prstGeom>
          <a:solidFill>
            <a:srgbClr val="CBCFD3"/>
          </a:solidFill>
          <a:ln>
            <a:noFill/>
          </a:ln>
        </p:spPr>
        <p:txBody>
          <a:bodyPr rtlCol="0" anchor="ctr"/>
          <a:lstStyle/>
          <a:p>
            <a:pPr algn="ctr"/>
          </a:p>
        </p:txBody>
      </p:sp>
      <p:sp>
        <p:nvSpPr>
          <p:cNvPr id="17" name="Rectangle 16"/>
          <p:cNvSpPr/>
          <p:nvPr/>
        </p:nvSpPr>
        <p:spPr>
          <a:xfrm>
            <a:off x="3154680" y="4059935"/>
            <a:ext cx="173736" cy="329184"/>
          </a:xfrm>
          <a:prstGeom prst="rect">
            <a:avLst/>
          </a:prstGeom>
          <a:solidFill>
            <a:srgbClr val="CBCFD3"/>
          </a:solidFill>
          <a:ln>
            <a:noFill/>
          </a:ln>
        </p:spPr>
        <p:txBody>
          <a:bodyPr rtlCol="0" anchor="ctr"/>
          <a:lstStyle/>
          <a:p>
            <a:pPr algn="ctr"/>
          </a:p>
        </p:txBody>
      </p:sp>
      <p:sp>
        <p:nvSpPr>
          <p:cNvPr id="18" name="Rectangle 17"/>
          <p:cNvSpPr/>
          <p:nvPr/>
        </p:nvSpPr>
        <p:spPr>
          <a:xfrm>
            <a:off x="3429000" y="2523744"/>
            <a:ext cx="173736" cy="384048"/>
          </a:xfrm>
          <a:prstGeom prst="rect">
            <a:avLst/>
          </a:prstGeom>
          <a:solidFill>
            <a:srgbClr val="0072B2"/>
          </a:solidFill>
          <a:ln>
            <a:noFill/>
          </a:ln>
        </p:spPr>
        <p:txBody>
          <a:bodyPr rtlCol="0" anchor="ctr"/>
          <a:lstStyle/>
          <a:p>
            <a:pPr algn="ctr"/>
          </a:p>
        </p:txBody>
      </p:sp>
      <p:sp>
        <p:nvSpPr>
          <p:cNvPr id="19" name="Rectangle 18"/>
          <p:cNvSpPr/>
          <p:nvPr/>
        </p:nvSpPr>
        <p:spPr>
          <a:xfrm>
            <a:off x="3703320" y="3867912"/>
            <a:ext cx="173736" cy="329183"/>
          </a:xfrm>
          <a:prstGeom prst="rect">
            <a:avLst/>
          </a:prstGeom>
          <a:solidFill>
            <a:srgbClr val="CBCFD3"/>
          </a:solidFill>
          <a:ln>
            <a:noFill/>
          </a:ln>
        </p:spPr>
        <p:txBody>
          <a:bodyPr rtlCol="0" anchor="ctr"/>
          <a:lstStyle/>
          <a:p>
            <a:pPr algn="ctr"/>
          </a:p>
        </p:txBody>
      </p:sp>
      <p:sp>
        <p:nvSpPr>
          <p:cNvPr id="20" name="Rectangle 19"/>
          <p:cNvSpPr/>
          <p:nvPr/>
        </p:nvSpPr>
        <p:spPr>
          <a:xfrm>
            <a:off x="3977639" y="2715768"/>
            <a:ext cx="173736" cy="356615"/>
          </a:xfrm>
          <a:prstGeom prst="rect">
            <a:avLst/>
          </a:prstGeom>
          <a:solidFill>
            <a:srgbClr val="0072B2"/>
          </a:solidFill>
          <a:ln>
            <a:noFill/>
          </a:ln>
        </p:spPr>
        <p:txBody>
          <a:bodyPr rtlCol="0" anchor="ctr"/>
          <a:lstStyle/>
          <a:p>
            <a:pPr algn="ctr"/>
          </a:p>
        </p:txBody>
      </p:sp>
      <p:cxnSp>
        <p:nvCxnSpPr>
          <p:cNvPr id="21" name="Connector 20"/>
          <p:cNvCxnSpPr/>
          <p:nvPr/>
        </p:nvCxnSpPr>
        <p:spPr>
          <a:xfrm>
            <a:off x="868680" y="3086100"/>
            <a:ext cx="3429000" cy="0"/>
          </a:xfrm>
          <a:prstGeom prst="line">
            <a:avLst/>
          </a:prstGeom>
          <a:ln w="15875">
            <a:solidFill>
              <a:srgbClr val="1B3A57"/>
            </a:solidFill>
            <a:prstDash val="dash"/>
          </a:ln>
        </p:spPr>
      </p:cxnSp>
      <p:sp>
        <p:nvSpPr>
          <p:cNvPr id="22" name="TextBox 21"/>
          <p:cNvSpPr txBox="1"/>
          <p:nvPr/>
        </p:nvSpPr>
        <p:spPr>
          <a:xfrm>
            <a:off x="868680" y="2427732"/>
            <a:ext cx="2194560" cy="603504"/>
          </a:xfrm>
          <a:prstGeom prst="rect">
            <a:avLst/>
          </a:prstGeom>
          <a:noFill/>
        </p:spPr>
        <p:txBody>
          <a:bodyPr wrap="square" lIns="0" tIns="0" rIns="0" bIns="0" anchor="t"/>
          <a:lstStyle/>
          <a:p>
            <a:pPr algn="l"/>
            <a:r>
              <a:rPr sz="1800" b="0" i="0">
                <a:solidFill>
                  <a:srgbClr val="1B3A57"/>
                </a:solidFill>
                <a:latin typeface="Arial"/>
                <a:ea typeface="Arial"/>
                <a:cs typeface="Arial"/>
              </a:rPr>
              <a:t>best lower bound</a:t>
            </a:r>
          </a:p>
          <a:p>
            <a:pPr algn="l"/>
            <a:r>
              <a:rPr sz="1800" b="0" i="0">
                <a:solidFill>
                  <a:srgbClr val="1B3A57"/>
                </a:solidFill>
                <a:latin typeface="Arial"/>
                <a:ea typeface="Arial"/>
                <a:cs typeface="Arial"/>
              </a:rPr>
              <a:t>− margin</a:t>
            </a:r>
          </a:p>
        </p:txBody>
      </p:sp>
      <p:cxnSp>
        <p:nvCxnSpPr>
          <p:cNvPr id="23" name="Connector 22"/>
          <p:cNvCxnSpPr/>
          <p:nvPr/>
        </p:nvCxnSpPr>
        <p:spPr>
          <a:xfrm>
            <a:off x="868680" y="4846320"/>
            <a:ext cx="3429000" cy="0"/>
          </a:xfrm>
          <a:prstGeom prst="line">
            <a:avLst/>
          </a:prstGeom>
          <a:ln w="9525">
            <a:solidFill>
              <a:srgbClr val="6B7780"/>
            </a:solidFill>
          </a:ln>
        </p:spPr>
      </p:cxnSp>
      <p:sp>
        <p:nvSpPr>
          <p:cNvPr id="24" name="TextBox 23"/>
          <p:cNvSpPr txBox="1"/>
          <p:nvPr/>
        </p:nvSpPr>
        <p:spPr>
          <a:xfrm>
            <a:off x="868680" y="4910328"/>
            <a:ext cx="3657600" cy="640080"/>
          </a:xfrm>
          <a:prstGeom prst="rect">
            <a:avLst/>
          </a:prstGeom>
          <a:noFill/>
        </p:spPr>
        <p:txBody>
          <a:bodyPr wrap="square" lIns="0" tIns="0" rIns="0" bIns="0" anchor="t"/>
          <a:lstStyle/>
          <a:p>
            <a:pPr algn="l"/>
            <a:r>
              <a:rPr sz="1800" b="0" i="0">
                <a:solidFill>
                  <a:srgbClr val="586B73"/>
                </a:solidFill>
                <a:latin typeface="Arial"/>
                <a:ea typeface="Arial"/>
                <a:cs typeface="Arial"/>
              </a:rPr>
              <a:t>entries below the line</a:t>
            </a:r>
          </a:p>
          <a:p>
            <a:pPr algn="l"/>
            <a:r>
              <a:rPr sz="1800" b="0" i="0">
                <a:solidFill>
                  <a:srgbClr val="586B73"/>
                </a:solidFill>
                <a:latin typeface="Arial"/>
                <a:ea typeface="Arial"/>
                <a:cs typeface="Arial"/>
              </a:rPr>
              <a:t>cannot win: dropped</a:t>
            </a:r>
          </a:p>
        </p:txBody>
      </p:sp>
      <p:cxnSp>
        <p:nvCxnSpPr>
          <p:cNvPr id="25" name="Connector 24"/>
          <p:cNvCxnSpPr/>
          <p:nvPr/>
        </p:nvCxnSpPr>
        <p:spPr>
          <a:xfrm>
            <a:off x="4315968" y="3383280"/>
            <a:ext cx="256032" cy="0"/>
          </a:xfrm>
          <a:prstGeom prst="line">
            <a:avLst/>
          </a:prstGeom>
          <a:ln w="19050">
            <a:solidFill>
              <a:srgbClr val="1B3A57"/>
            </a:solidFill>
            <a:tailEnd type="triangle" w="med" len="med"/>
          </a:ln>
        </p:spPr>
      </p:cxnSp>
      <p:sp>
        <p:nvSpPr>
          <p:cNvPr id="26" name="Rectangle 25"/>
          <p:cNvSpPr/>
          <p:nvPr/>
        </p:nvSpPr>
        <p:spPr>
          <a:xfrm>
            <a:off x="5257800" y="2696565"/>
            <a:ext cx="274320" cy="120700"/>
          </a:xfrm>
          <a:prstGeom prst="rect">
            <a:avLst/>
          </a:prstGeom>
          <a:solidFill>
            <a:srgbClr val="0072B2"/>
          </a:solidFill>
          <a:ln>
            <a:noFill/>
          </a:ln>
        </p:spPr>
        <p:txBody>
          <a:bodyPr rtlCol="0" anchor="ctr"/>
          <a:lstStyle/>
          <a:p>
            <a:pPr algn="ctr"/>
          </a:p>
        </p:txBody>
      </p:sp>
      <p:sp>
        <p:nvSpPr>
          <p:cNvPr id="27" name="TextBox 26"/>
          <p:cNvSpPr txBox="1"/>
          <p:nvPr/>
        </p:nvSpPr>
        <p:spPr>
          <a:xfrm>
            <a:off x="5074920" y="2285085"/>
            <a:ext cx="640080" cy="329184"/>
          </a:xfrm>
          <a:prstGeom prst="rect">
            <a:avLst/>
          </a:prstGeom>
          <a:noFill/>
        </p:spPr>
        <p:txBody>
          <a:bodyPr wrap="square" lIns="0" tIns="0" rIns="0" bIns="0" anchor="t"/>
          <a:lstStyle/>
          <a:p>
            <a:pPr algn="ctr"/>
            <a:r>
              <a:rPr sz="1800" b="1" i="0">
                <a:solidFill>
                  <a:srgbClr val="0072B2"/>
                </a:solidFill>
                <a:latin typeface="Arial"/>
                <a:ea typeface="Arial"/>
                <a:cs typeface="Arial"/>
              </a:rPr>
              <a:t>a</a:t>
            </a:r>
          </a:p>
        </p:txBody>
      </p:sp>
      <p:sp>
        <p:nvSpPr>
          <p:cNvPr id="28" name="Rectangle 27"/>
          <p:cNvSpPr/>
          <p:nvPr/>
        </p:nvSpPr>
        <p:spPr>
          <a:xfrm>
            <a:off x="6126480" y="2916021"/>
            <a:ext cx="274320" cy="120700"/>
          </a:xfrm>
          <a:prstGeom prst="rect">
            <a:avLst/>
          </a:prstGeom>
          <a:solidFill>
            <a:srgbClr val="0072B2"/>
          </a:solidFill>
          <a:ln>
            <a:noFill/>
          </a:ln>
        </p:spPr>
        <p:txBody>
          <a:bodyPr rtlCol="0" anchor="ctr"/>
          <a:lstStyle/>
          <a:p>
            <a:pPr algn="ctr"/>
          </a:p>
        </p:txBody>
      </p:sp>
      <p:sp>
        <p:nvSpPr>
          <p:cNvPr id="29" name="TextBox 28"/>
          <p:cNvSpPr txBox="1"/>
          <p:nvPr/>
        </p:nvSpPr>
        <p:spPr>
          <a:xfrm>
            <a:off x="5943600" y="2504541"/>
            <a:ext cx="640080" cy="329184"/>
          </a:xfrm>
          <a:prstGeom prst="rect">
            <a:avLst/>
          </a:prstGeom>
          <a:noFill/>
        </p:spPr>
        <p:txBody>
          <a:bodyPr wrap="square" lIns="0" tIns="0" rIns="0" bIns="0" anchor="t"/>
          <a:lstStyle/>
          <a:p>
            <a:pPr algn="ctr"/>
            <a:r>
              <a:rPr sz="1800" b="1" i="0">
                <a:solidFill>
                  <a:srgbClr val="0072B2"/>
                </a:solidFill>
                <a:latin typeface="Arial"/>
                <a:ea typeface="Arial"/>
                <a:cs typeface="Arial"/>
              </a:rPr>
              <a:t>b</a:t>
            </a:r>
          </a:p>
        </p:txBody>
      </p:sp>
      <p:cxnSp>
        <p:nvCxnSpPr>
          <p:cNvPr id="30" name="Connector 29"/>
          <p:cNvCxnSpPr/>
          <p:nvPr/>
        </p:nvCxnSpPr>
        <p:spPr>
          <a:xfrm>
            <a:off x="4846320" y="4846320"/>
            <a:ext cx="2651759" cy="0"/>
          </a:xfrm>
          <a:prstGeom prst="line">
            <a:avLst/>
          </a:prstGeom>
          <a:ln w="9525">
            <a:solidFill>
              <a:srgbClr val="6B7780"/>
            </a:solidFill>
          </a:ln>
        </p:spPr>
      </p:cxnSp>
      <p:sp>
        <p:nvSpPr>
          <p:cNvPr id="31" name="TextBox 30"/>
          <p:cNvSpPr txBox="1"/>
          <p:nvPr/>
        </p:nvSpPr>
        <p:spPr>
          <a:xfrm>
            <a:off x="4846320" y="3657600"/>
            <a:ext cx="2834640" cy="1188720"/>
          </a:xfrm>
          <a:prstGeom prst="rect">
            <a:avLst/>
          </a:prstGeom>
          <a:noFill/>
        </p:spPr>
        <p:txBody>
          <a:bodyPr wrap="square" lIns="0" tIns="0" rIns="0" bIns="0" anchor="t"/>
          <a:lstStyle/>
          <a:p>
            <a:pPr algn="l"/>
            <a:r>
              <a:rPr sz="1800" b="0" i="0">
                <a:solidFill>
                  <a:srgbClr val="586B73"/>
                </a:solidFill>
                <a:latin typeface="Arial"/>
                <a:ea typeface="Arial"/>
                <a:cs typeface="Arial"/>
              </a:rPr>
              <a:t>exact FP64 scores,</a:t>
            </a:r>
          </a:p>
          <a:p>
            <a:pPr algn="l"/>
            <a:r>
              <a:rPr sz="1800" b="0" i="0">
                <a:solidFill>
                  <a:srgbClr val="586B73"/>
                </a:solidFill>
                <a:latin typeface="Arial"/>
                <a:ea typeface="Arial"/>
                <a:cs typeface="Arial"/>
              </a:rPr>
              <a:t>widened by the stock</a:t>
            </a:r>
          </a:p>
          <a:p>
            <a:pPr algn="l"/>
            <a:r>
              <a:rPr sz="1800" b="0" i="0">
                <a:solidFill>
                  <a:srgbClr val="586B73"/>
                </a:solidFill>
                <a:latin typeface="Arial"/>
                <a:ea typeface="Arial"/>
                <a:cs typeface="Arial"/>
              </a:rPr>
              <a:t>kernel’s error bound</a:t>
            </a:r>
          </a:p>
        </p:txBody>
      </p:sp>
      <p:cxnSp>
        <p:nvCxnSpPr>
          <p:cNvPr id="32" name="Connector 31"/>
          <p:cNvCxnSpPr/>
          <p:nvPr/>
        </p:nvCxnSpPr>
        <p:spPr>
          <a:xfrm>
            <a:off x="7818120" y="3383280"/>
            <a:ext cx="274320" cy="0"/>
          </a:xfrm>
          <a:prstGeom prst="line">
            <a:avLst/>
          </a:prstGeom>
          <a:ln w="19050">
            <a:solidFill>
              <a:srgbClr val="1B3A57"/>
            </a:solidFill>
            <a:tailEnd type="triangle" w="med" len="med"/>
          </a:ln>
        </p:spPr>
      </p:cxnSp>
      <p:sp>
        <p:nvSpPr>
          <p:cNvPr id="33" name="Rectangle 32"/>
          <p:cNvSpPr/>
          <p:nvPr/>
        </p:nvSpPr>
        <p:spPr>
          <a:xfrm>
            <a:off x="8366760" y="2240280"/>
            <a:ext cx="3108960" cy="1097280"/>
          </a:xfrm>
          <a:prstGeom prst="rect">
            <a:avLst/>
          </a:prstGeom>
          <a:solidFill>
            <a:srgbClr val="FFFFFF"/>
          </a:solidFill>
          <a:ln w="22225">
            <a:solidFill>
              <a:srgbClr val="0072B2"/>
            </a:solidFill>
          </a:ln>
        </p:spPr>
        <p:txBody>
          <a:bodyPr rtlCol="0" anchor="ctr"/>
          <a:lstStyle/>
          <a:p>
            <a:pPr algn="ctr"/>
          </a:p>
        </p:txBody>
      </p:sp>
      <p:sp>
        <p:nvSpPr>
          <p:cNvPr id="34" name="TextBox 33"/>
          <p:cNvSpPr txBox="1"/>
          <p:nvPr/>
        </p:nvSpPr>
        <p:spPr>
          <a:xfrm>
            <a:off x="8503920" y="2304288"/>
            <a:ext cx="2880360" cy="1005840"/>
          </a:xfrm>
          <a:prstGeom prst="rect">
            <a:avLst/>
          </a:prstGeom>
          <a:noFill/>
        </p:spPr>
        <p:txBody>
          <a:bodyPr wrap="square" lIns="0" tIns="0" rIns="0" bIns="0" anchor="ctr"/>
          <a:lstStyle/>
          <a:p>
            <a:pPr algn="l"/>
            <a:r>
              <a:rPr sz="1800" b="1" i="0">
                <a:solidFill>
                  <a:srgbClr val="0072B2"/>
                </a:solidFill>
                <a:latin typeface="Arial"/>
                <a:ea typeface="Arial"/>
                <a:cs typeface="Arial"/>
              </a:rPr>
              <a:t>one token under every</a:t>
            </a:r>
          </a:p>
          <a:p>
            <a:pPr algn="l"/>
            <a:r>
              <a:rPr sz="1800" b="1" i="0">
                <a:solidFill>
                  <a:srgbClr val="0072B2"/>
                </a:solidFill>
                <a:latin typeface="Arial"/>
                <a:ea typeface="Arial"/>
                <a:cs typeface="Arial"/>
              </a:rPr>
              <a:t>admissible accumulation:</a:t>
            </a:r>
          </a:p>
          <a:p>
            <a:pPr algn="l"/>
            <a:r>
              <a:rPr sz="1800" b="1" i="0">
                <a:solidFill>
                  <a:srgbClr val="0072B2"/>
                </a:solidFill>
                <a:latin typeface="Arial"/>
                <a:ea typeface="Arial"/>
                <a:cs typeface="Arial"/>
              </a:rPr>
              <a:t>return it</a:t>
            </a:r>
          </a:p>
        </p:txBody>
      </p:sp>
      <p:sp>
        <p:nvSpPr>
          <p:cNvPr id="35" name="Rectangle 34"/>
          <p:cNvSpPr/>
          <p:nvPr/>
        </p:nvSpPr>
        <p:spPr>
          <a:xfrm>
            <a:off x="8366760" y="3657600"/>
            <a:ext cx="3108960" cy="1097280"/>
          </a:xfrm>
          <a:prstGeom prst="rect">
            <a:avLst/>
          </a:prstGeom>
          <a:solidFill>
            <a:srgbClr val="FFFFFF"/>
          </a:solidFill>
          <a:ln w="22225">
            <a:solidFill>
              <a:srgbClr val="D55E00"/>
            </a:solidFill>
          </a:ln>
        </p:spPr>
        <p:txBody>
          <a:bodyPr rtlCol="0" anchor="ctr"/>
          <a:lstStyle/>
          <a:p>
            <a:pPr algn="ctr"/>
          </a:p>
        </p:txBody>
      </p:sp>
      <p:sp>
        <p:nvSpPr>
          <p:cNvPr id="36" name="TextBox 35"/>
          <p:cNvSpPr txBox="1"/>
          <p:nvPr/>
        </p:nvSpPr>
        <p:spPr>
          <a:xfrm>
            <a:off x="8503920" y="3721608"/>
            <a:ext cx="2880360" cy="1005840"/>
          </a:xfrm>
          <a:prstGeom prst="rect">
            <a:avLst/>
          </a:prstGeom>
          <a:noFill/>
        </p:spPr>
        <p:txBody>
          <a:bodyPr wrap="square" lIns="0" tIns="0" rIns="0" bIns="0" anchor="ctr"/>
          <a:lstStyle/>
          <a:p>
            <a:pPr algn="l"/>
            <a:r>
              <a:rPr sz="1800" b="1" i="0">
                <a:solidFill>
                  <a:srgbClr val="D55E00"/>
                </a:solidFill>
                <a:latin typeface="Arial"/>
                <a:ea typeface="Arial"/>
                <a:cs typeface="Arial"/>
              </a:rPr>
              <a:t>still open:</a:t>
            </a:r>
          </a:p>
          <a:p>
            <a:pPr algn="l"/>
            <a:r>
              <a:rPr sz="1800" b="1" i="0">
                <a:solidFill>
                  <a:srgbClr val="D55E00"/>
                </a:solidFill>
                <a:latin typeface="Arial"/>
                <a:ea typeface="Arial"/>
                <a:cs typeface="Arial"/>
              </a:rPr>
              <a:t>run the stock head</a:t>
            </a:r>
          </a:p>
        </p:txBody>
      </p:sp>
      <p:sp>
        <p:nvSpPr>
          <p:cNvPr id="37" name="TextBox 36"/>
          <p:cNvSpPr txBox="1"/>
          <p:nvPr/>
        </p:nvSpPr>
        <p:spPr>
          <a:xfrm>
            <a:off x="731520" y="5623560"/>
            <a:ext cx="10744200" cy="566928"/>
          </a:xfrm>
          <a:prstGeom prst="rect">
            <a:avLst/>
          </a:prstGeom>
          <a:noFill/>
        </p:spPr>
        <p:txBody>
          <a:bodyPr wrap="square" lIns="0" tIns="0" rIns="0" bIns="0" anchor="t"/>
          <a:lstStyle/>
          <a:p>
            <a:pPr algn="l"/>
            <a:r>
              <a:rPr sz="1800" b="0" i="0">
                <a:solidFill>
                  <a:srgbClr val="1B3A57"/>
                </a:solidFill>
                <a:latin typeface="Arial"/>
                <a:ea typeface="Arial"/>
                <a:cs typeface="Arial"/>
              </a:rPr>
              <a:t>Schematic. The int8 copy reads half the head’s bytes; the stock kernel’s error bound is an assumed, tested model.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About 1.8 recomputations per decision, every token equal</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§§4.2–4.3</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09</a:t>
            </a:r>
          </a:p>
        </p:txBody>
      </p:sp>
      <p:sp>
        <p:nvSpPr>
          <p:cNvPr id="6" name="TextBox 5"/>
          <p:cNvSpPr txBox="1"/>
          <p:nvPr/>
        </p:nvSpPr>
        <p:spPr>
          <a:xfrm>
            <a:off x="731520" y="2011680"/>
            <a:ext cx="3520440" cy="914400"/>
          </a:xfrm>
          <a:prstGeom prst="rect">
            <a:avLst/>
          </a:prstGeom>
          <a:noFill/>
        </p:spPr>
        <p:txBody>
          <a:bodyPr wrap="square" lIns="0" tIns="0" rIns="0" bIns="0" anchor="ctr"/>
          <a:lstStyle/>
          <a:p>
            <a:pPr algn="l"/>
            <a:r>
              <a:rPr sz="4400" b="1" i="0">
                <a:solidFill>
                  <a:srgbClr val="0072B2"/>
                </a:solidFill>
                <a:latin typeface="Arial"/>
                <a:ea typeface="Arial"/>
                <a:cs typeface="Arial"/>
              </a:rPr>
              <a:t>1.8</a:t>
            </a:r>
          </a:p>
        </p:txBody>
      </p:sp>
      <p:sp>
        <p:nvSpPr>
          <p:cNvPr id="7" name="TextBox 6"/>
          <p:cNvSpPr txBox="1"/>
          <p:nvPr/>
        </p:nvSpPr>
        <p:spPr>
          <a:xfrm>
            <a:off x="731520" y="3108960"/>
            <a:ext cx="3383280" cy="1005840"/>
          </a:xfrm>
          <a:prstGeom prst="rect">
            <a:avLst/>
          </a:prstGeom>
          <a:noFill/>
        </p:spPr>
        <p:txBody>
          <a:bodyPr wrap="square" lIns="0" tIns="0" rIns="0" bIns="0" anchor="t"/>
          <a:lstStyle/>
          <a:p>
            <a:pPr algn="l"/>
            <a:r>
              <a:rPr sz="2200" b="0" i="0">
                <a:solidFill>
                  <a:srgbClr val="1B3A57"/>
                </a:solidFill>
                <a:latin typeface="Arial"/>
                <a:ea typeface="Arial"/>
                <a:cs typeface="Arial"/>
              </a:rPr>
              <a:t>entries recomputed per decision</a:t>
            </a:r>
          </a:p>
        </p:txBody>
      </p:sp>
      <p:sp>
        <p:nvSpPr>
          <p:cNvPr id="8" name="TextBox 7"/>
          <p:cNvSpPr txBox="1"/>
          <p:nvPr/>
        </p:nvSpPr>
        <p:spPr>
          <a:xfrm>
            <a:off x="731520" y="4251960"/>
            <a:ext cx="3383280" cy="914400"/>
          </a:xfrm>
          <a:prstGeom prst="rect">
            <a:avLst/>
          </a:prstGeom>
          <a:noFill/>
        </p:spPr>
        <p:txBody>
          <a:bodyPr wrap="square" lIns="0" tIns="0" rIns="0" bIns="0" anchor="t"/>
          <a:lstStyle/>
          <a:p>
            <a:pPr algn="l"/>
            <a:r>
              <a:rPr sz="1800" b="0" i="0">
                <a:solidFill>
                  <a:srgbClr val="586B73"/>
                </a:solidFill>
                <a:latin typeface="Arial"/>
                <a:ea typeface="Arial"/>
                <a:cs typeface="Arial"/>
              </a:rPr>
              <a:t>median 1; kernel replay of 60,000 positions</a:t>
            </a:r>
          </a:p>
        </p:txBody>
      </p:sp>
      <p:sp>
        <p:nvSpPr>
          <p:cNvPr id="9" name="TextBox 8"/>
          <p:cNvSpPr txBox="1"/>
          <p:nvPr/>
        </p:nvSpPr>
        <p:spPr>
          <a:xfrm>
            <a:off x="4389120" y="2011680"/>
            <a:ext cx="3520440" cy="914400"/>
          </a:xfrm>
          <a:prstGeom prst="rect">
            <a:avLst/>
          </a:prstGeom>
          <a:noFill/>
        </p:spPr>
        <p:txBody>
          <a:bodyPr wrap="square" lIns="0" tIns="0" rIns="0" bIns="0" anchor="ctr"/>
          <a:lstStyle/>
          <a:p>
            <a:pPr algn="l"/>
            <a:r>
              <a:rPr sz="3600" b="1" i="0">
                <a:solidFill>
                  <a:srgbClr val="D55E00"/>
                </a:solidFill>
                <a:latin typeface="Arial"/>
                <a:ea typeface="Arial"/>
                <a:cs typeface="Arial"/>
              </a:rPr>
              <a:t>0.28–1.46%</a:t>
            </a:r>
          </a:p>
        </p:txBody>
      </p:sp>
      <p:sp>
        <p:nvSpPr>
          <p:cNvPr id="10" name="TextBox 9"/>
          <p:cNvSpPr txBox="1"/>
          <p:nvPr/>
        </p:nvSpPr>
        <p:spPr>
          <a:xfrm>
            <a:off x="4389120" y="3108960"/>
            <a:ext cx="3383280" cy="1005840"/>
          </a:xfrm>
          <a:prstGeom prst="rect">
            <a:avLst/>
          </a:prstGeom>
          <a:noFill/>
        </p:spPr>
        <p:txBody>
          <a:bodyPr wrap="square" lIns="0" tIns="0" rIns="0" bIns="0" anchor="t"/>
          <a:lstStyle/>
          <a:p>
            <a:pPr algn="l"/>
            <a:r>
              <a:rPr sz="2200" b="0" i="0">
                <a:solidFill>
                  <a:srgbClr val="1B3A57"/>
                </a:solidFill>
                <a:latin typeface="Arial"/>
                <a:ea typeface="Arial"/>
                <a:cs typeface="Arial"/>
              </a:rPr>
              <a:t>of positions left to the stock head</a:t>
            </a:r>
          </a:p>
        </p:txBody>
      </p:sp>
      <p:sp>
        <p:nvSpPr>
          <p:cNvPr id="11" name="TextBox 10"/>
          <p:cNvSpPr txBox="1"/>
          <p:nvPr/>
        </p:nvSpPr>
        <p:spPr>
          <a:xfrm>
            <a:off x="4389120" y="4251960"/>
            <a:ext cx="3383280" cy="914400"/>
          </a:xfrm>
          <a:prstGeom prst="rect">
            <a:avLst/>
          </a:prstGeom>
          <a:noFill/>
        </p:spPr>
        <p:txBody>
          <a:bodyPr wrap="square" lIns="0" tIns="0" rIns="0" bIns="0" anchor="t"/>
          <a:lstStyle/>
          <a:p>
            <a:pPr algn="l"/>
            <a:r>
              <a:rPr sz="1800" b="0" i="0">
                <a:solidFill>
                  <a:srgbClr val="586B73"/>
                </a:solidFill>
                <a:latin typeface="Arial"/>
                <a:ea typeface="Arial"/>
                <a:cs typeface="Arial"/>
              </a:rPr>
              <a:t>depending on the error model</a:t>
            </a:r>
          </a:p>
        </p:txBody>
      </p:sp>
      <p:sp>
        <p:nvSpPr>
          <p:cNvPr id="12" name="TextBox 11"/>
          <p:cNvSpPr txBox="1"/>
          <p:nvPr/>
        </p:nvSpPr>
        <p:spPr>
          <a:xfrm>
            <a:off x="8046720" y="2011680"/>
            <a:ext cx="3520440" cy="914400"/>
          </a:xfrm>
          <a:prstGeom prst="rect">
            <a:avLst/>
          </a:prstGeom>
          <a:noFill/>
        </p:spPr>
        <p:txBody>
          <a:bodyPr wrap="square" lIns="0" tIns="0" rIns="0" bIns="0" anchor="ctr"/>
          <a:lstStyle/>
          <a:p>
            <a:pPr algn="l"/>
            <a:r>
              <a:rPr sz="3600" b="1" i="0">
                <a:solidFill>
                  <a:srgbClr val="1B3A57"/>
                </a:solidFill>
                <a:latin typeface="Arial"/>
                <a:ea typeface="Arial"/>
                <a:cs typeface="Arial"/>
              </a:rPr>
              <a:t>0 of 592,433</a:t>
            </a:r>
          </a:p>
        </p:txBody>
      </p:sp>
      <p:sp>
        <p:nvSpPr>
          <p:cNvPr id="13" name="TextBox 12"/>
          <p:cNvSpPr txBox="1"/>
          <p:nvPr/>
        </p:nvSpPr>
        <p:spPr>
          <a:xfrm>
            <a:off x="8046720" y="3108960"/>
            <a:ext cx="3383280" cy="1005840"/>
          </a:xfrm>
          <a:prstGeom prst="rect">
            <a:avLst/>
          </a:prstGeom>
          <a:noFill/>
        </p:spPr>
        <p:txBody>
          <a:bodyPr wrap="square" lIns="0" tIns="0" rIns="0" bIns="0" anchor="t"/>
          <a:lstStyle/>
          <a:p>
            <a:pPr algn="l"/>
            <a:r>
              <a:rPr sz="2200" b="0" i="0">
                <a:solidFill>
                  <a:srgbClr val="1B3A57"/>
                </a:solidFill>
                <a:latin typeface="Arial"/>
                <a:ea typeface="Arial"/>
                <a:cs typeface="Arial"/>
              </a:rPr>
              <a:t>served positions differ from the stock head</a:t>
            </a:r>
          </a:p>
        </p:txBody>
      </p:sp>
      <p:sp>
        <p:nvSpPr>
          <p:cNvPr id="14" name="TextBox 13"/>
          <p:cNvSpPr txBox="1"/>
          <p:nvPr/>
        </p:nvSpPr>
        <p:spPr>
          <a:xfrm>
            <a:off x="8046720" y="4251960"/>
            <a:ext cx="3383280" cy="914400"/>
          </a:xfrm>
          <a:prstGeom prst="rect">
            <a:avLst/>
          </a:prstGeom>
          <a:noFill/>
        </p:spPr>
        <p:txBody>
          <a:bodyPr wrap="square" lIns="0" tIns="0" rIns="0" bIns="0" anchor="t"/>
          <a:lstStyle/>
          <a:p>
            <a:pPr algn="l"/>
            <a:r>
              <a:rPr sz="1800" b="0" i="0">
                <a:solidFill>
                  <a:srgbClr val="586B73"/>
                </a:solidFill>
                <a:latin typeface="Arial"/>
                <a:ea typeface="Arial"/>
                <a:cs typeface="Arial"/>
              </a:rPr>
              <a:t>check mode runs the stock head beside the certified one; every certified call counted</a:t>
            </a:r>
          </a:p>
        </p:txBody>
      </p:sp>
      <p:cxnSp>
        <p:nvCxnSpPr>
          <p:cNvPr id="15" name="Connector 14"/>
          <p:cNvCxnSpPr/>
          <p:nvPr/>
        </p:nvCxnSpPr>
        <p:spPr>
          <a:xfrm>
            <a:off x="4224528" y="2011680"/>
            <a:ext cx="0" cy="3108960"/>
          </a:xfrm>
          <a:prstGeom prst="line">
            <a:avLst/>
          </a:prstGeom>
          <a:ln w="12700">
            <a:solidFill>
              <a:srgbClr val="D2DCDF"/>
            </a:solidFill>
          </a:ln>
        </p:spPr>
      </p:cxnSp>
      <p:cxnSp>
        <p:nvCxnSpPr>
          <p:cNvPr id="16" name="Connector 15"/>
          <p:cNvCxnSpPr/>
          <p:nvPr/>
        </p:nvCxnSpPr>
        <p:spPr>
          <a:xfrm>
            <a:off x="7882127" y="2011680"/>
            <a:ext cx="0" cy="3108960"/>
          </a:xfrm>
          <a:prstGeom prst="line">
            <a:avLst/>
          </a:prstGeom>
          <a:ln w="12700">
            <a:solidFill>
              <a:srgbClr val="D2DCDF"/>
            </a:solidFill>
          </a:ln>
        </p:spPr>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The head gains 1–5% at c = 1, slows the fastest arm at 2–8</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10</a:t>
            </a:r>
          </a:p>
        </p:txBody>
      </p:sp>
      <p:cxnSp>
        <p:nvCxnSpPr>
          <p:cNvPr id="6" name="Connector 5"/>
          <p:cNvCxnSpPr/>
          <p:nvPr/>
        </p:nvCxnSpPr>
        <p:spPr>
          <a:xfrm>
            <a:off x="1554480" y="5305806"/>
            <a:ext cx="6126480" cy="0"/>
          </a:xfrm>
          <a:prstGeom prst="line">
            <a:avLst/>
          </a:prstGeom>
          <a:ln w="9525">
            <a:solidFill>
              <a:srgbClr val="D2DCDF"/>
            </a:solidFill>
          </a:ln>
        </p:spPr>
      </p:cxnSp>
      <p:sp>
        <p:nvSpPr>
          <p:cNvPr id="7" name="TextBox 6"/>
          <p:cNvSpPr txBox="1"/>
          <p:nvPr/>
        </p:nvSpPr>
        <p:spPr>
          <a:xfrm>
            <a:off x="822959" y="5159502"/>
            <a:ext cx="640080" cy="292608"/>
          </a:xfrm>
          <a:prstGeom prst="rect">
            <a:avLst/>
          </a:prstGeom>
          <a:noFill/>
        </p:spPr>
        <p:txBody>
          <a:bodyPr wrap="square" lIns="0" tIns="0" rIns="0" bIns="0" anchor="t"/>
          <a:lstStyle/>
          <a:p>
            <a:pPr algn="r"/>
            <a:r>
              <a:rPr sz="1600" b="0" i="0">
                <a:solidFill>
                  <a:srgbClr val="586B73"/>
                </a:solidFill>
                <a:latin typeface="Arial"/>
                <a:ea typeface="Arial"/>
                <a:cs typeface="Arial"/>
              </a:rPr>
              <a:t>0.96</a:t>
            </a:r>
          </a:p>
        </p:txBody>
      </p:sp>
      <p:cxnSp>
        <p:nvCxnSpPr>
          <p:cNvPr id="8" name="Connector 7"/>
          <p:cNvCxnSpPr/>
          <p:nvPr/>
        </p:nvCxnSpPr>
        <p:spPr>
          <a:xfrm>
            <a:off x="1554480" y="4583429"/>
            <a:ext cx="6126480" cy="0"/>
          </a:xfrm>
          <a:prstGeom prst="line">
            <a:avLst/>
          </a:prstGeom>
          <a:ln w="9525">
            <a:solidFill>
              <a:srgbClr val="D2DCDF"/>
            </a:solidFill>
          </a:ln>
        </p:spPr>
      </p:cxnSp>
      <p:sp>
        <p:nvSpPr>
          <p:cNvPr id="9" name="TextBox 8"/>
          <p:cNvSpPr txBox="1"/>
          <p:nvPr/>
        </p:nvSpPr>
        <p:spPr>
          <a:xfrm>
            <a:off x="822959" y="4437125"/>
            <a:ext cx="640080" cy="292608"/>
          </a:xfrm>
          <a:prstGeom prst="rect">
            <a:avLst/>
          </a:prstGeom>
          <a:noFill/>
        </p:spPr>
        <p:txBody>
          <a:bodyPr wrap="square" lIns="0" tIns="0" rIns="0" bIns="0" anchor="t"/>
          <a:lstStyle/>
          <a:p>
            <a:pPr algn="r"/>
            <a:r>
              <a:rPr sz="1600" b="0" i="0">
                <a:solidFill>
                  <a:srgbClr val="586B73"/>
                </a:solidFill>
                <a:latin typeface="Arial"/>
                <a:ea typeface="Arial"/>
                <a:cs typeface="Arial"/>
              </a:rPr>
              <a:t>0.98</a:t>
            </a:r>
          </a:p>
        </p:txBody>
      </p:sp>
      <p:cxnSp>
        <p:nvCxnSpPr>
          <p:cNvPr id="10" name="Connector 9"/>
          <p:cNvCxnSpPr/>
          <p:nvPr/>
        </p:nvCxnSpPr>
        <p:spPr>
          <a:xfrm>
            <a:off x="1554480" y="3861053"/>
            <a:ext cx="6126480" cy="0"/>
          </a:xfrm>
          <a:prstGeom prst="line">
            <a:avLst/>
          </a:prstGeom>
          <a:ln w="15875">
            <a:solidFill>
              <a:srgbClr val="1B3A57"/>
            </a:solidFill>
            <a:prstDash val="dash"/>
          </a:ln>
        </p:spPr>
      </p:cxnSp>
      <p:sp>
        <p:nvSpPr>
          <p:cNvPr id="11" name="TextBox 10"/>
          <p:cNvSpPr txBox="1"/>
          <p:nvPr/>
        </p:nvSpPr>
        <p:spPr>
          <a:xfrm>
            <a:off x="822959" y="3714749"/>
            <a:ext cx="640080" cy="292608"/>
          </a:xfrm>
          <a:prstGeom prst="rect">
            <a:avLst/>
          </a:prstGeom>
          <a:noFill/>
        </p:spPr>
        <p:txBody>
          <a:bodyPr wrap="square" lIns="0" tIns="0" rIns="0" bIns="0" anchor="t"/>
          <a:lstStyle/>
          <a:p>
            <a:pPr algn="r"/>
            <a:r>
              <a:rPr sz="1600" b="0" i="0">
                <a:solidFill>
                  <a:srgbClr val="586B73"/>
                </a:solidFill>
                <a:latin typeface="Arial"/>
                <a:ea typeface="Arial"/>
                <a:cs typeface="Arial"/>
              </a:rPr>
              <a:t>1.00</a:t>
            </a:r>
          </a:p>
        </p:txBody>
      </p:sp>
      <p:cxnSp>
        <p:nvCxnSpPr>
          <p:cNvPr id="12" name="Connector 11"/>
          <p:cNvCxnSpPr/>
          <p:nvPr/>
        </p:nvCxnSpPr>
        <p:spPr>
          <a:xfrm>
            <a:off x="1554480" y="3138677"/>
            <a:ext cx="6126480" cy="0"/>
          </a:xfrm>
          <a:prstGeom prst="line">
            <a:avLst/>
          </a:prstGeom>
          <a:ln w="9525">
            <a:solidFill>
              <a:srgbClr val="D2DCDF"/>
            </a:solidFill>
          </a:ln>
        </p:spPr>
      </p:cxnSp>
      <p:sp>
        <p:nvSpPr>
          <p:cNvPr id="13" name="TextBox 12"/>
          <p:cNvSpPr txBox="1"/>
          <p:nvPr/>
        </p:nvSpPr>
        <p:spPr>
          <a:xfrm>
            <a:off x="822959" y="2992373"/>
            <a:ext cx="640080" cy="292608"/>
          </a:xfrm>
          <a:prstGeom prst="rect">
            <a:avLst/>
          </a:prstGeom>
          <a:noFill/>
        </p:spPr>
        <p:txBody>
          <a:bodyPr wrap="square" lIns="0" tIns="0" rIns="0" bIns="0" anchor="t"/>
          <a:lstStyle/>
          <a:p>
            <a:pPr algn="r"/>
            <a:r>
              <a:rPr sz="1600" b="0" i="0">
                <a:solidFill>
                  <a:srgbClr val="586B73"/>
                </a:solidFill>
                <a:latin typeface="Arial"/>
                <a:ea typeface="Arial"/>
                <a:cs typeface="Arial"/>
              </a:rPr>
              <a:t>1.02</a:t>
            </a:r>
          </a:p>
        </p:txBody>
      </p:sp>
      <p:cxnSp>
        <p:nvCxnSpPr>
          <p:cNvPr id="14" name="Connector 13"/>
          <p:cNvCxnSpPr/>
          <p:nvPr/>
        </p:nvCxnSpPr>
        <p:spPr>
          <a:xfrm>
            <a:off x="1554480" y="2416301"/>
            <a:ext cx="6126480" cy="0"/>
          </a:xfrm>
          <a:prstGeom prst="line">
            <a:avLst/>
          </a:prstGeom>
          <a:ln w="9525">
            <a:solidFill>
              <a:srgbClr val="D2DCDF"/>
            </a:solidFill>
          </a:ln>
        </p:spPr>
      </p:cxnSp>
      <p:sp>
        <p:nvSpPr>
          <p:cNvPr id="15" name="TextBox 14"/>
          <p:cNvSpPr txBox="1"/>
          <p:nvPr/>
        </p:nvSpPr>
        <p:spPr>
          <a:xfrm>
            <a:off x="822959" y="2269997"/>
            <a:ext cx="640080" cy="292608"/>
          </a:xfrm>
          <a:prstGeom prst="rect">
            <a:avLst/>
          </a:prstGeom>
          <a:noFill/>
        </p:spPr>
        <p:txBody>
          <a:bodyPr wrap="square" lIns="0" tIns="0" rIns="0" bIns="0" anchor="t"/>
          <a:lstStyle/>
          <a:p>
            <a:pPr algn="r"/>
            <a:r>
              <a:rPr sz="1600" b="0" i="0">
                <a:solidFill>
                  <a:srgbClr val="586B73"/>
                </a:solidFill>
                <a:latin typeface="Arial"/>
                <a:ea typeface="Arial"/>
                <a:cs typeface="Arial"/>
              </a:rPr>
              <a:t>1.04</a:t>
            </a:r>
          </a:p>
        </p:txBody>
      </p:sp>
      <p:sp>
        <p:nvSpPr>
          <p:cNvPr id="16" name="TextBox 15"/>
          <p:cNvSpPr txBox="1"/>
          <p:nvPr/>
        </p:nvSpPr>
        <p:spPr>
          <a:xfrm>
            <a:off x="1234440"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1</a:t>
            </a:r>
          </a:p>
        </p:txBody>
      </p:sp>
      <p:sp>
        <p:nvSpPr>
          <p:cNvPr id="17" name="TextBox 16"/>
          <p:cNvSpPr txBox="1"/>
          <p:nvPr/>
        </p:nvSpPr>
        <p:spPr>
          <a:xfrm>
            <a:off x="2109651"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2</a:t>
            </a:r>
          </a:p>
        </p:txBody>
      </p:sp>
      <p:sp>
        <p:nvSpPr>
          <p:cNvPr id="18" name="TextBox 17"/>
          <p:cNvSpPr txBox="1"/>
          <p:nvPr/>
        </p:nvSpPr>
        <p:spPr>
          <a:xfrm>
            <a:off x="2984862"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4</a:t>
            </a:r>
          </a:p>
        </p:txBody>
      </p:sp>
      <p:sp>
        <p:nvSpPr>
          <p:cNvPr id="19" name="TextBox 18"/>
          <p:cNvSpPr txBox="1"/>
          <p:nvPr/>
        </p:nvSpPr>
        <p:spPr>
          <a:xfrm>
            <a:off x="3860074"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8</a:t>
            </a:r>
          </a:p>
        </p:txBody>
      </p:sp>
      <p:sp>
        <p:nvSpPr>
          <p:cNvPr id="20" name="TextBox 19"/>
          <p:cNvSpPr txBox="1"/>
          <p:nvPr/>
        </p:nvSpPr>
        <p:spPr>
          <a:xfrm>
            <a:off x="4735285"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16</a:t>
            </a:r>
          </a:p>
        </p:txBody>
      </p:sp>
      <p:sp>
        <p:nvSpPr>
          <p:cNvPr id="21" name="TextBox 20"/>
          <p:cNvSpPr txBox="1"/>
          <p:nvPr/>
        </p:nvSpPr>
        <p:spPr>
          <a:xfrm>
            <a:off x="5610497"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32</a:t>
            </a:r>
          </a:p>
        </p:txBody>
      </p:sp>
      <p:sp>
        <p:nvSpPr>
          <p:cNvPr id="22" name="TextBox 21"/>
          <p:cNvSpPr txBox="1"/>
          <p:nvPr/>
        </p:nvSpPr>
        <p:spPr>
          <a:xfrm>
            <a:off x="6485708"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64</a:t>
            </a:r>
          </a:p>
        </p:txBody>
      </p:sp>
      <p:sp>
        <p:nvSpPr>
          <p:cNvPr id="23" name="TextBox 22"/>
          <p:cNvSpPr txBox="1"/>
          <p:nvPr/>
        </p:nvSpPr>
        <p:spPr>
          <a:xfrm>
            <a:off x="7360920" y="5541264"/>
            <a:ext cx="640080" cy="274320"/>
          </a:xfrm>
          <a:prstGeom prst="rect">
            <a:avLst/>
          </a:prstGeom>
          <a:noFill/>
        </p:spPr>
        <p:txBody>
          <a:bodyPr wrap="square" lIns="0" tIns="0" rIns="0" bIns="0" anchor="t"/>
          <a:lstStyle/>
          <a:p>
            <a:pPr algn="ctr"/>
            <a:r>
              <a:rPr sz="1600" b="0" i="0">
                <a:solidFill>
                  <a:srgbClr val="586B73"/>
                </a:solidFill>
                <a:latin typeface="Arial"/>
                <a:ea typeface="Arial"/>
                <a:cs typeface="Arial"/>
              </a:rPr>
              <a:t>128</a:t>
            </a:r>
          </a:p>
        </p:txBody>
      </p:sp>
      <p:sp>
        <p:nvSpPr>
          <p:cNvPr id="24" name="TextBox 23"/>
          <p:cNvSpPr txBox="1"/>
          <p:nvPr/>
        </p:nvSpPr>
        <p:spPr>
          <a:xfrm>
            <a:off x="1554480" y="5833872"/>
            <a:ext cx="6126480" cy="310896"/>
          </a:xfrm>
          <a:prstGeom prst="rect">
            <a:avLst/>
          </a:prstGeom>
          <a:noFill/>
        </p:spPr>
        <p:txBody>
          <a:bodyPr wrap="square" lIns="0" tIns="0" rIns="0" bIns="0" anchor="t"/>
          <a:lstStyle/>
          <a:p>
            <a:pPr algn="ctr"/>
            <a:r>
              <a:rPr sz="1800" b="0" i="0">
                <a:solidFill>
                  <a:srgbClr val="1B3A57"/>
                </a:solidFill>
                <a:latin typeface="Arial"/>
                <a:ea typeface="Arial"/>
                <a:cs typeface="Arial"/>
              </a:rPr>
              <a:t>Requests in flight, c (log)</a:t>
            </a:r>
          </a:p>
        </p:txBody>
      </p:sp>
      <p:sp>
        <p:nvSpPr>
          <p:cNvPr id="25" name="TextBox 24"/>
          <p:cNvSpPr txBox="1"/>
          <p:nvPr/>
        </p:nvSpPr>
        <p:spPr>
          <a:xfrm>
            <a:off x="822959" y="1463039"/>
            <a:ext cx="5486400" cy="310896"/>
          </a:xfrm>
          <a:prstGeom prst="rect">
            <a:avLst/>
          </a:prstGeom>
          <a:noFill/>
        </p:spPr>
        <p:txBody>
          <a:bodyPr wrap="square" lIns="0" tIns="0" rIns="0" bIns="0" anchor="t"/>
          <a:lstStyle/>
          <a:p>
            <a:pPr algn="l"/>
            <a:r>
              <a:rPr sz="1800" b="0" i="0">
                <a:solidFill>
                  <a:srgbClr val="1B3A57"/>
                </a:solidFill>
                <a:latin typeface="Arial"/>
                <a:ea typeface="Arial"/>
                <a:cs typeface="Arial"/>
              </a:rPr>
              <a:t>Throughput with the head ÷ without</a:t>
            </a:r>
          </a:p>
        </p:txBody>
      </p:sp>
      <p:cxnSp>
        <p:nvCxnSpPr>
          <p:cNvPr id="26" name="Connector 25"/>
          <p:cNvCxnSpPr/>
          <p:nvPr/>
        </p:nvCxnSpPr>
        <p:spPr>
          <a:xfrm>
            <a:off x="1554480" y="2955066"/>
            <a:ext cx="1750422" cy="132130"/>
          </a:xfrm>
          <a:prstGeom prst="line">
            <a:avLst/>
          </a:prstGeom>
          <a:ln w="28575">
            <a:solidFill>
              <a:srgbClr val="1B3A57"/>
            </a:solidFill>
          </a:ln>
        </p:spPr>
      </p:cxnSp>
      <p:cxnSp>
        <p:nvCxnSpPr>
          <p:cNvPr id="27" name="Connector 26"/>
          <p:cNvCxnSpPr/>
          <p:nvPr/>
        </p:nvCxnSpPr>
        <p:spPr>
          <a:xfrm>
            <a:off x="3304902" y="3087196"/>
            <a:ext cx="875212" cy="25351"/>
          </a:xfrm>
          <a:prstGeom prst="line">
            <a:avLst/>
          </a:prstGeom>
          <a:ln w="28575">
            <a:solidFill>
              <a:srgbClr val="1B3A57"/>
            </a:solidFill>
          </a:ln>
        </p:spPr>
      </p:cxnSp>
      <p:cxnSp>
        <p:nvCxnSpPr>
          <p:cNvPr id="28" name="Connector 27"/>
          <p:cNvCxnSpPr/>
          <p:nvPr/>
        </p:nvCxnSpPr>
        <p:spPr>
          <a:xfrm>
            <a:off x="4180114" y="3112547"/>
            <a:ext cx="875211" cy="8775"/>
          </a:xfrm>
          <a:prstGeom prst="line">
            <a:avLst/>
          </a:prstGeom>
          <a:ln w="28575">
            <a:solidFill>
              <a:srgbClr val="1B3A57"/>
            </a:solidFill>
          </a:ln>
        </p:spPr>
      </p:cxnSp>
      <p:cxnSp>
        <p:nvCxnSpPr>
          <p:cNvPr id="29" name="Connector 28"/>
          <p:cNvCxnSpPr/>
          <p:nvPr/>
        </p:nvCxnSpPr>
        <p:spPr>
          <a:xfrm>
            <a:off x="5055325" y="3121322"/>
            <a:ext cx="875212" cy="344698"/>
          </a:xfrm>
          <a:prstGeom prst="line">
            <a:avLst/>
          </a:prstGeom>
          <a:ln w="28575">
            <a:solidFill>
              <a:srgbClr val="1B3A57"/>
            </a:solidFill>
          </a:ln>
        </p:spPr>
      </p:cxnSp>
      <p:cxnSp>
        <p:nvCxnSpPr>
          <p:cNvPr id="30" name="Connector 29"/>
          <p:cNvCxnSpPr/>
          <p:nvPr/>
        </p:nvCxnSpPr>
        <p:spPr>
          <a:xfrm>
            <a:off x="5930537" y="3466020"/>
            <a:ext cx="875211" cy="425710"/>
          </a:xfrm>
          <a:prstGeom prst="line">
            <a:avLst/>
          </a:prstGeom>
          <a:ln w="28575">
            <a:solidFill>
              <a:srgbClr val="1B3A57"/>
            </a:solidFill>
          </a:ln>
        </p:spPr>
      </p:cxnSp>
      <p:cxnSp>
        <p:nvCxnSpPr>
          <p:cNvPr id="31" name="Connector 30"/>
          <p:cNvCxnSpPr/>
          <p:nvPr/>
        </p:nvCxnSpPr>
        <p:spPr>
          <a:xfrm>
            <a:off x="6805748" y="3891730"/>
            <a:ext cx="875212" cy="184512"/>
          </a:xfrm>
          <a:prstGeom prst="line">
            <a:avLst/>
          </a:prstGeom>
          <a:ln w="28575">
            <a:solidFill>
              <a:srgbClr val="1B3A57"/>
            </a:solidFill>
          </a:ln>
        </p:spPr>
      </p:cxnSp>
      <p:sp>
        <p:nvSpPr>
          <p:cNvPr id="32" name="Oval 31"/>
          <p:cNvSpPr/>
          <p:nvPr/>
        </p:nvSpPr>
        <p:spPr>
          <a:xfrm>
            <a:off x="1476756" y="2877342"/>
            <a:ext cx="155448" cy="155448"/>
          </a:xfrm>
          <a:prstGeom prst="ellipse">
            <a:avLst/>
          </a:prstGeom>
          <a:solidFill>
            <a:srgbClr val="1B3A57"/>
          </a:solidFill>
          <a:ln w="12700">
            <a:solidFill>
              <a:srgbClr val="1B3A57"/>
            </a:solidFill>
          </a:ln>
        </p:spPr>
        <p:txBody>
          <a:bodyPr rtlCol="0" anchor="ctr"/>
          <a:lstStyle/>
          <a:p>
            <a:pPr algn="ctr"/>
          </a:p>
        </p:txBody>
      </p:sp>
      <p:sp>
        <p:nvSpPr>
          <p:cNvPr id="33" name="Oval 32"/>
          <p:cNvSpPr/>
          <p:nvPr/>
        </p:nvSpPr>
        <p:spPr>
          <a:xfrm>
            <a:off x="3227178" y="3009472"/>
            <a:ext cx="155448" cy="155448"/>
          </a:xfrm>
          <a:prstGeom prst="ellipse">
            <a:avLst/>
          </a:prstGeom>
          <a:solidFill>
            <a:srgbClr val="1B3A57"/>
          </a:solidFill>
          <a:ln w="12700">
            <a:solidFill>
              <a:srgbClr val="1B3A57"/>
            </a:solidFill>
          </a:ln>
        </p:spPr>
        <p:txBody>
          <a:bodyPr rtlCol="0" anchor="ctr"/>
          <a:lstStyle/>
          <a:p>
            <a:pPr algn="ctr"/>
          </a:p>
        </p:txBody>
      </p:sp>
      <p:sp>
        <p:nvSpPr>
          <p:cNvPr id="34" name="Oval 33"/>
          <p:cNvSpPr/>
          <p:nvPr/>
        </p:nvSpPr>
        <p:spPr>
          <a:xfrm>
            <a:off x="4102390" y="3034823"/>
            <a:ext cx="155448" cy="155448"/>
          </a:xfrm>
          <a:prstGeom prst="ellipse">
            <a:avLst/>
          </a:prstGeom>
          <a:solidFill>
            <a:srgbClr val="1B3A57"/>
          </a:solidFill>
          <a:ln w="12700">
            <a:solidFill>
              <a:srgbClr val="1B3A57"/>
            </a:solidFill>
          </a:ln>
        </p:spPr>
        <p:txBody>
          <a:bodyPr rtlCol="0" anchor="ctr"/>
          <a:lstStyle/>
          <a:p>
            <a:pPr algn="ctr"/>
          </a:p>
        </p:txBody>
      </p:sp>
      <p:sp>
        <p:nvSpPr>
          <p:cNvPr id="35" name="Oval 34"/>
          <p:cNvSpPr/>
          <p:nvPr/>
        </p:nvSpPr>
        <p:spPr>
          <a:xfrm>
            <a:off x="4977601" y="3043598"/>
            <a:ext cx="155448" cy="155448"/>
          </a:xfrm>
          <a:prstGeom prst="ellipse">
            <a:avLst/>
          </a:prstGeom>
          <a:solidFill>
            <a:srgbClr val="1B3A57"/>
          </a:solidFill>
          <a:ln w="12700">
            <a:solidFill>
              <a:srgbClr val="1B3A57"/>
            </a:solidFill>
          </a:ln>
        </p:spPr>
        <p:txBody>
          <a:bodyPr rtlCol="0" anchor="ctr"/>
          <a:lstStyle/>
          <a:p>
            <a:pPr algn="ctr"/>
          </a:p>
        </p:txBody>
      </p:sp>
      <p:sp>
        <p:nvSpPr>
          <p:cNvPr id="36" name="Oval 35"/>
          <p:cNvSpPr/>
          <p:nvPr/>
        </p:nvSpPr>
        <p:spPr>
          <a:xfrm>
            <a:off x="5852813" y="3388296"/>
            <a:ext cx="155448" cy="155448"/>
          </a:xfrm>
          <a:prstGeom prst="ellipse">
            <a:avLst/>
          </a:prstGeom>
          <a:solidFill>
            <a:srgbClr val="1B3A57"/>
          </a:solidFill>
          <a:ln w="12700">
            <a:solidFill>
              <a:srgbClr val="1B3A57"/>
            </a:solidFill>
          </a:ln>
        </p:spPr>
        <p:txBody>
          <a:bodyPr rtlCol="0" anchor="ctr"/>
          <a:lstStyle/>
          <a:p>
            <a:pPr algn="ctr"/>
          </a:p>
        </p:txBody>
      </p:sp>
      <p:sp>
        <p:nvSpPr>
          <p:cNvPr id="37" name="Oval 36"/>
          <p:cNvSpPr/>
          <p:nvPr/>
        </p:nvSpPr>
        <p:spPr>
          <a:xfrm>
            <a:off x="6728024" y="3814006"/>
            <a:ext cx="155448" cy="155448"/>
          </a:xfrm>
          <a:prstGeom prst="ellipse">
            <a:avLst/>
          </a:prstGeom>
          <a:solidFill>
            <a:srgbClr val="FFFFFF"/>
          </a:solidFill>
          <a:ln w="15875">
            <a:solidFill>
              <a:srgbClr val="1B3A57"/>
            </a:solidFill>
          </a:ln>
        </p:spPr>
        <p:txBody>
          <a:bodyPr rtlCol="0" anchor="ctr"/>
          <a:lstStyle/>
          <a:p>
            <a:pPr algn="ctr"/>
          </a:p>
        </p:txBody>
      </p:sp>
      <p:sp>
        <p:nvSpPr>
          <p:cNvPr id="38" name="Oval 37"/>
          <p:cNvSpPr/>
          <p:nvPr/>
        </p:nvSpPr>
        <p:spPr>
          <a:xfrm>
            <a:off x="7603236" y="3998518"/>
            <a:ext cx="155448" cy="155448"/>
          </a:xfrm>
          <a:prstGeom prst="ellipse">
            <a:avLst/>
          </a:prstGeom>
          <a:solidFill>
            <a:srgbClr val="1B3A57"/>
          </a:solidFill>
          <a:ln w="12700">
            <a:solidFill>
              <a:srgbClr val="1B3A57"/>
            </a:solidFill>
          </a:ln>
        </p:spPr>
        <p:txBody>
          <a:bodyPr rtlCol="0" anchor="ctr"/>
          <a:lstStyle/>
          <a:p>
            <a:pPr algn="ctr"/>
          </a:p>
        </p:txBody>
      </p:sp>
      <p:cxnSp>
        <p:nvCxnSpPr>
          <p:cNvPr id="39" name="Connector 38"/>
          <p:cNvCxnSpPr/>
          <p:nvPr/>
        </p:nvCxnSpPr>
        <p:spPr>
          <a:xfrm>
            <a:off x="1554480" y="2215349"/>
            <a:ext cx="875211" cy="380913"/>
          </a:xfrm>
          <a:prstGeom prst="line">
            <a:avLst/>
          </a:prstGeom>
          <a:ln w="28575">
            <a:solidFill>
              <a:srgbClr val="1C6402"/>
            </a:solidFill>
          </a:ln>
        </p:spPr>
      </p:cxnSp>
      <p:cxnSp>
        <p:nvCxnSpPr>
          <p:cNvPr id="40" name="Connector 39"/>
          <p:cNvCxnSpPr/>
          <p:nvPr/>
        </p:nvCxnSpPr>
        <p:spPr>
          <a:xfrm>
            <a:off x="2429691" y="2596262"/>
            <a:ext cx="875211" cy="173170"/>
          </a:xfrm>
          <a:prstGeom prst="line">
            <a:avLst/>
          </a:prstGeom>
          <a:ln w="28575">
            <a:solidFill>
              <a:srgbClr val="1C6402"/>
            </a:solidFill>
          </a:ln>
        </p:spPr>
      </p:cxnSp>
      <p:cxnSp>
        <p:nvCxnSpPr>
          <p:cNvPr id="41" name="Connector 40"/>
          <p:cNvCxnSpPr/>
          <p:nvPr/>
        </p:nvCxnSpPr>
        <p:spPr>
          <a:xfrm>
            <a:off x="3304902" y="2769432"/>
            <a:ext cx="875212" cy="482796"/>
          </a:xfrm>
          <a:prstGeom prst="line">
            <a:avLst/>
          </a:prstGeom>
          <a:ln w="28575">
            <a:solidFill>
              <a:srgbClr val="1C6402"/>
            </a:solidFill>
          </a:ln>
        </p:spPr>
      </p:cxnSp>
      <p:cxnSp>
        <p:nvCxnSpPr>
          <p:cNvPr id="42" name="Connector 41"/>
          <p:cNvCxnSpPr/>
          <p:nvPr/>
        </p:nvCxnSpPr>
        <p:spPr>
          <a:xfrm>
            <a:off x="4180114" y="3252228"/>
            <a:ext cx="875211" cy="626486"/>
          </a:xfrm>
          <a:prstGeom prst="line">
            <a:avLst/>
          </a:prstGeom>
          <a:ln w="28575">
            <a:solidFill>
              <a:srgbClr val="1C6402"/>
            </a:solidFill>
          </a:ln>
        </p:spPr>
      </p:cxnSp>
      <p:cxnSp>
        <p:nvCxnSpPr>
          <p:cNvPr id="43" name="Connector 42"/>
          <p:cNvCxnSpPr/>
          <p:nvPr/>
        </p:nvCxnSpPr>
        <p:spPr>
          <a:xfrm>
            <a:off x="5055325" y="3878714"/>
            <a:ext cx="875212" cy="742714"/>
          </a:xfrm>
          <a:prstGeom prst="line">
            <a:avLst/>
          </a:prstGeom>
          <a:ln w="28575">
            <a:solidFill>
              <a:srgbClr val="1C6402"/>
            </a:solidFill>
          </a:ln>
        </p:spPr>
      </p:cxnSp>
      <p:cxnSp>
        <p:nvCxnSpPr>
          <p:cNvPr id="44" name="Connector 43"/>
          <p:cNvCxnSpPr/>
          <p:nvPr/>
        </p:nvCxnSpPr>
        <p:spPr>
          <a:xfrm>
            <a:off x="5930537" y="4621428"/>
            <a:ext cx="875211" cy="429822"/>
          </a:xfrm>
          <a:prstGeom prst="line">
            <a:avLst/>
          </a:prstGeom>
          <a:ln w="28575">
            <a:solidFill>
              <a:srgbClr val="1C6402"/>
            </a:solidFill>
          </a:ln>
        </p:spPr>
      </p:cxnSp>
      <p:sp>
        <p:nvSpPr>
          <p:cNvPr id="45" name="Isosceles Triangle 44"/>
          <p:cNvSpPr/>
          <p:nvPr/>
        </p:nvSpPr>
        <p:spPr>
          <a:xfrm>
            <a:off x="1476756" y="2137625"/>
            <a:ext cx="155448" cy="155448"/>
          </a:xfrm>
          <a:prstGeom prst="triangle">
            <a:avLst/>
          </a:prstGeom>
          <a:solidFill>
            <a:srgbClr val="1C6402"/>
          </a:solidFill>
          <a:ln w="12700">
            <a:solidFill>
              <a:srgbClr val="1C6402"/>
            </a:solidFill>
          </a:ln>
        </p:spPr>
        <p:txBody>
          <a:bodyPr rtlCol="0" anchor="ctr"/>
          <a:lstStyle/>
          <a:p>
            <a:pPr algn="ctr"/>
          </a:p>
        </p:txBody>
      </p:sp>
      <p:sp>
        <p:nvSpPr>
          <p:cNvPr id="46" name="Isosceles Triangle 45"/>
          <p:cNvSpPr/>
          <p:nvPr/>
        </p:nvSpPr>
        <p:spPr>
          <a:xfrm>
            <a:off x="2351967" y="2518538"/>
            <a:ext cx="155448" cy="155448"/>
          </a:xfrm>
          <a:prstGeom prst="triangle">
            <a:avLst/>
          </a:prstGeom>
          <a:solidFill>
            <a:srgbClr val="1C6402"/>
          </a:solidFill>
          <a:ln w="12700">
            <a:solidFill>
              <a:srgbClr val="1C6402"/>
            </a:solidFill>
          </a:ln>
        </p:spPr>
        <p:txBody>
          <a:bodyPr rtlCol="0" anchor="ctr"/>
          <a:lstStyle/>
          <a:p>
            <a:pPr algn="ctr"/>
          </a:p>
        </p:txBody>
      </p:sp>
      <p:sp>
        <p:nvSpPr>
          <p:cNvPr id="47" name="Isosceles Triangle 46"/>
          <p:cNvSpPr/>
          <p:nvPr/>
        </p:nvSpPr>
        <p:spPr>
          <a:xfrm>
            <a:off x="3227178" y="2691708"/>
            <a:ext cx="155448" cy="155448"/>
          </a:xfrm>
          <a:prstGeom prst="triangle">
            <a:avLst/>
          </a:prstGeom>
          <a:solidFill>
            <a:srgbClr val="1C6402"/>
          </a:solidFill>
          <a:ln w="12700">
            <a:solidFill>
              <a:srgbClr val="1C6402"/>
            </a:solidFill>
          </a:ln>
        </p:spPr>
        <p:txBody>
          <a:bodyPr rtlCol="0" anchor="ctr"/>
          <a:lstStyle/>
          <a:p>
            <a:pPr algn="ctr"/>
          </a:p>
        </p:txBody>
      </p:sp>
      <p:sp>
        <p:nvSpPr>
          <p:cNvPr id="48" name="Isosceles Triangle 47"/>
          <p:cNvSpPr/>
          <p:nvPr/>
        </p:nvSpPr>
        <p:spPr>
          <a:xfrm>
            <a:off x="4102390" y="3174504"/>
            <a:ext cx="155448" cy="155448"/>
          </a:xfrm>
          <a:prstGeom prst="triangle">
            <a:avLst/>
          </a:prstGeom>
          <a:solidFill>
            <a:srgbClr val="1C6402"/>
          </a:solidFill>
          <a:ln w="12700">
            <a:solidFill>
              <a:srgbClr val="1C6402"/>
            </a:solidFill>
          </a:ln>
        </p:spPr>
        <p:txBody>
          <a:bodyPr rtlCol="0" anchor="ctr"/>
          <a:lstStyle/>
          <a:p>
            <a:pPr algn="ctr"/>
          </a:p>
        </p:txBody>
      </p:sp>
      <p:sp>
        <p:nvSpPr>
          <p:cNvPr id="49" name="Isosceles Triangle 48"/>
          <p:cNvSpPr/>
          <p:nvPr/>
        </p:nvSpPr>
        <p:spPr>
          <a:xfrm>
            <a:off x="4977601" y="3800990"/>
            <a:ext cx="155448" cy="155448"/>
          </a:xfrm>
          <a:prstGeom prst="triangle">
            <a:avLst/>
          </a:prstGeom>
          <a:solidFill>
            <a:srgbClr val="FFFFFF"/>
          </a:solidFill>
          <a:ln w="15875">
            <a:solidFill>
              <a:srgbClr val="1C6402"/>
            </a:solidFill>
          </a:ln>
        </p:spPr>
        <p:txBody>
          <a:bodyPr rtlCol="0" anchor="ctr"/>
          <a:lstStyle/>
          <a:p>
            <a:pPr algn="ctr"/>
          </a:p>
        </p:txBody>
      </p:sp>
      <p:sp>
        <p:nvSpPr>
          <p:cNvPr id="50" name="Isosceles Triangle 49"/>
          <p:cNvSpPr/>
          <p:nvPr/>
        </p:nvSpPr>
        <p:spPr>
          <a:xfrm>
            <a:off x="5852813" y="4543704"/>
            <a:ext cx="155448" cy="155448"/>
          </a:xfrm>
          <a:prstGeom prst="triangle">
            <a:avLst/>
          </a:prstGeom>
          <a:solidFill>
            <a:srgbClr val="FFFFFF"/>
          </a:solidFill>
          <a:ln w="15875">
            <a:solidFill>
              <a:srgbClr val="1C6402"/>
            </a:solidFill>
          </a:ln>
        </p:spPr>
        <p:txBody>
          <a:bodyPr rtlCol="0" anchor="ctr"/>
          <a:lstStyle/>
          <a:p>
            <a:pPr algn="ctr"/>
          </a:p>
        </p:txBody>
      </p:sp>
      <p:sp>
        <p:nvSpPr>
          <p:cNvPr id="51" name="Isosceles Triangle 50"/>
          <p:cNvSpPr/>
          <p:nvPr/>
        </p:nvSpPr>
        <p:spPr>
          <a:xfrm>
            <a:off x="6728024" y="4973526"/>
            <a:ext cx="155448" cy="155448"/>
          </a:xfrm>
          <a:prstGeom prst="triangle">
            <a:avLst/>
          </a:prstGeom>
          <a:solidFill>
            <a:srgbClr val="1C6402"/>
          </a:solidFill>
          <a:ln w="12700">
            <a:solidFill>
              <a:srgbClr val="1C6402"/>
            </a:solidFill>
          </a:ln>
        </p:spPr>
        <p:txBody>
          <a:bodyPr rtlCol="0" anchor="ctr"/>
          <a:lstStyle/>
          <a:p>
            <a:pPr algn="ctr"/>
          </a:p>
        </p:txBody>
      </p:sp>
      <p:cxnSp>
        <p:nvCxnSpPr>
          <p:cNvPr id="52" name="Connector 51"/>
          <p:cNvCxnSpPr/>
          <p:nvPr/>
        </p:nvCxnSpPr>
        <p:spPr>
          <a:xfrm>
            <a:off x="1554480" y="3409510"/>
            <a:ext cx="875211" cy="810949"/>
          </a:xfrm>
          <a:prstGeom prst="line">
            <a:avLst/>
          </a:prstGeom>
          <a:ln w="28575">
            <a:solidFill>
              <a:srgbClr val="CC79A7"/>
            </a:solidFill>
            <a:prstDash val="dash"/>
          </a:ln>
        </p:spPr>
      </p:cxnSp>
      <p:cxnSp>
        <p:nvCxnSpPr>
          <p:cNvPr id="53" name="Connector 52"/>
          <p:cNvCxnSpPr/>
          <p:nvPr/>
        </p:nvCxnSpPr>
        <p:spPr>
          <a:xfrm>
            <a:off x="2429691" y="4220459"/>
            <a:ext cx="875211" cy="714880"/>
          </a:xfrm>
          <a:prstGeom prst="line">
            <a:avLst/>
          </a:prstGeom>
          <a:ln w="28575">
            <a:solidFill>
              <a:srgbClr val="CC79A7"/>
            </a:solidFill>
            <a:prstDash val="dash"/>
          </a:ln>
        </p:spPr>
      </p:cxnSp>
      <p:cxnSp>
        <p:nvCxnSpPr>
          <p:cNvPr id="54" name="Connector 53"/>
          <p:cNvCxnSpPr/>
          <p:nvPr/>
        </p:nvCxnSpPr>
        <p:spPr>
          <a:xfrm flipV="1">
            <a:off x="3304902" y="4289120"/>
            <a:ext cx="875212" cy="646219"/>
          </a:xfrm>
          <a:prstGeom prst="line">
            <a:avLst/>
          </a:prstGeom>
          <a:ln w="28575">
            <a:solidFill>
              <a:srgbClr val="CC79A7"/>
            </a:solidFill>
            <a:prstDash val="dash"/>
          </a:ln>
        </p:spPr>
      </p:cxnSp>
      <p:sp>
        <p:nvSpPr>
          <p:cNvPr id="55" name="Diamond 54"/>
          <p:cNvSpPr/>
          <p:nvPr/>
        </p:nvSpPr>
        <p:spPr>
          <a:xfrm>
            <a:off x="1476756" y="3331786"/>
            <a:ext cx="155448" cy="155448"/>
          </a:xfrm>
          <a:prstGeom prst="diamond">
            <a:avLst/>
          </a:prstGeom>
          <a:solidFill>
            <a:srgbClr val="CC79A7"/>
          </a:solidFill>
          <a:ln w="12700">
            <a:solidFill>
              <a:srgbClr val="CC79A7"/>
            </a:solidFill>
          </a:ln>
        </p:spPr>
        <p:txBody>
          <a:bodyPr rtlCol="0" anchor="ctr"/>
          <a:lstStyle/>
          <a:p>
            <a:pPr algn="ctr"/>
          </a:p>
        </p:txBody>
      </p:sp>
      <p:sp>
        <p:nvSpPr>
          <p:cNvPr id="56" name="Diamond 55"/>
          <p:cNvSpPr/>
          <p:nvPr/>
        </p:nvSpPr>
        <p:spPr>
          <a:xfrm>
            <a:off x="2351967" y="4142735"/>
            <a:ext cx="155448" cy="155448"/>
          </a:xfrm>
          <a:prstGeom prst="diamond">
            <a:avLst/>
          </a:prstGeom>
          <a:solidFill>
            <a:srgbClr val="CC79A7"/>
          </a:solidFill>
          <a:ln w="12700">
            <a:solidFill>
              <a:srgbClr val="CC79A7"/>
            </a:solidFill>
          </a:ln>
        </p:spPr>
        <p:txBody>
          <a:bodyPr rtlCol="0" anchor="ctr"/>
          <a:lstStyle/>
          <a:p>
            <a:pPr algn="ctr"/>
          </a:p>
        </p:txBody>
      </p:sp>
      <p:sp>
        <p:nvSpPr>
          <p:cNvPr id="57" name="Diamond 56"/>
          <p:cNvSpPr/>
          <p:nvPr/>
        </p:nvSpPr>
        <p:spPr>
          <a:xfrm>
            <a:off x="3227178" y="4857615"/>
            <a:ext cx="155448" cy="155448"/>
          </a:xfrm>
          <a:prstGeom prst="diamond">
            <a:avLst/>
          </a:prstGeom>
          <a:solidFill>
            <a:srgbClr val="CC79A7"/>
          </a:solidFill>
          <a:ln w="12700">
            <a:solidFill>
              <a:srgbClr val="CC79A7"/>
            </a:solidFill>
          </a:ln>
        </p:spPr>
        <p:txBody>
          <a:bodyPr rtlCol="0" anchor="ctr"/>
          <a:lstStyle/>
          <a:p>
            <a:pPr algn="ctr"/>
          </a:p>
        </p:txBody>
      </p:sp>
      <p:sp>
        <p:nvSpPr>
          <p:cNvPr id="58" name="Diamond 57"/>
          <p:cNvSpPr/>
          <p:nvPr/>
        </p:nvSpPr>
        <p:spPr>
          <a:xfrm>
            <a:off x="4102390" y="4211396"/>
            <a:ext cx="155448" cy="155448"/>
          </a:xfrm>
          <a:prstGeom prst="diamond">
            <a:avLst/>
          </a:prstGeom>
          <a:solidFill>
            <a:srgbClr val="CC79A7"/>
          </a:solidFill>
          <a:ln w="12700">
            <a:solidFill>
              <a:srgbClr val="CC79A7"/>
            </a:solidFill>
          </a:ln>
        </p:spPr>
        <p:txBody>
          <a:bodyPr rtlCol="0" anchor="ctr"/>
          <a:lstStyle/>
          <a:p>
            <a:pPr algn="ctr"/>
          </a:p>
        </p:txBody>
      </p:sp>
      <p:cxnSp>
        <p:nvCxnSpPr>
          <p:cNvPr id="59" name="Connector 58"/>
          <p:cNvCxnSpPr/>
          <p:nvPr/>
        </p:nvCxnSpPr>
        <p:spPr>
          <a:xfrm>
            <a:off x="3304902" y="4296022"/>
            <a:ext cx="875212" cy="454302"/>
          </a:xfrm>
          <a:prstGeom prst="line">
            <a:avLst/>
          </a:prstGeom>
          <a:ln w="28575">
            <a:solidFill>
              <a:srgbClr val="6F1FA7"/>
            </a:solidFill>
          </a:ln>
        </p:spPr>
      </p:cxnSp>
      <p:cxnSp>
        <p:nvCxnSpPr>
          <p:cNvPr id="60" name="Connector 59"/>
          <p:cNvCxnSpPr/>
          <p:nvPr/>
        </p:nvCxnSpPr>
        <p:spPr>
          <a:xfrm flipV="1">
            <a:off x="4180114" y="4291527"/>
            <a:ext cx="875211" cy="458797"/>
          </a:xfrm>
          <a:prstGeom prst="line">
            <a:avLst/>
          </a:prstGeom>
          <a:ln w="28575">
            <a:solidFill>
              <a:srgbClr val="6F1FA7"/>
            </a:solidFill>
          </a:ln>
        </p:spPr>
      </p:cxnSp>
      <p:cxnSp>
        <p:nvCxnSpPr>
          <p:cNvPr id="61" name="Connector 60"/>
          <p:cNvCxnSpPr/>
          <p:nvPr/>
        </p:nvCxnSpPr>
        <p:spPr>
          <a:xfrm flipV="1">
            <a:off x="5055325" y="4067844"/>
            <a:ext cx="875212" cy="223683"/>
          </a:xfrm>
          <a:prstGeom prst="line">
            <a:avLst/>
          </a:prstGeom>
          <a:ln w="28575">
            <a:solidFill>
              <a:srgbClr val="6F1FA7"/>
            </a:solidFill>
          </a:ln>
        </p:spPr>
      </p:cxnSp>
      <p:sp>
        <p:nvSpPr>
          <p:cNvPr id="62" name="Diamond 61"/>
          <p:cNvSpPr/>
          <p:nvPr/>
        </p:nvSpPr>
        <p:spPr>
          <a:xfrm>
            <a:off x="3227178" y="4218298"/>
            <a:ext cx="155448" cy="155448"/>
          </a:xfrm>
          <a:prstGeom prst="diamond">
            <a:avLst/>
          </a:prstGeom>
          <a:solidFill>
            <a:srgbClr val="6F1FA7"/>
          </a:solidFill>
          <a:ln w="12700">
            <a:solidFill>
              <a:srgbClr val="6F1FA7"/>
            </a:solidFill>
          </a:ln>
        </p:spPr>
        <p:txBody>
          <a:bodyPr rtlCol="0" anchor="ctr"/>
          <a:lstStyle/>
          <a:p>
            <a:pPr algn="ctr"/>
          </a:p>
        </p:txBody>
      </p:sp>
      <p:sp>
        <p:nvSpPr>
          <p:cNvPr id="63" name="Diamond 62"/>
          <p:cNvSpPr/>
          <p:nvPr/>
        </p:nvSpPr>
        <p:spPr>
          <a:xfrm>
            <a:off x="4102390" y="4672600"/>
            <a:ext cx="155448" cy="155448"/>
          </a:xfrm>
          <a:prstGeom prst="diamond">
            <a:avLst/>
          </a:prstGeom>
          <a:solidFill>
            <a:srgbClr val="6F1FA7"/>
          </a:solidFill>
          <a:ln w="12700">
            <a:solidFill>
              <a:srgbClr val="6F1FA7"/>
            </a:solidFill>
          </a:ln>
        </p:spPr>
        <p:txBody>
          <a:bodyPr rtlCol="0" anchor="ctr"/>
          <a:lstStyle/>
          <a:p>
            <a:pPr algn="ctr"/>
          </a:p>
        </p:txBody>
      </p:sp>
      <p:sp>
        <p:nvSpPr>
          <p:cNvPr id="64" name="Diamond 63"/>
          <p:cNvSpPr/>
          <p:nvPr/>
        </p:nvSpPr>
        <p:spPr>
          <a:xfrm>
            <a:off x="4977601" y="4213803"/>
            <a:ext cx="155448" cy="155448"/>
          </a:xfrm>
          <a:prstGeom prst="diamond">
            <a:avLst/>
          </a:prstGeom>
          <a:solidFill>
            <a:srgbClr val="FFFFFF"/>
          </a:solidFill>
          <a:ln w="15875">
            <a:solidFill>
              <a:srgbClr val="6F1FA7"/>
            </a:solidFill>
          </a:ln>
        </p:spPr>
        <p:txBody>
          <a:bodyPr rtlCol="0" anchor="ctr"/>
          <a:lstStyle/>
          <a:p>
            <a:pPr algn="ctr"/>
          </a:p>
        </p:txBody>
      </p:sp>
      <p:sp>
        <p:nvSpPr>
          <p:cNvPr id="65" name="Diamond 64"/>
          <p:cNvSpPr/>
          <p:nvPr/>
        </p:nvSpPr>
        <p:spPr>
          <a:xfrm>
            <a:off x="5852813" y="3990120"/>
            <a:ext cx="155448" cy="155448"/>
          </a:xfrm>
          <a:prstGeom prst="diamond">
            <a:avLst/>
          </a:prstGeom>
          <a:solidFill>
            <a:srgbClr val="FFFFFF"/>
          </a:solidFill>
          <a:ln w="15875">
            <a:solidFill>
              <a:srgbClr val="6F1FA7"/>
            </a:solidFill>
          </a:ln>
        </p:spPr>
        <p:txBody>
          <a:bodyPr rtlCol="0" anchor="ctr"/>
          <a:lstStyle/>
          <a:p>
            <a:pPr algn="ctr"/>
          </a:p>
        </p:txBody>
      </p:sp>
      <p:sp>
        <p:nvSpPr>
          <p:cNvPr id="66" name="TextBox 65"/>
          <p:cNvSpPr txBox="1"/>
          <p:nvPr/>
        </p:nvSpPr>
        <p:spPr>
          <a:xfrm>
            <a:off x="4963885" y="2737274"/>
            <a:ext cx="1554480" cy="310896"/>
          </a:xfrm>
          <a:prstGeom prst="rect">
            <a:avLst/>
          </a:prstGeom>
          <a:noFill/>
        </p:spPr>
        <p:txBody>
          <a:bodyPr wrap="square" lIns="0" tIns="0" rIns="0" bIns="0" anchor="t"/>
          <a:lstStyle/>
          <a:p>
            <a:pPr algn="l"/>
            <a:r>
              <a:rPr sz="1800" b="1" i="0">
                <a:solidFill>
                  <a:srgbClr val="1B3A57"/>
                </a:solidFill>
                <a:latin typeface="Arial"/>
                <a:ea typeface="Arial"/>
                <a:cs typeface="Arial"/>
              </a:rPr>
              <a:t>plain</a:t>
            </a:r>
          </a:p>
        </p:txBody>
      </p:sp>
      <p:sp>
        <p:nvSpPr>
          <p:cNvPr id="67" name="TextBox 66"/>
          <p:cNvSpPr txBox="1"/>
          <p:nvPr/>
        </p:nvSpPr>
        <p:spPr>
          <a:xfrm>
            <a:off x="1691639" y="1849589"/>
            <a:ext cx="1554480" cy="310896"/>
          </a:xfrm>
          <a:prstGeom prst="rect">
            <a:avLst/>
          </a:prstGeom>
          <a:noFill/>
        </p:spPr>
        <p:txBody>
          <a:bodyPr wrap="square" lIns="0" tIns="0" rIns="0" bIns="0" anchor="t"/>
          <a:lstStyle/>
          <a:p>
            <a:pPr algn="l"/>
            <a:r>
              <a:rPr sz="1800" b="1" i="0">
                <a:solidFill>
                  <a:srgbClr val="1C6402"/>
                </a:solidFill>
                <a:latin typeface="Arial"/>
                <a:ea typeface="Arial"/>
                <a:cs typeface="Arial"/>
              </a:rPr>
              <a:t>MTP</a:t>
            </a:r>
          </a:p>
        </p:txBody>
      </p:sp>
      <p:sp>
        <p:nvSpPr>
          <p:cNvPr id="68" name="TextBox 67"/>
          <p:cNvSpPr txBox="1"/>
          <p:nvPr/>
        </p:nvSpPr>
        <p:spPr>
          <a:xfrm>
            <a:off x="1508760" y="5016855"/>
            <a:ext cx="1554480" cy="310896"/>
          </a:xfrm>
          <a:prstGeom prst="rect">
            <a:avLst/>
          </a:prstGeom>
          <a:noFill/>
        </p:spPr>
        <p:txBody>
          <a:bodyPr wrap="square" lIns="0" tIns="0" rIns="0" bIns="0" anchor="t"/>
          <a:lstStyle/>
          <a:p>
            <a:pPr algn="l"/>
            <a:r>
              <a:rPr sz="1800" b="1" i="0">
                <a:solidFill>
                  <a:srgbClr val="CC79A7"/>
                </a:solidFill>
                <a:latin typeface="Arial"/>
                <a:ea typeface="Arial"/>
                <a:cs typeface="Arial"/>
              </a:rPr>
              <a:t>DFlash-16</a:t>
            </a:r>
          </a:p>
        </p:txBody>
      </p:sp>
      <p:sp>
        <p:nvSpPr>
          <p:cNvPr id="69" name="TextBox 68"/>
          <p:cNvSpPr txBox="1"/>
          <p:nvPr/>
        </p:nvSpPr>
        <p:spPr>
          <a:xfrm>
            <a:off x="3448594" y="5089093"/>
            <a:ext cx="1554480" cy="310896"/>
          </a:xfrm>
          <a:prstGeom prst="rect">
            <a:avLst/>
          </a:prstGeom>
          <a:noFill/>
        </p:spPr>
        <p:txBody>
          <a:bodyPr wrap="square" lIns="0" tIns="0" rIns="0" bIns="0" anchor="t"/>
          <a:lstStyle/>
          <a:p>
            <a:pPr algn="l"/>
            <a:r>
              <a:rPr sz="1800" b="1" i="0">
                <a:solidFill>
                  <a:srgbClr val="6F1FA7"/>
                </a:solidFill>
                <a:latin typeface="Arial"/>
                <a:ea typeface="Arial"/>
                <a:cs typeface="Arial"/>
              </a:rPr>
              <a:t>DFlash-8</a:t>
            </a:r>
          </a:p>
        </p:txBody>
      </p:sp>
      <p:cxnSp>
        <p:nvCxnSpPr>
          <p:cNvPr id="70" name="Connector 69"/>
          <p:cNvCxnSpPr/>
          <p:nvPr/>
        </p:nvCxnSpPr>
        <p:spPr>
          <a:xfrm>
            <a:off x="8183879" y="1783080"/>
            <a:ext cx="0" cy="4434840"/>
          </a:xfrm>
          <a:prstGeom prst="line">
            <a:avLst/>
          </a:prstGeom>
          <a:ln w="12700">
            <a:solidFill>
              <a:srgbClr val="D2DCDF"/>
            </a:solidFill>
          </a:ln>
        </p:spPr>
      </p:cxnSp>
      <p:sp>
        <p:nvSpPr>
          <p:cNvPr id="71" name="TextBox 70"/>
          <p:cNvSpPr txBox="1"/>
          <p:nvPr/>
        </p:nvSpPr>
        <p:spPr>
          <a:xfrm>
            <a:off x="8412480" y="1737360"/>
            <a:ext cx="3063240" cy="685800"/>
          </a:xfrm>
          <a:prstGeom prst="rect">
            <a:avLst/>
          </a:prstGeom>
          <a:noFill/>
        </p:spPr>
        <p:txBody>
          <a:bodyPr wrap="square" lIns="0" tIns="0" rIns="0" bIns="0" anchor="t"/>
          <a:lstStyle/>
          <a:p>
            <a:pPr algn="l"/>
            <a:r>
              <a:rPr sz="3400" b="1" i="0">
                <a:solidFill>
                  <a:srgbClr val="0072B2"/>
                </a:solidFill>
                <a:latin typeface="Arial"/>
                <a:ea typeface="Arial"/>
                <a:cs typeface="Arial"/>
              </a:rPr>
              <a:t>+1.3–4.6%</a:t>
            </a:r>
          </a:p>
        </p:txBody>
      </p:sp>
      <p:sp>
        <p:nvSpPr>
          <p:cNvPr id="72" name="TextBox 71"/>
          <p:cNvSpPr txBox="1"/>
          <p:nvPr/>
        </p:nvSpPr>
        <p:spPr>
          <a:xfrm>
            <a:off x="8412480" y="2450592"/>
            <a:ext cx="3063240" cy="868680"/>
          </a:xfrm>
          <a:prstGeom prst="rect">
            <a:avLst/>
          </a:prstGeom>
          <a:noFill/>
        </p:spPr>
        <p:txBody>
          <a:bodyPr wrap="square" lIns="0" tIns="0" rIns="0" bIns="0" anchor="t"/>
          <a:lstStyle/>
          <a:p>
            <a:pPr algn="l"/>
            <a:r>
              <a:rPr sz="2000" b="0" i="0">
                <a:solidFill>
                  <a:srgbClr val="1B3A57"/>
                </a:solidFill>
                <a:latin typeface="Arial"/>
                <a:ea typeface="Arial"/>
                <a:cs typeface="Arial"/>
              </a:rPr>
              <a:t>at c = 1, 28–71% of the predicted gain</a:t>
            </a:r>
          </a:p>
        </p:txBody>
      </p:sp>
      <p:sp>
        <p:nvSpPr>
          <p:cNvPr id="73" name="TextBox 72"/>
          <p:cNvSpPr txBox="1"/>
          <p:nvPr/>
        </p:nvSpPr>
        <p:spPr>
          <a:xfrm>
            <a:off x="8412480" y="3429000"/>
            <a:ext cx="3063240" cy="685800"/>
          </a:xfrm>
          <a:prstGeom prst="rect">
            <a:avLst/>
          </a:prstGeom>
          <a:noFill/>
        </p:spPr>
        <p:txBody>
          <a:bodyPr wrap="square" lIns="0" tIns="0" rIns="0" bIns="0" anchor="t"/>
          <a:lstStyle/>
          <a:p>
            <a:pPr algn="l"/>
            <a:r>
              <a:rPr sz="3400" b="1" i="0">
                <a:solidFill>
                  <a:srgbClr val="D55E00"/>
                </a:solidFill>
                <a:latin typeface="Arial"/>
                <a:ea typeface="Arial"/>
                <a:cs typeface="Arial"/>
              </a:rPr>
              <a:t>−1.0–3.0%</a:t>
            </a:r>
          </a:p>
        </p:txBody>
      </p:sp>
      <p:sp>
        <p:nvSpPr>
          <p:cNvPr id="74" name="TextBox 73"/>
          <p:cNvSpPr txBox="1"/>
          <p:nvPr/>
        </p:nvSpPr>
        <p:spPr>
          <a:xfrm>
            <a:off x="8412480" y="4142232"/>
            <a:ext cx="3063240" cy="868680"/>
          </a:xfrm>
          <a:prstGeom prst="rect">
            <a:avLst/>
          </a:prstGeom>
          <a:noFill/>
        </p:spPr>
        <p:txBody>
          <a:bodyPr wrap="square" lIns="0" tIns="0" rIns="0" bIns="0" anchor="t"/>
          <a:lstStyle/>
          <a:p>
            <a:pPr algn="l"/>
            <a:r>
              <a:rPr sz="2000" b="0" i="0">
                <a:solidFill>
                  <a:srgbClr val="1B3A57"/>
                </a:solidFill>
                <a:latin typeface="Arial"/>
                <a:ea typeface="Arial"/>
                <a:cs typeface="Arial"/>
              </a:rPr>
              <a:t>for the fastest arm at c = 2–8</a:t>
            </a:r>
          </a:p>
        </p:txBody>
      </p:sp>
      <p:sp>
        <p:nvSpPr>
          <p:cNvPr id="75" name="TextBox 74"/>
          <p:cNvSpPr txBox="1"/>
          <p:nvPr/>
        </p:nvSpPr>
        <p:spPr>
          <a:xfrm>
            <a:off x="8412480" y="5257800"/>
            <a:ext cx="3063240" cy="868680"/>
          </a:xfrm>
          <a:prstGeom prst="rect">
            <a:avLst/>
          </a:prstGeom>
          <a:noFill/>
        </p:spPr>
        <p:txBody>
          <a:bodyPr wrap="square" lIns="0" tIns="0" rIns="0" bIns="0" anchor="t"/>
          <a:lstStyle/>
          <a:p>
            <a:pPr algn="l"/>
            <a:r>
              <a:rPr sz="1600" b="0" i="0">
                <a:solidFill>
                  <a:srgbClr val="586B73"/>
                </a:solidFill>
                <a:latin typeface="Arial"/>
                <a:ea typeface="Arial"/>
                <a:cs typeface="Arial"/>
              </a:rPr>
              <a:t>Filled: 95% interval excludes 1. Three sessions, each arm against itself.</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Most DFlash verify calls above c = 1 need a fallback</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§4.3, §4.5</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11</a:t>
            </a:r>
          </a:p>
        </p:txBody>
      </p:sp>
      <p:cxnSp>
        <p:nvCxnSpPr>
          <p:cNvPr id="6" name="Connector 5"/>
          <p:cNvCxnSpPr/>
          <p:nvPr/>
        </p:nvCxnSpPr>
        <p:spPr>
          <a:xfrm>
            <a:off x="1645920" y="5394960"/>
            <a:ext cx="5577840" cy="0"/>
          </a:xfrm>
          <a:prstGeom prst="line">
            <a:avLst/>
          </a:prstGeom>
          <a:ln w="9525">
            <a:solidFill>
              <a:srgbClr val="D2DCDF"/>
            </a:solidFill>
          </a:ln>
        </p:spPr>
      </p:cxnSp>
      <p:sp>
        <p:nvSpPr>
          <p:cNvPr id="7" name="TextBox 6"/>
          <p:cNvSpPr txBox="1"/>
          <p:nvPr/>
        </p:nvSpPr>
        <p:spPr>
          <a:xfrm>
            <a:off x="731520" y="5248656"/>
            <a:ext cx="685800" cy="292608"/>
          </a:xfrm>
          <a:prstGeom prst="rect">
            <a:avLst/>
          </a:prstGeom>
          <a:noFill/>
        </p:spPr>
        <p:txBody>
          <a:bodyPr wrap="square" lIns="0" tIns="0" rIns="0" bIns="0" anchor="t"/>
          <a:lstStyle/>
          <a:p>
            <a:pPr algn="r"/>
            <a:r>
              <a:rPr sz="1600" b="0" i="0">
                <a:solidFill>
                  <a:srgbClr val="586B73"/>
                </a:solidFill>
                <a:latin typeface="Arial"/>
                <a:ea typeface="Arial"/>
                <a:cs typeface="Arial"/>
              </a:rPr>
              <a:t>0%</a:t>
            </a:r>
          </a:p>
        </p:txBody>
      </p:sp>
      <p:cxnSp>
        <p:nvCxnSpPr>
          <p:cNvPr id="8" name="Connector 7"/>
          <p:cNvCxnSpPr/>
          <p:nvPr/>
        </p:nvCxnSpPr>
        <p:spPr>
          <a:xfrm>
            <a:off x="1645920" y="4526280"/>
            <a:ext cx="5577840" cy="0"/>
          </a:xfrm>
          <a:prstGeom prst="line">
            <a:avLst/>
          </a:prstGeom>
          <a:ln w="9525">
            <a:solidFill>
              <a:srgbClr val="D2DCDF"/>
            </a:solidFill>
          </a:ln>
        </p:spPr>
      </p:cxnSp>
      <p:sp>
        <p:nvSpPr>
          <p:cNvPr id="9" name="TextBox 8"/>
          <p:cNvSpPr txBox="1"/>
          <p:nvPr/>
        </p:nvSpPr>
        <p:spPr>
          <a:xfrm>
            <a:off x="731520" y="4379976"/>
            <a:ext cx="685800" cy="292608"/>
          </a:xfrm>
          <a:prstGeom prst="rect">
            <a:avLst/>
          </a:prstGeom>
          <a:noFill/>
        </p:spPr>
        <p:txBody>
          <a:bodyPr wrap="square" lIns="0" tIns="0" rIns="0" bIns="0" anchor="t"/>
          <a:lstStyle/>
          <a:p>
            <a:pPr algn="r"/>
            <a:r>
              <a:rPr sz="1600" b="0" i="0">
                <a:solidFill>
                  <a:srgbClr val="586B73"/>
                </a:solidFill>
                <a:latin typeface="Arial"/>
                <a:ea typeface="Arial"/>
                <a:cs typeface="Arial"/>
              </a:rPr>
              <a:t>25%</a:t>
            </a:r>
          </a:p>
        </p:txBody>
      </p:sp>
      <p:cxnSp>
        <p:nvCxnSpPr>
          <p:cNvPr id="10" name="Connector 9"/>
          <p:cNvCxnSpPr/>
          <p:nvPr/>
        </p:nvCxnSpPr>
        <p:spPr>
          <a:xfrm>
            <a:off x="1645920" y="3657600"/>
            <a:ext cx="5577840" cy="0"/>
          </a:xfrm>
          <a:prstGeom prst="line">
            <a:avLst/>
          </a:prstGeom>
          <a:ln w="9525">
            <a:solidFill>
              <a:srgbClr val="D2DCDF"/>
            </a:solidFill>
          </a:ln>
        </p:spPr>
      </p:cxnSp>
      <p:sp>
        <p:nvSpPr>
          <p:cNvPr id="11" name="TextBox 10"/>
          <p:cNvSpPr txBox="1"/>
          <p:nvPr/>
        </p:nvSpPr>
        <p:spPr>
          <a:xfrm>
            <a:off x="731520" y="3511296"/>
            <a:ext cx="685800" cy="292608"/>
          </a:xfrm>
          <a:prstGeom prst="rect">
            <a:avLst/>
          </a:prstGeom>
          <a:noFill/>
        </p:spPr>
        <p:txBody>
          <a:bodyPr wrap="square" lIns="0" tIns="0" rIns="0" bIns="0" anchor="t"/>
          <a:lstStyle/>
          <a:p>
            <a:pPr algn="r"/>
            <a:r>
              <a:rPr sz="1600" b="0" i="0">
                <a:solidFill>
                  <a:srgbClr val="586B73"/>
                </a:solidFill>
                <a:latin typeface="Arial"/>
                <a:ea typeface="Arial"/>
                <a:cs typeface="Arial"/>
              </a:rPr>
              <a:t>50%</a:t>
            </a:r>
          </a:p>
        </p:txBody>
      </p:sp>
      <p:cxnSp>
        <p:nvCxnSpPr>
          <p:cNvPr id="12" name="Connector 11"/>
          <p:cNvCxnSpPr/>
          <p:nvPr/>
        </p:nvCxnSpPr>
        <p:spPr>
          <a:xfrm>
            <a:off x="1645920" y="2788920"/>
            <a:ext cx="5577840" cy="0"/>
          </a:xfrm>
          <a:prstGeom prst="line">
            <a:avLst/>
          </a:prstGeom>
          <a:ln w="9525">
            <a:solidFill>
              <a:srgbClr val="D2DCDF"/>
            </a:solidFill>
          </a:ln>
        </p:spPr>
      </p:cxnSp>
      <p:sp>
        <p:nvSpPr>
          <p:cNvPr id="13" name="TextBox 12"/>
          <p:cNvSpPr txBox="1"/>
          <p:nvPr/>
        </p:nvSpPr>
        <p:spPr>
          <a:xfrm>
            <a:off x="731520" y="2642616"/>
            <a:ext cx="685800" cy="292608"/>
          </a:xfrm>
          <a:prstGeom prst="rect">
            <a:avLst/>
          </a:prstGeom>
          <a:noFill/>
        </p:spPr>
        <p:txBody>
          <a:bodyPr wrap="square" lIns="0" tIns="0" rIns="0" bIns="0" anchor="t"/>
          <a:lstStyle/>
          <a:p>
            <a:pPr algn="r"/>
            <a:r>
              <a:rPr sz="1600" b="0" i="0">
                <a:solidFill>
                  <a:srgbClr val="586B73"/>
                </a:solidFill>
                <a:latin typeface="Arial"/>
                <a:ea typeface="Arial"/>
                <a:cs typeface="Arial"/>
              </a:rPr>
              <a:t>75%</a:t>
            </a:r>
          </a:p>
        </p:txBody>
      </p:sp>
      <p:cxnSp>
        <p:nvCxnSpPr>
          <p:cNvPr id="14" name="Connector 13"/>
          <p:cNvCxnSpPr/>
          <p:nvPr/>
        </p:nvCxnSpPr>
        <p:spPr>
          <a:xfrm>
            <a:off x="1645920" y="1920240"/>
            <a:ext cx="5577840" cy="0"/>
          </a:xfrm>
          <a:prstGeom prst="line">
            <a:avLst/>
          </a:prstGeom>
          <a:ln w="9525">
            <a:solidFill>
              <a:srgbClr val="D2DCDF"/>
            </a:solidFill>
          </a:ln>
        </p:spPr>
      </p:cxnSp>
      <p:sp>
        <p:nvSpPr>
          <p:cNvPr id="15" name="TextBox 14"/>
          <p:cNvSpPr txBox="1"/>
          <p:nvPr/>
        </p:nvSpPr>
        <p:spPr>
          <a:xfrm>
            <a:off x="731520" y="1773936"/>
            <a:ext cx="685800" cy="292608"/>
          </a:xfrm>
          <a:prstGeom prst="rect">
            <a:avLst/>
          </a:prstGeom>
          <a:noFill/>
        </p:spPr>
        <p:txBody>
          <a:bodyPr wrap="square" lIns="0" tIns="0" rIns="0" bIns="0" anchor="t"/>
          <a:lstStyle/>
          <a:p>
            <a:pPr algn="r"/>
            <a:r>
              <a:rPr sz="1600" b="0" i="0">
                <a:solidFill>
                  <a:srgbClr val="586B73"/>
                </a:solidFill>
                <a:latin typeface="Arial"/>
                <a:ea typeface="Arial"/>
                <a:cs typeface="Arial"/>
              </a:rPr>
              <a:t>100%</a:t>
            </a:r>
          </a:p>
        </p:txBody>
      </p:sp>
      <p:sp>
        <p:nvSpPr>
          <p:cNvPr id="16" name="TextBox 15"/>
          <p:cNvSpPr txBox="1"/>
          <p:nvPr/>
        </p:nvSpPr>
        <p:spPr>
          <a:xfrm>
            <a:off x="137160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1</a:t>
            </a:r>
          </a:p>
        </p:txBody>
      </p:sp>
      <p:sp>
        <p:nvSpPr>
          <p:cNvPr id="17" name="TextBox 16"/>
          <p:cNvSpPr txBox="1"/>
          <p:nvPr/>
        </p:nvSpPr>
        <p:spPr>
          <a:xfrm>
            <a:off x="230124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2</a:t>
            </a:r>
          </a:p>
        </p:txBody>
      </p:sp>
      <p:sp>
        <p:nvSpPr>
          <p:cNvPr id="18" name="TextBox 17"/>
          <p:cNvSpPr txBox="1"/>
          <p:nvPr/>
        </p:nvSpPr>
        <p:spPr>
          <a:xfrm>
            <a:off x="323088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4</a:t>
            </a:r>
          </a:p>
        </p:txBody>
      </p:sp>
      <p:sp>
        <p:nvSpPr>
          <p:cNvPr id="19" name="TextBox 18"/>
          <p:cNvSpPr txBox="1"/>
          <p:nvPr/>
        </p:nvSpPr>
        <p:spPr>
          <a:xfrm>
            <a:off x="416052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8</a:t>
            </a:r>
          </a:p>
        </p:txBody>
      </p:sp>
      <p:sp>
        <p:nvSpPr>
          <p:cNvPr id="20" name="TextBox 19"/>
          <p:cNvSpPr txBox="1"/>
          <p:nvPr/>
        </p:nvSpPr>
        <p:spPr>
          <a:xfrm>
            <a:off x="509016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16</a:t>
            </a:r>
          </a:p>
        </p:txBody>
      </p:sp>
      <p:sp>
        <p:nvSpPr>
          <p:cNvPr id="21" name="TextBox 20"/>
          <p:cNvSpPr txBox="1"/>
          <p:nvPr/>
        </p:nvSpPr>
        <p:spPr>
          <a:xfrm>
            <a:off x="601980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32</a:t>
            </a:r>
          </a:p>
        </p:txBody>
      </p:sp>
      <p:sp>
        <p:nvSpPr>
          <p:cNvPr id="22" name="TextBox 21"/>
          <p:cNvSpPr txBox="1"/>
          <p:nvPr/>
        </p:nvSpPr>
        <p:spPr>
          <a:xfrm>
            <a:off x="6949440" y="5486400"/>
            <a:ext cx="548640" cy="274320"/>
          </a:xfrm>
          <a:prstGeom prst="rect">
            <a:avLst/>
          </a:prstGeom>
          <a:noFill/>
        </p:spPr>
        <p:txBody>
          <a:bodyPr wrap="square" lIns="0" tIns="0" rIns="0" bIns="0" anchor="t"/>
          <a:lstStyle/>
          <a:p>
            <a:pPr algn="ctr"/>
            <a:r>
              <a:rPr sz="1600" b="0" i="0">
                <a:solidFill>
                  <a:srgbClr val="586B73"/>
                </a:solidFill>
                <a:latin typeface="Arial"/>
                <a:ea typeface="Arial"/>
                <a:cs typeface="Arial"/>
              </a:rPr>
              <a:t>64</a:t>
            </a:r>
          </a:p>
        </p:txBody>
      </p:sp>
      <p:sp>
        <p:nvSpPr>
          <p:cNvPr id="23" name="TextBox 22"/>
          <p:cNvSpPr txBox="1"/>
          <p:nvPr/>
        </p:nvSpPr>
        <p:spPr>
          <a:xfrm>
            <a:off x="1645920" y="5779008"/>
            <a:ext cx="5577840" cy="310896"/>
          </a:xfrm>
          <a:prstGeom prst="rect">
            <a:avLst/>
          </a:prstGeom>
          <a:noFill/>
        </p:spPr>
        <p:txBody>
          <a:bodyPr wrap="square" lIns="0" tIns="0" rIns="0" bIns="0" anchor="t"/>
          <a:lstStyle/>
          <a:p>
            <a:pPr algn="ctr"/>
            <a:r>
              <a:rPr sz="1800" b="0" i="0">
                <a:solidFill>
                  <a:srgbClr val="1B3A57"/>
                </a:solidFill>
                <a:latin typeface="Arial"/>
                <a:ea typeface="Arial"/>
                <a:cs typeface="Arial"/>
              </a:rPr>
              <a:t>Positions per certified call (log)</a:t>
            </a:r>
          </a:p>
        </p:txBody>
      </p:sp>
      <p:sp>
        <p:nvSpPr>
          <p:cNvPr id="24" name="TextBox 23"/>
          <p:cNvSpPr txBox="1"/>
          <p:nvPr/>
        </p:nvSpPr>
        <p:spPr>
          <a:xfrm>
            <a:off x="731520" y="1481328"/>
            <a:ext cx="5943600" cy="310896"/>
          </a:xfrm>
          <a:prstGeom prst="rect">
            <a:avLst/>
          </a:prstGeom>
          <a:noFill/>
        </p:spPr>
        <p:txBody>
          <a:bodyPr wrap="square" lIns="0" tIns="0" rIns="0" bIns="0" anchor="t"/>
          <a:lstStyle/>
          <a:p>
            <a:pPr algn="l"/>
            <a:r>
              <a:rPr sz="1800" b="0" i="0">
                <a:solidFill>
                  <a:srgbClr val="1B3A57"/>
                </a:solidFill>
                <a:latin typeface="Arial"/>
                <a:ea typeface="Arial"/>
                <a:cs typeface="Arial"/>
              </a:rPr>
              <a:t>Calls with a fallback (check mode)</a:t>
            </a:r>
          </a:p>
        </p:txBody>
      </p:sp>
      <p:sp>
        <p:nvSpPr>
          <p:cNvPr id="25" name="Oval 24"/>
          <p:cNvSpPr/>
          <p:nvPr/>
        </p:nvSpPr>
        <p:spPr>
          <a:xfrm>
            <a:off x="1568196" y="5260304"/>
            <a:ext cx="155448" cy="155448"/>
          </a:xfrm>
          <a:prstGeom prst="ellipse">
            <a:avLst/>
          </a:prstGeom>
          <a:solidFill>
            <a:srgbClr val="1B3A57"/>
          </a:solidFill>
          <a:ln w="12700">
            <a:solidFill>
              <a:srgbClr val="1B3A57"/>
            </a:solidFill>
          </a:ln>
        </p:spPr>
        <p:txBody>
          <a:bodyPr rtlCol="0" anchor="ctr"/>
          <a:lstStyle/>
          <a:p>
            <a:pPr algn="ctr"/>
          </a:p>
        </p:txBody>
      </p:sp>
      <p:sp>
        <p:nvSpPr>
          <p:cNvPr id="26" name="Oval 25"/>
          <p:cNvSpPr/>
          <p:nvPr/>
        </p:nvSpPr>
        <p:spPr>
          <a:xfrm>
            <a:off x="4357116" y="4826341"/>
            <a:ext cx="155448" cy="155448"/>
          </a:xfrm>
          <a:prstGeom prst="ellipse">
            <a:avLst/>
          </a:prstGeom>
          <a:solidFill>
            <a:srgbClr val="1B3A57"/>
          </a:solidFill>
          <a:ln w="12700">
            <a:solidFill>
              <a:srgbClr val="1B3A57"/>
            </a:solidFill>
          </a:ln>
        </p:spPr>
        <p:txBody>
          <a:bodyPr rtlCol="0" anchor="ctr"/>
          <a:lstStyle/>
          <a:p>
            <a:pPr algn="ctr"/>
          </a:p>
        </p:txBody>
      </p:sp>
      <p:sp>
        <p:nvSpPr>
          <p:cNvPr id="27" name="Oval 26"/>
          <p:cNvSpPr/>
          <p:nvPr/>
        </p:nvSpPr>
        <p:spPr>
          <a:xfrm>
            <a:off x="7146036" y="3204352"/>
            <a:ext cx="155448" cy="155448"/>
          </a:xfrm>
          <a:prstGeom prst="ellipse">
            <a:avLst/>
          </a:prstGeom>
          <a:solidFill>
            <a:srgbClr val="1B3A57"/>
          </a:solidFill>
          <a:ln w="12700">
            <a:solidFill>
              <a:srgbClr val="1B3A57"/>
            </a:solidFill>
          </a:ln>
        </p:spPr>
        <p:txBody>
          <a:bodyPr rtlCol="0" anchor="ctr"/>
          <a:lstStyle/>
          <a:p>
            <a:pPr algn="ctr"/>
          </a:p>
        </p:txBody>
      </p:sp>
      <p:sp>
        <p:nvSpPr>
          <p:cNvPr id="28" name="Isosceles Triangle 27"/>
          <p:cNvSpPr/>
          <p:nvPr/>
        </p:nvSpPr>
        <p:spPr>
          <a:xfrm>
            <a:off x="3427476" y="5033071"/>
            <a:ext cx="155448" cy="155448"/>
          </a:xfrm>
          <a:prstGeom prst="triangle">
            <a:avLst/>
          </a:prstGeom>
          <a:solidFill>
            <a:srgbClr val="1C6402"/>
          </a:solidFill>
          <a:ln w="12700">
            <a:solidFill>
              <a:srgbClr val="1C6402"/>
            </a:solidFill>
          </a:ln>
        </p:spPr>
        <p:txBody>
          <a:bodyPr rtlCol="0" anchor="ctr"/>
          <a:lstStyle/>
          <a:p>
            <a:pPr algn="ctr"/>
          </a:p>
        </p:txBody>
      </p:sp>
      <p:sp>
        <p:nvSpPr>
          <p:cNvPr id="29" name="Isosceles Triangle 28"/>
          <p:cNvSpPr/>
          <p:nvPr/>
        </p:nvSpPr>
        <p:spPr>
          <a:xfrm>
            <a:off x="5220595" y="4417133"/>
            <a:ext cx="155448" cy="155448"/>
          </a:xfrm>
          <a:prstGeom prst="triangle">
            <a:avLst/>
          </a:prstGeom>
          <a:solidFill>
            <a:srgbClr val="1C6402"/>
          </a:solidFill>
          <a:ln w="12700">
            <a:solidFill>
              <a:srgbClr val="1C6402"/>
            </a:solidFill>
          </a:ln>
        </p:spPr>
        <p:txBody>
          <a:bodyPr rtlCol="0" anchor="ctr"/>
          <a:lstStyle/>
          <a:p>
            <a:pPr algn="ctr"/>
          </a:p>
        </p:txBody>
      </p:sp>
      <p:sp>
        <p:nvSpPr>
          <p:cNvPr id="30" name="Isosceles Triangle 29"/>
          <p:cNvSpPr/>
          <p:nvPr/>
        </p:nvSpPr>
        <p:spPr>
          <a:xfrm>
            <a:off x="6916341" y="3205628"/>
            <a:ext cx="155448" cy="155448"/>
          </a:xfrm>
          <a:prstGeom prst="triangle">
            <a:avLst/>
          </a:prstGeom>
          <a:solidFill>
            <a:srgbClr val="1C6402"/>
          </a:solidFill>
          <a:ln w="12700">
            <a:solidFill>
              <a:srgbClr val="1C6402"/>
            </a:solidFill>
          </a:ln>
        </p:spPr>
        <p:txBody>
          <a:bodyPr rtlCol="0" anchor="ctr"/>
          <a:lstStyle/>
          <a:p>
            <a:pPr algn="ctr"/>
          </a:p>
        </p:txBody>
      </p:sp>
      <p:sp>
        <p:nvSpPr>
          <p:cNvPr id="31" name="Isosceles Triangle 30"/>
          <p:cNvSpPr/>
          <p:nvPr/>
        </p:nvSpPr>
        <p:spPr>
          <a:xfrm>
            <a:off x="6143523" y="3134399"/>
            <a:ext cx="155448" cy="155448"/>
          </a:xfrm>
          <a:prstGeom prst="triangle">
            <a:avLst/>
          </a:prstGeom>
          <a:solidFill>
            <a:srgbClr val="1C6402"/>
          </a:solidFill>
          <a:ln w="12700">
            <a:solidFill>
              <a:srgbClr val="1C6402"/>
            </a:solidFill>
          </a:ln>
        </p:spPr>
        <p:txBody>
          <a:bodyPr rtlCol="0" anchor="ctr"/>
          <a:lstStyle/>
          <a:p>
            <a:pPr algn="ctr"/>
          </a:p>
        </p:txBody>
      </p:sp>
      <p:sp>
        <p:nvSpPr>
          <p:cNvPr id="32" name="Diamond 31"/>
          <p:cNvSpPr/>
          <p:nvPr/>
        </p:nvSpPr>
        <p:spPr>
          <a:xfrm>
            <a:off x="5286756" y="3842879"/>
            <a:ext cx="155448" cy="155448"/>
          </a:xfrm>
          <a:prstGeom prst="diamond">
            <a:avLst/>
          </a:prstGeom>
          <a:solidFill>
            <a:srgbClr val="CC79A7"/>
          </a:solidFill>
          <a:ln w="12700">
            <a:solidFill>
              <a:srgbClr val="FFFFFF"/>
            </a:solidFill>
          </a:ln>
        </p:spPr>
        <p:txBody>
          <a:bodyPr rtlCol="0" anchor="ctr"/>
          <a:lstStyle/>
          <a:p>
            <a:pPr algn="ctr"/>
          </a:p>
        </p:txBody>
      </p:sp>
      <p:sp>
        <p:nvSpPr>
          <p:cNvPr id="33" name="Diamond 32"/>
          <p:cNvSpPr/>
          <p:nvPr/>
        </p:nvSpPr>
        <p:spPr>
          <a:xfrm>
            <a:off x="6104150" y="3085505"/>
            <a:ext cx="155448" cy="155448"/>
          </a:xfrm>
          <a:prstGeom prst="diamond">
            <a:avLst/>
          </a:prstGeom>
          <a:solidFill>
            <a:srgbClr val="CC79A7"/>
          </a:solidFill>
          <a:ln w="12700">
            <a:solidFill>
              <a:srgbClr val="FFFFFF"/>
            </a:solidFill>
          </a:ln>
        </p:spPr>
        <p:txBody>
          <a:bodyPr rtlCol="0" anchor="ctr"/>
          <a:lstStyle/>
          <a:p>
            <a:pPr algn="ctr"/>
          </a:p>
        </p:txBody>
      </p:sp>
      <p:sp>
        <p:nvSpPr>
          <p:cNvPr id="34" name="Diamond 33"/>
          <p:cNvSpPr/>
          <p:nvPr/>
        </p:nvSpPr>
        <p:spPr>
          <a:xfrm>
            <a:off x="6877390" y="2484708"/>
            <a:ext cx="155448" cy="155448"/>
          </a:xfrm>
          <a:prstGeom prst="diamond">
            <a:avLst/>
          </a:prstGeom>
          <a:solidFill>
            <a:srgbClr val="CC79A7"/>
          </a:solidFill>
          <a:ln w="12700">
            <a:solidFill>
              <a:srgbClr val="FFFFFF"/>
            </a:solidFill>
          </a:ln>
        </p:spPr>
        <p:txBody>
          <a:bodyPr rtlCol="0" anchor="ctr"/>
          <a:lstStyle/>
          <a:p>
            <a:pPr algn="ctr"/>
          </a:p>
        </p:txBody>
      </p:sp>
      <p:sp>
        <p:nvSpPr>
          <p:cNvPr id="35" name="Diamond 34"/>
          <p:cNvSpPr/>
          <p:nvPr/>
        </p:nvSpPr>
        <p:spPr>
          <a:xfrm>
            <a:off x="4357116" y="4627885"/>
            <a:ext cx="155448" cy="155448"/>
          </a:xfrm>
          <a:prstGeom prst="diamond">
            <a:avLst/>
          </a:prstGeom>
          <a:solidFill>
            <a:srgbClr val="6F1FA7"/>
          </a:solidFill>
          <a:ln w="12700">
            <a:solidFill>
              <a:srgbClr val="FFFFFF"/>
            </a:solidFill>
          </a:ln>
        </p:spPr>
        <p:txBody>
          <a:bodyPr rtlCol="0" anchor="ctr"/>
          <a:lstStyle/>
          <a:p>
            <a:pPr algn="ctr"/>
          </a:p>
        </p:txBody>
      </p:sp>
      <p:sp>
        <p:nvSpPr>
          <p:cNvPr id="36" name="Diamond 35"/>
          <p:cNvSpPr/>
          <p:nvPr/>
        </p:nvSpPr>
        <p:spPr>
          <a:xfrm>
            <a:off x="6018502" y="3452243"/>
            <a:ext cx="155448" cy="155448"/>
          </a:xfrm>
          <a:prstGeom prst="diamond">
            <a:avLst/>
          </a:prstGeom>
          <a:solidFill>
            <a:srgbClr val="6F1FA7"/>
          </a:solidFill>
          <a:ln w="12700">
            <a:solidFill>
              <a:srgbClr val="FFFFFF"/>
            </a:solidFill>
          </a:ln>
        </p:spPr>
        <p:txBody>
          <a:bodyPr rtlCol="0" anchor="ctr"/>
          <a:lstStyle/>
          <a:p>
            <a:pPr algn="ctr"/>
          </a:p>
        </p:txBody>
      </p:sp>
      <p:sp>
        <p:nvSpPr>
          <p:cNvPr id="37" name="Diamond 36"/>
          <p:cNvSpPr/>
          <p:nvPr/>
        </p:nvSpPr>
        <p:spPr>
          <a:xfrm>
            <a:off x="6710808" y="2854779"/>
            <a:ext cx="155448" cy="155448"/>
          </a:xfrm>
          <a:prstGeom prst="diamond">
            <a:avLst/>
          </a:prstGeom>
          <a:solidFill>
            <a:srgbClr val="6F1FA7"/>
          </a:solidFill>
          <a:ln w="12700">
            <a:solidFill>
              <a:srgbClr val="FFFFFF"/>
            </a:solidFill>
          </a:ln>
        </p:spPr>
        <p:txBody>
          <a:bodyPr rtlCol="0" anchor="ctr"/>
          <a:lstStyle/>
          <a:p>
            <a:pPr algn="ctr"/>
          </a:p>
        </p:txBody>
      </p:sp>
      <p:cxnSp>
        <p:nvCxnSpPr>
          <p:cNvPr id="38" name="Connector 37"/>
          <p:cNvCxnSpPr/>
          <p:nvPr/>
        </p:nvCxnSpPr>
        <p:spPr>
          <a:xfrm flipV="1">
            <a:off x="1645920" y="5338543"/>
            <a:ext cx="116205" cy="4647"/>
          </a:xfrm>
          <a:prstGeom prst="line">
            <a:avLst/>
          </a:prstGeom>
          <a:ln w="19050">
            <a:solidFill>
              <a:srgbClr val="1B3A57"/>
            </a:solidFill>
            <a:prstDash val="dash"/>
          </a:ln>
        </p:spPr>
      </p:cxnSp>
      <p:cxnSp>
        <p:nvCxnSpPr>
          <p:cNvPr id="39" name="Connector 38"/>
          <p:cNvCxnSpPr/>
          <p:nvPr/>
        </p:nvCxnSpPr>
        <p:spPr>
          <a:xfrm flipV="1">
            <a:off x="1762125" y="5333482"/>
            <a:ext cx="116205" cy="5061"/>
          </a:xfrm>
          <a:prstGeom prst="line">
            <a:avLst/>
          </a:prstGeom>
          <a:ln w="19050">
            <a:solidFill>
              <a:srgbClr val="1B3A57"/>
            </a:solidFill>
            <a:prstDash val="dash"/>
          </a:ln>
        </p:spPr>
      </p:cxnSp>
      <p:cxnSp>
        <p:nvCxnSpPr>
          <p:cNvPr id="40" name="Connector 39"/>
          <p:cNvCxnSpPr/>
          <p:nvPr/>
        </p:nvCxnSpPr>
        <p:spPr>
          <a:xfrm flipV="1">
            <a:off x="1878330" y="5327972"/>
            <a:ext cx="116205" cy="5510"/>
          </a:xfrm>
          <a:prstGeom prst="line">
            <a:avLst/>
          </a:prstGeom>
          <a:ln w="19050">
            <a:solidFill>
              <a:srgbClr val="1B3A57"/>
            </a:solidFill>
            <a:prstDash val="dash"/>
          </a:ln>
        </p:spPr>
      </p:cxnSp>
      <p:cxnSp>
        <p:nvCxnSpPr>
          <p:cNvPr id="41" name="Connector 40"/>
          <p:cNvCxnSpPr/>
          <p:nvPr/>
        </p:nvCxnSpPr>
        <p:spPr>
          <a:xfrm flipV="1">
            <a:off x="1994535" y="5321973"/>
            <a:ext cx="116205" cy="5999"/>
          </a:xfrm>
          <a:prstGeom prst="line">
            <a:avLst/>
          </a:prstGeom>
          <a:ln w="19050">
            <a:solidFill>
              <a:srgbClr val="1B3A57"/>
            </a:solidFill>
            <a:prstDash val="dash"/>
          </a:ln>
        </p:spPr>
      </p:cxnSp>
      <p:cxnSp>
        <p:nvCxnSpPr>
          <p:cNvPr id="42" name="Connector 41"/>
          <p:cNvCxnSpPr/>
          <p:nvPr/>
        </p:nvCxnSpPr>
        <p:spPr>
          <a:xfrm flipV="1">
            <a:off x="2110740" y="5315444"/>
            <a:ext cx="116205" cy="6529"/>
          </a:xfrm>
          <a:prstGeom prst="line">
            <a:avLst/>
          </a:prstGeom>
          <a:ln w="19050">
            <a:solidFill>
              <a:srgbClr val="1B3A57"/>
            </a:solidFill>
            <a:prstDash val="dash"/>
          </a:ln>
        </p:spPr>
      </p:cxnSp>
      <p:cxnSp>
        <p:nvCxnSpPr>
          <p:cNvPr id="43" name="Connector 42"/>
          <p:cNvCxnSpPr/>
          <p:nvPr/>
        </p:nvCxnSpPr>
        <p:spPr>
          <a:xfrm flipV="1">
            <a:off x="2226945" y="5308337"/>
            <a:ext cx="116205" cy="7107"/>
          </a:xfrm>
          <a:prstGeom prst="line">
            <a:avLst/>
          </a:prstGeom>
          <a:ln w="19050">
            <a:solidFill>
              <a:srgbClr val="1B3A57"/>
            </a:solidFill>
            <a:prstDash val="dash"/>
          </a:ln>
        </p:spPr>
      </p:cxnSp>
      <p:cxnSp>
        <p:nvCxnSpPr>
          <p:cNvPr id="44" name="Connector 43"/>
          <p:cNvCxnSpPr/>
          <p:nvPr/>
        </p:nvCxnSpPr>
        <p:spPr>
          <a:xfrm flipV="1">
            <a:off x="2343150" y="5300605"/>
            <a:ext cx="116205" cy="7732"/>
          </a:xfrm>
          <a:prstGeom prst="line">
            <a:avLst/>
          </a:prstGeom>
          <a:ln w="19050">
            <a:solidFill>
              <a:srgbClr val="1B3A57"/>
            </a:solidFill>
            <a:prstDash val="dash"/>
          </a:ln>
        </p:spPr>
      </p:cxnSp>
      <p:cxnSp>
        <p:nvCxnSpPr>
          <p:cNvPr id="45" name="Connector 44"/>
          <p:cNvCxnSpPr/>
          <p:nvPr/>
        </p:nvCxnSpPr>
        <p:spPr>
          <a:xfrm flipV="1">
            <a:off x="2459355" y="5292192"/>
            <a:ext cx="116205" cy="8413"/>
          </a:xfrm>
          <a:prstGeom prst="line">
            <a:avLst/>
          </a:prstGeom>
          <a:ln w="19050">
            <a:solidFill>
              <a:srgbClr val="1B3A57"/>
            </a:solidFill>
            <a:prstDash val="dash"/>
          </a:ln>
        </p:spPr>
      </p:cxnSp>
      <p:cxnSp>
        <p:nvCxnSpPr>
          <p:cNvPr id="46" name="Connector 45"/>
          <p:cNvCxnSpPr/>
          <p:nvPr/>
        </p:nvCxnSpPr>
        <p:spPr>
          <a:xfrm flipV="1">
            <a:off x="2575560" y="5283042"/>
            <a:ext cx="116205" cy="9150"/>
          </a:xfrm>
          <a:prstGeom prst="line">
            <a:avLst/>
          </a:prstGeom>
          <a:ln w="19050">
            <a:solidFill>
              <a:srgbClr val="1B3A57"/>
            </a:solidFill>
            <a:prstDash val="dash"/>
          </a:ln>
        </p:spPr>
      </p:cxnSp>
      <p:cxnSp>
        <p:nvCxnSpPr>
          <p:cNvPr id="47" name="Connector 46"/>
          <p:cNvCxnSpPr/>
          <p:nvPr/>
        </p:nvCxnSpPr>
        <p:spPr>
          <a:xfrm flipV="1">
            <a:off x="2691765" y="5273093"/>
            <a:ext cx="116205" cy="9949"/>
          </a:xfrm>
          <a:prstGeom prst="line">
            <a:avLst/>
          </a:prstGeom>
          <a:ln w="19050">
            <a:solidFill>
              <a:srgbClr val="1B3A57"/>
            </a:solidFill>
            <a:prstDash val="dash"/>
          </a:ln>
        </p:spPr>
      </p:cxnSp>
      <p:cxnSp>
        <p:nvCxnSpPr>
          <p:cNvPr id="48" name="Connector 47"/>
          <p:cNvCxnSpPr/>
          <p:nvPr/>
        </p:nvCxnSpPr>
        <p:spPr>
          <a:xfrm flipV="1">
            <a:off x="2807970" y="5262276"/>
            <a:ext cx="116205" cy="10817"/>
          </a:xfrm>
          <a:prstGeom prst="line">
            <a:avLst/>
          </a:prstGeom>
          <a:ln w="19050">
            <a:solidFill>
              <a:srgbClr val="1B3A57"/>
            </a:solidFill>
            <a:prstDash val="dash"/>
          </a:ln>
        </p:spPr>
      </p:cxnSp>
      <p:cxnSp>
        <p:nvCxnSpPr>
          <p:cNvPr id="49" name="Connector 48"/>
          <p:cNvCxnSpPr/>
          <p:nvPr/>
        </p:nvCxnSpPr>
        <p:spPr>
          <a:xfrm flipV="1">
            <a:off x="2924175" y="5250520"/>
            <a:ext cx="116205" cy="11756"/>
          </a:xfrm>
          <a:prstGeom prst="line">
            <a:avLst/>
          </a:prstGeom>
          <a:ln w="19050">
            <a:solidFill>
              <a:srgbClr val="1B3A57"/>
            </a:solidFill>
            <a:prstDash val="dash"/>
          </a:ln>
        </p:spPr>
      </p:cxnSp>
      <p:cxnSp>
        <p:nvCxnSpPr>
          <p:cNvPr id="50" name="Connector 49"/>
          <p:cNvCxnSpPr/>
          <p:nvPr/>
        </p:nvCxnSpPr>
        <p:spPr>
          <a:xfrm flipV="1">
            <a:off x="3040380" y="5237747"/>
            <a:ext cx="116205" cy="12773"/>
          </a:xfrm>
          <a:prstGeom prst="line">
            <a:avLst/>
          </a:prstGeom>
          <a:ln w="19050">
            <a:solidFill>
              <a:srgbClr val="1B3A57"/>
            </a:solidFill>
            <a:prstDash val="dash"/>
          </a:ln>
        </p:spPr>
      </p:cxnSp>
      <p:cxnSp>
        <p:nvCxnSpPr>
          <p:cNvPr id="51" name="Connector 50"/>
          <p:cNvCxnSpPr/>
          <p:nvPr/>
        </p:nvCxnSpPr>
        <p:spPr>
          <a:xfrm flipV="1">
            <a:off x="3156585" y="5223874"/>
            <a:ext cx="116205" cy="13873"/>
          </a:xfrm>
          <a:prstGeom prst="line">
            <a:avLst/>
          </a:prstGeom>
          <a:ln w="19050">
            <a:solidFill>
              <a:srgbClr val="1B3A57"/>
            </a:solidFill>
            <a:prstDash val="dash"/>
          </a:ln>
        </p:spPr>
      </p:cxnSp>
      <p:cxnSp>
        <p:nvCxnSpPr>
          <p:cNvPr id="52" name="Connector 51"/>
          <p:cNvCxnSpPr/>
          <p:nvPr/>
        </p:nvCxnSpPr>
        <p:spPr>
          <a:xfrm flipV="1">
            <a:off x="3272790" y="5208812"/>
            <a:ext cx="116205" cy="15062"/>
          </a:xfrm>
          <a:prstGeom prst="line">
            <a:avLst/>
          </a:prstGeom>
          <a:ln w="19050">
            <a:solidFill>
              <a:srgbClr val="1B3A57"/>
            </a:solidFill>
            <a:prstDash val="dash"/>
          </a:ln>
        </p:spPr>
      </p:cxnSp>
      <p:cxnSp>
        <p:nvCxnSpPr>
          <p:cNvPr id="53" name="Connector 52"/>
          <p:cNvCxnSpPr/>
          <p:nvPr/>
        </p:nvCxnSpPr>
        <p:spPr>
          <a:xfrm flipV="1">
            <a:off x="3388995" y="5192464"/>
            <a:ext cx="116205" cy="16348"/>
          </a:xfrm>
          <a:prstGeom prst="line">
            <a:avLst/>
          </a:prstGeom>
          <a:ln w="19050">
            <a:solidFill>
              <a:srgbClr val="1B3A57"/>
            </a:solidFill>
            <a:prstDash val="dash"/>
          </a:ln>
        </p:spPr>
      </p:cxnSp>
      <p:cxnSp>
        <p:nvCxnSpPr>
          <p:cNvPr id="54" name="Connector 53"/>
          <p:cNvCxnSpPr/>
          <p:nvPr/>
        </p:nvCxnSpPr>
        <p:spPr>
          <a:xfrm flipV="1">
            <a:off x="3505200" y="5174730"/>
            <a:ext cx="116205" cy="17734"/>
          </a:xfrm>
          <a:prstGeom prst="line">
            <a:avLst/>
          </a:prstGeom>
          <a:ln w="19050">
            <a:solidFill>
              <a:srgbClr val="1B3A57"/>
            </a:solidFill>
            <a:prstDash val="dash"/>
          </a:ln>
        </p:spPr>
      </p:cxnSp>
      <p:cxnSp>
        <p:nvCxnSpPr>
          <p:cNvPr id="55" name="Connector 54"/>
          <p:cNvCxnSpPr/>
          <p:nvPr/>
        </p:nvCxnSpPr>
        <p:spPr>
          <a:xfrm flipV="1">
            <a:off x="3621405" y="5155500"/>
            <a:ext cx="116205" cy="19230"/>
          </a:xfrm>
          <a:prstGeom prst="line">
            <a:avLst/>
          </a:prstGeom>
          <a:ln w="19050">
            <a:solidFill>
              <a:srgbClr val="1B3A57"/>
            </a:solidFill>
            <a:prstDash val="dash"/>
          </a:ln>
        </p:spPr>
      </p:cxnSp>
      <p:cxnSp>
        <p:nvCxnSpPr>
          <p:cNvPr id="56" name="Connector 55"/>
          <p:cNvCxnSpPr/>
          <p:nvPr/>
        </p:nvCxnSpPr>
        <p:spPr>
          <a:xfrm flipV="1">
            <a:off x="3737610" y="5134659"/>
            <a:ext cx="116205" cy="20841"/>
          </a:xfrm>
          <a:prstGeom prst="line">
            <a:avLst/>
          </a:prstGeom>
          <a:ln w="19050">
            <a:solidFill>
              <a:srgbClr val="1B3A57"/>
            </a:solidFill>
            <a:prstDash val="dash"/>
          </a:ln>
        </p:spPr>
      </p:cxnSp>
      <p:cxnSp>
        <p:nvCxnSpPr>
          <p:cNvPr id="57" name="Connector 56"/>
          <p:cNvCxnSpPr/>
          <p:nvPr/>
        </p:nvCxnSpPr>
        <p:spPr>
          <a:xfrm flipV="1">
            <a:off x="3853815" y="5112085"/>
            <a:ext cx="116205" cy="22574"/>
          </a:xfrm>
          <a:prstGeom prst="line">
            <a:avLst/>
          </a:prstGeom>
          <a:ln w="19050">
            <a:solidFill>
              <a:srgbClr val="1B3A57"/>
            </a:solidFill>
            <a:prstDash val="dash"/>
          </a:ln>
        </p:spPr>
      </p:cxnSp>
      <p:cxnSp>
        <p:nvCxnSpPr>
          <p:cNvPr id="58" name="Connector 57"/>
          <p:cNvCxnSpPr/>
          <p:nvPr/>
        </p:nvCxnSpPr>
        <p:spPr>
          <a:xfrm flipV="1">
            <a:off x="3970020" y="5087648"/>
            <a:ext cx="116205" cy="24437"/>
          </a:xfrm>
          <a:prstGeom prst="line">
            <a:avLst/>
          </a:prstGeom>
          <a:ln w="19050">
            <a:solidFill>
              <a:srgbClr val="1B3A57"/>
            </a:solidFill>
            <a:prstDash val="dash"/>
          </a:ln>
        </p:spPr>
      </p:cxnSp>
      <p:cxnSp>
        <p:nvCxnSpPr>
          <p:cNvPr id="59" name="Connector 58"/>
          <p:cNvCxnSpPr/>
          <p:nvPr/>
        </p:nvCxnSpPr>
        <p:spPr>
          <a:xfrm flipV="1">
            <a:off x="4086225" y="5061213"/>
            <a:ext cx="116205" cy="26435"/>
          </a:xfrm>
          <a:prstGeom prst="line">
            <a:avLst/>
          </a:prstGeom>
          <a:ln w="19050">
            <a:solidFill>
              <a:srgbClr val="1B3A57"/>
            </a:solidFill>
            <a:prstDash val="dash"/>
          </a:ln>
        </p:spPr>
      </p:cxnSp>
      <p:cxnSp>
        <p:nvCxnSpPr>
          <p:cNvPr id="60" name="Connector 59"/>
          <p:cNvCxnSpPr/>
          <p:nvPr/>
        </p:nvCxnSpPr>
        <p:spPr>
          <a:xfrm flipV="1">
            <a:off x="4202430" y="5032636"/>
            <a:ext cx="116205" cy="28577"/>
          </a:xfrm>
          <a:prstGeom prst="line">
            <a:avLst/>
          </a:prstGeom>
          <a:ln w="19050">
            <a:solidFill>
              <a:srgbClr val="1B3A57"/>
            </a:solidFill>
            <a:prstDash val="dash"/>
          </a:ln>
        </p:spPr>
      </p:cxnSp>
      <p:cxnSp>
        <p:nvCxnSpPr>
          <p:cNvPr id="61" name="Connector 60"/>
          <p:cNvCxnSpPr/>
          <p:nvPr/>
        </p:nvCxnSpPr>
        <p:spPr>
          <a:xfrm flipV="1">
            <a:off x="4318635" y="5001770"/>
            <a:ext cx="116205" cy="30866"/>
          </a:xfrm>
          <a:prstGeom prst="line">
            <a:avLst/>
          </a:prstGeom>
          <a:ln w="19050">
            <a:solidFill>
              <a:srgbClr val="1B3A57"/>
            </a:solidFill>
            <a:prstDash val="dash"/>
          </a:ln>
        </p:spPr>
      </p:cxnSp>
      <p:cxnSp>
        <p:nvCxnSpPr>
          <p:cNvPr id="62" name="Connector 61"/>
          <p:cNvCxnSpPr/>
          <p:nvPr/>
        </p:nvCxnSpPr>
        <p:spPr>
          <a:xfrm flipV="1">
            <a:off x="4434840" y="4968459"/>
            <a:ext cx="116205" cy="33311"/>
          </a:xfrm>
          <a:prstGeom prst="line">
            <a:avLst/>
          </a:prstGeom>
          <a:ln w="19050">
            <a:solidFill>
              <a:srgbClr val="1B3A57"/>
            </a:solidFill>
            <a:prstDash val="dash"/>
          </a:ln>
        </p:spPr>
      </p:cxnSp>
      <p:cxnSp>
        <p:nvCxnSpPr>
          <p:cNvPr id="63" name="Connector 62"/>
          <p:cNvCxnSpPr/>
          <p:nvPr/>
        </p:nvCxnSpPr>
        <p:spPr>
          <a:xfrm flipV="1">
            <a:off x="4551045" y="4932543"/>
            <a:ext cx="116205" cy="35916"/>
          </a:xfrm>
          <a:prstGeom prst="line">
            <a:avLst/>
          </a:prstGeom>
          <a:ln w="19050">
            <a:solidFill>
              <a:srgbClr val="1B3A57"/>
            </a:solidFill>
            <a:prstDash val="dash"/>
          </a:ln>
        </p:spPr>
      </p:cxnSp>
      <p:cxnSp>
        <p:nvCxnSpPr>
          <p:cNvPr id="64" name="Connector 63"/>
          <p:cNvCxnSpPr/>
          <p:nvPr/>
        </p:nvCxnSpPr>
        <p:spPr>
          <a:xfrm flipV="1">
            <a:off x="4667250" y="4893858"/>
            <a:ext cx="116205" cy="38685"/>
          </a:xfrm>
          <a:prstGeom prst="line">
            <a:avLst/>
          </a:prstGeom>
          <a:ln w="19050">
            <a:solidFill>
              <a:srgbClr val="1B3A57"/>
            </a:solidFill>
            <a:prstDash val="dash"/>
          </a:ln>
        </p:spPr>
      </p:cxnSp>
      <p:cxnSp>
        <p:nvCxnSpPr>
          <p:cNvPr id="65" name="Connector 64"/>
          <p:cNvCxnSpPr/>
          <p:nvPr/>
        </p:nvCxnSpPr>
        <p:spPr>
          <a:xfrm flipV="1">
            <a:off x="4783455" y="4852239"/>
            <a:ext cx="116205" cy="41619"/>
          </a:xfrm>
          <a:prstGeom prst="line">
            <a:avLst/>
          </a:prstGeom>
          <a:ln w="19050">
            <a:solidFill>
              <a:srgbClr val="1B3A57"/>
            </a:solidFill>
            <a:prstDash val="dash"/>
          </a:ln>
        </p:spPr>
      </p:cxnSp>
      <p:cxnSp>
        <p:nvCxnSpPr>
          <p:cNvPr id="66" name="Connector 65"/>
          <p:cNvCxnSpPr/>
          <p:nvPr/>
        </p:nvCxnSpPr>
        <p:spPr>
          <a:xfrm flipV="1">
            <a:off x="4899660" y="4807516"/>
            <a:ext cx="116205" cy="44723"/>
          </a:xfrm>
          <a:prstGeom prst="line">
            <a:avLst/>
          </a:prstGeom>
          <a:ln w="19050">
            <a:solidFill>
              <a:srgbClr val="1B3A57"/>
            </a:solidFill>
            <a:prstDash val="dash"/>
          </a:ln>
        </p:spPr>
      </p:cxnSp>
      <p:cxnSp>
        <p:nvCxnSpPr>
          <p:cNvPr id="67" name="Connector 66"/>
          <p:cNvCxnSpPr/>
          <p:nvPr/>
        </p:nvCxnSpPr>
        <p:spPr>
          <a:xfrm flipV="1">
            <a:off x="5015865" y="4759523"/>
            <a:ext cx="116205" cy="47993"/>
          </a:xfrm>
          <a:prstGeom prst="line">
            <a:avLst/>
          </a:prstGeom>
          <a:ln w="19050">
            <a:solidFill>
              <a:srgbClr val="1B3A57"/>
            </a:solidFill>
            <a:prstDash val="dash"/>
          </a:ln>
        </p:spPr>
      </p:cxnSp>
      <p:cxnSp>
        <p:nvCxnSpPr>
          <p:cNvPr id="68" name="Connector 67"/>
          <p:cNvCxnSpPr/>
          <p:nvPr/>
        </p:nvCxnSpPr>
        <p:spPr>
          <a:xfrm flipV="1">
            <a:off x="5132070" y="4708094"/>
            <a:ext cx="116205" cy="51429"/>
          </a:xfrm>
          <a:prstGeom prst="line">
            <a:avLst/>
          </a:prstGeom>
          <a:ln w="19050">
            <a:solidFill>
              <a:srgbClr val="1B3A57"/>
            </a:solidFill>
            <a:prstDash val="dash"/>
          </a:ln>
        </p:spPr>
      </p:cxnSp>
      <p:cxnSp>
        <p:nvCxnSpPr>
          <p:cNvPr id="69" name="Connector 68"/>
          <p:cNvCxnSpPr/>
          <p:nvPr/>
        </p:nvCxnSpPr>
        <p:spPr>
          <a:xfrm flipV="1">
            <a:off x="5248275" y="4653073"/>
            <a:ext cx="116205" cy="55021"/>
          </a:xfrm>
          <a:prstGeom prst="line">
            <a:avLst/>
          </a:prstGeom>
          <a:ln w="19050">
            <a:solidFill>
              <a:srgbClr val="1B3A57"/>
            </a:solidFill>
            <a:prstDash val="dash"/>
          </a:ln>
        </p:spPr>
      </p:cxnSp>
      <p:cxnSp>
        <p:nvCxnSpPr>
          <p:cNvPr id="70" name="Connector 69"/>
          <p:cNvCxnSpPr/>
          <p:nvPr/>
        </p:nvCxnSpPr>
        <p:spPr>
          <a:xfrm flipV="1">
            <a:off x="5364480" y="4594308"/>
            <a:ext cx="116205" cy="58765"/>
          </a:xfrm>
          <a:prstGeom prst="line">
            <a:avLst/>
          </a:prstGeom>
          <a:ln w="19050">
            <a:solidFill>
              <a:srgbClr val="1B3A57"/>
            </a:solidFill>
            <a:prstDash val="dash"/>
          </a:ln>
        </p:spPr>
      </p:cxnSp>
      <p:cxnSp>
        <p:nvCxnSpPr>
          <p:cNvPr id="71" name="Connector 70"/>
          <p:cNvCxnSpPr/>
          <p:nvPr/>
        </p:nvCxnSpPr>
        <p:spPr>
          <a:xfrm flipV="1">
            <a:off x="5480685" y="4531664"/>
            <a:ext cx="116205" cy="62644"/>
          </a:xfrm>
          <a:prstGeom prst="line">
            <a:avLst/>
          </a:prstGeom>
          <a:ln w="19050">
            <a:solidFill>
              <a:srgbClr val="1B3A57"/>
            </a:solidFill>
            <a:prstDash val="dash"/>
          </a:ln>
        </p:spPr>
      </p:cxnSp>
      <p:cxnSp>
        <p:nvCxnSpPr>
          <p:cNvPr id="72" name="Connector 71"/>
          <p:cNvCxnSpPr/>
          <p:nvPr/>
        </p:nvCxnSpPr>
        <p:spPr>
          <a:xfrm flipV="1">
            <a:off x="5596890" y="4465023"/>
            <a:ext cx="116205" cy="66641"/>
          </a:xfrm>
          <a:prstGeom prst="line">
            <a:avLst/>
          </a:prstGeom>
          <a:ln w="19050">
            <a:solidFill>
              <a:srgbClr val="1B3A57"/>
            </a:solidFill>
            <a:prstDash val="dash"/>
          </a:ln>
        </p:spPr>
      </p:cxnSp>
      <p:cxnSp>
        <p:nvCxnSpPr>
          <p:cNvPr id="73" name="Connector 72"/>
          <p:cNvCxnSpPr/>
          <p:nvPr/>
        </p:nvCxnSpPr>
        <p:spPr>
          <a:xfrm flipV="1">
            <a:off x="5713095" y="4394286"/>
            <a:ext cx="116205" cy="70737"/>
          </a:xfrm>
          <a:prstGeom prst="line">
            <a:avLst/>
          </a:prstGeom>
          <a:ln w="19050">
            <a:solidFill>
              <a:srgbClr val="1B3A57"/>
            </a:solidFill>
            <a:prstDash val="dash"/>
          </a:ln>
        </p:spPr>
      </p:cxnSp>
      <p:cxnSp>
        <p:nvCxnSpPr>
          <p:cNvPr id="74" name="Connector 73"/>
          <p:cNvCxnSpPr/>
          <p:nvPr/>
        </p:nvCxnSpPr>
        <p:spPr>
          <a:xfrm flipV="1">
            <a:off x="5829300" y="4319387"/>
            <a:ext cx="116205" cy="74899"/>
          </a:xfrm>
          <a:prstGeom prst="line">
            <a:avLst/>
          </a:prstGeom>
          <a:ln w="19050">
            <a:solidFill>
              <a:srgbClr val="1B3A57"/>
            </a:solidFill>
            <a:prstDash val="dash"/>
          </a:ln>
        </p:spPr>
      </p:cxnSp>
      <p:cxnSp>
        <p:nvCxnSpPr>
          <p:cNvPr id="75" name="Connector 74"/>
          <p:cNvCxnSpPr/>
          <p:nvPr/>
        </p:nvCxnSpPr>
        <p:spPr>
          <a:xfrm flipV="1">
            <a:off x="5945505" y="4240291"/>
            <a:ext cx="116205" cy="79096"/>
          </a:xfrm>
          <a:prstGeom prst="line">
            <a:avLst/>
          </a:prstGeom>
          <a:ln w="19050">
            <a:solidFill>
              <a:srgbClr val="1B3A57"/>
            </a:solidFill>
            <a:prstDash val="dash"/>
          </a:ln>
        </p:spPr>
      </p:cxnSp>
      <p:cxnSp>
        <p:nvCxnSpPr>
          <p:cNvPr id="76" name="Connector 75"/>
          <p:cNvCxnSpPr/>
          <p:nvPr/>
        </p:nvCxnSpPr>
        <p:spPr>
          <a:xfrm flipV="1">
            <a:off x="6061710" y="4157005"/>
            <a:ext cx="116205" cy="83286"/>
          </a:xfrm>
          <a:prstGeom prst="line">
            <a:avLst/>
          </a:prstGeom>
          <a:ln w="19050">
            <a:solidFill>
              <a:srgbClr val="1B3A57"/>
            </a:solidFill>
            <a:prstDash val="dash"/>
          </a:ln>
        </p:spPr>
      </p:cxnSp>
      <p:cxnSp>
        <p:nvCxnSpPr>
          <p:cNvPr id="77" name="Connector 76"/>
          <p:cNvCxnSpPr/>
          <p:nvPr/>
        </p:nvCxnSpPr>
        <p:spPr>
          <a:xfrm flipV="1">
            <a:off x="6177915" y="4069586"/>
            <a:ext cx="116205" cy="87419"/>
          </a:xfrm>
          <a:prstGeom prst="line">
            <a:avLst/>
          </a:prstGeom>
          <a:ln w="19050">
            <a:solidFill>
              <a:srgbClr val="1B3A57"/>
            </a:solidFill>
            <a:prstDash val="dash"/>
          </a:ln>
        </p:spPr>
      </p:cxnSp>
      <p:cxnSp>
        <p:nvCxnSpPr>
          <p:cNvPr id="78" name="Connector 77"/>
          <p:cNvCxnSpPr/>
          <p:nvPr/>
        </p:nvCxnSpPr>
        <p:spPr>
          <a:xfrm flipV="1">
            <a:off x="6294120" y="3978144"/>
            <a:ext cx="116205" cy="91442"/>
          </a:xfrm>
          <a:prstGeom prst="line">
            <a:avLst/>
          </a:prstGeom>
          <a:ln w="19050">
            <a:solidFill>
              <a:srgbClr val="1B3A57"/>
            </a:solidFill>
            <a:prstDash val="dash"/>
          </a:ln>
        </p:spPr>
      </p:cxnSp>
      <p:cxnSp>
        <p:nvCxnSpPr>
          <p:cNvPr id="79" name="Connector 78"/>
          <p:cNvCxnSpPr/>
          <p:nvPr/>
        </p:nvCxnSpPr>
        <p:spPr>
          <a:xfrm flipV="1">
            <a:off x="6410325" y="3882855"/>
            <a:ext cx="116205" cy="95289"/>
          </a:xfrm>
          <a:prstGeom prst="line">
            <a:avLst/>
          </a:prstGeom>
          <a:ln w="19050">
            <a:solidFill>
              <a:srgbClr val="1B3A57"/>
            </a:solidFill>
            <a:prstDash val="dash"/>
          </a:ln>
        </p:spPr>
      </p:cxnSp>
      <p:cxnSp>
        <p:nvCxnSpPr>
          <p:cNvPr id="80" name="Connector 79"/>
          <p:cNvCxnSpPr/>
          <p:nvPr/>
        </p:nvCxnSpPr>
        <p:spPr>
          <a:xfrm flipV="1">
            <a:off x="6526530" y="3783964"/>
            <a:ext cx="116205" cy="98891"/>
          </a:xfrm>
          <a:prstGeom prst="line">
            <a:avLst/>
          </a:prstGeom>
          <a:ln w="19050">
            <a:solidFill>
              <a:srgbClr val="1B3A57"/>
            </a:solidFill>
            <a:prstDash val="dash"/>
          </a:ln>
        </p:spPr>
      </p:cxnSp>
      <p:cxnSp>
        <p:nvCxnSpPr>
          <p:cNvPr id="81" name="Connector 80"/>
          <p:cNvCxnSpPr/>
          <p:nvPr/>
        </p:nvCxnSpPr>
        <p:spPr>
          <a:xfrm flipV="1">
            <a:off x="6642735" y="3681793"/>
            <a:ext cx="116205" cy="102171"/>
          </a:xfrm>
          <a:prstGeom prst="line">
            <a:avLst/>
          </a:prstGeom>
          <a:ln w="19050">
            <a:solidFill>
              <a:srgbClr val="1B3A57"/>
            </a:solidFill>
            <a:prstDash val="dash"/>
          </a:ln>
        </p:spPr>
      </p:cxnSp>
      <p:cxnSp>
        <p:nvCxnSpPr>
          <p:cNvPr id="82" name="Connector 81"/>
          <p:cNvCxnSpPr/>
          <p:nvPr/>
        </p:nvCxnSpPr>
        <p:spPr>
          <a:xfrm flipV="1">
            <a:off x="6758940" y="3576749"/>
            <a:ext cx="116205" cy="105044"/>
          </a:xfrm>
          <a:prstGeom prst="line">
            <a:avLst/>
          </a:prstGeom>
          <a:ln w="19050">
            <a:solidFill>
              <a:srgbClr val="1B3A57"/>
            </a:solidFill>
            <a:prstDash val="dash"/>
          </a:ln>
        </p:spPr>
      </p:cxnSp>
      <p:cxnSp>
        <p:nvCxnSpPr>
          <p:cNvPr id="83" name="Connector 82"/>
          <p:cNvCxnSpPr/>
          <p:nvPr/>
        </p:nvCxnSpPr>
        <p:spPr>
          <a:xfrm flipV="1">
            <a:off x="6875145" y="3469325"/>
            <a:ext cx="116205" cy="107424"/>
          </a:xfrm>
          <a:prstGeom prst="line">
            <a:avLst/>
          </a:prstGeom>
          <a:ln w="19050">
            <a:solidFill>
              <a:srgbClr val="1B3A57"/>
            </a:solidFill>
            <a:prstDash val="dash"/>
          </a:ln>
        </p:spPr>
      </p:cxnSp>
      <p:cxnSp>
        <p:nvCxnSpPr>
          <p:cNvPr id="84" name="Connector 83"/>
          <p:cNvCxnSpPr/>
          <p:nvPr/>
        </p:nvCxnSpPr>
        <p:spPr>
          <a:xfrm flipV="1">
            <a:off x="6991350" y="3360102"/>
            <a:ext cx="116205" cy="109223"/>
          </a:xfrm>
          <a:prstGeom prst="line">
            <a:avLst/>
          </a:prstGeom>
          <a:ln w="19050">
            <a:solidFill>
              <a:srgbClr val="1B3A57"/>
            </a:solidFill>
            <a:prstDash val="dash"/>
          </a:ln>
        </p:spPr>
      </p:cxnSp>
      <p:cxnSp>
        <p:nvCxnSpPr>
          <p:cNvPr id="85" name="Connector 84"/>
          <p:cNvCxnSpPr/>
          <p:nvPr/>
        </p:nvCxnSpPr>
        <p:spPr>
          <a:xfrm flipV="1">
            <a:off x="7107555" y="3249754"/>
            <a:ext cx="116205" cy="110348"/>
          </a:xfrm>
          <a:prstGeom prst="line">
            <a:avLst/>
          </a:prstGeom>
          <a:ln w="19050">
            <a:solidFill>
              <a:srgbClr val="1B3A57"/>
            </a:solidFill>
            <a:prstDash val="dash"/>
          </a:ln>
        </p:spPr>
      </p:cxnSp>
      <p:cxnSp>
        <p:nvCxnSpPr>
          <p:cNvPr id="86" name="Connector 85"/>
          <p:cNvCxnSpPr/>
          <p:nvPr/>
        </p:nvCxnSpPr>
        <p:spPr>
          <a:xfrm flipV="1">
            <a:off x="1645920" y="5240156"/>
            <a:ext cx="116205" cy="12581"/>
          </a:xfrm>
          <a:prstGeom prst="line">
            <a:avLst/>
          </a:prstGeom>
          <a:ln w="19050">
            <a:solidFill>
              <a:srgbClr val="CC79A7"/>
            </a:solidFill>
            <a:prstDash val="dash"/>
          </a:ln>
        </p:spPr>
      </p:cxnSp>
      <p:cxnSp>
        <p:nvCxnSpPr>
          <p:cNvPr id="87" name="Connector 86"/>
          <p:cNvCxnSpPr/>
          <p:nvPr/>
        </p:nvCxnSpPr>
        <p:spPr>
          <a:xfrm flipV="1">
            <a:off x="1762125" y="5226490"/>
            <a:ext cx="116205" cy="13666"/>
          </a:xfrm>
          <a:prstGeom prst="line">
            <a:avLst/>
          </a:prstGeom>
          <a:ln w="19050">
            <a:solidFill>
              <a:srgbClr val="CC79A7"/>
            </a:solidFill>
            <a:prstDash val="dash"/>
          </a:ln>
        </p:spPr>
      </p:cxnSp>
      <p:cxnSp>
        <p:nvCxnSpPr>
          <p:cNvPr id="88" name="Connector 87"/>
          <p:cNvCxnSpPr/>
          <p:nvPr/>
        </p:nvCxnSpPr>
        <p:spPr>
          <a:xfrm flipV="1">
            <a:off x="1878330" y="5211651"/>
            <a:ext cx="116205" cy="14839"/>
          </a:xfrm>
          <a:prstGeom prst="line">
            <a:avLst/>
          </a:prstGeom>
          <a:ln w="19050">
            <a:solidFill>
              <a:srgbClr val="CC79A7"/>
            </a:solidFill>
            <a:prstDash val="dash"/>
          </a:ln>
        </p:spPr>
      </p:cxnSp>
      <p:cxnSp>
        <p:nvCxnSpPr>
          <p:cNvPr id="89" name="Connector 88"/>
          <p:cNvCxnSpPr/>
          <p:nvPr/>
        </p:nvCxnSpPr>
        <p:spPr>
          <a:xfrm flipV="1">
            <a:off x="1994535" y="5195546"/>
            <a:ext cx="116205" cy="16105"/>
          </a:xfrm>
          <a:prstGeom prst="line">
            <a:avLst/>
          </a:prstGeom>
          <a:ln w="19050">
            <a:solidFill>
              <a:srgbClr val="CC79A7"/>
            </a:solidFill>
            <a:prstDash val="dash"/>
          </a:ln>
        </p:spPr>
      </p:cxnSp>
      <p:cxnSp>
        <p:nvCxnSpPr>
          <p:cNvPr id="90" name="Connector 89"/>
          <p:cNvCxnSpPr/>
          <p:nvPr/>
        </p:nvCxnSpPr>
        <p:spPr>
          <a:xfrm flipV="1">
            <a:off x="2110740" y="5178072"/>
            <a:ext cx="116205" cy="17474"/>
          </a:xfrm>
          <a:prstGeom prst="line">
            <a:avLst/>
          </a:prstGeom>
          <a:ln w="19050">
            <a:solidFill>
              <a:srgbClr val="CC79A7"/>
            </a:solidFill>
            <a:prstDash val="dash"/>
          </a:ln>
        </p:spPr>
      </p:cxnSp>
      <p:cxnSp>
        <p:nvCxnSpPr>
          <p:cNvPr id="91" name="Connector 90"/>
          <p:cNvCxnSpPr/>
          <p:nvPr/>
        </p:nvCxnSpPr>
        <p:spPr>
          <a:xfrm flipV="1">
            <a:off x="2226945" y="5159123"/>
            <a:ext cx="116205" cy="18949"/>
          </a:xfrm>
          <a:prstGeom prst="line">
            <a:avLst/>
          </a:prstGeom>
          <a:ln w="19050">
            <a:solidFill>
              <a:srgbClr val="CC79A7"/>
            </a:solidFill>
            <a:prstDash val="dash"/>
          </a:ln>
        </p:spPr>
      </p:cxnSp>
      <p:cxnSp>
        <p:nvCxnSpPr>
          <p:cNvPr id="92" name="Connector 91"/>
          <p:cNvCxnSpPr/>
          <p:nvPr/>
        </p:nvCxnSpPr>
        <p:spPr>
          <a:xfrm flipV="1">
            <a:off x="2343150" y="5138585"/>
            <a:ext cx="116205" cy="20538"/>
          </a:xfrm>
          <a:prstGeom prst="line">
            <a:avLst/>
          </a:prstGeom>
          <a:ln w="19050">
            <a:solidFill>
              <a:srgbClr val="CC79A7"/>
            </a:solidFill>
            <a:prstDash val="dash"/>
          </a:ln>
        </p:spPr>
      </p:cxnSp>
      <p:cxnSp>
        <p:nvCxnSpPr>
          <p:cNvPr id="93" name="Connector 92"/>
          <p:cNvCxnSpPr/>
          <p:nvPr/>
        </p:nvCxnSpPr>
        <p:spPr>
          <a:xfrm flipV="1">
            <a:off x="2459355" y="5116336"/>
            <a:ext cx="116205" cy="22249"/>
          </a:xfrm>
          <a:prstGeom prst="line">
            <a:avLst/>
          </a:prstGeom>
          <a:ln w="19050">
            <a:solidFill>
              <a:srgbClr val="CC79A7"/>
            </a:solidFill>
            <a:prstDash val="dash"/>
          </a:ln>
        </p:spPr>
      </p:cxnSp>
      <p:cxnSp>
        <p:nvCxnSpPr>
          <p:cNvPr id="94" name="Connector 93"/>
          <p:cNvCxnSpPr/>
          <p:nvPr/>
        </p:nvCxnSpPr>
        <p:spPr>
          <a:xfrm flipV="1">
            <a:off x="2575560" y="5092249"/>
            <a:ext cx="116205" cy="24087"/>
          </a:xfrm>
          <a:prstGeom prst="line">
            <a:avLst/>
          </a:prstGeom>
          <a:ln w="19050">
            <a:solidFill>
              <a:srgbClr val="CC79A7"/>
            </a:solidFill>
            <a:prstDash val="dash"/>
          </a:ln>
        </p:spPr>
      </p:cxnSp>
      <p:cxnSp>
        <p:nvCxnSpPr>
          <p:cNvPr id="95" name="Connector 94"/>
          <p:cNvCxnSpPr/>
          <p:nvPr/>
        </p:nvCxnSpPr>
        <p:spPr>
          <a:xfrm flipV="1">
            <a:off x="2691765" y="5066189"/>
            <a:ext cx="116205" cy="26060"/>
          </a:xfrm>
          <a:prstGeom prst="line">
            <a:avLst/>
          </a:prstGeom>
          <a:ln w="19050">
            <a:solidFill>
              <a:srgbClr val="CC79A7"/>
            </a:solidFill>
            <a:prstDash val="dash"/>
          </a:ln>
        </p:spPr>
      </p:cxnSp>
      <p:cxnSp>
        <p:nvCxnSpPr>
          <p:cNvPr id="96" name="Connector 95"/>
          <p:cNvCxnSpPr/>
          <p:nvPr/>
        </p:nvCxnSpPr>
        <p:spPr>
          <a:xfrm flipV="1">
            <a:off x="2807970" y="5038014"/>
            <a:ext cx="116205" cy="28175"/>
          </a:xfrm>
          <a:prstGeom prst="line">
            <a:avLst/>
          </a:prstGeom>
          <a:ln w="19050">
            <a:solidFill>
              <a:srgbClr val="CC79A7"/>
            </a:solidFill>
            <a:prstDash val="dash"/>
          </a:ln>
        </p:spPr>
      </p:cxnSp>
      <p:cxnSp>
        <p:nvCxnSpPr>
          <p:cNvPr id="97" name="Connector 96"/>
          <p:cNvCxnSpPr/>
          <p:nvPr/>
        </p:nvCxnSpPr>
        <p:spPr>
          <a:xfrm flipV="1">
            <a:off x="2924175" y="5007576"/>
            <a:ext cx="116205" cy="30438"/>
          </a:xfrm>
          <a:prstGeom prst="line">
            <a:avLst/>
          </a:prstGeom>
          <a:ln w="19050">
            <a:solidFill>
              <a:srgbClr val="CC79A7"/>
            </a:solidFill>
            <a:prstDash val="dash"/>
          </a:ln>
        </p:spPr>
      </p:cxnSp>
      <p:cxnSp>
        <p:nvCxnSpPr>
          <p:cNvPr id="98" name="Connector 97"/>
          <p:cNvCxnSpPr/>
          <p:nvPr/>
        </p:nvCxnSpPr>
        <p:spPr>
          <a:xfrm flipV="1">
            <a:off x="3040380" y="4974722"/>
            <a:ext cx="116205" cy="32854"/>
          </a:xfrm>
          <a:prstGeom prst="line">
            <a:avLst/>
          </a:prstGeom>
          <a:ln w="19050">
            <a:solidFill>
              <a:srgbClr val="CC79A7"/>
            </a:solidFill>
            <a:prstDash val="dash"/>
          </a:ln>
        </p:spPr>
      </p:cxnSp>
      <p:cxnSp>
        <p:nvCxnSpPr>
          <p:cNvPr id="99" name="Connector 98"/>
          <p:cNvCxnSpPr/>
          <p:nvPr/>
        </p:nvCxnSpPr>
        <p:spPr>
          <a:xfrm flipV="1">
            <a:off x="3156585" y="4939293"/>
            <a:ext cx="116205" cy="35429"/>
          </a:xfrm>
          <a:prstGeom prst="line">
            <a:avLst/>
          </a:prstGeom>
          <a:ln w="19050">
            <a:solidFill>
              <a:srgbClr val="CC79A7"/>
            </a:solidFill>
            <a:prstDash val="dash"/>
          </a:ln>
        </p:spPr>
      </p:cxnSp>
      <p:cxnSp>
        <p:nvCxnSpPr>
          <p:cNvPr id="100" name="Connector 99"/>
          <p:cNvCxnSpPr/>
          <p:nvPr/>
        </p:nvCxnSpPr>
        <p:spPr>
          <a:xfrm flipV="1">
            <a:off x="3272790" y="4901126"/>
            <a:ext cx="116205" cy="38167"/>
          </a:xfrm>
          <a:prstGeom prst="line">
            <a:avLst/>
          </a:prstGeom>
          <a:ln w="19050">
            <a:solidFill>
              <a:srgbClr val="CC79A7"/>
            </a:solidFill>
            <a:prstDash val="dash"/>
          </a:ln>
        </p:spPr>
      </p:cxnSp>
      <p:cxnSp>
        <p:nvCxnSpPr>
          <p:cNvPr id="101" name="Connector 100"/>
          <p:cNvCxnSpPr/>
          <p:nvPr/>
        </p:nvCxnSpPr>
        <p:spPr>
          <a:xfrm flipV="1">
            <a:off x="3388995" y="4860054"/>
            <a:ext cx="116205" cy="41072"/>
          </a:xfrm>
          <a:prstGeom prst="line">
            <a:avLst/>
          </a:prstGeom>
          <a:ln w="19050">
            <a:solidFill>
              <a:srgbClr val="CC79A7"/>
            </a:solidFill>
            <a:prstDash val="dash"/>
          </a:ln>
        </p:spPr>
      </p:cxnSp>
      <p:cxnSp>
        <p:nvCxnSpPr>
          <p:cNvPr id="102" name="Connector 101"/>
          <p:cNvCxnSpPr/>
          <p:nvPr/>
        </p:nvCxnSpPr>
        <p:spPr>
          <a:xfrm flipV="1">
            <a:off x="3505200" y="4815910"/>
            <a:ext cx="116205" cy="44144"/>
          </a:xfrm>
          <a:prstGeom prst="line">
            <a:avLst/>
          </a:prstGeom>
          <a:ln w="19050">
            <a:solidFill>
              <a:srgbClr val="CC79A7"/>
            </a:solidFill>
            <a:prstDash val="dash"/>
          </a:ln>
        </p:spPr>
      </p:cxnSp>
      <p:cxnSp>
        <p:nvCxnSpPr>
          <p:cNvPr id="103" name="Connector 102"/>
          <p:cNvCxnSpPr/>
          <p:nvPr/>
        </p:nvCxnSpPr>
        <p:spPr>
          <a:xfrm flipV="1">
            <a:off x="3621405" y="4768525"/>
            <a:ext cx="116205" cy="47385"/>
          </a:xfrm>
          <a:prstGeom prst="line">
            <a:avLst/>
          </a:prstGeom>
          <a:ln w="19050">
            <a:solidFill>
              <a:srgbClr val="CC79A7"/>
            </a:solidFill>
            <a:prstDash val="dash"/>
          </a:ln>
        </p:spPr>
      </p:cxnSp>
      <p:cxnSp>
        <p:nvCxnSpPr>
          <p:cNvPr id="104" name="Connector 103"/>
          <p:cNvCxnSpPr/>
          <p:nvPr/>
        </p:nvCxnSpPr>
        <p:spPr>
          <a:xfrm flipV="1">
            <a:off x="3737610" y="4717736"/>
            <a:ext cx="116205" cy="50789"/>
          </a:xfrm>
          <a:prstGeom prst="line">
            <a:avLst/>
          </a:prstGeom>
          <a:ln w="19050">
            <a:solidFill>
              <a:srgbClr val="CC79A7"/>
            </a:solidFill>
            <a:prstDash val="dash"/>
          </a:ln>
        </p:spPr>
      </p:cxnSp>
      <p:cxnSp>
        <p:nvCxnSpPr>
          <p:cNvPr id="105" name="Connector 104"/>
          <p:cNvCxnSpPr/>
          <p:nvPr/>
        </p:nvCxnSpPr>
        <p:spPr>
          <a:xfrm flipV="1">
            <a:off x="3853815" y="4663381"/>
            <a:ext cx="116205" cy="54355"/>
          </a:xfrm>
          <a:prstGeom prst="line">
            <a:avLst/>
          </a:prstGeom>
          <a:ln w="19050">
            <a:solidFill>
              <a:srgbClr val="CC79A7"/>
            </a:solidFill>
            <a:prstDash val="dash"/>
          </a:ln>
        </p:spPr>
      </p:cxnSp>
      <p:cxnSp>
        <p:nvCxnSpPr>
          <p:cNvPr id="106" name="Connector 105"/>
          <p:cNvCxnSpPr/>
          <p:nvPr/>
        </p:nvCxnSpPr>
        <p:spPr>
          <a:xfrm flipV="1">
            <a:off x="3970020" y="4605309"/>
            <a:ext cx="116205" cy="58072"/>
          </a:xfrm>
          <a:prstGeom prst="line">
            <a:avLst/>
          </a:prstGeom>
          <a:ln w="19050">
            <a:solidFill>
              <a:srgbClr val="CC79A7"/>
            </a:solidFill>
            <a:prstDash val="dash"/>
          </a:ln>
        </p:spPr>
      </p:cxnSp>
      <p:cxnSp>
        <p:nvCxnSpPr>
          <p:cNvPr id="107" name="Connector 106"/>
          <p:cNvCxnSpPr/>
          <p:nvPr/>
        </p:nvCxnSpPr>
        <p:spPr>
          <a:xfrm flipV="1">
            <a:off x="4086225" y="4543382"/>
            <a:ext cx="116205" cy="61927"/>
          </a:xfrm>
          <a:prstGeom prst="line">
            <a:avLst/>
          </a:prstGeom>
          <a:ln w="19050">
            <a:solidFill>
              <a:srgbClr val="CC79A7"/>
            </a:solidFill>
            <a:prstDash val="dash"/>
          </a:ln>
        </p:spPr>
      </p:cxnSp>
      <p:cxnSp>
        <p:nvCxnSpPr>
          <p:cNvPr id="108" name="Connector 107"/>
          <p:cNvCxnSpPr/>
          <p:nvPr/>
        </p:nvCxnSpPr>
        <p:spPr>
          <a:xfrm flipV="1">
            <a:off x="4202430" y="4477477"/>
            <a:ext cx="116205" cy="65905"/>
          </a:xfrm>
          <a:prstGeom prst="line">
            <a:avLst/>
          </a:prstGeom>
          <a:ln w="19050">
            <a:solidFill>
              <a:srgbClr val="CC79A7"/>
            </a:solidFill>
            <a:prstDash val="dash"/>
          </a:ln>
        </p:spPr>
      </p:cxnSp>
      <p:cxnSp>
        <p:nvCxnSpPr>
          <p:cNvPr id="109" name="Connector 108"/>
          <p:cNvCxnSpPr/>
          <p:nvPr/>
        </p:nvCxnSpPr>
        <p:spPr>
          <a:xfrm flipV="1">
            <a:off x="4318635" y="4407494"/>
            <a:ext cx="116205" cy="69983"/>
          </a:xfrm>
          <a:prstGeom prst="line">
            <a:avLst/>
          </a:prstGeom>
          <a:ln w="19050">
            <a:solidFill>
              <a:srgbClr val="CC79A7"/>
            </a:solidFill>
            <a:prstDash val="dash"/>
          </a:ln>
        </p:spPr>
      </p:cxnSp>
      <p:cxnSp>
        <p:nvCxnSpPr>
          <p:cNvPr id="110" name="Connector 109"/>
          <p:cNvCxnSpPr/>
          <p:nvPr/>
        </p:nvCxnSpPr>
        <p:spPr>
          <a:xfrm flipV="1">
            <a:off x="4434840" y="4333357"/>
            <a:ext cx="116205" cy="74137"/>
          </a:xfrm>
          <a:prstGeom prst="line">
            <a:avLst/>
          </a:prstGeom>
          <a:ln w="19050">
            <a:solidFill>
              <a:srgbClr val="CC79A7"/>
            </a:solidFill>
            <a:prstDash val="dash"/>
          </a:ln>
        </p:spPr>
      </p:cxnSp>
      <p:cxnSp>
        <p:nvCxnSpPr>
          <p:cNvPr id="111" name="Connector 110"/>
          <p:cNvCxnSpPr/>
          <p:nvPr/>
        </p:nvCxnSpPr>
        <p:spPr>
          <a:xfrm flipV="1">
            <a:off x="4551045" y="4255027"/>
            <a:ext cx="116205" cy="78330"/>
          </a:xfrm>
          <a:prstGeom prst="line">
            <a:avLst/>
          </a:prstGeom>
          <a:ln w="19050">
            <a:solidFill>
              <a:srgbClr val="CC79A7"/>
            </a:solidFill>
            <a:prstDash val="dash"/>
          </a:ln>
        </p:spPr>
      </p:cxnSp>
      <p:cxnSp>
        <p:nvCxnSpPr>
          <p:cNvPr id="112" name="Connector 111"/>
          <p:cNvCxnSpPr/>
          <p:nvPr/>
        </p:nvCxnSpPr>
        <p:spPr>
          <a:xfrm flipV="1">
            <a:off x="4667250" y="4172503"/>
            <a:ext cx="116205" cy="82524"/>
          </a:xfrm>
          <a:prstGeom prst="line">
            <a:avLst/>
          </a:prstGeom>
          <a:ln w="19050">
            <a:solidFill>
              <a:srgbClr val="CC79A7"/>
            </a:solidFill>
            <a:prstDash val="dash"/>
          </a:ln>
        </p:spPr>
      </p:cxnSp>
      <p:cxnSp>
        <p:nvCxnSpPr>
          <p:cNvPr id="113" name="Connector 112"/>
          <p:cNvCxnSpPr/>
          <p:nvPr/>
        </p:nvCxnSpPr>
        <p:spPr>
          <a:xfrm flipV="1">
            <a:off x="4783455" y="4085831"/>
            <a:ext cx="116205" cy="86672"/>
          </a:xfrm>
          <a:prstGeom prst="line">
            <a:avLst/>
          </a:prstGeom>
          <a:ln w="19050">
            <a:solidFill>
              <a:srgbClr val="CC79A7"/>
            </a:solidFill>
            <a:prstDash val="dash"/>
          </a:ln>
        </p:spPr>
      </p:cxnSp>
      <p:cxnSp>
        <p:nvCxnSpPr>
          <p:cNvPr id="114" name="Connector 113"/>
          <p:cNvCxnSpPr/>
          <p:nvPr/>
        </p:nvCxnSpPr>
        <p:spPr>
          <a:xfrm flipV="1">
            <a:off x="4899660" y="3995112"/>
            <a:ext cx="116205" cy="90719"/>
          </a:xfrm>
          <a:prstGeom prst="line">
            <a:avLst/>
          </a:prstGeom>
          <a:ln w="19050">
            <a:solidFill>
              <a:srgbClr val="CC79A7"/>
            </a:solidFill>
            <a:prstDash val="dash"/>
          </a:ln>
        </p:spPr>
      </p:cxnSp>
      <p:cxnSp>
        <p:nvCxnSpPr>
          <p:cNvPr id="115" name="Connector 114"/>
          <p:cNvCxnSpPr/>
          <p:nvPr/>
        </p:nvCxnSpPr>
        <p:spPr>
          <a:xfrm flipV="1">
            <a:off x="5015865" y="3900508"/>
            <a:ext cx="116205" cy="94604"/>
          </a:xfrm>
          <a:prstGeom prst="line">
            <a:avLst/>
          </a:prstGeom>
          <a:ln w="19050">
            <a:solidFill>
              <a:srgbClr val="CC79A7"/>
            </a:solidFill>
            <a:prstDash val="dash"/>
          </a:ln>
        </p:spPr>
      </p:cxnSp>
      <p:cxnSp>
        <p:nvCxnSpPr>
          <p:cNvPr id="116" name="Connector 115"/>
          <p:cNvCxnSpPr/>
          <p:nvPr/>
        </p:nvCxnSpPr>
        <p:spPr>
          <a:xfrm flipV="1">
            <a:off x="5132070" y="3802252"/>
            <a:ext cx="116205" cy="98256"/>
          </a:xfrm>
          <a:prstGeom prst="line">
            <a:avLst/>
          </a:prstGeom>
          <a:ln w="19050">
            <a:solidFill>
              <a:srgbClr val="CC79A7"/>
            </a:solidFill>
            <a:prstDash val="dash"/>
          </a:ln>
        </p:spPr>
      </p:cxnSp>
      <p:cxnSp>
        <p:nvCxnSpPr>
          <p:cNvPr id="117" name="Connector 116"/>
          <p:cNvCxnSpPr/>
          <p:nvPr/>
        </p:nvCxnSpPr>
        <p:spPr>
          <a:xfrm flipV="1">
            <a:off x="5248275" y="3700651"/>
            <a:ext cx="116205" cy="101601"/>
          </a:xfrm>
          <a:prstGeom prst="line">
            <a:avLst/>
          </a:prstGeom>
          <a:ln w="19050">
            <a:solidFill>
              <a:srgbClr val="CC79A7"/>
            </a:solidFill>
            <a:prstDash val="dash"/>
          </a:ln>
        </p:spPr>
      </p:cxnSp>
      <p:cxnSp>
        <p:nvCxnSpPr>
          <p:cNvPr id="118" name="Connector 117"/>
          <p:cNvCxnSpPr/>
          <p:nvPr/>
        </p:nvCxnSpPr>
        <p:spPr>
          <a:xfrm flipV="1">
            <a:off x="5364480" y="3596097"/>
            <a:ext cx="116205" cy="104554"/>
          </a:xfrm>
          <a:prstGeom prst="line">
            <a:avLst/>
          </a:prstGeom>
          <a:ln w="19050">
            <a:solidFill>
              <a:srgbClr val="CC79A7"/>
            </a:solidFill>
            <a:prstDash val="dash"/>
          </a:ln>
        </p:spPr>
      </p:cxnSp>
      <p:cxnSp>
        <p:nvCxnSpPr>
          <p:cNvPr id="119" name="Connector 118"/>
          <p:cNvCxnSpPr/>
          <p:nvPr/>
        </p:nvCxnSpPr>
        <p:spPr>
          <a:xfrm flipV="1">
            <a:off x="5480685" y="3489066"/>
            <a:ext cx="116205" cy="107031"/>
          </a:xfrm>
          <a:prstGeom prst="line">
            <a:avLst/>
          </a:prstGeom>
          <a:ln w="19050">
            <a:solidFill>
              <a:srgbClr val="CC79A7"/>
            </a:solidFill>
            <a:prstDash val="dash"/>
          </a:ln>
        </p:spPr>
      </p:cxnSp>
      <p:cxnSp>
        <p:nvCxnSpPr>
          <p:cNvPr id="120" name="Connector 119"/>
          <p:cNvCxnSpPr/>
          <p:nvPr/>
        </p:nvCxnSpPr>
        <p:spPr>
          <a:xfrm flipV="1">
            <a:off x="5596890" y="3380124"/>
            <a:ext cx="116205" cy="108942"/>
          </a:xfrm>
          <a:prstGeom prst="line">
            <a:avLst/>
          </a:prstGeom>
          <a:ln w="19050">
            <a:solidFill>
              <a:srgbClr val="CC79A7"/>
            </a:solidFill>
            <a:prstDash val="dash"/>
          </a:ln>
        </p:spPr>
      </p:cxnSp>
      <p:cxnSp>
        <p:nvCxnSpPr>
          <p:cNvPr id="121" name="Connector 120"/>
          <p:cNvCxnSpPr/>
          <p:nvPr/>
        </p:nvCxnSpPr>
        <p:spPr>
          <a:xfrm flipV="1">
            <a:off x="5713095" y="3269927"/>
            <a:ext cx="116205" cy="110197"/>
          </a:xfrm>
          <a:prstGeom prst="line">
            <a:avLst/>
          </a:prstGeom>
          <a:ln w="19050">
            <a:solidFill>
              <a:srgbClr val="CC79A7"/>
            </a:solidFill>
            <a:prstDash val="dash"/>
          </a:ln>
        </p:spPr>
      </p:cxnSp>
      <p:cxnSp>
        <p:nvCxnSpPr>
          <p:cNvPr id="122" name="Connector 121"/>
          <p:cNvCxnSpPr/>
          <p:nvPr/>
        </p:nvCxnSpPr>
        <p:spPr>
          <a:xfrm flipV="1">
            <a:off x="5829300" y="3159215"/>
            <a:ext cx="116205" cy="110712"/>
          </a:xfrm>
          <a:prstGeom prst="line">
            <a:avLst/>
          </a:prstGeom>
          <a:ln w="19050">
            <a:solidFill>
              <a:srgbClr val="CC79A7"/>
            </a:solidFill>
            <a:prstDash val="dash"/>
          </a:ln>
        </p:spPr>
      </p:cxnSp>
      <p:cxnSp>
        <p:nvCxnSpPr>
          <p:cNvPr id="123" name="Connector 122"/>
          <p:cNvCxnSpPr/>
          <p:nvPr/>
        </p:nvCxnSpPr>
        <p:spPr>
          <a:xfrm flipV="1">
            <a:off x="5945505" y="3048809"/>
            <a:ext cx="116205" cy="110406"/>
          </a:xfrm>
          <a:prstGeom prst="line">
            <a:avLst/>
          </a:prstGeom>
          <a:ln w="19050">
            <a:solidFill>
              <a:srgbClr val="CC79A7"/>
            </a:solidFill>
            <a:prstDash val="dash"/>
          </a:ln>
        </p:spPr>
      </p:cxnSp>
      <p:cxnSp>
        <p:nvCxnSpPr>
          <p:cNvPr id="124" name="Connector 123"/>
          <p:cNvCxnSpPr/>
          <p:nvPr/>
        </p:nvCxnSpPr>
        <p:spPr>
          <a:xfrm flipV="1">
            <a:off x="6061710" y="2939594"/>
            <a:ext cx="116205" cy="109215"/>
          </a:xfrm>
          <a:prstGeom prst="line">
            <a:avLst/>
          </a:prstGeom>
          <a:ln w="19050">
            <a:solidFill>
              <a:srgbClr val="CC79A7"/>
            </a:solidFill>
            <a:prstDash val="dash"/>
          </a:ln>
        </p:spPr>
      </p:cxnSp>
      <p:cxnSp>
        <p:nvCxnSpPr>
          <p:cNvPr id="125" name="Connector 124"/>
          <p:cNvCxnSpPr/>
          <p:nvPr/>
        </p:nvCxnSpPr>
        <p:spPr>
          <a:xfrm flipV="1">
            <a:off x="6177915" y="2832505"/>
            <a:ext cx="116205" cy="107089"/>
          </a:xfrm>
          <a:prstGeom prst="line">
            <a:avLst/>
          </a:prstGeom>
          <a:ln w="19050">
            <a:solidFill>
              <a:srgbClr val="CC79A7"/>
            </a:solidFill>
            <a:prstDash val="dash"/>
          </a:ln>
        </p:spPr>
      </p:cxnSp>
      <p:cxnSp>
        <p:nvCxnSpPr>
          <p:cNvPr id="126" name="Connector 125"/>
          <p:cNvCxnSpPr/>
          <p:nvPr/>
        </p:nvCxnSpPr>
        <p:spPr>
          <a:xfrm flipV="1">
            <a:off x="6294120" y="2728506"/>
            <a:ext cx="116205" cy="103999"/>
          </a:xfrm>
          <a:prstGeom prst="line">
            <a:avLst/>
          </a:prstGeom>
          <a:ln w="19050">
            <a:solidFill>
              <a:srgbClr val="CC79A7"/>
            </a:solidFill>
            <a:prstDash val="dash"/>
          </a:ln>
        </p:spPr>
      </p:cxnSp>
      <p:cxnSp>
        <p:nvCxnSpPr>
          <p:cNvPr id="127" name="Connector 126"/>
          <p:cNvCxnSpPr/>
          <p:nvPr/>
        </p:nvCxnSpPr>
        <p:spPr>
          <a:xfrm flipV="1">
            <a:off x="6410325" y="2628560"/>
            <a:ext cx="116205" cy="99946"/>
          </a:xfrm>
          <a:prstGeom prst="line">
            <a:avLst/>
          </a:prstGeom>
          <a:ln w="19050">
            <a:solidFill>
              <a:srgbClr val="CC79A7"/>
            </a:solidFill>
            <a:prstDash val="dash"/>
          </a:ln>
        </p:spPr>
      </p:cxnSp>
      <p:cxnSp>
        <p:nvCxnSpPr>
          <p:cNvPr id="128" name="Connector 127"/>
          <p:cNvCxnSpPr/>
          <p:nvPr/>
        </p:nvCxnSpPr>
        <p:spPr>
          <a:xfrm flipV="1">
            <a:off x="6526530" y="2533602"/>
            <a:ext cx="116205" cy="94958"/>
          </a:xfrm>
          <a:prstGeom prst="line">
            <a:avLst/>
          </a:prstGeom>
          <a:ln w="19050">
            <a:solidFill>
              <a:srgbClr val="CC79A7"/>
            </a:solidFill>
            <a:prstDash val="dash"/>
          </a:ln>
        </p:spPr>
      </p:cxnSp>
      <p:cxnSp>
        <p:nvCxnSpPr>
          <p:cNvPr id="129" name="Connector 128"/>
          <p:cNvCxnSpPr/>
          <p:nvPr/>
        </p:nvCxnSpPr>
        <p:spPr>
          <a:xfrm flipV="1">
            <a:off x="6642735" y="2444499"/>
            <a:ext cx="116205" cy="89103"/>
          </a:xfrm>
          <a:prstGeom prst="line">
            <a:avLst/>
          </a:prstGeom>
          <a:ln w="19050">
            <a:solidFill>
              <a:srgbClr val="CC79A7"/>
            </a:solidFill>
            <a:prstDash val="dash"/>
          </a:ln>
        </p:spPr>
      </p:cxnSp>
      <p:cxnSp>
        <p:nvCxnSpPr>
          <p:cNvPr id="130" name="Connector 129"/>
          <p:cNvCxnSpPr/>
          <p:nvPr/>
        </p:nvCxnSpPr>
        <p:spPr>
          <a:xfrm flipV="1">
            <a:off x="6758940" y="2362019"/>
            <a:ext cx="116205" cy="82480"/>
          </a:xfrm>
          <a:prstGeom prst="line">
            <a:avLst/>
          </a:prstGeom>
          <a:ln w="19050">
            <a:solidFill>
              <a:srgbClr val="CC79A7"/>
            </a:solidFill>
            <a:prstDash val="dash"/>
          </a:ln>
        </p:spPr>
      </p:cxnSp>
      <p:cxnSp>
        <p:nvCxnSpPr>
          <p:cNvPr id="131" name="Connector 130"/>
          <p:cNvCxnSpPr/>
          <p:nvPr/>
        </p:nvCxnSpPr>
        <p:spPr>
          <a:xfrm flipV="1">
            <a:off x="6875145" y="2286792"/>
            <a:ext cx="116205" cy="75227"/>
          </a:xfrm>
          <a:prstGeom prst="line">
            <a:avLst/>
          </a:prstGeom>
          <a:ln w="19050">
            <a:solidFill>
              <a:srgbClr val="CC79A7"/>
            </a:solidFill>
            <a:prstDash val="dash"/>
          </a:ln>
        </p:spPr>
      </p:cxnSp>
      <p:cxnSp>
        <p:nvCxnSpPr>
          <p:cNvPr id="132" name="Connector 131"/>
          <p:cNvCxnSpPr/>
          <p:nvPr/>
        </p:nvCxnSpPr>
        <p:spPr>
          <a:xfrm flipV="1">
            <a:off x="6991350" y="2219280"/>
            <a:ext cx="116205" cy="67512"/>
          </a:xfrm>
          <a:prstGeom prst="line">
            <a:avLst/>
          </a:prstGeom>
          <a:ln w="19050">
            <a:solidFill>
              <a:srgbClr val="CC79A7"/>
            </a:solidFill>
            <a:prstDash val="dash"/>
          </a:ln>
        </p:spPr>
      </p:cxnSp>
      <p:cxnSp>
        <p:nvCxnSpPr>
          <p:cNvPr id="133" name="Connector 132"/>
          <p:cNvCxnSpPr/>
          <p:nvPr/>
        </p:nvCxnSpPr>
        <p:spPr>
          <a:xfrm flipV="1">
            <a:off x="7107555" y="2159749"/>
            <a:ext cx="116205" cy="59531"/>
          </a:xfrm>
          <a:prstGeom prst="line">
            <a:avLst/>
          </a:prstGeom>
          <a:ln w="19050">
            <a:solidFill>
              <a:srgbClr val="CC79A7"/>
            </a:solidFill>
            <a:prstDash val="dash"/>
          </a:ln>
        </p:spPr>
      </p:cxnSp>
      <p:sp>
        <p:nvSpPr>
          <p:cNvPr id="134" name="TextBox 133"/>
          <p:cNvSpPr txBox="1"/>
          <p:nvPr/>
        </p:nvSpPr>
        <p:spPr>
          <a:xfrm>
            <a:off x="1737360" y="1975104"/>
            <a:ext cx="3017520" cy="566928"/>
          </a:xfrm>
          <a:prstGeom prst="rect">
            <a:avLst/>
          </a:prstGeom>
          <a:noFill/>
        </p:spPr>
        <p:txBody>
          <a:bodyPr wrap="square" lIns="0" tIns="0" rIns="0" bIns="0" anchor="t"/>
          <a:lstStyle/>
          <a:p>
            <a:pPr algn="l"/>
            <a:r>
              <a:rPr sz="1600" b="0" i="0">
                <a:solidFill>
                  <a:srgbClr val="586B73"/>
                </a:solidFill>
                <a:latin typeface="Arial"/>
                <a:ea typeface="Arial"/>
                <a:cs typeface="Arial"/>
              </a:rPr>
              <a:t>dashed: if positions fell back</a:t>
            </a:r>
          </a:p>
          <a:p>
            <a:pPr algn="l"/>
            <a:r>
              <a:rPr sz="1600" b="0" i="0">
                <a:solidFill>
                  <a:srgbClr val="586B73"/>
                </a:solidFill>
                <a:latin typeface="Arial"/>
                <a:ea typeface="Arial"/>
                <a:cs typeface="Arial"/>
              </a:rPr>
              <a:t>independently (derived)</a:t>
            </a:r>
          </a:p>
        </p:txBody>
      </p:sp>
      <p:sp>
        <p:nvSpPr>
          <p:cNvPr id="135" name="TextBox 134"/>
          <p:cNvSpPr txBox="1"/>
          <p:nvPr/>
        </p:nvSpPr>
        <p:spPr>
          <a:xfrm>
            <a:off x="6837924" y="3900830"/>
            <a:ext cx="1645920" cy="310896"/>
          </a:xfrm>
          <a:prstGeom prst="rect">
            <a:avLst/>
          </a:prstGeom>
          <a:noFill/>
        </p:spPr>
        <p:txBody>
          <a:bodyPr wrap="square" lIns="0" tIns="0" rIns="0" bIns="0" anchor="t"/>
          <a:lstStyle/>
          <a:p>
            <a:pPr algn="l"/>
            <a:r>
              <a:rPr sz="1800" b="1" i="0">
                <a:solidFill>
                  <a:srgbClr val="1B3A57"/>
                </a:solidFill>
                <a:latin typeface="Arial"/>
                <a:ea typeface="Arial"/>
                <a:cs typeface="Arial"/>
              </a:rPr>
              <a:t>plain</a:t>
            </a:r>
          </a:p>
        </p:txBody>
      </p:sp>
      <p:sp>
        <p:nvSpPr>
          <p:cNvPr id="136" name="TextBox 135"/>
          <p:cNvSpPr txBox="1"/>
          <p:nvPr/>
        </p:nvSpPr>
        <p:spPr>
          <a:xfrm>
            <a:off x="5474208" y="4636008"/>
            <a:ext cx="1645920" cy="310896"/>
          </a:xfrm>
          <a:prstGeom prst="rect">
            <a:avLst/>
          </a:prstGeom>
          <a:noFill/>
        </p:spPr>
        <p:txBody>
          <a:bodyPr wrap="square" lIns="0" tIns="0" rIns="0" bIns="0" anchor="t"/>
          <a:lstStyle/>
          <a:p>
            <a:pPr algn="l"/>
            <a:r>
              <a:rPr sz="1800" b="1" i="0">
                <a:solidFill>
                  <a:srgbClr val="1C6402"/>
                </a:solidFill>
                <a:latin typeface="Arial"/>
                <a:ea typeface="Arial"/>
                <a:cs typeface="Arial"/>
              </a:rPr>
              <a:t>MTP</a:t>
            </a:r>
          </a:p>
        </p:txBody>
      </p:sp>
      <p:sp>
        <p:nvSpPr>
          <p:cNvPr id="137" name="TextBox 136"/>
          <p:cNvSpPr txBox="1"/>
          <p:nvPr/>
        </p:nvSpPr>
        <p:spPr>
          <a:xfrm>
            <a:off x="3718560" y="2545689"/>
            <a:ext cx="1645920" cy="310896"/>
          </a:xfrm>
          <a:prstGeom prst="rect">
            <a:avLst/>
          </a:prstGeom>
          <a:noFill/>
        </p:spPr>
        <p:txBody>
          <a:bodyPr wrap="square" lIns="0" tIns="0" rIns="0" bIns="0" anchor="t"/>
          <a:lstStyle/>
          <a:p>
            <a:pPr algn="r"/>
            <a:r>
              <a:rPr sz="1800" b="1" i="0">
                <a:solidFill>
                  <a:srgbClr val="CC79A7"/>
                </a:solidFill>
                <a:latin typeface="Arial"/>
                <a:ea typeface="Arial"/>
                <a:cs typeface="Arial"/>
              </a:rPr>
              <a:t>DFlash-16</a:t>
            </a:r>
          </a:p>
        </p:txBody>
      </p:sp>
      <p:sp>
        <p:nvSpPr>
          <p:cNvPr id="138" name="TextBox 137"/>
          <p:cNvSpPr txBox="1"/>
          <p:nvPr/>
        </p:nvSpPr>
        <p:spPr>
          <a:xfrm>
            <a:off x="5908284" y="2163470"/>
            <a:ext cx="1645920" cy="310896"/>
          </a:xfrm>
          <a:prstGeom prst="rect">
            <a:avLst/>
          </a:prstGeom>
          <a:noFill/>
        </p:spPr>
        <p:txBody>
          <a:bodyPr wrap="square" lIns="0" tIns="0" rIns="0" bIns="0" anchor="t"/>
          <a:lstStyle/>
          <a:p>
            <a:pPr algn="l"/>
            <a:r>
              <a:rPr sz="1800" b="1" i="0">
                <a:solidFill>
                  <a:srgbClr val="6F1FA7"/>
                </a:solidFill>
                <a:latin typeface="Arial"/>
                <a:ea typeface="Arial"/>
                <a:cs typeface="Arial"/>
              </a:rPr>
              <a:t>DFlash-8</a:t>
            </a:r>
          </a:p>
        </p:txBody>
      </p:sp>
      <p:cxnSp>
        <p:nvCxnSpPr>
          <p:cNvPr id="139" name="Connector 138"/>
          <p:cNvCxnSpPr/>
          <p:nvPr/>
        </p:nvCxnSpPr>
        <p:spPr>
          <a:xfrm>
            <a:off x="6452089" y="2441448"/>
            <a:ext cx="223417" cy="395020"/>
          </a:xfrm>
          <a:prstGeom prst="line">
            <a:avLst/>
          </a:prstGeom>
          <a:ln w="9525">
            <a:solidFill>
              <a:srgbClr val="6F1FA7"/>
            </a:solidFill>
          </a:ln>
        </p:spPr>
      </p:cxnSp>
      <p:cxnSp>
        <p:nvCxnSpPr>
          <p:cNvPr id="140" name="Connector 139"/>
          <p:cNvCxnSpPr/>
          <p:nvPr/>
        </p:nvCxnSpPr>
        <p:spPr>
          <a:xfrm>
            <a:off x="7818120" y="1783080"/>
            <a:ext cx="0" cy="4434840"/>
          </a:xfrm>
          <a:prstGeom prst="line">
            <a:avLst/>
          </a:prstGeom>
          <a:ln w="12700">
            <a:solidFill>
              <a:srgbClr val="D2DCDF"/>
            </a:solidFill>
          </a:ln>
        </p:spPr>
      </p:cxnSp>
      <p:sp>
        <p:nvSpPr>
          <p:cNvPr id="141" name="TextBox 140"/>
          <p:cNvSpPr txBox="1"/>
          <p:nvPr/>
        </p:nvSpPr>
        <p:spPr>
          <a:xfrm>
            <a:off x="8092440" y="1737360"/>
            <a:ext cx="3383280" cy="685800"/>
          </a:xfrm>
          <a:prstGeom prst="rect">
            <a:avLst/>
          </a:prstGeom>
          <a:noFill/>
        </p:spPr>
        <p:txBody>
          <a:bodyPr wrap="square" lIns="0" tIns="0" rIns="0" bIns="0" anchor="t"/>
          <a:lstStyle/>
          <a:p>
            <a:pPr algn="l"/>
            <a:r>
              <a:rPr sz="3600" b="1" i="0">
                <a:solidFill>
                  <a:srgbClr val="D55E00"/>
                </a:solidFill>
                <a:latin typeface="Arial"/>
                <a:ea typeface="Arial"/>
                <a:cs typeface="Arial"/>
              </a:rPr>
              <a:t>54–82%</a:t>
            </a:r>
          </a:p>
        </p:txBody>
      </p:sp>
      <p:sp>
        <p:nvSpPr>
          <p:cNvPr id="142" name="TextBox 141"/>
          <p:cNvSpPr txBox="1"/>
          <p:nvPr/>
        </p:nvSpPr>
        <p:spPr>
          <a:xfrm>
            <a:off x="8092440" y="2450592"/>
            <a:ext cx="3383280" cy="914400"/>
          </a:xfrm>
          <a:prstGeom prst="rect">
            <a:avLst/>
          </a:prstGeom>
          <a:noFill/>
        </p:spPr>
        <p:txBody>
          <a:bodyPr wrap="square" lIns="0" tIns="0" rIns="0" bIns="0" anchor="t"/>
          <a:lstStyle/>
          <a:p>
            <a:pPr algn="l"/>
            <a:r>
              <a:rPr sz="2000" b="0" i="0">
                <a:solidFill>
                  <a:srgbClr val="1B3A57"/>
                </a:solidFill>
                <a:latin typeface="Arial"/>
                <a:ea typeface="Arial"/>
                <a:cs typeface="Arial"/>
              </a:rPr>
              <a:t>of DFlash verify calls at c = 2–8 need a fallback</a:t>
            </a:r>
          </a:p>
        </p:txBody>
      </p:sp>
      <p:sp>
        <p:nvSpPr>
          <p:cNvPr id="143" name="TextBox 142"/>
          <p:cNvSpPr txBox="1"/>
          <p:nvPr/>
        </p:nvSpPr>
        <p:spPr>
          <a:xfrm>
            <a:off x="8092440" y="3474720"/>
            <a:ext cx="3383280" cy="685800"/>
          </a:xfrm>
          <a:prstGeom prst="rect">
            <a:avLst/>
          </a:prstGeom>
          <a:noFill/>
        </p:spPr>
        <p:txBody>
          <a:bodyPr wrap="square" lIns="0" tIns="0" rIns="0" bIns="0" anchor="t"/>
          <a:lstStyle/>
          <a:p>
            <a:pPr algn="l"/>
            <a:r>
              <a:rPr sz="3600" b="1" i="0">
                <a:solidFill>
                  <a:srgbClr val="0072B2"/>
                </a:solidFill>
                <a:latin typeface="Arial"/>
                <a:ea typeface="Arial"/>
                <a:cs typeface="Arial"/>
              </a:rPr>
              <a:t>0.65×</a:t>
            </a:r>
          </a:p>
        </p:txBody>
      </p:sp>
      <p:sp>
        <p:nvSpPr>
          <p:cNvPr id="144" name="TextBox 143"/>
          <p:cNvSpPr txBox="1"/>
          <p:nvPr/>
        </p:nvSpPr>
        <p:spPr>
          <a:xfrm>
            <a:off x="8092440" y="4187952"/>
            <a:ext cx="3383280" cy="1005840"/>
          </a:xfrm>
          <a:prstGeom prst="rect">
            <a:avLst/>
          </a:prstGeom>
          <a:noFill/>
        </p:spPr>
        <p:txBody>
          <a:bodyPr wrap="square" lIns="0" tIns="0" rIns="0" bIns="0" anchor="t"/>
          <a:lstStyle/>
          <a:p>
            <a:pPr algn="l"/>
            <a:r>
              <a:rPr sz="2000" b="0" i="0">
                <a:solidFill>
                  <a:srgbClr val="1B3A57"/>
                </a:solidFill>
                <a:latin typeface="Arial"/>
                <a:ea typeface="Arial"/>
                <a:cs typeface="Arial"/>
              </a:rPr>
              <a:t>the stock head’s time at one position: the int8 pass is not memory-bound</a:t>
            </a:r>
          </a:p>
        </p:txBody>
      </p:sp>
      <p:sp>
        <p:nvSpPr>
          <p:cNvPr id="145" name="TextBox 144"/>
          <p:cNvSpPr txBox="1"/>
          <p:nvPr/>
        </p:nvSpPr>
        <p:spPr>
          <a:xfrm>
            <a:off x="8092440" y="5532120"/>
            <a:ext cx="3383280" cy="594360"/>
          </a:xfrm>
          <a:prstGeom prst="rect">
            <a:avLst/>
          </a:prstGeom>
          <a:noFill/>
        </p:spPr>
        <p:txBody>
          <a:bodyPr wrap="square" lIns="0" tIns="0" rIns="0" bIns="0" anchor="t"/>
          <a:lstStyle/>
          <a:p>
            <a:pPr algn="l"/>
            <a:r>
              <a:rPr sz="1600" b="1" i="0">
                <a:solidFill>
                  <a:srgbClr val="586B73"/>
                </a:solidFill>
                <a:latin typeface="Arial"/>
                <a:ea typeface="Arial"/>
                <a:cs typeface="Arial"/>
              </a:rPr>
              <a:t>Fallback cost inside the served graph: not timed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Transport needs drift below 0.01; median drift is above 0.9</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§§5.1–5.3</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12</a:t>
            </a:r>
          </a:p>
        </p:txBody>
      </p:sp>
      <p:sp>
        <p:nvSpPr>
          <p:cNvPr id="6" name="TextBox 5"/>
          <p:cNvSpPr txBox="1"/>
          <p:nvPr/>
        </p:nvSpPr>
        <p:spPr>
          <a:xfrm>
            <a:off x="731520" y="1554480"/>
            <a:ext cx="2240280" cy="310896"/>
          </a:xfrm>
          <a:prstGeom prst="rect">
            <a:avLst/>
          </a:prstGeom>
          <a:noFill/>
        </p:spPr>
        <p:txBody>
          <a:bodyPr wrap="square" lIns="0" tIns="0" rIns="0" bIns="0" anchor="t"/>
          <a:lstStyle/>
          <a:p>
            <a:pPr algn="l"/>
            <a:r>
              <a:rPr sz="1600" b="0" i="0">
                <a:solidFill>
                  <a:srgbClr val="586B73"/>
                </a:solidFill>
                <a:latin typeface="Arial"/>
                <a:ea typeface="Arial"/>
                <a:cs typeface="Arial"/>
              </a:rPr>
              <a:t>draft tile maximum</a:t>
            </a:r>
          </a:p>
        </p:txBody>
      </p:sp>
      <p:sp>
        <p:nvSpPr>
          <p:cNvPr id="7" name="TextBox 6"/>
          <p:cNvSpPr txBox="1"/>
          <p:nvPr/>
        </p:nvSpPr>
        <p:spPr>
          <a:xfrm>
            <a:off x="731520" y="1865376"/>
            <a:ext cx="2240280" cy="502920"/>
          </a:xfrm>
          <a:prstGeom prst="rect">
            <a:avLst/>
          </a:prstGeom>
          <a:noFill/>
        </p:spPr>
        <p:txBody>
          <a:bodyPr wrap="square" lIns="0" tIns="0" rIns="0" bIns="0" anchor="t"/>
          <a:lstStyle/>
          <a:p>
            <a:pPr algn="l"/>
            <a:r>
              <a:rPr sz="2800" b="1" i="0">
                <a:solidFill>
                  <a:srgbClr val="1B3A57"/>
                </a:solidFill>
                <a:latin typeface="Arial"/>
                <a:ea typeface="Arial"/>
                <a:cs typeface="Arial"/>
              </a:rPr>
              <a:t>6</a:t>
            </a:r>
          </a:p>
        </p:txBody>
      </p:sp>
      <p:cxnSp>
        <p:nvCxnSpPr>
          <p:cNvPr id="8" name="Connector 7"/>
          <p:cNvCxnSpPr/>
          <p:nvPr/>
        </p:nvCxnSpPr>
        <p:spPr>
          <a:xfrm>
            <a:off x="2651760" y="2130552"/>
            <a:ext cx="274320" cy="0"/>
          </a:xfrm>
          <a:prstGeom prst="line">
            <a:avLst/>
          </a:prstGeom>
          <a:ln w="15875">
            <a:solidFill>
              <a:srgbClr val="1B3A57"/>
            </a:solidFill>
            <a:tailEnd type="triangle" w="med" len="med"/>
          </a:ln>
        </p:spPr>
      </p:cxnSp>
      <p:sp>
        <p:nvSpPr>
          <p:cNvPr id="9" name="TextBox 8"/>
          <p:cNvSpPr txBox="1"/>
          <p:nvPr/>
        </p:nvSpPr>
        <p:spPr>
          <a:xfrm>
            <a:off x="3246120" y="1554480"/>
            <a:ext cx="2560320" cy="310896"/>
          </a:xfrm>
          <a:prstGeom prst="rect">
            <a:avLst/>
          </a:prstGeom>
          <a:noFill/>
        </p:spPr>
        <p:txBody>
          <a:bodyPr wrap="square" lIns="0" tIns="0" rIns="0" bIns="0" anchor="t"/>
          <a:lstStyle/>
          <a:p>
            <a:pPr algn="l"/>
            <a:r>
              <a:rPr sz="1600" b="0" i="0">
                <a:solidFill>
                  <a:srgbClr val="586B73"/>
                </a:solidFill>
                <a:latin typeface="Arial"/>
                <a:ea typeface="Arial"/>
                <a:cs typeface="Arial"/>
              </a:rPr>
              <a:t>shift + allowance</a:t>
            </a:r>
          </a:p>
        </p:txBody>
      </p:sp>
      <p:sp>
        <p:nvSpPr>
          <p:cNvPr id="10" name="TextBox 9"/>
          <p:cNvSpPr txBox="1"/>
          <p:nvPr/>
        </p:nvSpPr>
        <p:spPr>
          <a:xfrm>
            <a:off x="3246120" y="1865376"/>
            <a:ext cx="2560320" cy="502920"/>
          </a:xfrm>
          <a:prstGeom prst="rect">
            <a:avLst/>
          </a:prstGeom>
          <a:noFill/>
        </p:spPr>
        <p:txBody>
          <a:bodyPr wrap="square" lIns="0" tIns="0" rIns="0" bIns="0" anchor="t"/>
          <a:lstStyle/>
          <a:p>
            <a:pPr algn="l"/>
            <a:r>
              <a:rPr sz="2800" b="1" i="0">
                <a:solidFill>
                  <a:srgbClr val="1B3A57"/>
                </a:solidFill>
                <a:latin typeface="Arial"/>
                <a:ea typeface="Arial"/>
                <a:cs typeface="Arial"/>
              </a:rPr>
              <a:t>+2 + 0.5</a:t>
            </a:r>
          </a:p>
        </p:txBody>
      </p:sp>
      <p:cxnSp>
        <p:nvCxnSpPr>
          <p:cNvPr id="11" name="Connector 10"/>
          <p:cNvCxnSpPr/>
          <p:nvPr/>
        </p:nvCxnSpPr>
        <p:spPr>
          <a:xfrm>
            <a:off x="5486400" y="2130552"/>
            <a:ext cx="274320" cy="0"/>
          </a:xfrm>
          <a:prstGeom prst="line">
            <a:avLst/>
          </a:prstGeom>
          <a:ln w="15875">
            <a:solidFill>
              <a:srgbClr val="1B3A57"/>
            </a:solidFill>
            <a:tailEnd type="triangle" w="med" len="med"/>
          </a:ln>
        </p:spPr>
      </p:cxnSp>
      <p:sp>
        <p:nvSpPr>
          <p:cNvPr id="12" name="TextBox 11"/>
          <p:cNvSpPr txBox="1"/>
          <p:nvPr/>
        </p:nvSpPr>
        <p:spPr>
          <a:xfrm>
            <a:off x="6080760" y="1554480"/>
            <a:ext cx="2057400" cy="310896"/>
          </a:xfrm>
          <a:prstGeom prst="rect">
            <a:avLst/>
          </a:prstGeom>
          <a:noFill/>
        </p:spPr>
        <p:txBody>
          <a:bodyPr wrap="square" lIns="0" tIns="0" rIns="0" bIns="0" anchor="t"/>
          <a:lstStyle/>
          <a:p>
            <a:pPr algn="l"/>
            <a:r>
              <a:rPr sz="1600" b="0" i="0">
                <a:solidFill>
                  <a:srgbClr val="586B73"/>
                </a:solidFill>
                <a:latin typeface="Arial"/>
                <a:ea typeface="Arial"/>
                <a:cs typeface="Arial"/>
              </a:rPr>
              <a:t>target bound</a:t>
            </a:r>
          </a:p>
        </p:txBody>
      </p:sp>
      <p:sp>
        <p:nvSpPr>
          <p:cNvPr id="13" name="TextBox 12"/>
          <p:cNvSpPr txBox="1"/>
          <p:nvPr/>
        </p:nvSpPr>
        <p:spPr>
          <a:xfrm>
            <a:off x="6080760" y="1865376"/>
            <a:ext cx="2057400" cy="502920"/>
          </a:xfrm>
          <a:prstGeom prst="rect">
            <a:avLst/>
          </a:prstGeom>
          <a:noFill/>
        </p:spPr>
        <p:txBody>
          <a:bodyPr wrap="square" lIns="0" tIns="0" rIns="0" bIns="0" anchor="t"/>
          <a:lstStyle/>
          <a:p>
            <a:pPr algn="l"/>
            <a:r>
              <a:rPr sz="2800" b="1" i="0">
                <a:solidFill>
                  <a:srgbClr val="1B3A57"/>
                </a:solidFill>
                <a:latin typeface="Arial"/>
                <a:ea typeface="Arial"/>
                <a:cs typeface="Arial"/>
              </a:rPr>
              <a:t>8.5</a:t>
            </a:r>
          </a:p>
        </p:txBody>
      </p:sp>
      <p:cxnSp>
        <p:nvCxnSpPr>
          <p:cNvPr id="14" name="Connector 13"/>
          <p:cNvCxnSpPr/>
          <p:nvPr/>
        </p:nvCxnSpPr>
        <p:spPr>
          <a:xfrm>
            <a:off x="7818120" y="2130552"/>
            <a:ext cx="274320" cy="0"/>
          </a:xfrm>
          <a:prstGeom prst="line">
            <a:avLst/>
          </a:prstGeom>
          <a:ln w="15875">
            <a:solidFill>
              <a:srgbClr val="1B3A57"/>
            </a:solidFill>
            <a:tailEnd type="triangle" w="med" len="med"/>
          </a:ln>
        </p:spPr>
      </p:cxnSp>
      <p:sp>
        <p:nvSpPr>
          <p:cNvPr id="15" name="TextBox 14"/>
          <p:cNvSpPr txBox="1"/>
          <p:nvPr/>
        </p:nvSpPr>
        <p:spPr>
          <a:xfrm>
            <a:off x="8412480" y="1554480"/>
            <a:ext cx="3063240" cy="310896"/>
          </a:xfrm>
          <a:prstGeom prst="rect">
            <a:avLst/>
          </a:prstGeom>
          <a:noFill/>
        </p:spPr>
        <p:txBody>
          <a:bodyPr wrap="square" lIns="0" tIns="0" rIns="0" bIns="0" anchor="t"/>
          <a:lstStyle/>
          <a:p>
            <a:pPr algn="l"/>
            <a:r>
              <a:rPr sz="1600" b="0" i="0">
                <a:solidFill>
                  <a:srgbClr val="586B73"/>
                </a:solidFill>
                <a:latin typeface="Arial"/>
                <a:ea typeface="Arial"/>
                <a:cs typeface="Arial"/>
              </a:rPr>
              <a:t>known target score</a:t>
            </a:r>
          </a:p>
        </p:txBody>
      </p:sp>
      <p:sp>
        <p:nvSpPr>
          <p:cNvPr id="16" name="TextBox 15"/>
          <p:cNvSpPr txBox="1"/>
          <p:nvPr/>
        </p:nvSpPr>
        <p:spPr>
          <a:xfrm>
            <a:off x="8412480" y="1865376"/>
            <a:ext cx="3063240" cy="502920"/>
          </a:xfrm>
          <a:prstGeom prst="rect">
            <a:avLst/>
          </a:prstGeom>
          <a:noFill/>
        </p:spPr>
        <p:txBody>
          <a:bodyPr wrap="square" lIns="0" tIns="0" rIns="0" bIns="0" anchor="t"/>
          <a:lstStyle/>
          <a:p>
            <a:pPr algn="l"/>
            <a:r>
              <a:rPr sz="2800" b="1" i="0">
                <a:solidFill>
                  <a:srgbClr val="0072B2"/>
                </a:solidFill>
                <a:latin typeface="Arial"/>
                <a:ea typeface="Arial"/>
                <a:cs typeface="Arial"/>
              </a:rPr>
              <a:t>9: skip the tile</a:t>
            </a:r>
          </a:p>
        </p:txBody>
      </p:sp>
      <p:sp>
        <p:nvSpPr>
          <p:cNvPr id="17" name="TextBox 16"/>
          <p:cNvSpPr txBox="1"/>
          <p:nvPr/>
        </p:nvSpPr>
        <p:spPr>
          <a:xfrm>
            <a:off x="731520" y="2450592"/>
            <a:ext cx="10744200" cy="310896"/>
          </a:xfrm>
          <a:prstGeom prst="rect">
            <a:avLst/>
          </a:prstGeom>
          <a:noFill/>
        </p:spPr>
        <p:txBody>
          <a:bodyPr wrap="square" lIns="0" tIns="0" rIns="0" bIns="0" anchor="t"/>
          <a:lstStyle/>
          <a:p>
            <a:pPr algn="l"/>
            <a:r>
              <a:rPr sz="1600" b="0" i="0">
                <a:solidFill>
                  <a:srgbClr val="586B73"/>
                </a:solidFill>
                <a:latin typeface="Arial"/>
                <a:ea typeface="Arial"/>
                <a:cs typeface="Arial"/>
              </a:rPr>
              <a:t>Made-up numbers: the drafter’s scores, carried to the target’s head input by a Cauchy–Schwarz bound</a:t>
            </a:r>
          </a:p>
        </p:txBody>
      </p:sp>
      <p:cxnSp>
        <p:nvCxnSpPr>
          <p:cNvPr id="18" name="Connector 17"/>
          <p:cNvCxnSpPr/>
          <p:nvPr/>
        </p:nvCxnSpPr>
        <p:spPr>
          <a:xfrm>
            <a:off x="731520" y="2880360"/>
            <a:ext cx="10744200" cy="0"/>
          </a:xfrm>
          <a:prstGeom prst="line">
            <a:avLst/>
          </a:prstGeom>
          <a:ln w="12700">
            <a:solidFill>
              <a:srgbClr val="D2DCDF"/>
            </a:solidFill>
          </a:ln>
        </p:spPr>
      </p:cxnSp>
      <p:cxnSp>
        <p:nvCxnSpPr>
          <p:cNvPr id="19" name="Connector 18"/>
          <p:cNvCxnSpPr/>
          <p:nvPr/>
        </p:nvCxnSpPr>
        <p:spPr>
          <a:xfrm>
            <a:off x="3383280" y="3017520"/>
            <a:ext cx="0" cy="1828800"/>
          </a:xfrm>
          <a:prstGeom prst="line">
            <a:avLst/>
          </a:prstGeom>
          <a:ln w="9525">
            <a:solidFill>
              <a:srgbClr val="D2DCDF"/>
            </a:solidFill>
          </a:ln>
        </p:spPr>
      </p:cxnSp>
      <p:sp>
        <p:nvSpPr>
          <p:cNvPr id="20" name="TextBox 19"/>
          <p:cNvSpPr txBox="1"/>
          <p:nvPr/>
        </p:nvSpPr>
        <p:spPr>
          <a:xfrm>
            <a:off x="2926080" y="4882896"/>
            <a:ext cx="914400" cy="292608"/>
          </a:xfrm>
          <a:prstGeom prst="rect">
            <a:avLst/>
          </a:prstGeom>
          <a:noFill/>
        </p:spPr>
        <p:txBody>
          <a:bodyPr wrap="square" lIns="0" tIns="0" rIns="0" bIns="0" anchor="t"/>
          <a:lstStyle/>
          <a:p>
            <a:pPr algn="ctr"/>
            <a:r>
              <a:rPr sz="1600" b="0" i="0">
                <a:solidFill>
                  <a:srgbClr val="586B73"/>
                </a:solidFill>
                <a:latin typeface="Arial"/>
                <a:ea typeface="Arial"/>
                <a:cs typeface="Arial"/>
              </a:rPr>
              <a:t>0.001</a:t>
            </a:r>
          </a:p>
        </p:txBody>
      </p:sp>
      <p:cxnSp>
        <p:nvCxnSpPr>
          <p:cNvPr id="21" name="Connector 20"/>
          <p:cNvCxnSpPr/>
          <p:nvPr/>
        </p:nvCxnSpPr>
        <p:spPr>
          <a:xfrm>
            <a:off x="5913120" y="3017520"/>
            <a:ext cx="0" cy="1828800"/>
          </a:xfrm>
          <a:prstGeom prst="line">
            <a:avLst/>
          </a:prstGeom>
          <a:ln w="9525">
            <a:solidFill>
              <a:srgbClr val="D2DCDF"/>
            </a:solidFill>
          </a:ln>
        </p:spPr>
      </p:cxnSp>
      <p:sp>
        <p:nvSpPr>
          <p:cNvPr id="22" name="TextBox 21"/>
          <p:cNvSpPr txBox="1"/>
          <p:nvPr/>
        </p:nvSpPr>
        <p:spPr>
          <a:xfrm>
            <a:off x="5455920" y="4882896"/>
            <a:ext cx="914400" cy="292608"/>
          </a:xfrm>
          <a:prstGeom prst="rect">
            <a:avLst/>
          </a:prstGeom>
          <a:noFill/>
        </p:spPr>
        <p:txBody>
          <a:bodyPr wrap="square" lIns="0" tIns="0" rIns="0" bIns="0" anchor="t"/>
          <a:lstStyle/>
          <a:p>
            <a:pPr algn="ctr"/>
            <a:r>
              <a:rPr sz="1600" b="0" i="0">
                <a:solidFill>
                  <a:srgbClr val="586B73"/>
                </a:solidFill>
                <a:latin typeface="Arial"/>
                <a:ea typeface="Arial"/>
                <a:cs typeface="Arial"/>
              </a:rPr>
              <a:t>0.01</a:t>
            </a:r>
          </a:p>
        </p:txBody>
      </p:sp>
      <p:cxnSp>
        <p:nvCxnSpPr>
          <p:cNvPr id="23" name="Connector 22"/>
          <p:cNvCxnSpPr/>
          <p:nvPr/>
        </p:nvCxnSpPr>
        <p:spPr>
          <a:xfrm>
            <a:off x="8442960" y="3017520"/>
            <a:ext cx="0" cy="1828800"/>
          </a:xfrm>
          <a:prstGeom prst="line">
            <a:avLst/>
          </a:prstGeom>
          <a:ln w="9525">
            <a:solidFill>
              <a:srgbClr val="D2DCDF"/>
            </a:solidFill>
          </a:ln>
        </p:spPr>
      </p:cxnSp>
      <p:sp>
        <p:nvSpPr>
          <p:cNvPr id="24" name="TextBox 23"/>
          <p:cNvSpPr txBox="1"/>
          <p:nvPr/>
        </p:nvSpPr>
        <p:spPr>
          <a:xfrm>
            <a:off x="7985760" y="4882896"/>
            <a:ext cx="914400" cy="292608"/>
          </a:xfrm>
          <a:prstGeom prst="rect">
            <a:avLst/>
          </a:prstGeom>
          <a:noFill/>
        </p:spPr>
        <p:txBody>
          <a:bodyPr wrap="square" lIns="0" tIns="0" rIns="0" bIns="0" anchor="t"/>
          <a:lstStyle/>
          <a:p>
            <a:pPr algn="ctr"/>
            <a:r>
              <a:rPr sz="1600" b="0" i="0">
                <a:solidFill>
                  <a:srgbClr val="586B73"/>
                </a:solidFill>
                <a:latin typeface="Arial"/>
                <a:ea typeface="Arial"/>
                <a:cs typeface="Arial"/>
              </a:rPr>
              <a:t>0.1</a:t>
            </a:r>
          </a:p>
        </p:txBody>
      </p:sp>
      <p:cxnSp>
        <p:nvCxnSpPr>
          <p:cNvPr id="25" name="Connector 24"/>
          <p:cNvCxnSpPr/>
          <p:nvPr/>
        </p:nvCxnSpPr>
        <p:spPr>
          <a:xfrm>
            <a:off x="10972800" y="3017520"/>
            <a:ext cx="0" cy="1828800"/>
          </a:xfrm>
          <a:prstGeom prst="line">
            <a:avLst/>
          </a:prstGeom>
          <a:ln w="9525">
            <a:solidFill>
              <a:srgbClr val="D2DCDF"/>
            </a:solidFill>
          </a:ln>
        </p:spPr>
      </p:cxnSp>
      <p:sp>
        <p:nvSpPr>
          <p:cNvPr id="26" name="TextBox 25"/>
          <p:cNvSpPr txBox="1"/>
          <p:nvPr/>
        </p:nvSpPr>
        <p:spPr>
          <a:xfrm>
            <a:off x="10515600" y="4882896"/>
            <a:ext cx="914400" cy="292608"/>
          </a:xfrm>
          <a:prstGeom prst="rect">
            <a:avLst/>
          </a:prstGeom>
          <a:noFill/>
        </p:spPr>
        <p:txBody>
          <a:bodyPr wrap="square" lIns="0" tIns="0" rIns="0" bIns="0" anchor="t"/>
          <a:lstStyle/>
          <a:p>
            <a:pPr algn="ctr"/>
            <a:r>
              <a:rPr sz="1600" b="0" i="0">
                <a:solidFill>
                  <a:srgbClr val="586B73"/>
                </a:solidFill>
                <a:latin typeface="Arial"/>
                <a:ea typeface="Arial"/>
                <a:cs typeface="Arial"/>
              </a:rPr>
              <a:t>1</a:t>
            </a:r>
          </a:p>
        </p:txBody>
      </p:sp>
      <p:sp>
        <p:nvSpPr>
          <p:cNvPr id="27" name="TextBox 26"/>
          <p:cNvSpPr txBox="1"/>
          <p:nvPr/>
        </p:nvSpPr>
        <p:spPr>
          <a:xfrm>
            <a:off x="3383280" y="5175504"/>
            <a:ext cx="7589520" cy="310896"/>
          </a:xfrm>
          <a:prstGeom prst="rect">
            <a:avLst/>
          </a:prstGeom>
          <a:noFill/>
        </p:spPr>
        <p:txBody>
          <a:bodyPr wrap="square" lIns="0" tIns="0" rIns="0" bIns="0" anchor="t"/>
          <a:lstStyle/>
          <a:p>
            <a:pPr algn="ctr"/>
            <a:r>
              <a:rPr sz="1800" b="0" i="0">
                <a:solidFill>
                  <a:srgbClr val="1B3A57"/>
                </a:solidFill>
                <a:latin typeface="Arial"/>
                <a:ea typeface="Arial"/>
                <a:cs typeface="Arial"/>
              </a:rPr>
              <a:t>Drift: ‖h_target − h_draft‖ ÷ ‖h_target‖ (log)</a:t>
            </a:r>
          </a:p>
        </p:txBody>
      </p:sp>
      <p:sp>
        <p:nvSpPr>
          <p:cNvPr id="28" name="TextBox 27"/>
          <p:cNvSpPr txBox="1"/>
          <p:nvPr/>
        </p:nvSpPr>
        <p:spPr>
          <a:xfrm>
            <a:off x="731520" y="3017520"/>
            <a:ext cx="2606040" cy="329184"/>
          </a:xfrm>
          <a:prstGeom prst="rect">
            <a:avLst/>
          </a:prstGeom>
          <a:noFill/>
        </p:spPr>
        <p:txBody>
          <a:bodyPr wrap="square" lIns="0" tIns="0" rIns="0" bIns="0" anchor="t"/>
          <a:lstStyle/>
          <a:p>
            <a:pPr algn="l"/>
            <a:r>
              <a:rPr sz="1800" b="1" i="0">
                <a:solidFill>
                  <a:srgbClr val="1B3A57"/>
                </a:solidFill>
                <a:latin typeface="Arial"/>
                <a:ea typeface="Arial"/>
                <a:cs typeface="Arial"/>
              </a:rPr>
              <a:t>Threshold</a:t>
            </a:r>
          </a:p>
        </p:txBody>
      </p:sp>
      <p:sp>
        <p:nvSpPr>
          <p:cNvPr id="29" name="TextBox 28"/>
          <p:cNvSpPr txBox="1"/>
          <p:nvPr/>
        </p:nvSpPr>
        <p:spPr>
          <a:xfrm>
            <a:off x="731520" y="3328416"/>
            <a:ext cx="2606040" cy="292608"/>
          </a:xfrm>
          <a:prstGeom prst="rect">
            <a:avLst/>
          </a:prstGeom>
          <a:noFill/>
        </p:spPr>
        <p:txBody>
          <a:bodyPr wrap="square" lIns="0" tIns="0" rIns="0" bIns="0" anchor="t"/>
          <a:lstStyle/>
          <a:p>
            <a:pPr algn="l"/>
            <a:r>
              <a:rPr sz="1600" b="0" i="0">
                <a:solidFill>
                  <a:srgbClr val="586B73"/>
                </a:solidFill>
                <a:latin typeface="Arial"/>
                <a:ea typeface="Arial"/>
                <a:cs typeface="Arial"/>
              </a:rPr>
              <a:t>median over entries</a:t>
            </a:r>
          </a:p>
        </p:txBody>
      </p:sp>
      <p:sp>
        <p:nvSpPr>
          <p:cNvPr id="30" name="Oval 29"/>
          <p:cNvSpPr/>
          <p:nvPr/>
        </p:nvSpPr>
        <p:spPr>
          <a:xfrm>
            <a:off x="5639504" y="3163824"/>
            <a:ext cx="201168" cy="201168"/>
          </a:xfrm>
          <a:prstGeom prst="ellipse">
            <a:avLst/>
          </a:prstGeom>
          <a:solidFill>
            <a:srgbClr val="1B3A57"/>
          </a:solidFill>
          <a:ln w="12700">
            <a:solidFill>
              <a:srgbClr val="1B3A57"/>
            </a:solidFill>
          </a:ln>
        </p:spPr>
        <p:txBody>
          <a:bodyPr rtlCol="0" anchor="ctr"/>
          <a:lstStyle/>
          <a:p>
            <a:pPr algn="ctr"/>
          </a:p>
        </p:txBody>
      </p:sp>
      <p:sp>
        <p:nvSpPr>
          <p:cNvPr id="31" name="TextBox 30"/>
          <p:cNvSpPr txBox="1"/>
          <p:nvPr/>
        </p:nvSpPr>
        <p:spPr>
          <a:xfrm>
            <a:off x="5941256" y="3063240"/>
            <a:ext cx="1371600" cy="402336"/>
          </a:xfrm>
          <a:prstGeom prst="rect">
            <a:avLst/>
          </a:prstGeom>
          <a:noFill/>
        </p:spPr>
        <p:txBody>
          <a:bodyPr wrap="square" lIns="0" tIns="0" rIns="0" bIns="0" anchor="t"/>
          <a:lstStyle/>
          <a:p>
            <a:pPr algn="l"/>
            <a:r>
              <a:rPr sz="2000" b="1" i="0">
                <a:solidFill>
                  <a:srgbClr val="1B3A57"/>
                </a:solidFill>
                <a:latin typeface="Arial"/>
                <a:ea typeface="Arial"/>
                <a:cs typeface="Arial"/>
              </a:rPr>
              <a:t>0.00854</a:t>
            </a:r>
          </a:p>
        </p:txBody>
      </p:sp>
      <p:sp>
        <p:nvSpPr>
          <p:cNvPr id="32" name="TextBox 31"/>
          <p:cNvSpPr txBox="1"/>
          <p:nvPr/>
        </p:nvSpPr>
        <p:spPr>
          <a:xfrm>
            <a:off x="731520" y="3611880"/>
            <a:ext cx="2606040" cy="329184"/>
          </a:xfrm>
          <a:prstGeom prst="rect">
            <a:avLst/>
          </a:prstGeom>
          <a:noFill/>
        </p:spPr>
        <p:txBody>
          <a:bodyPr wrap="square" lIns="0" tIns="0" rIns="0" bIns="0" anchor="t"/>
          <a:lstStyle/>
          <a:p>
            <a:pPr algn="l"/>
            <a:r>
              <a:rPr sz="1800" b="1" i="0">
                <a:solidFill>
                  <a:srgbClr val="CC79A7"/>
                </a:solidFill>
                <a:latin typeface="Arial"/>
                <a:ea typeface="Arial"/>
                <a:cs typeface="Arial"/>
              </a:rPr>
              <a:t>DFlash-4B</a:t>
            </a:r>
          </a:p>
        </p:txBody>
      </p:sp>
      <p:sp>
        <p:nvSpPr>
          <p:cNvPr id="33" name="TextBox 32"/>
          <p:cNvSpPr txBox="1"/>
          <p:nvPr/>
        </p:nvSpPr>
        <p:spPr>
          <a:xfrm>
            <a:off x="731520" y="3922776"/>
            <a:ext cx="2606040" cy="292608"/>
          </a:xfrm>
          <a:prstGeom prst="rect">
            <a:avLst/>
          </a:prstGeom>
          <a:noFill/>
        </p:spPr>
        <p:txBody>
          <a:bodyPr wrap="square" lIns="0" tIns="0" rIns="0" bIns="0" anchor="t"/>
          <a:lstStyle/>
          <a:p>
            <a:pPr algn="l"/>
            <a:r>
              <a:rPr sz="1600" b="0" i="0">
                <a:solidFill>
                  <a:srgbClr val="586B73"/>
                </a:solidFill>
                <a:latin typeface="Arial"/>
                <a:ea typeface="Arial"/>
                <a:cs typeface="Arial"/>
              </a:rPr>
              <a:t>median drift, 40,000 pairs</a:t>
            </a:r>
          </a:p>
        </p:txBody>
      </p:sp>
      <p:sp>
        <p:nvSpPr>
          <p:cNvPr id="34" name="Oval 33"/>
          <p:cNvSpPr/>
          <p:nvPr/>
        </p:nvSpPr>
        <p:spPr>
          <a:xfrm>
            <a:off x="10776883" y="3758183"/>
            <a:ext cx="201168" cy="201168"/>
          </a:xfrm>
          <a:prstGeom prst="ellipse">
            <a:avLst/>
          </a:prstGeom>
          <a:solidFill>
            <a:srgbClr val="CC79A7"/>
          </a:solidFill>
          <a:ln w="12700">
            <a:solidFill>
              <a:srgbClr val="CC79A7"/>
            </a:solidFill>
          </a:ln>
        </p:spPr>
        <p:txBody>
          <a:bodyPr rtlCol="0" anchor="ctr"/>
          <a:lstStyle/>
          <a:p>
            <a:pPr algn="ctr"/>
          </a:p>
        </p:txBody>
      </p:sp>
      <p:sp>
        <p:nvSpPr>
          <p:cNvPr id="35" name="TextBox 34"/>
          <p:cNvSpPr txBox="1"/>
          <p:nvPr/>
        </p:nvSpPr>
        <p:spPr>
          <a:xfrm>
            <a:off x="9277267" y="3657600"/>
            <a:ext cx="1371600" cy="402336"/>
          </a:xfrm>
          <a:prstGeom prst="rect">
            <a:avLst/>
          </a:prstGeom>
          <a:noFill/>
        </p:spPr>
        <p:txBody>
          <a:bodyPr wrap="square" lIns="0" tIns="0" rIns="0" bIns="0" anchor="t"/>
          <a:lstStyle/>
          <a:p>
            <a:pPr algn="r"/>
            <a:r>
              <a:rPr sz="2000" b="1" i="0">
                <a:solidFill>
                  <a:srgbClr val="CC79A7"/>
                </a:solidFill>
                <a:latin typeface="Arial"/>
                <a:ea typeface="Arial"/>
                <a:cs typeface="Arial"/>
              </a:rPr>
              <a:t>0.92</a:t>
            </a:r>
          </a:p>
        </p:txBody>
      </p:sp>
      <p:sp>
        <p:nvSpPr>
          <p:cNvPr id="36" name="TextBox 35"/>
          <p:cNvSpPr txBox="1"/>
          <p:nvPr/>
        </p:nvSpPr>
        <p:spPr>
          <a:xfrm>
            <a:off x="731520" y="4206240"/>
            <a:ext cx="2606040" cy="329184"/>
          </a:xfrm>
          <a:prstGeom prst="rect">
            <a:avLst/>
          </a:prstGeom>
          <a:noFill/>
        </p:spPr>
        <p:txBody>
          <a:bodyPr wrap="square" lIns="0" tIns="0" rIns="0" bIns="0" anchor="t"/>
          <a:lstStyle/>
          <a:p>
            <a:pPr algn="l"/>
            <a:r>
              <a:rPr sz="1800" b="1" i="0">
                <a:solidFill>
                  <a:srgbClr val="1C6402"/>
                </a:solidFill>
                <a:latin typeface="Arial"/>
                <a:ea typeface="Arial"/>
                <a:cs typeface="Arial"/>
              </a:rPr>
              <a:t>MTP-4B</a:t>
            </a:r>
          </a:p>
        </p:txBody>
      </p:sp>
      <p:sp>
        <p:nvSpPr>
          <p:cNvPr id="37" name="TextBox 36"/>
          <p:cNvSpPr txBox="1"/>
          <p:nvPr/>
        </p:nvSpPr>
        <p:spPr>
          <a:xfrm>
            <a:off x="731520" y="4517136"/>
            <a:ext cx="2606040" cy="292608"/>
          </a:xfrm>
          <a:prstGeom prst="rect">
            <a:avLst/>
          </a:prstGeom>
          <a:noFill/>
        </p:spPr>
        <p:txBody>
          <a:bodyPr wrap="square" lIns="0" tIns="0" rIns="0" bIns="0" anchor="t"/>
          <a:lstStyle/>
          <a:p>
            <a:pPr algn="l"/>
            <a:r>
              <a:rPr sz="1600" b="0" i="0">
                <a:solidFill>
                  <a:srgbClr val="586B73"/>
                </a:solidFill>
                <a:latin typeface="Arial"/>
                <a:ea typeface="Arial"/>
                <a:cs typeface="Arial"/>
              </a:rPr>
              <a:t>median drift, 40,000 pairs</a:t>
            </a:r>
          </a:p>
        </p:txBody>
      </p:sp>
      <p:sp>
        <p:nvSpPr>
          <p:cNvPr id="38" name="Oval 37"/>
          <p:cNvSpPr/>
          <p:nvPr/>
        </p:nvSpPr>
        <p:spPr>
          <a:xfrm>
            <a:off x="10820146" y="4352544"/>
            <a:ext cx="201168" cy="201168"/>
          </a:xfrm>
          <a:prstGeom prst="ellipse">
            <a:avLst/>
          </a:prstGeom>
          <a:solidFill>
            <a:srgbClr val="1C6402"/>
          </a:solidFill>
          <a:ln w="12700">
            <a:solidFill>
              <a:srgbClr val="1C6402"/>
            </a:solidFill>
          </a:ln>
        </p:spPr>
        <p:txBody>
          <a:bodyPr rtlCol="0" anchor="ctr"/>
          <a:lstStyle/>
          <a:p>
            <a:pPr algn="ctr"/>
          </a:p>
        </p:txBody>
      </p:sp>
      <p:sp>
        <p:nvSpPr>
          <p:cNvPr id="39" name="TextBox 38"/>
          <p:cNvSpPr txBox="1"/>
          <p:nvPr/>
        </p:nvSpPr>
        <p:spPr>
          <a:xfrm>
            <a:off x="9320530" y="4251960"/>
            <a:ext cx="1371600" cy="402336"/>
          </a:xfrm>
          <a:prstGeom prst="rect">
            <a:avLst/>
          </a:prstGeom>
          <a:noFill/>
        </p:spPr>
        <p:txBody>
          <a:bodyPr wrap="square" lIns="0" tIns="0" rIns="0" bIns="0" anchor="t"/>
          <a:lstStyle/>
          <a:p>
            <a:pPr algn="r"/>
            <a:r>
              <a:rPr sz="2000" b="1" i="0">
                <a:solidFill>
                  <a:srgbClr val="1C6402"/>
                </a:solidFill>
                <a:latin typeface="Arial"/>
                <a:ea typeface="Arial"/>
                <a:cs typeface="Arial"/>
              </a:rPr>
              <a:t>0.95</a:t>
            </a:r>
          </a:p>
        </p:txBody>
      </p:sp>
      <p:cxnSp>
        <p:nvCxnSpPr>
          <p:cNvPr id="40" name="Connector 39"/>
          <p:cNvCxnSpPr/>
          <p:nvPr/>
        </p:nvCxnSpPr>
        <p:spPr>
          <a:xfrm>
            <a:off x="5922968" y="3547872"/>
            <a:ext cx="4771619" cy="0"/>
          </a:xfrm>
          <a:prstGeom prst="line">
            <a:avLst/>
          </a:prstGeom>
          <a:ln w="19050">
            <a:solidFill>
              <a:srgbClr val="6B7780"/>
            </a:solidFill>
            <a:tailEnd type="triangle" w="med" len="med"/>
          </a:ln>
        </p:spPr>
      </p:cxnSp>
      <p:sp>
        <p:nvSpPr>
          <p:cNvPr id="41" name="TextBox 40"/>
          <p:cNvSpPr txBox="1"/>
          <p:nvPr/>
        </p:nvSpPr>
        <p:spPr>
          <a:xfrm>
            <a:off x="7294568" y="3218688"/>
            <a:ext cx="3291840" cy="310896"/>
          </a:xfrm>
          <a:prstGeom prst="rect">
            <a:avLst/>
          </a:prstGeom>
          <a:noFill/>
        </p:spPr>
        <p:txBody>
          <a:bodyPr wrap="square" lIns="0" tIns="0" rIns="0" bIns="0" anchor="t"/>
          <a:lstStyle/>
          <a:p>
            <a:pPr algn="l"/>
            <a:r>
              <a:rPr sz="1600" b="1" i="0">
                <a:solidFill>
                  <a:srgbClr val="586B73"/>
                </a:solidFill>
                <a:latin typeface="Arial"/>
                <a:ea typeface="Arial"/>
                <a:cs typeface="Arial"/>
              </a:rPr>
              <a:t>107–112× apart</a:t>
            </a:r>
          </a:p>
        </p:txBody>
      </p:sp>
      <p:sp>
        <p:nvSpPr>
          <p:cNvPr id="42" name="TextBox 41"/>
          <p:cNvSpPr txBox="1"/>
          <p:nvPr/>
        </p:nvSpPr>
        <p:spPr>
          <a:xfrm>
            <a:off x="731520" y="5623560"/>
            <a:ext cx="10744200" cy="640080"/>
          </a:xfrm>
          <a:prstGeom prst="rect">
            <a:avLst/>
          </a:prstGeom>
          <a:noFill/>
        </p:spPr>
        <p:txBody>
          <a:bodyPr wrap="square" lIns="0" tIns="0" rIns="0" bIns="0" anchor="t"/>
          <a:lstStyle/>
          <a:p>
            <a:pPr algn="l"/>
            <a:r>
              <a:rPr sz="2000" b="1" i="0">
                <a:solidFill>
                  <a:srgbClr val="1B3A57"/>
                </a:solidFill>
                <a:latin typeface="Arial"/>
                <a:ea typeface="Arial"/>
                <a:cs typeface="Arial"/>
              </a:rPr>
              <a:t>Certified transport skips at most 0.59% (DFlash-4B) and 0.64% (MTP-4B) of the vocabulary.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Engine changes outside the head gained more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§4.5</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13</a:t>
            </a:r>
          </a:p>
        </p:txBody>
      </p:sp>
      <p:sp>
        <p:nvSpPr>
          <p:cNvPr id="6" name="TextBox 5"/>
          <p:cNvSpPr txBox="1"/>
          <p:nvPr/>
        </p:nvSpPr>
        <p:spPr>
          <a:xfrm>
            <a:off x="731520" y="1536192"/>
            <a:ext cx="10744200" cy="329184"/>
          </a:xfrm>
          <a:prstGeom prst="rect">
            <a:avLst/>
          </a:prstGeom>
          <a:noFill/>
        </p:spPr>
        <p:txBody>
          <a:bodyPr wrap="square" lIns="0" tIns="0" rIns="0" bIns="0" anchor="t"/>
          <a:lstStyle/>
          <a:p>
            <a:pPr algn="l"/>
            <a:r>
              <a:rPr sz="1600" b="0" i="0">
                <a:solidFill>
                  <a:srgbClr val="586B73"/>
                </a:solidFill>
                <a:latin typeface="Arial"/>
                <a:ea typeface="Arial"/>
                <a:cs typeface="Arial"/>
              </a:rPr>
              <a:t>fold: SGLang’s fold-every-commit GDN verify, without per-position state snapshots · FA4: FlashAttention 4</a:t>
            </a:r>
          </a:p>
        </p:txBody>
      </p:sp>
      <p:sp>
        <p:nvSpPr>
          <p:cNvPr id="7" name="TextBox 6"/>
          <p:cNvSpPr txBox="1"/>
          <p:nvPr/>
        </p:nvSpPr>
        <p:spPr>
          <a:xfrm>
            <a:off x="731520" y="2057400"/>
            <a:ext cx="4434840" cy="329184"/>
          </a:xfrm>
          <a:prstGeom prst="rect">
            <a:avLst/>
          </a:prstGeom>
          <a:noFill/>
        </p:spPr>
        <p:txBody>
          <a:bodyPr wrap="square" lIns="0" tIns="0" rIns="0" bIns="0" anchor="t"/>
          <a:lstStyle/>
          <a:p>
            <a:pPr algn="l"/>
            <a:r>
              <a:rPr sz="1800" b="1" i="0">
                <a:solidFill>
                  <a:srgbClr val="0072B2"/>
                </a:solidFill>
                <a:latin typeface="Arial"/>
                <a:ea typeface="Arial"/>
                <a:cs typeface="Arial"/>
              </a:rPr>
              <a:t>Certified head</a:t>
            </a:r>
          </a:p>
        </p:txBody>
      </p:sp>
      <p:sp>
        <p:nvSpPr>
          <p:cNvPr id="8" name="TextBox 7"/>
          <p:cNvSpPr txBox="1"/>
          <p:nvPr/>
        </p:nvSpPr>
        <p:spPr>
          <a:xfrm>
            <a:off x="731520" y="2368296"/>
            <a:ext cx="4434840" cy="292608"/>
          </a:xfrm>
          <a:prstGeom prst="rect">
            <a:avLst/>
          </a:prstGeom>
          <a:noFill/>
        </p:spPr>
        <p:txBody>
          <a:bodyPr wrap="square" lIns="0" tIns="0" rIns="0" bIns="0" anchor="t"/>
          <a:lstStyle/>
          <a:p>
            <a:pPr algn="l"/>
            <a:r>
              <a:rPr sz="1600" b="0" i="0">
                <a:solidFill>
                  <a:srgbClr val="586B73"/>
                </a:solidFill>
                <a:latin typeface="Arial"/>
                <a:ea typeface="Arial"/>
                <a:cs typeface="Arial"/>
              </a:rPr>
              <a:t>three arms · c = 1 · 3 sessions</a:t>
            </a:r>
          </a:p>
        </p:txBody>
      </p:sp>
      <p:sp>
        <p:nvSpPr>
          <p:cNvPr id="9" name="Rectangle 8"/>
          <p:cNvSpPr/>
          <p:nvPr/>
        </p:nvSpPr>
        <p:spPr>
          <a:xfrm>
            <a:off x="5257800" y="2148840"/>
            <a:ext cx="173105" cy="420624"/>
          </a:xfrm>
          <a:prstGeom prst="rect">
            <a:avLst/>
          </a:prstGeom>
          <a:solidFill>
            <a:srgbClr val="8CC0DC"/>
          </a:solidFill>
          <a:ln>
            <a:noFill/>
          </a:ln>
        </p:spPr>
        <p:txBody>
          <a:bodyPr rtlCol="0" anchor="ctr"/>
          <a:lstStyle/>
          <a:p>
            <a:pPr algn="ctr"/>
          </a:p>
        </p:txBody>
      </p:sp>
      <p:sp>
        <p:nvSpPr>
          <p:cNvPr id="10" name="Rectangle 9"/>
          <p:cNvSpPr/>
          <p:nvPr/>
        </p:nvSpPr>
        <p:spPr>
          <a:xfrm>
            <a:off x="5430905" y="2148840"/>
            <a:ext cx="457797" cy="420624"/>
          </a:xfrm>
          <a:prstGeom prst="rect">
            <a:avLst/>
          </a:prstGeom>
          <a:solidFill>
            <a:srgbClr val="0072B2"/>
          </a:solidFill>
          <a:ln>
            <a:noFill/>
          </a:ln>
        </p:spPr>
        <p:txBody>
          <a:bodyPr rtlCol="0" anchor="ctr"/>
          <a:lstStyle/>
          <a:p>
            <a:pPr algn="ctr"/>
          </a:p>
        </p:txBody>
      </p:sp>
      <p:sp>
        <p:nvSpPr>
          <p:cNvPr id="11" name="TextBox 10"/>
          <p:cNvSpPr txBox="1"/>
          <p:nvPr/>
        </p:nvSpPr>
        <p:spPr>
          <a:xfrm>
            <a:off x="5998431" y="2148840"/>
            <a:ext cx="1463040" cy="420624"/>
          </a:xfrm>
          <a:prstGeom prst="rect">
            <a:avLst/>
          </a:prstGeom>
          <a:noFill/>
        </p:spPr>
        <p:txBody>
          <a:bodyPr wrap="square" lIns="0" tIns="0" rIns="0" bIns="0" anchor="ctr"/>
          <a:lstStyle/>
          <a:p>
            <a:pPr algn="l"/>
            <a:r>
              <a:rPr sz="1800" b="1" i="0">
                <a:solidFill>
                  <a:srgbClr val="1B3A57"/>
                </a:solidFill>
                <a:latin typeface="Arial"/>
                <a:ea typeface="Arial"/>
                <a:cs typeface="Arial"/>
              </a:rPr>
              <a:t>+1.3–4.6%</a:t>
            </a:r>
          </a:p>
        </p:txBody>
      </p:sp>
      <p:sp>
        <p:nvSpPr>
          <p:cNvPr id="12" name="TextBox 11"/>
          <p:cNvSpPr txBox="1"/>
          <p:nvPr/>
        </p:nvSpPr>
        <p:spPr>
          <a:xfrm>
            <a:off x="731520" y="2770632"/>
            <a:ext cx="4434840" cy="329184"/>
          </a:xfrm>
          <a:prstGeom prst="rect">
            <a:avLst/>
          </a:prstGeom>
          <a:noFill/>
        </p:spPr>
        <p:txBody>
          <a:bodyPr wrap="square" lIns="0" tIns="0" rIns="0" bIns="0" anchor="t"/>
          <a:lstStyle/>
          <a:p>
            <a:pPr algn="l"/>
            <a:r>
              <a:rPr sz="1800" b="1" i="0">
                <a:solidFill>
                  <a:srgbClr val="1B3A57"/>
                </a:solidFill>
                <a:latin typeface="Arial"/>
                <a:ea typeface="Arial"/>
                <a:cs typeface="Arial"/>
              </a:rPr>
              <a:t>Replayed GDN decoding</a:t>
            </a:r>
          </a:p>
        </p:txBody>
      </p:sp>
      <p:sp>
        <p:nvSpPr>
          <p:cNvPr id="13" name="TextBox 12"/>
          <p:cNvSpPr txBox="1"/>
          <p:nvPr/>
        </p:nvSpPr>
        <p:spPr>
          <a:xfrm>
            <a:off x="731520" y="3081528"/>
            <a:ext cx="4434840" cy="292608"/>
          </a:xfrm>
          <a:prstGeom prst="rect">
            <a:avLst/>
          </a:prstGeom>
          <a:noFill/>
        </p:spPr>
        <p:txBody>
          <a:bodyPr wrap="square" lIns="0" tIns="0" rIns="0" bIns="0" anchor="t"/>
          <a:lstStyle/>
          <a:p>
            <a:pPr algn="l"/>
            <a:r>
              <a:rPr sz="1600" b="0" i="0">
                <a:solidFill>
                  <a:srgbClr val="586B73"/>
                </a:solidFill>
                <a:latin typeface="Arial"/>
                <a:ea typeface="Arial"/>
                <a:cs typeface="Arial"/>
              </a:rPr>
              <a:t>plain · c = 128 · one run pair</a:t>
            </a:r>
          </a:p>
        </p:txBody>
      </p:sp>
      <p:sp>
        <p:nvSpPr>
          <p:cNvPr id="14" name="Rectangle 13"/>
          <p:cNvSpPr/>
          <p:nvPr/>
        </p:nvSpPr>
        <p:spPr>
          <a:xfrm>
            <a:off x="5257800" y="2862072"/>
            <a:ext cx="1122961" cy="420624"/>
          </a:xfrm>
          <a:prstGeom prst="rect">
            <a:avLst/>
          </a:prstGeom>
          <a:solidFill>
            <a:srgbClr val="98A6B3"/>
          </a:solidFill>
          <a:ln>
            <a:noFill/>
          </a:ln>
        </p:spPr>
        <p:txBody>
          <a:bodyPr rtlCol="0" anchor="ctr"/>
          <a:lstStyle/>
          <a:p>
            <a:pPr algn="ctr"/>
          </a:p>
        </p:txBody>
      </p:sp>
      <p:sp>
        <p:nvSpPr>
          <p:cNvPr id="15" name="Rectangle 14"/>
          <p:cNvSpPr/>
          <p:nvPr/>
        </p:nvSpPr>
        <p:spPr>
          <a:xfrm>
            <a:off x="6344185" y="2862072"/>
            <a:ext cx="73152" cy="420624"/>
          </a:xfrm>
          <a:prstGeom prst="rect">
            <a:avLst/>
          </a:prstGeom>
          <a:solidFill>
            <a:srgbClr val="1B3A57"/>
          </a:solidFill>
          <a:ln>
            <a:noFill/>
          </a:ln>
        </p:spPr>
        <p:txBody>
          <a:bodyPr rtlCol="0" anchor="ctr"/>
          <a:lstStyle/>
          <a:p>
            <a:pPr algn="ctr"/>
          </a:p>
        </p:txBody>
      </p:sp>
      <p:sp>
        <p:nvSpPr>
          <p:cNvPr id="16" name="TextBox 15"/>
          <p:cNvSpPr txBox="1"/>
          <p:nvPr/>
        </p:nvSpPr>
        <p:spPr>
          <a:xfrm>
            <a:off x="6490489" y="2862072"/>
            <a:ext cx="1463040" cy="420624"/>
          </a:xfrm>
          <a:prstGeom prst="rect">
            <a:avLst/>
          </a:prstGeom>
          <a:noFill/>
        </p:spPr>
        <p:txBody>
          <a:bodyPr wrap="square" lIns="0" tIns="0" rIns="0" bIns="0" anchor="ctr"/>
          <a:lstStyle/>
          <a:p>
            <a:pPr algn="l"/>
            <a:r>
              <a:rPr sz="1800" b="1" i="0">
                <a:solidFill>
                  <a:srgbClr val="1B3A57"/>
                </a:solidFill>
                <a:latin typeface="Arial"/>
                <a:ea typeface="Arial"/>
                <a:cs typeface="Arial"/>
              </a:rPr>
              <a:t>+8.1%</a:t>
            </a:r>
          </a:p>
        </p:txBody>
      </p:sp>
      <p:sp>
        <p:nvSpPr>
          <p:cNvPr id="17" name="TextBox 16"/>
          <p:cNvSpPr txBox="1"/>
          <p:nvPr/>
        </p:nvSpPr>
        <p:spPr>
          <a:xfrm>
            <a:off x="731520" y="3483864"/>
            <a:ext cx="4434840" cy="329184"/>
          </a:xfrm>
          <a:prstGeom prst="rect">
            <a:avLst/>
          </a:prstGeom>
          <a:noFill/>
        </p:spPr>
        <p:txBody>
          <a:bodyPr wrap="square" lIns="0" tIns="0" rIns="0" bIns="0" anchor="t"/>
          <a:lstStyle/>
          <a:p>
            <a:pPr algn="l"/>
            <a:r>
              <a:rPr sz="1800" b="1" i="0">
                <a:solidFill>
                  <a:srgbClr val="CC79A7"/>
                </a:solidFill>
                <a:latin typeface="Arial"/>
                <a:ea typeface="Arial"/>
                <a:cs typeface="Arial"/>
              </a:rPr>
              <a:t>Fold, narrow tiles, FA4</a:t>
            </a:r>
          </a:p>
        </p:txBody>
      </p:sp>
      <p:sp>
        <p:nvSpPr>
          <p:cNvPr id="18" name="TextBox 17"/>
          <p:cNvSpPr txBox="1"/>
          <p:nvPr/>
        </p:nvSpPr>
        <p:spPr>
          <a:xfrm>
            <a:off x="731520" y="3794760"/>
            <a:ext cx="4434840" cy="292608"/>
          </a:xfrm>
          <a:prstGeom prst="rect">
            <a:avLst/>
          </a:prstGeom>
          <a:noFill/>
        </p:spPr>
        <p:txBody>
          <a:bodyPr wrap="square" lIns="0" tIns="0" rIns="0" bIns="0" anchor="t"/>
          <a:lstStyle/>
          <a:p>
            <a:pPr algn="l"/>
            <a:r>
              <a:rPr sz="1600" b="0" i="0">
                <a:solidFill>
                  <a:srgbClr val="586B73"/>
                </a:solidFill>
                <a:latin typeface="Arial"/>
                <a:ea typeface="Arial"/>
                <a:cs typeface="Arial"/>
              </a:rPr>
              <a:t>DFlash-16 · c = 1–4 · per request · 3 sessions</a:t>
            </a:r>
          </a:p>
        </p:txBody>
      </p:sp>
      <p:sp>
        <p:nvSpPr>
          <p:cNvPr id="19" name="Rectangle 18"/>
          <p:cNvSpPr/>
          <p:nvPr/>
        </p:nvSpPr>
        <p:spPr>
          <a:xfrm>
            <a:off x="5257800" y="3575304"/>
            <a:ext cx="1168600" cy="420624"/>
          </a:xfrm>
          <a:prstGeom prst="rect">
            <a:avLst/>
          </a:prstGeom>
          <a:solidFill>
            <a:srgbClr val="E8C3D7"/>
          </a:solidFill>
          <a:ln>
            <a:noFill/>
          </a:ln>
        </p:spPr>
        <p:txBody>
          <a:bodyPr rtlCol="0" anchor="ctr"/>
          <a:lstStyle/>
          <a:p>
            <a:pPr algn="ctr"/>
          </a:p>
        </p:txBody>
      </p:sp>
      <p:sp>
        <p:nvSpPr>
          <p:cNvPr id="20" name="Rectangle 19"/>
          <p:cNvSpPr/>
          <p:nvPr/>
        </p:nvSpPr>
        <p:spPr>
          <a:xfrm>
            <a:off x="6426400" y="3575304"/>
            <a:ext cx="122155" cy="420624"/>
          </a:xfrm>
          <a:prstGeom prst="rect">
            <a:avLst/>
          </a:prstGeom>
          <a:solidFill>
            <a:srgbClr val="CC79A7"/>
          </a:solidFill>
          <a:ln>
            <a:noFill/>
          </a:ln>
        </p:spPr>
        <p:txBody>
          <a:bodyPr rtlCol="0" anchor="ctr"/>
          <a:lstStyle/>
          <a:p>
            <a:pPr algn="ctr"/>
          </a:p>
        </p:txBody>
      </p:sp>
      <p:sp>
        <p:nvSpPr>
          <p:cNvPr id="21" name="TextBox 20"/>
          <p:cNvSpPr txBox="1"/>
          <p:nvPr/>
        </p:nvSpPr>
        <p:spPr>
          <a:xfrm>
            <a:off x="6658283" y="3575304"/>
            <a:ext cx="1463040" cy="420624"/>
          </a:xfrm>
          <a:prstGeom prst="rect">
            <a:avLst/>
          </a:prstGeom>
          <a:noFill/>
        </p:spPr>
        <p:txBody>
          <a:bodyPr wrap="square" lIns="0" tIns="0" rIns="0" bIns="0" anchor="ctr"/>
          <a:lstStyle/>
          <a:p>
            <a:pPr algn="l"/>
            <a:r>
              <a:rPr sz="1800" b="1" i="0">
                <a:solidFill>
                  <a:srgbClr val="1B3A57"/>
                </a:solidFill>
                <a:latin typeface="Arial"/>
                <a:ea typeface="Arial"/>
                <a:cs typeface="Arial"/>
              </a:rPr>
              <a:t>+8.4–9.3%</a:t>
            </a:r>
          </a:p>
        </p:txBody>
      </p:sp>
      <p:sp>
        <p:nvSpPr>
          <p:cNvPr id="22" name="TextBox 21"/>
          <p:cNvSpPr txBox="1"/>
          <p:nvPr/>
        </p:nvSpPr>
        <p:spPr>
          <a:xfrm>
            <a:off x="731520" y="4197096"/>
            <a:ext cx="4434840" cy="329184"/>
          </a:xfrm>
          <a:prstGeom prst="rect">
            <a:avLst/>
          </a:prstGeom>
          <a:noFill/>
        </p:spPr>
        <p:txBody>
          <a:bodyPr wrap="square" lIns="0" tIns="0" rIns="0" bIns="0" anchor="t"/>
          <a:lstStyle/>
          <a:p>
            <a:pPr algn="l"/>
            <a:r>
              <a:rPr sz="1800" b="1" i="0">
                <a:solidFill>
                  <a:srgbClr val="6F1FA7"/>
                </a:solidFill>
                <a:latin typeface="Arial"/>
                <a:ea typeface="Arial"/>
                <a:cs typeface="Arial"/>
              </a:rPr>
              <a:t>Fold, FA4 target</a:t>
            </a:r>
          </a:p>
        </p:txBody>
      </p:sp>
      <p:sp>
        <p:nvSpPr>
          <p:cNvPr id="23" name="TextBox 22"/>
          <p:cNvSpPr txBox="1"/>
          <p:nvPr/>
        </p:nvSpPr>
        <p:spPr>
          <a:xfrm>
            <a:off x="731520" y="4507992"/>
            <a:ext cx="4434840" cy="292608"/>
          </a:xfrm>
          <a:prstGeom prst="rect">
            <a:avLst/>
          </a:prstGeom>
          <a:noFill/>
        </p:spPr>
        <p:txBody>
          <a:bodyPr wrap="square" lIns="0" tIns="0" rIns="0" bIns="0" anchor="t"/>
          <a:lstStyle/>
          <a:p>
            <a:pPr algn="l"/>
            <a:r>
              <a:rPr sz="1600" b="0" i="0">
                <a:solidFill>
                  <a:srgbClr val="586B73"/>
                </a:solidFill>
                <a:latin typeface="Arial"/>
                <a:ea typeface="Arial"/>
                <a:cs typeface="Arial"/>
              </a:rPr>
              <a:t>DFlash-8 · c = 8–32 · 3 sessions</a:t>
            </a:r>
          </a:p>
        </p:txBody>
      </p:sp>
      <p:sp>
        <p:nvSpPr>
          <p:cNvPr id="24" name="Rectangle 23"/>
          <p:cNvSpPr/>
          <p:nvPr/>
        </p:nvSpPr>
        <p:spPr>
          <a:xfrm>
            <a:off x="5257800" y="4288536"/>
            <a:ext cx="1718852" cy="420624"/>
          </a:xfrm>
          <a:prstGeom prst="rect">
            <a:avLst/>
          </a:prstGeom>
          <a:solidFill>
            <a:srgbClr val="BE9AD7"/>
          </a:solidFill>
          <a:ln>
            <a:noFill/>
          </a:ln>
        </p:spPr>
        <p:txBody>
          <a:bodyPr rtlCol="0" anchor="ctr"/>
          <a:lstStyle/>
          <a:p>
            <a:pPr algn="ctr"/>
          </a:p>
        </p:txBody>
      </p:sp>
      <p:sp>
        <p:nvSpPr>
          <p:cNvPr id="25" name="Rectangle 24"/>
          <p:cNvSpPr/>
          <p:nvPr/>
        </p:nvSpPr>
        <p:spPr>
          <a:xfrm>
            <a:off x="6976652" y="4288536"/>
            <a:ext cx="173147" cy="420624"/>
          </a:xfrm>
          <a:prstGeom prst="rect">
            <a:avLst/>
          </a:prstGeom>
          <a:solidFill>
            <a:srgbClr val="6F1FA7"/>
          </a:solidFill>
          <a:ln>
            <a:noFill/>
          </a:ln>
        </p:spPr>
        <p:txBody>
          <a:bodyPr rtlCol="0" anchor="ctr"/>
          <a:lstStyle/>
          <a:p>
            <a:pPr algn="ctr"/>
          </a:p>
        </p:txBody>
      </p:sp>
      <p:sp>
        <p:nvSpPr>
          <p:cNvPr id="26" name="TextBox 25"/>
          <p:cNvSpPr txBox="1"/>
          <p:nvPr/>
        </p:nvSpPr>
        <p:spPr>
          <a:xfrm>
            <a:off x="7259528" y="4288536"/>
            <a:ext cx="1463040" cy="420624"/>
          </a:xfrm>
          <a:prstGeom prst="rect">
            <a:avLst/>
          </a:prstGeom>
          <a:noFill/>
        </p:spPr>
        <p:txBody>
          <a:bodyPr wrap="square" lIns="0" tIns="0" rIns="0" bIns="0" anchor="ctr"/>
          <a:lstStyle/>
          <a:p>
            <a:pPr algn="l"/>
            <a:r>
              <a:rPr sz="1800" b="1" i="0">
                <a:solidFill>
                  <a:srgbClr val="1B3A57"/>
                </a:solidFill>
                <a:latin typeface="Arial"/>
                <a:ea typeface="Arial"/>
                <a:cs typeface="Arial"/>
              </a:rPr>
              <a:t>+12.4–13.7%</a:t>
            </a:r>
          </a:p>
        </p:txBody>
      </p:sp>
      <p:cxnSp>
        <p:nvCxnSpPr>
          <p:cNvPr id="27" name="Connector 26"/>
          <p:cNvCxnSpPr/>
          <p:nvPr/>
        </p:nvCxnSpPr>
        <p:spPr>
          <a:xfrm>
            <a:off x="731520" y="4946904"/>
            <a:ext cx="10744200" cy="0"/>
          </a:xfrm>
          <a:prstGeom prst="line">
            <a:avLst/>
          </a:prstGeom>
          <a:ln w="9525">
            <a:solidFill>
              <a:srgbClr val="6B7780"/>
            </a:solidFill>
            <a:prstDash val="dash"/>
          </a:ln>
        </p:spPr>
      </p:cxnSp>
      <p:sp>
        <p:nvSpPr>
          <p:cNvPr id="28" name="TextBox 27"/>
          <p:cNvSpPr txBox="1"/>
          <p:nvPr/>
        </p:nvSpPr>
        <p:spPr>
          <a:xfrm>
            <a:off x="731520" y="5020056"/>
            <a:ext cx="4434840" cy="329184"/>
          </a:xfrm>
          <a:prstGeom prst="rect">
            <a:avLst/>
          </a:prstGeom>
          <a:noFill/>
        </p:spPr>
        <p:txBody>
          <a:bodyPr wrap="square" lIns="0" tIns="0" rIns="0" bIns="0" anchor="t"/>
          <a:lstStyle/>
          <a:p>
            <a:pPr algn="l"/>
            <a:r>
              <a:rPr sz="1800" b="1" i="0">
                <a:solidFill>
                  <a:srgbClr val="1C6402"/>
                </a:solidFill>
                <a:latin typeface="Arial"/>
                <a:ea typeface="Arial"/>
                <a:cs typeface="Arial"/>
              </a:rPr>
              <a:t>Prefill delay and cap</a:t>
            </a:r>
          </a:p>
        </p:txBody>
      </p:sp>
      <p:sp>
        <p:nvSpPr>
          <p:cNvPr id="29" name="TextBox 28"/>
          <p:cNvSpPr txBox="1"/>
          <p:nvPr/>
        </p:nvSpPr>
        <p:spPr>
          <a:xfrm>
            <a:off x="731520" y="5330952"/>
            <a:ext cx="4434840" cy="292608"/>
          </a:xfrm>
          <a:prstGeom prst="rect">
            <a:avLst/>
          </a:prstGeom>
          <a:noFill/>
        </p:spPr>
        <p:txBody>
          <a:bodyPr wrap="square" lIns="0" tIns="0" rIns="0" bIns="0" anchor="t"/>
          <a:lstStyle/>
          <a:p>
            <a:pPr algn="l"/>
            <a:r>
              <a:rPr sz="1600" b="0" i="0">
                <a:solidFill>
                  <a:srgbClr val="586B73"/>
                </a:solidFill>
                <a:latin typeface="Arial"/>
                <a:ea typeface="Arial"/>
                <a:cs typeface="Arial"/>
              </a:rPr>
              <a:t>MTP · c = 48–128 · 3 sessions</a:t>
            </a:r>
          </a:p>
        </p:txBody>
      </p:sp>
      <p:sp>
        <p:nvSpPr>
          <p:cNvPr id="30" name="Rectangle 29"/>
          <p:cNvSpPr/>
          <p:nvPr/>
        </p:nvSpPr>
        <p:spPr>
          <a:xfrm>
            <a:off x="5257800" y="5111496"/>
            <a:ext cx="2504855" cy="420624"/>
          </a:xfrm>
          <a:prstGeom prst="rect">
            <a:avLst/>
          </a:prstGeom>
          <a:solidFill>
            <a:srgbClr val="99B98D"/>
          </a:solidFill>
          <a:ln>
            <a:noFill/>
          </a:ln>
        </p:spPr>
        <p:txBody>
          <a:bodyPr rtlCol="0" anchor="ctr"/>
          <a:lstStyle/>
          <a:p>
            <a:pPr algn="ctr"/>
          </a:p>
        </p:txBody>
      </p:sp>
      <p:sp>
        <p:nvSpPr>
          <p:cNvPr id="31" name="Rectangle 30"/>
          <p:cNvSpPr/>
          <p:nvPr/>
        </p:nvSpPr>
        <p:spPr>
          <a:xfrm>
            <a:off x="7762655" y="5111496"/>
            <a:ext cx="1909450" cy="420624"/>
          </a:xfrm>
          <a:prstGeom prst="rect">
            <a:avLst/>
          </a:prstGeom>
          <a:solidFill>
            <a:srgbClr val="1C6402"/>
          </a:solidFill>
          <a:ln>
            <a:noFill/>
          </a:ln>
        </p:spPr>
        <p:txBody>
          <a:bodyPr rtlCol="0" anchor="ctr"/>
          <a:lstStyle/>
          <a:p>
            <a:pPr algn="ctr"/>
          </a:p>
        </p:txBody>
      </p:sp>
      <p:sp>
        <p:nvSpPr>
          <p:cNvPr id="32" name="TextBox 31"/>
          <p:cNvSpPr txBox="1"/>
          <p:nvPr/>
        </p:nvSpPr>
        <p:spPr>
          <a:xfrm>
            <a:off x="9781833" y="5111496"/>
            <a:ext cx="1463040" cy="420624"/>
          </a:xfrm>
          <a:prstGeom prst="rect">
            <a:avLst/>
          </a:prstGeom>
          <a:noFill/>
        </p:spPr>
        <p:txBody>
          <a:bodyPr wrap="square" lIns="0" tIns="0" rIns="0" bIns="0" anchor="ctr"/>
          <a:lstStyle/>
          <a:p>
            <a:pPr algn="l"/>
            <a:r>
              <a:rPr sz="1800" b="1" i="0">
                <a:solidFill>
                  <a:srgbClr val="1B3A57"/>
                </a:solidFill>
                <a:latin typeface="Arial"/>
                <a:ea typeface="Arial"/>
                <a:cs typeface="Arial"/>
              </a:rPr>
              <a:t>+18–32%</a:t>
            </a:r>
          </a:p>
        </p:txBody>
      </p:sp>
      <p:cxnSp>
        <p:nvCxnSpPr>
          <p:cNvPr id="33" name="Connector 32"/>
          <p:cNvCxnSpPr/>
          <p:nvPr/>
        </p:nvCxnSpPr>
        <p:spPr>
          <a:xfrm>
            <a:off x="5257800" y="2011680"/>
            <a:ext cx="0" cy="3675888"/>
          </a:xfrm>
          <a:prstGeom prst="line">
            <a:avLst/>
          </a:prstGeom>
          <a:ln w="12700">
            <a:solidFill>
              <a:srgbClr val="6B7780"/>
            </a:solidFill>
          </a:ln>
        </p:spPr>
      </p:cxnSp>
      <p:sp>
        <p:nvSpPr>
          <p:cNvPr id="34" name="TextBox 33"/>
          <p:cNvSpPr txBox="1"/>
          <p:nvPr/>
        </p:nvSpPr>
        <p:spPr>
          <a:xfrm>
            <a:off x="731520" y="5715000"/>
            <a:ext cx="10744200" cy="566928"/>
          </a:xfrm>
          <a:prstGeom prst="rect">
            <a:avLst/>
          </a:prstGeom>
          <a:noFill/>
        </p:spPr>
        <p:txBody>
          <a:bodyPr wrap="square" lIns="0" tIns="0" rIns="0" bIns="0" anchor="t"/>
          <a:lstStyle/>
          <a:p>
            <a:pPr algn="l"/>
            <a:r>
              <a:rPr sz="1600" b="0" i="0">
                <a:solidFill>
                  <a:srgbClr val="586B73"/>
                </a:solidFill>
                <a:latin typeface="Arial"/>
                <a:ea typeface="Arial"/>
                <a:cs typeface="Arial"/>
              </a:rPr>
              <a:t>Light: up to the smallest gain; dark: the range across c or arms. Each against the tuned arm it changes; below the line, against the best arm without speculation.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Five other approaches missed a rule declared in advance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Appendix E.4; research notes (FP8, split-KV)</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14</a:t>
            </a:r>
          </a:p>
        </p:txBody>
      </p:sp>
      <p:sp>
        <p:nvSpPr>
          <p:cNvPr id="6" name="Rectangle 5"/>
          <p:cNvSpPr/>
          <p:nvPr/>
        </p:nvSpPr>
        <p:spPr>
          <a:xfrm>
            <a:off x="731520" y="1801368"/>
            <a:ext cx="64008" cy="1060704"/>
          </a:xfrm>
          <a:prstGeom prst="rect">
            <a:avLst/>
          </a:prstGeom>
          <a:solidFill>
            <a:srgbClr val="D55E00"/>
          </a:solidFill>
          <a:ln>
            <a:noFill/>
          </a:ln>
        </p:spPr>
        <p:txBody>
          <a:bodyPr rtlCol="0" anchor="ctr"/>
          <a:lstStyle/>
          <a:p>
            <a:pPr algn="ctr"/>
          </a:p>
        </p:txBody>
      </p:sp>
      <p:sp>
        <p:nvSpPr>
          <p:cNvPr id="7" name="TextBox 6"/>
          <p:cNvSpPr txBox="1"/>
          <p:nvPr/>
        </p:nvSpPr>
        <p:spPr>
          <a:xfrm>
            <a:off x="960120" y="1783080"/>
            <a:ext cx="10515600" cy="329184"/>
          </a:xfrm>
          <a:prstGeom prst="rect">
            <a:avLst/>
          </a:prstGeom>
          <a:noFill/>
        </p:spPr>
        <p:txBody>
          <a:bodyPr wrap="square" lIns="0" tIns="0" rIns="0" bIns="0" anchor="t"/>
          <a:lstStyle/>
          <a:p>
            <a:pPr algn="l"/>
            <a:r>
              <a:rPr sz="1600" b="1" i="0">
                <a:solidFill>
                  <a:srgbClr val="1B3A57"/>
                </a:solidFill>
                <a:latin typeface="Arial"/>
                <a:ea typeface="Arial"/>
                <a:cs typeface="Arial"/>
              </a:rPr>
              <a:t>Lossy</a:t>
            </a:r>
          </a:p>
        </p:txBody>
      </p:sp>
      <p:sp>
        <p:nvSpPr>
          <p:cNvPr id="8" name="TextBox 7"/>
          <p:cNvSpPr txBox="1"/>
          <p:nvPr/>
        </p:nvSpPr>
        <p:spPr>
          <a:xfrm>
            <a:off x="960120" y="2148840"/>
            <a:ext cx="10515600" cy="1051560"/>
          </a:xfrm>
          <a:prstGeom prst="rect">
            <a:avLst/>
          </a:prstGeom>
          <a:noFill/>
        </p:spPr>
        <p:txBody>
          <a:bodyPr wrap="square" lIns="0" tIns="0" rIns="0" bIns="0" anchor="t"/>
          <a:lstStyle/>
          <a:p>
            <a:pPr algn="l"/>
            <a:r>
              <a:rPr sz="2000" b="0" i="0">
                <a:solidFill>
                  <a:srgbClr val="1B3A57"/>
                </a:solidFill>
                <a:latin typeface="Arial"/>
                <a:ea typeface="Arial"/>
                <a:cs typeface="Arial"/>
              </a:rPr>
              <a:t>FP8 decode rate 1.014× at c = 64 (rule 1.05); int4 fails the probe, 0.715–0.870× above c = 1; FP16 state 1.0–1.4 GSM8K points below (budget 1)</a:t>
            </a:r>
          </a:p>
        </p:txBody>
      </p:sp>
      <p:sp>
        <p:nvSpPr>
          <p:cNvPr id="9" name="Rectangle 8"/>
          <p:cNvSpPr/>
          <p:nvPr/>
        </p:nvSpPr>
        <p:spPr>
          <a:xfrm>
            <a:off x="731520" y="3264408"/>
            <a:ext cx="64008" cy="786384"/>
          </a:xfrm>
          <a:prstGeom prst="rect">
            <a:avLst/>
          </a:prstGeom>
          <a:solidFill>
            <a:srgbClr val="D55E00"/>
          </a:solidFill>
          <a:ln>
            <a:noFill/>
          </a:ln>
        </p:spPr>
        <p:txBody>
          <a:bodyPr rtlCol="0" anchor="ctr"/>
          <a:lstStyle/>
          <a:p>
            <a:pPr algn="ctr"/>
          </a:p>
        </p:txBody>
      </p:sp>
      <p:sp>
        <p:nvSpPr>
          <p:cNvPr id="10" name="TextBox 9"/>
          <p:cNvSpPr txBox="1"/>
          <p:nvPr/>
        </p:nvSpPr>
        <p:spPr>
          <a:xfrm>
            <a:off x="960120" y="3246120"/>
            <a:ext cx="10515600" cy="329184"/>
          </a:xfrm>
          <a:prstGeom prst="rect">
            <a:avLst/>
          </a:prstGeom>
          <a:noFill/>
        </p:spPr>
        <p:txBody>
          <a:bodyPr wrap="square" lIns="0" tIns="0" rIns="0" bIns="0" anchor="t"/>
          <a:lstStyle/>
          <a:p>
            <a:pPr algn="l"/>
            <a:r>
              <a:rPr sz="1600" b="1" i="0">
                <a:solidFill>
                  <a:srgbClr val="1B3A57"/>
                </a:solidFill>
                <a:latin typeface="Arial"/>
                <a:ea typeface="Arial"/>
                <a:cs typeface="Arial"/>
              </a:rPr>
              <a:t>Exact, but slower</a:t>
            </a:r>
          </a:p>
        </p:txBody>
      </p:sp>
      <p:sp>
        <p:nvSpPr>
          <p:cNvPr id="11" name="TextBox 10"/>
          <p:cNvSpPr txBox="1"/>
          <p:nvPr/>
        </p:nvSpPr>
        <p:spPr>
          <a:xfrm>
            <a:off x="960120" y="3611879"/>
            <a:ext cx="10515600" cy="777240"/>
          </a:xfrm>
          <a:prstGeom prst="rect">
            <a:avLst/>
          </a:prstGeom>
          <a:noFill/>
        </p:spPr>
        <p:txBody>
          <a:bodyPr wrap="square" lIns="0" tIns="0" rIns="0" bIns="0" anchor="t"/>
          <a:lstStyle/>
          <a:p>
            <a:pPr algn="l"/>
            <a:r>
              <a:rPr sz="2000" b="0" i="0">
                <a:solidFill>
                  <a:srgbClr val="1B3A57"/>
                </a:solidFill>
                <a:latin typeface="Arial"/>
                <a:ea typeface="Arial"/>
                <a:cs typeface="Arial"/>
              </a:rPr>
              <a:t>Fold + routing + certified head: 0.972× at c = 2 (declared ≥ 1.007)</a:t>
            </a:r>
          </a:p>
        </p:txBody>
      </p:sp>
      <p:sp>
        <p:nvSpPr>
          <p:cNvPr id="12" name="Rectangle 11"/>
          <p:cNvSpPr/>
          <p:nvPr/>
        </p:nvSpPr>
        <p:spPr>
          <a:xfrm>
            <a:off x="731520" y="4453127"/>
            <a:ext cx="64008" cy="786384"/>
          </a:xfrm>
          <a:prstGeom prst="rect">
            <a:avLst/>
          </a:prstGeom>
          <a:solidFill>
            <a:srgbClr val="D55E00"/>
          </a:solidFill>
          <a:ln>
            <a:noFill/>
          </a:ln>
        </p:spPr>
        <p:txBody>
          <a:bodyPr rtlCol="0" anchor="ctr"/>
          <a:lstStyle/>
          <a:p>
            <a:pPr algn="ctr"/>
          </a:p>
        </p:txBody>
      </p:sp>
      <p:sp>
        <p:nvSpPr>
          <p:cNvPr id="13" name="TextBox 12"/>
          <p:cNvSpPr txBox="1"/>
          <p:nvPr/>
        </p:nvSpPr>
        <p:spPr>
          <a:xfrm>
            <a:off x="960120" y="4434840"/>
            <a:ext cx="10515600" cy="329184"/>
          </a:xfrm>
          <a:prstGeom prst="rect">
            <a:avLst/>
          </a:prstGeom>
          <a:noFill/>
        </p:spPr>
        <p:txBody>
          <a:bodyPr wrap="square" lIns="0" tIns="0" rIns="0" bIns="0" anchor="t"/>
          <a:lstStyle/>
          <a:p>
            <a:pPr algn="l"/>
            <a:r>
              <a:rPr sz="1600" b="1" i="0">
                <a:solidFill>
                  <a:srgbClr val="1B3A57"/>
                </a:solidFill>
                <a:latin typeface="Arial"/>
                <a:ea typeface="Arial"/>
                <a:cs typeface="Arial"/>
              </a:rPr>
              <a:t>Kernel</a:t>
            </a:r>
          </a:p>
        </p:txBody>
      </p:sp>
      <p:sp>
        <p:nvSpPr>
          <p:cNvPr id="14" name="TextBox 13"/>
          <p:cNvSpPr txBox="1"/>
          <p:nvPr/>
        </p:nvSpPr>
        <p:spPr>
          <a:xfrm>
            <a:off x="960120" y="4800600"/>
            <a:ext cx="10515600" cy="777240"/>
          </a:xfrm>
          <a:prstGeom prst="rect">
            <a:avLst/>
          </a:prstGeom>
          <a:noFill/>
        </p:spPr>
        <p:txBody>
          <a:bodyPr wrap="square" lIns="0" tIns="0" rIns="0" bIns="0" anchor="t"/>
          <a:lstStyle/>
          <a:p>
            <a:pPr algn="l"/>
            <a:r>
              <a:rPr sz="2000" b="0" i="0">
                <a:solidFill>
                  <a:srgbClr val="1B3A57"/>
                </a:solidFill>
                <a:latin typeface="Arial"/>
                <a:ea typeface="Arial"/>
                <a:cs typeface="Arial"/>
              </a:rPr>
              <a:t>Split-KV verify kernel saved 7.6 of the 200 µs its rule required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Both confirmed changes plot beyond the stock envelope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15</a:t>
            </a:r>
          </a:p>
        </p:txBody>
      </p:sp>
      <p:cxnSp>
        <p:nvCxnSpPr>
          <p:cNvPr id="6" name="Connector 5"/>
          <p:cNvCxnSpPr/>
          <p:nvPr/>
        </p:nvCxnSpPr>
        <p:spPr>
          <a:xfrm>
            <a:off x="1998001" y="2057400"/>
            <a:ext cx="0" cy="3474720"/>
          </a:xfrm>
          <a:prstGeom prst="line">
            <a:avLst/>
          </a:prstGeom>
          <a:ln w="9525">
            <a:solidFill>
              <a:srgbClr val="D2DCDF"/>
            </a:solidFill>
          </a:ln>
        </p:spPr>
      </p:cxnSp>
      <p:sp>
        <p:nvSpPr>
          <p:cNvPr id="7" name="TextBox 6"/>
          <p:cNvSpPr txBox="1"/>
          <p:nvPr/>
        </p:nvSpPr>
        <p:spPr>
          <a:xfrm>
            <a:off x="1586521" y="5586983"/>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100</a:t>
            </a:r>
          </a:p>
        </p:txBody>
      </p:sp>
      <p:cxnSp>
        <p:nvCxnSpPr>
          <p:cNvPr id="8" name="Connector 7"/>
          <p:cNvCxnSpPr/>
          <p:nvPr/>
        </p:nvCxnSpPr>
        <p:spPr>
          <a:xfrm>
            <a:off x="3659742" y="2057400"/>
            <a:ext cx="0" cy="3474720"/>
          </a:xfrm>
          <a:prstGeom prst="line">
            <a:avLst/>
          </a:prstGeom>
          <a:ln w="9525">
            <a:solidFill>
              <a:srgbClr val="D2DCDF"/>
            </a:solidFill>
          </a:ln>
        </p:spPr>
      </p:cxnSp>
      <p:sp>
        <p:nvSpPr>
          <p:cNvPr id="9" name="TextBox 8"/>
          <p:cNvSpPr txBox="1"/>
          <p:nvPr/>
        </p:nvSpPr>
        <p:spPr>
          <a:xfrm>
            <a:off x="3248262" y="5586983"/>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200</a:t>
            </a:r>
          </a:p>
        </p:txBody>
      </p:sp>
      <p:cxnSp>
        <p:nvCxnSpPr>
          <p:cNvPr id="10" name="Connector 9"/>
          <p:cNvCxnSpPr/>
          <p:nvPr/>
        </p:nvCxnSpPr>
        <p:spPr>
          <a:xfrm>
            <a:off x="5856444" y="2057400"/>
            <a:ext cx="0" cy="3474720"/>
          </a:xfrm>
          <a:prstGeom prst="line">
            <a:avLst/>
          </a:prstGeom>
          <a:ln w="9525">
            <a:solidFill>
              <a:srgbClr val="D2DCDF"/>
            </a:solidFill>
          </a:ln>
        </p:spPr>
      </p:cxnSp>
      <p:sp>
        <p:nvSpPr>
          <p:cNvPr id="11" name="TextBox 10"/>
          <p:cNvSpPr txBox="1"/>
          <p:nvPr/>
        </p:nvSpPr>
        <p:spPr>
          <a:xfrm>
            <a:off x="5444964" y="5586983"/>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500</a:t>
            </a:r>
          </a:p>
        </p:txBody>
      </p:sp>
      <p:cxnSp>
        <p:nvCxnSpPr>
          <p:cNvPr id="12" name="Connector 11"/>
          <p:cNvCxnSpPr/>
          <p:nvPr/>
        </p:nvCxnSpPr>
        <p:spPr>
          <a:xfrm>
            <a:off x="7518184" y="2057400"/>
            <a:ext cx="0" cy="3474720"/>
          </a:xfrm>
          <a:prstGeom prst="line">
            <a:avLst/>
          </a:prstGeom>
          <a:ln w="9525">
            <a:solidFill>
              <a:srgbClr val="D2DCDF"/>
            </a:solidFill>
          </a:ln>
        </p:spPr>
      </p:cxnSp>
      <p:sp>
        <p:nvSpPr>
          <p:cNvPr id="13" name="TextBox 12"/>
          <p:cNvSpPr txBox="1"/>
          <p:nvPr/>
        </p:nvSpPr>
        <p:spPr>
          <a:xfrm>
            <a:off x="7106704" y="5586983"/>
            <a:ext cx="822960" cy="274320"/>
          </a:xfrm>
          <a:prstGeom prst="rect">
            <a:avLst/>
          </a:prstGeom>
          <a:noFill/>
        </p:spPr>
        <p:txBody>
          <a:bodyPr wrap="square" lIns="0" tIns="0" rIns="0" bIns="0" anchor="t"/>
          <a:lstStyle/>
          <a:p>
            <a:pPr algn="ctr"/>
            <a:r>
              <a:rPr sz="1600" b="0" i="0">
                <a:solidFill>
                  <a:srgbClr val="586B73"/>
                </a:solidFill>
                <a:latin typeface="Arial"/>
                <a:ea typeface="Arial"/>
                <a:cs typeface="Arial"/>
              </a:rPr>
              <a:t>1,000</a:t>
            </a:r>
          </a:p>
        </p:txBody>
      </p:sp>
      <p:cxnSp>
        <p:nvCxnSpPr>
          <p:cNvPr id="14" name="Connector 13"/>
          <p:cNvCxnSpPr/>
          <p:nvPr/>
        </p:nvCxnSpPr>
        <p:spPr>
          <a:xfrm>
            <a:off x="1463040" y="5025932"/>
            <a:ext cx="6492239" cy="0"/>
          </a:xfrm>
          <a:prstGeom prst="line">
            <a:avLst/>
          </a:prstGeom>
          <a:ln w="9525">
            <a:solidFill>
              <a:srgbClr val="D2DCDF"/>
            </a:solidFill>
          </a:ln>
        </p:spPr>
      </p:cxnSp>
      <p:sp>
        <p:nvSpPr>
          <p:cNvPr id="15" name="TextBox 14"/>
          <p:cNvSpPr txBox="1"/>
          <p:nvPr/>
        </p:nvSpPr>
        <p:spPr>
          <a:xfrm>
            <a:off x="804672" y="4879628"/>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1k</a:t>
            </a:r>
          </a:p>
        </p:txBody>
      </p:sp>
      <p:cxnSp>
        <p:nvCxnSpPr>
          <p:cNvPr id="16" name="Connector 15"/>
          <p:cNvCxnSpPr/>
          <p:nvPr/>
        </p:nvCxnSpPr>
        <p:spPr>
          <a:xfrm>
            <a:off x="1463040" y="3937295"/>
            <a:ext cx="6492239" cy="0"/>
          </a:xfrm>
          <a:prstGeom prst="line">
            <a:avLst/>
          </a:prstGeom>
          <a:ln w="9525">
            <a:solidFill>
              <a:srgbClr val="D2DCDF"/>
            </a:solidFill>
          </a:ln>
        </p:spPr>
      </p:cxnSp>
      <p:sp>
        <p:nvSpPr>
          <p:cNvPr id="17" name="TextBox 16"/>
          <p:cNvSpPr txBox="1"/>
          <p:nvPr/>
        </p:nvSpPr>
        <p:spPr>
          <a:xfrm>
            <a:off x="804672" y="3790991"/>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3k</a:t>
            </a:r>
          </a:p>
        </p:txBody>
      </p:sp>
      <p:cxnSp>
        <p:nvCxnSpPr>
          <p:cNvPr id="18" name="Connector 17"/>
          <p:cNvCxnSpPr/>
          <p:nvPr/>
        </p:nvCxnSpPr>
        <p:spPr>
          <a:xfrm>
            <a:off x="1463040" y="2744253"/>
            <a:ext cx="6492239" cy="0"/>
          </a:xfrm>
          <a:prstGeom prst="line">
            <a:avLst/>
          </a:prstGeom>
          <a:ln w="9525">
            <a:solidFill>
              <a:srgbClr val="D2DCDF"/>
            </a:solidFill>
          </a:ln>
        </p:spPr>
      </p:cxnSp>
      <p:sp>
        <p:nvSpPr>
          <p:cNvPr id="19" name="TextBox 18"/>
          <p:cNvSpPr txBox="1"/>
          <p:nvPr/>
        </p:nvSpPr>
        <p:spPr>
          <a:xfrm>
            <a:off x="804672" y="2597949"/>
            <a:ext cx="585216" cy="292608"/>
          </a:xfrm>
          <a:prstGeom prst="rect">
            <a:avLst/>
          </a:prstGeom>
          <a:noFill/>
        </p:spPr>
        <p:txBody>
          <a:bodyPr wrap="square" lIns="0" tIns="0" rIns="0" bIns="0" anchor="t"/>
          <a:lstStyle/>
          <a:p>
            <a:pPr algn="r"/>
            <a:r>
              <a:rPr sz="1600" b="0" i="0">
                <a:solidFill>
                  <a:srgbClr val="586B73"/>
                </a:solidFill>
                <a:latin typeface="Arial"/>
                <a:ea typeface="Arial"/>
                <a:cs typeface="Arial"/>
              </a:rPr>
              <a:t>10k</a:t>
            </a:r>
          </a:p>
        </p:txBody>
      </p:sp>
      <p:cxnSp>
        <p:nvCxnSpPr>
          <p:cNvPr id="20" name="Connector 19"/>
          <p:cNvCxnSpPr/>
          <p:nvPr/>
        </p:nvCxnSpPr>
        <p:spPr>
          <a:xfrm>
            <a:off x="1463040" y="5532120"/>
            <a:ext cx="6492239" cy="0"/>
          </a:xfrm>
          <a:prstGeom prst="line">
            <a:avLst/>
          </a:prstGeom>
          <a:ln w="9525">
            <a:solidFill>
              <a:srgbClr val="6B7780"/>
            </a:solidFill>
          </a:ln>
        </p:spPr>
      </p:cxnSp>
      <p:cxnSp>
        <p:nvCxnSpPr>
          <p:cNvPr id="21" name="Connector 20"/>
          <p:cNvCxnSpPr/>
          <p:nvPr/>
        </p:nvCxnSpPr>
        <p:spPr>
          <a:xfrm>
            <a:off x="1463040" y="2057400"/>
            <a:ext cx="0" cy="3474720"/>
          </a:xfrm>
          <a:prstGeom prst="line">
            <a:avLst/>
          </a:prstGeom>
          <a:ln w="9525">
            <a:solidFill>
              <a:srgbClr val="6B7780"/>
            </a:solidFill>
          </a:ln>
        </p:spPr>
      </p:cxnSp>
      <p:sp>
        <p:nvSpPr>
          <p:cNvPr id="22" name="TextBox 21"/>
          <p:cNvSpPr txBox="1"/>
          <p:nvPr/>
        </p:nvSpPr>
        <p:spPr>
          <a:xfrm>
            <a:off x="1463040" y="5879592"/>
            <a:ext cx="6492240" cy="310896"/>
          </a:xfrm>
          <a:prstGeom prst="rect">
            <a:avLst/>
          </a:prstGeom>
          <a:noFill/>
        </p:spPr>
        <p:txBody>
          <a:bodyPr wrap="square" lIns="0" tIns="0" rIns="0" bIns="0" anchor="t"/>
          <a:lstStyle/>
          <a:p>
            <a:pPr algn="ctr"/>
            <a:r>
              <a:rPr sz="1800" b="0" i="0">
                <a:solidFill>
                  <a:srgbClr val="1B3A57"/>
                </a:solidFill>
                <a:latin typeface="Arial"/>
                <a:ea typeface="Arial"/>
                <a:cs typeface="Arial"/>
              </a:rPr>
              <a:t>Output tokens/s per request (log)</a:t>
            </a:r>
          </a:p>
        </p:txBody>
      </p:sp>
      <p:sp>
        <p:nvSpPr>
          <p:cNvPr id="23" name="TextBox 22"/>
          <p:cNvSpPr txBox="1"/>
          <p:nvPr/>
        </p:nvSpPr>
        <p:spPr>
          <a:xfrm>
            <a:off x="804672" y="1600200"/>
            <a:ext cx="4572000" cy="310896"/>
          </a:xfrm>
          <a:prstGeom prst="rect">
            <a:avLst/>
          </a:prstGeom>
          <a:noFill/>
        </p:spPr>
        <p:txBody>
          <a:bodyPr wrap="square" lIns="0" tIns="0" rIns="0" bIns="0" anchor="t"/>
          <a:lstStyle/>
          <a:p>
            <a:pPr algn="l"/>
            <a:r>
              <a:rPr sz="1800" b="0" i="0">
                <a:solidFill>
                  <a:srgbClr val="1B3A57"/>
                </a:solidFill>
                <a:latin typeface="Arial"/>
                <a:ea typeface="Arial"/>
                <a:cs typeface="Arial"/>
              </a:rPr>
              <a:t>Output tokens/s on the GPU (log)</a:t>
            </a:r>
          </a:p>
        </p:txBody>
      </p:sp>
      <p:cxnSp>
        <p:nvCxnSpPr>
          <p:cNvPr id="24" name="Connector 23"/>
          <p:cNvCxnSpPr/>
          <p:nvPr/>
        </p:nvCxnSpPr>
        <p:spPr>
          <a:xfrm flipH="1" flipV="1">
            <a:off x="7201889" y="4617668"/>
            <a:ext cx="284654" cy="541294"/>
          </a:xfrm>
          <a:prstGeom prst="line">
            <a:avLst/>
          </a:prstGeom>
          <a:ln w="127000">
            <a:solidFill>
              <a:srgbClr val="DEE1E3"/>
            </a:solidFill>
          </a:ln>
        </p:spPr>
      </p:cxnSp>
      <p:cxnSp>
        <p:nvCxnSpPr>
          <p:cNvPr id="25" name="Connector 24"/>
          <p:cNvCxnSpPr/>
          <p:nvPr/>
        </p:nvCxnSpPr>
        <p:spPr>
          <a:xfrm flipH="1" flipV="1">
            <a:off x="6707080" y="4144777"/>
            <a:ext cx="494809" cy="472891"/>
          </a:xfrm>
          <a:prstGeom prst="line">
            <a:avLst/>
          </a:prstGeom>
          <a:ln w="127000">
            <a:solidFill>
              <a:srgbClr val="DEE1E3"/>
            </a:solidFill>
          </a:ln>
        </p:spPr>
      </p:cxnSp>
      <p:cxnSp>
        <p:nvCxnSpPr>
          <p:cNvPr id="26" name="Connector 25"/>
          <p:cNvCxnSpPr/>
          <p:nvPr/>
        </p:nvCxnSpPr>
        <p:spPr>
          <a:xfrm flipH="1" flipV="1">
            <a:off x="5947785" y="3742600"/>
            <a:ext cx="759295" cy="402177"/>
          </a:xfrm>
          <a:prstGeom prst="line">
            <a:avLst/>
          </a:prstGeom>
          <a:ln w="127000">
            <a:solidFill>
              <a:srgbClr val="DEE1E3"/>
            </a:solidFill>
          </a:ln>
        </p:spPr>
      </p:cxnSp>
      <p:cxnSp>
        <p:nvCxnSpPr>
          <p:cNvPr id="27" name="Connector 26"/>
          <p:cNvCxnSpPr/>
          <p:nvPr/>
        </p:nvCxnSpPr>
        <p:spPr>
          <a:xfrm flipH="1" flipV="1">
            <a:off x="5133679" y="3381695"/>
            <a:ext cx="814106" cy="360905"/>
          </a:xfrm>
          <a:prstGeom prst="line">
            <a:avLst/>
          </a:prstGeom>
          <a:ln w="127000">
            <a:solidFill>
              <a:srgbClr val="DEE1E3"/>
            </a:solidFill>
          </a:ln>
        </p:spPr>
      </p:cxnSp>
      <p:cxnSp>
        <p:nvCxnSpPr>
          <p:cNvPr id="28" name="Connector 27"/>
          <p:cNvCxnSpPr/>
          <p:nvPr/>
        </p:nvCxnSpPr>
        <p:spPr>
          <a:xfrm flipH="1" flipV="1">
            <a:off x="4078644" y="3119999"/>
            <a:ext cx="1055035" cy="261696"/>
          </a:xfrm>
          <a:prstGeom prst="line">
            <a:avLst/>
          </a:prstGeom>
          <a:ln w="127000">
            <a:solidFill>
              <a:srgbClr val="DEE1E3"/>
            </a:solidFill>
          </a:ln>
        </p:spPr>
      </p:cxnSp>
      <p:cxnSp>
        <p:nvCxnSpPr>
          <p:cNvPr id="29" name="Connector 28"/>
          <p:cNvCxnSpPr/>
          <p:nvPr/>
        </p:nvCxnSpPr>
        <p:spPr>
          <a:xfrm flipH="1" flipV="1">
            <a:off x="3308746" y="2930539"/>
            <a:ext cx="769898" cy="189460"/>
          </a:xfrm>
          <a:prstGeom prst="line">
            <a:avLst/>
          </a:prstGeom>
          <a:ln w="127000">
            <a:solidFill>
              <a:srgbClr val="DEE1E3"/>
            </a:solidFill>
          </a:ln>
        </p:spPr>
      </p:cxnSp>
      <p:cxnSp>
        <p:nvCxnSpPr>
          <p:cNvPr id="30" name="Connector 29"/>
          <p:cNvCxnSpPr/>
          <p:nvPr/>
        </p:nvCxnSpPr>
        <p:spPr>
          <a:xfrm flipH="1" flipV="1">
            <a:off x="3045816" y="2754130"/>
            <a:ext cx="262930" cy="176409"/>
          </a:xfrm>
          <a:prstGeom prst="line">
            <a:avLst/>
          </a:prstGeom>
          <a:ln w="127000">
            <a:solidFill>
              <a:srgbClr val="DEE1E3"/>
            </a:solidFill>
          </a:ln>
        </p:spPr>
      </p:cxnSp>
      <p:cxnSp>
        <p:nvCxnSpPr>
          <p:cNvPr id="31" name="Connector 30"/>
          <p:cNvCxnSpPr/>
          <p:nvPr/>
        </p:nvCxnSpPr>
        <p:spPr>
          <a:xfrm flipH="1" flipV="1">
            <a:off x="2570523" y="2548816"/>
            <a:ext cx="475293" cy="205314"/>
          </a:xfrm>
          <a:prstGeom prst="line">
            <a:avLst/>
          </a:prstGeom>
          <a:ln w="127000">
            <a:solidFill>
              <a:srgbClr val="DEE1E3"/>
            </a:solidFill>
          </a:ln>
        </p:spPr>
      </p:cxnSp>
      <p:cxnSp>
        <p:nvCxnSpPr>
          <p:cNvPr id="32" name="Connector 31"/>
          <p:cNvCxnSpPr/>
          <p:nvPr/>
        </p:nvCxnSpPr>
        <p:spPr>
          <a:xfrm flipH="1" flipV="1">
            <a:off x="2197434" y="2418055"/>
            <a:ext cx="373089" cy="130761"/>
          </a:xfrm>
          <a:prstGeom prst="line">
            <a:avLst/>
          </a:prstGeom>
          <a:ln w="127000">
            <a:solidFill>
              <a:srgbClr val="DEE1E3"/>
            </a:solidFill>
          </a:ln>
        </p:spPr>
      </p:cxnSp>
      <p:cxnSp>
        <p:nvCxnSpPr>
          <p:cNvPr id="33" name="Connector 32"/>
          <p:cNvCxnSpPr/>
          <p:nvPr/>
        </p:nvCxnSpPr>
        <p:spPr>
          <a:xfrm flipH="1" flipV="1">
            <a:off x="7201889" y="4617668"/>
            <a:ext cx="284654" cy="541294"/>
          </a:xfrm>
          <a:prstGeom prst="line">
            <a:avLst/>
          </a:prstGeom>
          <a:ln w="22225">
            <a:solidFill>
              <a:srgbClr val="1B3A57"/>
            </a:solidFill>
          </a:ln>
        </p:spPr>
      </p:cxnSp>
      <p:cxnSp>
        <p:nvCxnSpPr>
          <p:cNvPr id="34" name="Connector 33"/>
          <p:cNvCxnSpPr/>
          <p:nvPr/>
        </p:nvCxnSpPr>
        <p:spPr>
          <a:xfrm flipH="1" flipV="1">
            <a:off x="6707080" y="4144777"/>
            <a:ext cx="494809" cy="472891"/>
          </a:xfrm>
          <a:prstGeom prst="line">
            <a:avLst/>
          </a:prstGeom>
          <a:ln w="22225">
            <a:solidFill>
              <a:srgbClr val="1B3A57"/>
            </a:solidFill>
          </a:ln>
        </p:spPr>
      </p:cxnSp>
      <p:cxnSp>
        <p:nvCxnSpPr>
          <p:cNvPr id="35" name="Connector 34"/>
          <p:cNvCxnSpPr/>
          <p:nvPr/>
        </p:nvCxnSpPr>
        <p:spPr>
          <a:xfrm flipH="1" flipV="1">
            <a:off x="5947785" y="3742600"/>
            <a:ext cx="759295" cy="402177"/>
          </a:xfrm>
          <a:prstGeom prst="line">
            <a:avLst/>
          </a:prstGeom>
          <a:ln w="22225">
            <a:solidFill>
              <a:srgbClr val="1B3A57"/>
            </a:solidFill>
          </a:ln>
        </p:spPr>
      </p:cxnSp>
      <p:cxnSp>
        <p:nvCxnSpPr>
          <p:cNvPr id="36" name="Connector 35"/>
          <p:cNvCxnSpPr/>
          <p:nvPr/>
        </p:nvCxnSpPr>
        <p:spPr>
          <a:xfrm flipH="1" flipV="1">
            <a:off x="5133679" y="3381695"/>
            <a:ext cx="814106" cy="360905"/>
          </a:xfrm>
          <a:prstGeom prst="line">
            <a:avLst/>
          </a:prstGeom>
          <a:ln w="22225">
            <a:solidFill>
              <a:srgbClr val="1B3A57"/>
            </a:solidFill>
          </a:ln>
        </p:spPr>
      </p:cxnSp>
      <p:cxnSp>
        <p:nvCxnSpPr>
          <p:cNvPr id="37" name="Connector 36"/>
          <p:cNvCxnSpPr/>
          <p:nvPr/>
        </p:nvCxnSpPr>
        <p:spPr>
          <a:xfrm flipH="1" flipV="1">
            <a:off x="4078644" y="3119999"/>
            <a:ext cx="1055035" cy="261696"/>
          </a:xfrm>
          <a:prstGeom prst="line">
            <a:avLst/>
          </a:prstGeom>
          <a:ln w="22225">
            <a:solidFill>
              <a:srgbClr val="1B3A57"/>
            </a:solidFill>
          </a:ln>
        </p:spPr>
      </p:cxnSp>
      <p:cxnSp>
        <p:nvCxnSpPr>
          <p:cNvPr id="38" name="Connector 37"/>
          <p:cNvCxnSpPr/>
          <p:nvPr/>
        </p:nvCxnSpPr>
        <p:spPr>
          <a:xfrm flipH="1" flipV="1">
            <a:off x="3308746" y="2930539"/>
            <a:ext cx="769898" cy="189460"/>
          </a:xfrm>
          <a:prstGeom prst="line">
            <a:avLst/>
          </a:prstGeom>
          <a:ln w="22225">
            <a:solidFill>
              <a:srgbClr val="1B3A57"/>
            </a:solidFill>
          </a:ln>
        </p:spPr>
      </p:cxnSp>
      <p:cxnSp>
        <p:nvCxnSpPr>
          <p:cNvPr id="39" name="Connector 38"/>
          <p:cNvCxnSpPr/>
          <p:nvPr/>
        </p:nvCxnSpPr>
        <p:spPr>
          <a:xfrm flipH="1" flipV="1">
            <a:off x="3045816" y="2754130"/>
            <a:ext cx="262930" cy="176409"/>
          </a:xfrm>
          <a:prstGeom prst="line">
            <a:avLst/>
          </a:prstGeom>
          <a:ln w="22225">
            <a:solidFill>
              <a:srgbClr val="1B3A57"/>
            </a:solidFill>
          </a:ln>
        </p:spPr>
      </p:cxnSp>
      <p:cxnSp>
        <p:nvCxnSpPr>
          <p:cNvPr id="40" name="Connector 39"/>
          <p:cNvCxnSpPr/>
          <p:nvPr/>
        </p:nvCxnSpPr>
        <p:spPr>
          <a:xfrm flipH="1" flipV="1">
            <a:off x="2570523" y="2548816"/>
            <a:ext cx="475293" cy="205314"/>
          </a:xfrm>
          <a:prstGeom prst="line">
            <a:avLst/>
          </a:prstGeom>
          <a:ln w="22225">
            <a:solidFill>
              <a:srgbClr val="1B3A57"/>
            </a:solidFill>
          </a:ln>
        </p:spPr>
      </p:cxnSp>
      <p:cxnSp>
        <p:nvCxnSpPr>
          <p:cNvPr id="41" name="Connector 40"/>
          <p:cNvCxnSpPr/>
          <p:nvPr/>
        </p:nvCxnSpPr>
        <p:spPr>
          <a:xfrm flipH="1" flipV="1">
            <a:off x="2197434" y="2418055"/>
            <a:ext cx="373089" cy="130761"/>
          </a:xfrm>
          <a:prstGeom prst="line">
            <a:avLst/>
          </a:prstGeom>
          <a:ln w="22225">
            <a:solidFill>
              <a:srgbClr val="1B3A57"/>
            </a:solidFill>
          </a:ln>
        </p:spPr>
      </p:cxnSp>
      <p:sp>
        <p:nvSpPr>
          <p:cNvPr id="42" name="Oval 41"/>
          <p:cNvSpPr/>
          <p:nvPr/>
        </p:nvSpPr>
        <p:spPr>
          <a:xfrm>
            <a:off x="7422535" y="5094954"/>
            <a:ext cx="128016" cy="128016"/>
          </a:xfrm>
          <a:prstGeom prst="ellipse">
            <a:avLst/>
          </a:prstGeom>
          <a:solidFill>
            <a:srgbClr val="CC79A7"/>
          </a:solidFill>
          <a:ln w="12700">
            <a:solidFill>
              <a:srgbClr val="CC79A7"/>
            </a:solidFill>
          </a:ln>
        </p:spPr>
        <p:txBody>
          <a:bodyPr rtlCol="0" anchor="ctr"/>
          <a:lstStyle/>
          <a:p>
            <a:pPr algn="ctr"/>
          </a:p>
        </p:txBody>
      </p:sp>
      <p:sp>
        <p:nvSpPr>
          <p:cNvPr id="43" name="Oval 42"/>
          <p:cNvSpPr/>
          <p:nvPr/>
        </p:nvSpPr>
        <p:spPr>
          <a:xfrm>
            <a:off x="7137881" y="4553660"/>
            <a:ext cx="128016" cy="128016"/>
          </a:xfrm>
          <a:prstGeom prst="ellipse">
            <a:avLst/>
          </a:prstGeom>
          <a:solidFill>
            <a:srgbClr val="CC79A7"/>
          </a:solidFill>
          <a:ln w="12700">
            <a:solidFill>
              <a:srgbClr val="CC79A7"/>
            </a:solidFill>
          </a:ln>
        </p:spPr>
        <p:txBody>
          <a:bodyPr rtlCol="0" anchor="ctr"/>
          <a:lstStyle/>
          <a:p>
            <a:pPr algn="ctr"/>
          </a:p>
        </p:txBody>
      </p:sp>
      <p:sp>
        <p:nvSpPr>
          <p:cNvPr id="44" name="Oval 43"/>
          <p:cNvSpPr/>
          <p:nvPr/>
        </p:nvSpPr>
        <p:spPr>
          <a:xfrm>
            <a:off x="6643072" y="4080769"/>
            <a:ext cx="128016" cy="128016"/>
          </a:xfrm>
          <a:prstGeom prst="ellipse">
            <a:avLst/>
          </a:prstGeom>
          <a:solidFill>
            <a:srgbClr val="CC79A7"/>
          </a:solidFill>
          <a:ln w="12700">
            <a:solidFill>
              <a:srgbClr val="CC79A7"/>
            </a:solidFill>
          </a:ln>
        </p:spPr>
        <p:txBody>
          <a:bodyPr rtlCol="0" anchor="ctr"/>
          <a:lstStyle/>
          <a:p>
            <a:pPr algn="ctr"/>
          </a:p>
        </p:txBody>
      </p:sp>
      <p:sp>
        <p:nvSpPr>
          <p:cNvPr id="45" name="Oval 44"/>
          <p:cNvSpPr/>
          <p:nvPr/>
        </p:nvSpPr>
        <p:spPr>
          <a:xfrm>
            <a:off x="5883777" y="3678592"/>
            <a:ext cx="128016" cy="128016"/>
          </a:xfrm>
          <a:prstGeom prst="ellipse">
            <a:avLst/>
          </a:prstGeom>
          <a:solidFill>
            <a:srgbClr val="6F1FA7"/>
          </a:solidFill>
          <a:ln w="12700">
            <a:solidFill>
              <a:srgbClr val="6F1FA7"/>
            </a:solidFill>
          </a:ln>
        </p:spPr>
        <p:txBody>
          <a:bodyPr rtlCol="0" anchor="ctr"/>
          <a:lstStyle/>
          <a:p>
            <a:pPr algn="ctr"/>
          </a:p>
        </p:txBody>
      </p:sp>
      <p:sp>
        <p:nvSpPr>
          <p:cNvPr id="46" name="Oval 45"/>
          <p:cNvSpPr/>
          <p:nvPr/>
        </p:nvSpPr>
        <p:spPr>
          <a:xfrm>
            <a:off x="5069671" y="3317687"/>
            <a:ext cx="128016" cy="128016"/>
          </a:xfrm>
          <a:prstGeom prst="ellipse">
            <a:avLst/>
          </a:prstGeom>
          <a:solidFill>
            <a:srgbClr val="6F1FA7"/>
          </a:solidFill>
          <a:ln w="12700">
            <a:solidFill>
              <a:srgbClr val="6F1FA7"/>
            </a:solidFill>
          </a:ln>
        </p:spPr>
        <p:txBody>
          <a:bodyPr rtlCol="0" anchor="ctr"/>
          <a:lstStyle/>
          <a:p>
            <a:pPr algn="ctr"/>
          </a:p>
        </p:txBody>
      </p:sp>
      <p:sp>
        <p:nvSpPr>
          <p:cNvPr id="47" name="Oval 46"/>
          <p:cNvSpPr/>
          <p:nvPr/>
        </p:nvSpPr>
        <p:spPr>
          <a:xfrm>
            <a:off x="4014636" y="3055991"/>
            <a:ext cx="128016" cy="128016"/>
          </a:xfrm>
          <a:prstGeom prst="ellipse">
            <a:avLst/>
          </a:prstGeom>
          <a:solidFill>
            <a:srgbClr val="6F1FA7"/>
          </a:solidFill>
          <a:ln w="12700">
            <a:solidFill>
              <a:srgbClr val="6F1FA7"/>
            </a:solidFill>
          </a:ln>
        </p:spPr>
        <p:txBody>
          <a:bodyPr rtlCol="0" anchor="ctr"/>
          <a:lstStyle/>
          <a:p>
            <a:pPr algn="ctr"/>
          </a:p>
        </p:txBody>
      </p:sp>
      <p:sp>
        <p:nvSpPr>
          <p:cNvPr id="48" name="Oval 47"/>
          <p:cNvSpPr/>
          <p:nvPr/>
        </p:nvSpPr>
        <p:spPr>
          <a:xfrm>
            <a:off x="3244738" y="2866531"/>
            <a:ext cx="128016" cy="128016"/>
          </a:xfrm>
          <a:prstGeom prst="ellipse">
            <a:avLst/>
          </a:prstGeom>
          <a:solidFill>
            <a:srgbClr val="1B3A57"/>
          </a:solidFill>
          <a:ln w="12700">
            <a:solidFill>
              <a:srgbClr val="1B3A57"/>
            </a:solidFill>
          </a:ln>
        </p:spPr>
        <p:txBody>
          <a:bodyPr rtlCol="0" anchor="ctr"/>
          <a:lstStyle/>
          <a:p>
            <a:pPr algn="ctr"/>
          </a:p>
        </p:txBody>
      </p:sp>
      <p:sp>
        <p:nvSpPr>
          <p:cNvPr id="49" name="Oval 48"/>
          <p:cNvSpPr/>
          <p:nvPr/>
        </p:nvSpPr>
        <p:spPr>
          <a:xfrm>
            <a:off x="2981808" y="2690122"/>
            <a:ext cx="128016" cy="128016"/>
          </a:xfrm>
          <a:prstGeom prst="ellipse">
            <a:avLst/>
          </a:prstGeom>
          <a:solidFill>
            <a:srgbClr val="1B3A57"/>
          </a:solidFill>
          <a:ln w="12700">
            <a:solidFill>
              <a:srgbClr val="1B3A57"/>
            </a:solidFill>
          </a:ln>
        </p:spPr>
        <p:txBody>
          <a:bodyPr rtlCol="0" anchor="ctr"/>
          <a:lstStyle/>
          <a:p>
            <a:pPr algn="ctr"/>
          </a:p>
        </p:txBody>
      </p:sp>
      <p:sp>
        <p:nvSpPr>
          <p:cNvPr id="50" name="Oval 49"/>
          <p:cNvSpPr/>
          <p:nvPr/>
        </p:nvSpPr>
        <p:spPr>
          <a:xfrm>
            <a:off x="2506515" y="2484808"/>
            <a:ext cx="128016" cy="128016"/>
          </a:xfrm>
          <a:prstGeom prst="ellipse">
            <a:avLst/>
          </a:prstGeom>
          <a:solidFill>
            <a:srgbClr val="1B3A57"/>
          </a:solidFill>
          <a:ln w="12700">
            <a:solidFill>
              <a:srgbClr val="1B3A57"/>
            </a:solidFill>
          </a:ln>
        </p:spPr>
        <p:txBody>
          <a:bodyPr rtlCol="0" anchor="ctr"/>
          <a:lstStyle/>
          <a:p>
            <a:pPr algn="ctr"/>
          </a:p>
        </p:txBody>
      </p:sp>
      <p:sp>
        <p:nvSpPr>
          <p:cNvPr id="51" name="Oval 50"/>
          <p:cNvSpPr/>
          <p:nvPr/>
        </p:nvSpPr>
        <p:spPr>
          <a:xfrm>
            <a:off x="2133426" y="2354047"/>
            <a:ext cx="128016" cy="128016"/>
          </a:xfrm>
          <a:prstGeom prst="ellipse">
            <a:avLst/>
          </a:prstGeom>
          <a:solidFill>
            <a:srgbClr val="1B3A57"/>
          </a:solidFill>
          <a:ln w="12700">
            <a:solidFill>
              <a:srgbClr val="1B3A57"/>
            </a:solidFill>
          </a:ln>
        </p:spPr>
        <p:txBody>
          <a:bodyPr rtlCol="0" anchor="ctr"/>
          <a:lstStyle/>
          <a:p>
            <a:pPr algn="ctr"/>
          </a:p>
        </p:txBody>
      </p:sp>
      <p:cxnSp>
        <p:nvCxnSpPr>
          <p:cNvPr id="52" name="Connector 51"/>
          <p:cNvCxnSpPr/>
          <p:nvPr/>
        </p:nvCxnSpPr>
        <p:spPr>
          <a:xfrm flipH="1" flipV="1">
            <a:off x="7394559" y="4529534"/>
            <a:ext cx="297674" cy="541232"/>
          </a:xfrm>
          <a:prstGeom prst="line">
            <a:avLst/>
          </a:prstGeom>
          <a:ln w="25400">
            <a:solidFill>
              <a:srgbClr val="CC79A7"/>
            </a:solidFill>
            <a:prstDash val="dash"/>
          </a:ln>
        </p:spPr>
      </p:cxnSp>
      <p:cxnSp>
        <p:nvCxnSpPr>
          <p:cNvPr id="53" name="Connector 52"/>
          <p:cNvCxnSpPr/>
          <p:nvPr/>
        </p:nvCxnSpPr>
        <p:spPr>
          <a:xfrm flipH="1" flipV="1">
            <a:off x="6902867" y="4062468"/>
            <a:ext cx="491692" cy="467066"/>
          </a:xfrm>
          <a:prstGeom prst="line">
            <a:avLst/>
          </a:prstGeom>
          <a:ln w="25400">
            <a:solidFill>
              <a:srgbClr val="CC79A7"/>
            </a:solidFill>
            <a:prstDash val="dash"/>
          </a:ln>
        </p:spPr>
      </p:cxnSp>
      <p:cxnSp>
        <p:nvCxnSpPr>
          <p:cNvPr id="54" name="Connector 53"/>
          <p:cNvCxnSpPr/>
          <p:nvPr/>
        </p:nvCxnSpPr>
        <p:spPr>
          <a:xfrm flipH="1" flipV="1">
            <a:off x="6238786" y="3618896"/>
            <a:ext cx="664081" cy="443572"/>
          </a:xfrm>
          <a:prstGeom prst="line">
            <a:avLst/>
          </a:prstGeom>
          <a:ln w="25400">
            <a:solidFill>
              <a:srgbClr val="CC79A7"/>
            </a:solidFill>
            <a:prstDash val="dash"/>
          </a:ln>
        </p:spPr>
      </p:cxnSp>
      <p:cxnSp>
        <p:nvCxnSpPr>
          <p:cNvPr id="55" name="Connector 54"/>
          <p:cNvCxnSpPr/>
          <p:nvPr/>
        </p:nvCxnSpPr>
        <p:spPr>
          <a:xfrm flipH="1" flipV="1">
            <a:off x="5437791" y="3259624"/>
            <a:ext cx="800995" cy="359272"/>
          </a:xfrm>
          <a:prstGeom prst="line">
            <a:avLst/>
          </a:prstGeom>
          <a:ln w="25400">
            <a:solidFill>
              <a:srgbClr val="6F1FA7"/>
            </a:solidFill>
            <a:prstDash val="dash"/>
          </a:ln>
        </p:spPr>
      </p:cxnSp>
      <p:cxnSp>
        <p:nvCxnSpPr>
          <p:cNvPr id="56" name="Connector 55"/>
          <p:cNvCxnSpPr/>
          <p:nvPr/>
        </p:nvCxnSpPr>
        <p:spPr>
          <a:xfrm flipH="1" flipV="1">
            <a:off x="4397281" y="2992646"/>
            <a:ext cx="1040510" cy="266978"/>
          </a:xfrm>
          <a:prstGeom prst="line">
            <a:avLst/>
          </a:prstGeom>
          <a:ln w="25400">
            <a:solidFill>
              <a:srgbClr val="6F1FA7"/>
            </a:solidFill>
            <a:prstDash val="dash"/>
          </a:ln>
        </p:spPr>
      </p:cxnSp>
      <p:sp>
        <p:nvSpPr>
          <p:cNvPr id="57" name="Rectangle 56"/>
          <p:cNvSpPr/>
          <p:nvPr/>
        </p:nvSpPr>
        <p:spPr>
          <a:xfrm>
            <a:off x="7614509" y="4993042"/>
            <a:ext cx="155448" cy="155448"/>
          </a:xfrm>
          <a:prstGeom prst="rect">
            <a:avLst/>
          </a:prstGeom>
          <a:solidFill>
            <a:srgbClr val="CC79A7"/>
          </a:solidFill>
          <a:ln w="12700">
            <a:solidFill>
              <a:srgbClr val="CC79A7"/>
            </a:solidFill>
          </a:ln>
        </p:spPr>
        <p:txBody>
          <a:bodyPr rtlCol="0" anchor="ctr"/>
          <a:lstStyle/>
          <a:p>
            <a:pPr algn="ctr"/>
          </a:p>
        </p:txBody>
      </p:sp>
      <p:sp>
        <p:nvSpPr>
          <p:cNvPr id="58" name="Rectangle 57"/>
          <p:cNvSpPr/>
          <p:nvPr/>
        </p:nvSpPr>
        <p:spPr>
          <a:xfrm>
            <a:off x="7316835" y="4451810"/>
            <a:ext cx="155448" cy="155448"/>
          </a:xfrm>
          <a:prstGeom prst="rect">
            <a:avLst/>
          </a:prstGeom>
          <a:solidFill>
            <a:srgbClr val="CC79A7"/>
          </a:solidFill>
          <a:ln w="12700">
            <a:solidFill>
              <a:srgbClr val="CC79A7"/>
            </a:solidFill>
          </a:ln>
        </p:spPr>
        <p:txBody>
          <a:bodyPr rtlCol="0" anchor="ctr"/>
          <a:lstStyle/>
          <a:p>
            <a:pPr algn="ctr"/>
          </a:p>
        </p:txBody>
      </p:sp>
      <p:sp>
        <p:nvSpPr>
          <p:cNvPr id="59" name="Rectangle 58"/>
          <p:cNvSpPr/>
          <p:nvPr/>
        </p:nvSpPr>
        <p:spPr>
          <a:xfrm>
            <a:off x="6825143" y="3984744"/>
            <a:ext cx="155448" cy="155448"/>
          </a:xfrm>
          <a:prstGeom prst="rect">
            <a:avLst/>
          </a:prstGeom>
          <a:solidFill>
            <a:srgbClr val="CC79A7"/>
          </a:solidFill>
          <a:ln w="12700">
            <a:solidFill>
              <a:srgbClr val="CC79A7"/>
            </a:solidFill>
          </a:ln>
        </p:spPr>
        <p:txBody>
          <a:bodyPr rtlCol="0" anchor="ctr"/>
          <a:lstStyle/>
          <a:p>
            <a:pPr algn="ctr"/>
          </a:p>
        </p:txBody>
      </p:sp>
      <p:sp>
        <p:nvSpPr>
          <p:cNvPr id="60" name="Rectangle 59"/>
          <p:cNvSpPr/>
          <p:nvPr/>
        </p:nvSpPr>
        <p:spPr>
          <a:xfrm>
            <a:off x="6161062" y="3541172"/>
            <a:ext cx="155448" cy="155448"/>
          </a:xfrm>
          <a:prstGeom prst="rect">
            <a:avLst/>
          </a:prstGeom>
          <a:solidFill>
            <a:srgbClr val="6F1FA7"/>
          </a:solidFill>
          <a:ln w="12700">
            <a:solidFill>
              <a:srgbClr val="6F1FA7"/>
            </a:solidFill>
          </a:ln>
        </p:spPr>
        <p:txBody>
          <a:bodyPr rtlCol="0" anchor="ctr"/>
          <a:lstStyle/>
          <a:p>
            <a:pPr algn="ctr"/>
          </a:p>
        </p:txBody>
      </p:sp>
      <p:sp>
        <p:nvSpPr>
          <p:cNvPr id="61" name="Rectangle 60"/>
          <p:cNvSpPr/>
          <p:nvPr/>
        </p:nvSpPr>
        <p:spPr>
          <a:xfrm>
            <a:off x="5360067" y="3181900"/>
            <a:ext cx="155448" cy="155448"/>
          </a:xfrm>
          <a:prstGeom prst="rect">
            <a:avLst/>
          </a:prstGeom>
          <a:solidFill>
            <a:srgbClr val="6F1FA7"/>
          </a:solidFill>
          <a:ln w="12700">
            <a:solidFill>
              <a:srgbClr val="6F1FA7"/>
            </a:solidFill>
          </a:ln>
        </p:spPr>
        <p:txBody>
          <a:bodyPr rtlCol="0" anchor="ctr"/>
          <a:lstStyle/>
          <a:p>
            <a:pPr algn="ctr"/>
          </a:p>
        </p:txBody>
      </p:sp>
      <p:sp>
        <p:nvSpPr>
          <p:cNvPr id="62" name="Rectangle 61"/>
          <p:cNvSpPr/>
          <p:nvPr/>
        </p:nvSpPr>
        <p:spPr>
          <a:xfrm>
            <a:off x="4319557" y="2914922"/>
            <a:ext cx="155448" cy="155448"/>
          </a:xfrm>
          <a:prstGeom prst="rect">
            <a:avLst/>
          </a:prstGeom>
          <a:solidFill>
            <a:srgbClr val="6F1FA7"/>
          </a:solidFill>
          <a:ln w="12700">
            <a:solidFill>
              <a:srgbClr val="6F1FA7"/>
            </a:solidFill>
          </a:ln>
        </p:spPr>
        <p:txBody>
          <a:bodyPr rtlCol="0" anchor="ctr"/>
          <a:lstStyle/>
          <a:p>
            <a:pPr algn="ctr"/>
          </a:p>
        </p:txBody>
      </p:sp>
      <p:cxnSp>
        <p:nvCxnSpPr>
          <p:cNvPr id="63" name="Connector 62"/>
          <p:cNvCxnSpPr/>
          <p:nvPr/>
        </p:nvCxnSpPr>
        <p:spPr>
          <a:xfrm flipH="1" flipV="1">
            <a:off x="3853459" y="2486334"/>
            <a:ext cx="256832" cy="170193"/>
          </a:xfrm>
          <a:prstGeom prst="line">
            <a:avLst/>
          </a:prstGeom>
          <a:ln w="25400">
            <a:solidFill>
              <a:srgbClr val="1C6402"/>
            </a:solidFill>
            <a:prstDash val="dash"/>
          </a:ln>
        </p:spPr>
      </p:cxnSp>
      <p:cxnSp>
        <p:nvCxnSpPr>
          <p:cNvPr id="64" name="Connector 63"/>
          <p:cNvCxnSpPr/>
          <p:nvPr/>
        </p:nvCxnSpPr>
        <p:spPr>
          <a:xfrm flipH="1" flipV="1">
            <a:off x="3349902" y="2281408"/>
            <a:ext cx="503557" cy="204926"/>
          </a:xfrm>
          <a:prstGeom prst="line">
            <a:avLst/>
          </a:prstGeom>
          <a:ln w="25400">
            <a:solidFill>
              <a:srgbClr val="1C6402"/>
            </a:solidFill>
            <a:prstDash val="dash"/>
          </a:ln>
        </p:spPr>
      </p:cxnSp>
      <p:cxnSp>
        <p:nvCxnSpPr>
          <p:cNvPr id="65" name="Connector 64"/>
          <p:cNvCxnSpPr/>
          <p:nvPr/>
        </p:nvCxnSpPr>
        <p:spPr>
          <a:xfrm flipH="1" flipV="1">
            <a:off x="2920899" y="2176753"/>
            <a:ext cx="429003" cy="104655"/>
          </a:xfrm>
          <a:prstGeom prst="line">
            <a:avLst/>
          </a:prstGeom>
          <a:ln w="25400">
            <a:solidFill>
              <a:srgbClr val="1C6402"/>
            </a:solidFill>
            <a:prstDash val="dash"/>
          </a:ln>
        </p:spPr>
      </p:cxnSp>
      <p:sp>
        <p:nvSpPr>
          <p:cNvPr id="66" name="Isosceles Triangle 65"/>
          <p:cNvSpPr/>
          <p:nvPr/>
        </p:nvSpPr>
        <p:spPr>
          <a:xfrm>
            <a:off x="4032567" y="2578803"/>
            <a:ext cx="155448" cy="155448"/>
          </a:xfrm>
          <a:prstGeom prst="triangle">
            <a:avLst/>
          </a:prstGeom>
          <a:solidFill>
            <a:srgbClr val="1C6402"/>
          </a:solidFill>
          <a:ln w="12700">
            <a:solidFill>
              <a:srgbClr val="1C6402"/>
            </a:solidFill>
          </a:ln>
        </p:spPr>
        <p:txBody>
          <a:bodyPr rtlCol="0" anchor="ctr"/>
          <a:lstStyle/>
          <a:p>
            <a:pPr algn="ctr"/>
          </a:p>
        </p:txBody>
      </p:sp>
      <p:sp>
        <p:nvSpPr>
          <p:cNvPr id="67" name="Isosceles Triangle 66"/>
          <p:cNvSpPr/>
          <p:nvPr/>
        </p:nvSpPr>
        <p:spPr>
          <a:xfrm>
            <a:off x="3775735" y="2408610"/>
            <a:ext cx="155448" cy="155448"/>
          </a:xfrm>
          <a:prstGeom prst="triangle">
            <a:avLst/>
          </a:prstGeom>
          <a:solidFill>
            <a:srgbClr val="1C6402"/>
          </a:solidFill>
          <a:ln w="12700">
            <a:solidFill>
              <a:srgbClr val="1C6402"/>
            </a:solidFill>
          </a:ln>
        </p:spPr>
        <p:txBody>
          <a:bodyPr rtlCol="0" anchor="ctr"/>
          <a:lstStyle/>
          <a:p>
            <a:pPr algn="ctr"/>
          </a:p>
        </p:txBody>
      </p:sp>
      <p:sp>
        <p:nvSpPr>
          <p:cNvPr id="68" name="Isosceles Triangle 67"/>
          <p:cNvSpPr/>
          <p:nvPr/>
        </p:nvSpPr>
        <p:spPr>
          <a:xfrm>
            <a:off x="3272178" y="2203684"/>
            <a:ext cx="155448" cy="155448"/>
          </a:xfrm>
          <a:prstGeom prst="triangle">
            <a:avLst/>
          </a:prstGeom>
          <a:solidFill>
            <a:srgbClr val="1C6402"/>
          </a:solidFill>
          <a:ln w="12700">
            <a:solidFill>
              <a:srgbClr val="1C6402"/>
            </a:solidFill>
          </a:ln>
        </p:spPr>
        <p:txBody>
          <a:bodyPr rtlCol="0" anchor="ctr"/>
          <a:lstStyle/>
          <a:p>
            <a:pPr algn="ctr"/>
          </a:p>
        </p:txBody>
      </p:sp>
      <p:sp>
        <p:nvSpPr>
          <p:cNvPr id="69" name="Isosceles Triangle 68"/>
          <p:cNvSpPr/>
          <p:nvPr/>
        </p:nvSpPr>
        <p:spPr>
          <a:xfrm>
            <a:off x="2843175" y="2099029"/>
            <a:ext cx="155448" cy="155448"/>
          </a:xfrm>
          <a:prstGeom prst="triangle">
            <a:avLst/>
          </a:prstGeom>
          <a:solidFill>
            <a:srgbClr val="1C6402"/>
          </a:solidFill>
          <a:ln w="12700">
            <a:solidFill>
              <a:srgbClr val="1C6402"/>
            </a:solidFill>
          </a:ln>
        </p:spPr>
        <p:txBody>
          <a:bodyPr rtlCol="0" anchor="ctr"/>
          <a:lstStyle/>
          <a:p>
            <a:pPr algn="ctr"/>
          </a:p>
        </p:txBody>
      </p:sp>
      <p:sp>
        <p:nvSpPr>
          <p:cNvPr id="70" name="TextBox 69"/>
          <p:cNvSpPr txBox="1"/>
          <p:nvPr/>
        </p:nvSpPr>
        <p:spPr>
          <a:xfrm>
            <a:off x="6128136" y="2649808"/>
            <a:ext cx="2743200" cy="640080"/>
          </a:xfrm>
          <a:prstGeom prst="rect">
            <a:avLst/>
          </a:prstGeom>
          <a:noFill/>
        </p:spPr>
        <p:txBody>
          <a:bodyPr wrap="square" lIns="0" tIns="0" rIns="0" bIns="0" anchor="t"/>
          <a:lstStyle/>
          <a:p>
            <a:pPr algn="l"/>
            <a:r>
              <a:rPr sz="1800" b="1" i="0">
                <a:solidFill>
                  <a:srgbClr val="CC79A7"/>
                </a:solidFill>
                <a:latin typeface="Arial"/>
                <a:ea typeface="Arial"/>
                <a:cs typeface="Arial"/>
              </a:rPr>
              <a:t>fold, narrow tiles,</a:t>
            </a:r>
          </a:p>
          <a:p>
            <a:pPr algn="l"/>
            <a:r>
              <a:rPr sz="1800" b="1" i="0">
                <a:solidFill>
                  <a:srgbClr val="CC79A7"/>
                </a:solidFill>
                <a:latin typeface="Arial"/>
                <a:ea typeface="Arial"/>
                <a:cs typeface="Arial"/>
              </a:rPr>
              <a:t>FA4 (DFlash arms)</a:t>
            </a:r>
          </a:p>
        </p:txBody>
      </p:sp>
      <p:sp>
        <p:nvSpPr>
          <p:cNvPr id="71" name="TextBox 70"/>
          <p:cNvSpPr txBox="1"/>
          <p:nvPr/>
        </p:nvSpPr>
        <p:spPr>
          <a:xfrm>
            <a:off x="4550523" y="2016787"/>
            <a:ext cx="2926080" cy="640080"/>
          </a:xfrm>
          <a:prstGeom prst="rect">
            <a:avLst/>
          </a:prstGeom>
          <a:noFill/>
        </p:spPr>
        <p:txBody>
          <a:bodyPr wrap="square" lIns="0" tIns="0" rIns="0" bIns="0" anchor="t"/>
          <a:lstStyle/>
          <a:p>
            <a:pPr algn="l"/>
            <a:r>
              <a:rPr sz="1800" b="1" i="0">
                <a:solidFill>
                  <a:srgbClr val="1C6402"/>
                </a:solidFill>
                <a:latin typeface="Arial"/>
                <a:ea typeface="Arial"/>
                <a:cs typeface="Arial"/>
              </a:rPr>
              <a:t>MTP, prefill</a:t>
            </a:r>
          </a:p>
          <a:p>
            <a:pPr algn="l"/>
            <a:r>
              <a:rPr sz="1800" b="1" i="0">
                <a:solidFill>
                  <a:srgbClr val="1C6402"/>
                </a:solidFill>
                <a:latin typeface="Arial"/>
                <a:ea typeface="Arial"/>
                <a:cs typeface="Arial"/>
              </a:rPr>
              <a:t>delay and cap</a:t>
            </a:r>
          </a:p>
        </p:txBody>
      </p:sp>
      <p:sp>
        <p:nvSpPr>
          <p:cNvPr id="72" name="TextBox 71"/>
          <p:cNvSpPr txBox="1"/>
          <p:nvPr/>
        </p:nvSpPr>
        <p:spPr>
          <a:xfrm>
            <a:off x="2970057" y="3392242"/>
            <a:ext cx="2377440" cy="640080"/>
          </a:xfrm>
          <a:prstGeom prst="rect">
            <a:avLst/>
          </a:prstGeom>
          <a:noFill/>
        </p:spPr>
        <p:txBody>
          <a:bodyPr wrap="square" lIns="0" tIns="0" rIns="0" bIns="0" anchor="t"/>
          <a:lstStyle/>
          <a:p>
            <a:pPr algn="l"/>
            <a:r>
              <a:rPr sz="1800" b="0" i="0">
                <a:solidFill>
                  <a:srgbClr val="1B3A57"/>
                </a:solidFill>
                <a:latin typeface="Arial"/>
                <a:ea typeface="Arial"/>
                <a:cs typeface="Arial"/>
              </a:rPr>
              <a:t>stock envelope</a:t>
            </a:r>
          </a:p>
          <a:p>
            <a:pPr algn="l"/>
            <a:r>
              <a:rPr sz="1800" b="0" i="0">
                <a:solidFill>
                  <a:srgbClr val="1B3A57"/>
                </a:solidFill>
                <a:latin typeface="Arial"/>
                <a:ea typeface="Arial"/>
                <a:cs typeface="Arial"/>
              </a:rPr>
              <a:t>(c = 1 to 128)</a:t>
            </a:r>
          </a:p>
        </p:txBody>
      </p:sp>
      <p:cxnSp>
        <p:nvCxnSpPr>
          <p:cNvPr id="73" name="Connector 72"/>
          <p:cNvCxnSpPr/>
          <p:nvPr/>
        </p:nvCxnSpPr>
        <p:spPr>
          <a:xfrm>
            <a:off x="8366760" y="1783080"/>
            <a:ext cx="0" cy="4434840"/>
          </a:xfrm>
          <a:prstGeom prst="line">
            <a:avLst/>
          </a:prstGeom>
          <a:ln w="12700">
            <a:solidFill>
              <a:srgbClr val="D2DCDF"/>
            </a:solidFill>
          </a:ln>
        </p:spPr>
      </p:cxnSp>
      <p:sp>
        <p:nvSpPr>
          <p:cNvPr id="74" name="TextBox 73"/>
          <p:cNvSpPr txBox="1"/>
          <p:nvPr/>
        </p:nvSpPr>
        <p:spPr>
          <a:xfrm>
            <a:off x="8595360" y="1691640"/>
            <a:ext cx="2880360" cy="566928"/>
          </a:xfrm>
          <a:prstGeom prst="rect">
            <a:avLst/>
          </a:prstGeom>
          <a:noFill/>
        </p:spPr>
        <p:txBody>
          <a:bodyPr wrap="square" lIns="0" tIns="0" rIns="0" bIns="0" anchor="t"/>
          <a:lstStyle/>
          <a:p>
            <a:pPr algn="l"/>
            <a:r>
              <a:rPr sz="3200" b="1" i="0">
                <a:solidFill>
                  <a:srgbClr val="CC79A7"/>
                </a:solidFill>
                <a:latin typeface="Arial"/>
                <a:ea typeface="Arial"/>
                <a:cs typeface="Arial"/>
              </a:rPr>
              <a:t>+8–9%</a:t>
            </a:r>
          </a:p>
        </p:txBody>
      </p:sp>
      <p:sp>
        <p:nvSpPr>
          <p:cNvPr id="75" name="TextBox 74"/>
          <p:cNvSpPr txBox="1"/>
          <p:nvPr/>
        </p:nvSpPr>
        <p:spPr>
          <a:xfrm>
            <a:off x="8595360" y="2258568"/>
            <a:ext cx="2880360" cy="914400"/>
          </a:xfrm>
          <a:prstGeom prst="rect">
            <a:avLst/>
          </a:prstGeom>
          <a:noFill/>
        </p:spPr>
        <p:txBody>
          <a:bodyPr wrap="square" lIns="0" tIns="0" rIns="0" bIns="0" anchor="t"/>
          <a:lstStyle/>
          <a:p>
            <a:pPr algn="l"/>
            <a:r>
              <a:rPr sz="2000" b="0" i="0">
                <a:solidFill>
                  <a:srgbClr val="1B3A57"/>
                </a:solidFill>
                <a:latin typeface="Arial"/>
                <a:ea typeface="Arial"/>
                <a:cs typeface="Arial"/>
              </a:rPr>
              <a:t>per request, c = 1–4</a:t>
            </a:r>
          </a:p>
        </p:txBody>
      </p:sp>
      <p:sp>
        <p:nvSpPr>
          <p:cNvPr id="76" name="TextBox 75"/>
          <p:cNvSpPr txBox="1"/>
          <p:nvPr/>
        </p:nvSpPr>
        <p:spPr>
          <a:xfrm>
            <a:off x="8595360" y="2788920"/>
            <a:ext cx="2880360" cy="566928"/>
          </a:xfrm>
          <a:prstGeom prst="rect">
            <a:avLst/>
          </a:prstGeom>
          <a:noFill/>
        </p:spPr>
        <p:txBody>
          <a:bodyPr wrap="square" lIns="0" tIns="0" rIns="0" bIns="0" anchor="t"/>
          <a:lstStyle/>
          <a:p>
            <a:pPr algn="l"/>
            <a:r>
              <a:rPr sz="3200" b="1" i="0">
                <a:solidFill>
                  <a:srgbClr val="6F1FA7"/>
                </a:solidFill>
                <a:latin typeface="Arial"/>
                <a:ea typeface="Arial"/>
                <a:cs typeface="Arial"/>
              </a:rPr>
              <a:t>+12–14%</a:t>
            </a:r>
          </a:p>
        </p:txBody>
      </p:sp>
      <p:sp>
        <p:nvSpPr>
          <p:cNvPr id="77" name="TextBox 76"/>
          <p:cNvSpPr txBox="1"/>
          <p:nvPr/>
        </p:nvSpPr>
        <p:spPr>
          <a:xfrm>
            <a:off x="8595360" y="3355848"/>
            <a:ext cx="2880360" cy="914400"/>
          </a:xfrm>
          <a:prstGeom prst="rect">
            <a:avLst/>
          </a:prstGeom>
          <a:noFill/>
        </p:spPr>
        <p:txBody>
          <a:bodyPr wrap="square" lIns="0" tIns="0" rIns="0" bIns="0" anchor="t"/>
          <a:lstStyle/>
          <a:p>
            <a:pPr algn="l"/>
            <a:r>
              <a:rPr sz="2000" b="0" i="0">
                <a:solidFill>
                  <a:srgbClr val="1B3A57"/>
                </a:solidFill>
                <a:latin typeface="Arial"/>
                <a:ea typeface="Arial"/>
                <a:cs typeface="Arial"/>
              </a:rPr>
              <a:t>throughput, c = 8–32</a:t>
            </a:r>
          </a:p>
        </p:txBody>
      </p:sp>
      <p:sp>
        <p:nvSpPr>
          <p:cNvPr id="78" name="TextBox 77"/>
          <p:cNvSpPr txBox="1"/>
          <p:nvPr/>
        </p:nvSpPr>
        <p:spPr>
          <a:xfrm>
            <a:off x="8595360" y="3886200"/>
            <a:ext cx="2880360" cy="566928"/>
          </a:xfrm>
          <a:prstGeom prst="rect">
            <a:avLst/>
          </a:prstGeom>
          <a:noFill/>
        </p:spPr>
        <p:txBody>
          <a:bodyPr wrap="square" lIns="0" tIns="0" rIns="0" bIns="0" anchor="t"/>
          <a:lstStyle/>
          <a:p>
            <a:pPr algn="l"/>
            <a:r>
              <a:rPr sz="3200" b="1" i="0">
                <a:solidFill>
                  <a:srgbClr val="1C6402"/>
                </a:solidFill>
                <a:latin typeface="Arial"/>
                <a:ea typeface="Arial"/>
                <a:cs typeface="Arial"/>
              </a:rPr>
              <a:t>1.18–1.32×</a:t>
            </a:r>
          </a:p>
        </p:txBody>
      </p:sp>
      <p:sp>
        <p:nvSpPr>
          <p:cNvPr id="79" name="TextBox 78"/>
          <p:cNvSpPr txBox="1"/>
          <p:nvPr/>
        </p:nvSpPr>
        <p:spPr>
          <a:xfrm>
            <a:off x="8595360" y="4453128"/>
            <a:ext cx="2880360" cy="914400"/>
          </a:xfrm>
          <a:prstGeom prst="rect">
            <a:avLst/>
          </a:prstGeom>
          <a:noFill/>
        </p:spPr>
        <p:txBody>
          <a:bodyPr wrap="square" lIns="0" tIns="0" rIns="0" bIns="0" anchor="t"/>
          <a:lstStyle/>
          <a:p>
            <a:pPr algn="l"/>
            <a:r>
              <a:rPr sz="2000" b="0" i="0">
                <a:solidFill>
                  <a:srgbClr val="1B3A57"/>
                </a:solidFill>
                <a:latin typeface="Arial"/>
                <a:ea typeface="Arial"/>
                <a:cs typeface="Arial"/>
              </a:rPr>
              <a:t>the best plain arm at c = 48–128; first tokens later</a:t>
            </a:r>
          </a:p>
        </p:txBody>
      </p:sp>
      <p:sp>
        <p:nvSpPr>
          <p:cNvPr id="80" name="TextBox 79"/>
          <p:cNvSpPr txBox="1"/>
          <p:nvPr/>
        </p:nvSpPr>
        <p:spPr>
          <a:xfrm>
            <a:off x="8595360" y="5486400"/>
            <a:ext cx="2880360" cy="731520"/>
          </a:xfrm>
          <a:prstGeom prst="rect">
            <a:avLst/>
          </a:prstGeom>
          <a:noFill/>
        </p:spPr>
        <p:txBody>
          <a:bodyPr wrap="square" lIns="0" tIns="0" rIns="0" bIns="0" anchor="t"/>
          <a:lstStyle/>
          <a:p>
            <a:pPr algn="l"/>
            <a:r>
              <a:rPr sz="1600" b="0" i="0">
                <a:solidFill>
                  <a:srgbClr val="586B73"/>
                </a:solidFill>
                <a:latin typeface="Arial"/>
                <a:ea typeface="Arial"/>
                <a:cs typeface="Arial"/>
              </a:rPr>
              <a:t>Ratios within each confirmation’s sessions; the plot combines sessions.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Where compared, outputs match stock up to rounding</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 §6</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16</a:t>
            </a:r>
          </a:p>
        </p:txBody>
      </p:sp>
      <p:sp>
        <p:nvSpPr>
          <p:cNvPr id="6" name="TextBox 5"/>
          <p:cNvSpPr txBox="1"/>
          <p:nvPr/>
        </p:nvSpPr>
        <p:spPr>
          <a:xfrm>
            <a:off x="731520" y="1645920"/>
            <a:ext cx="5120640" cy="640080"/>
          </a:xfrm>
          <a:prstGeom prst="rect">
            <a:avLst/>
          </a:prstGeom>
          <a:noFill/>
        </p:spPr>
        <p:txBody>
          <a:bodyPr wrap="square" lIns="0" tIns="0" rIns="0" bIns="0" anchor="t"/>
          <a:lstStyle/>
          <a:p>
            <a:pPr algn="l"/>
            <a:r>
              <a:rPr sz="1800" b="1" i="0">
                <a:solidFill>
                  <a:srgbClr val="586B73"/>
                </a:solidFill>
                <a:latin typeface="Arial"/>
                <a:ea typeface="Arial"/>
                <a:cs typeface="Arial"/>
              </a:rPr>
              <a:t>Greedy outputs against stock,</a:t>
            </a:r>
          </a:p>
          <a:p>
            <a:pPr algn="l"/>
            <a:r>
              <a:rPr sz="1800" b="1" i="0">
                <a:solidFill>
                  <a:srgbClr val="586B73"/>
                </a:solidFill>
                <a:latin typeface="Arial"/>
                <a:ea typeface="Arial"/>
                <a:cs typeface="Arial"/>
              </a:rPr>
              <a:t>same configuration</a:t>
            </a:r>
          </a:p>
        </p:txBody>
      </p:sp>
      <p:sp>
        <p:nvSpPr>
          <p:cNvPr id="7" name="TextBox 6"/>
          <p:cNvSpPr txBox="1"/>
          <p:nvPr/>
        </p:nvSpPr>
        <p:spPr>
          <a:xfrm>
            <a:off x="731520" y="2514600"/>
            <a:ext cx="5120640" cy="2011680"/>
          </a:xfrm>
          <a:prstGeom prst="rect">
            <a:avLst/>
          </a:prstGeom>
          <a:noFill/>
        </p:spPr>
        <p:txBody>
          <a:bodyPr wrap="square" lIns="0" tIns="0" rIns="0" bIns="0" anchor="t"/>
          <a:lstStyle/>
          <a:p>
            <a:pPr algn="l"/>
            <a:r>
              <a:rPr sz="2200" b="1" i="0">
                <a:solidFill>
                  <a:srgbClr val="0072B2"/>
                </a:solidFill>
                <a:latin typeface="Arial"/>
                <a:ea typeface="Arial"/>
                <a:cs typeface="Arial"/>
              </a:rPr>
              <a:t>Certified head</a:t>
            </a:r>
            <a:r>
              <a:rPr sz="2200" b="0" i="0">
                <a:solidFill>
                  <a:srgbClr val="1B3A57"/>
                </a:solidFill>
                <a:latin typeface="Arial"/>
                <a:ea typeface="Arial"/>
                <a:cs typeface="Arial"/>
              </a:rPr>
              <a:t> identical; </a:t>
            </a:r>
            <a:r>
              <a:rPr sz="2200" b="1" i="0">
                <a:solidFill>
                  <a:srgbClr val="CC79A7"/>
                </a:solidFill>
                <a:latin typeface="Arial"/>
                <a:ea typeface="Arial"/>
                <a:cs typeface="Arial"/>
              </a:rPr>
              <a:t>fold</a:t>
            </a:r>
            <a:r>
              <a:rPr sz="2200" b="0" i="0">
                <a:solidFill>
                  <a:srgbClr val="1B3A57"/>
                </a:solidFill>
                <a:latin typeface="Arial"/>
                <a:ea typeface="Arial"/>
                <a:cs typeface="Arial"/>
              </a:rPr>
              <a:t> bitwise; </a:t>
            </a:r>
            <a:r>
              <a:rPr sz="2200" b="1" i="0">
                <a:solidFill>
                  <a:srgbClr val="CC79A7"/>
                </a:solidFill>
                <a:latin typeface="Arial"/>
                <a:ea typeface="Arial"/>
                <a:cs typeface="Arial"/>
              </a:rPr>
              <a:t>fold + FA4</a:t>
            </a:r>
            <a:r>
              <a:rPr sz="2200" b="0" i="0">
                <a:solidFill>
                  <a:srgbClr val="1B3A57"/>
                </a:solidFill>
                <a:latin typeface="Arial"/>
                <a:ea typeface="Arial"/>
                <a:cs typeface="Arial"/>
              </a:rPr>
              <a:t> and </a:t>
            </a:r>
            <a:r>
              <a:rPr sz="2200" b="1" i="0">
                <a:solidFill>
                  <a:srgbClr val="1C6402"/>
                </a:solidFill>
                <a:latin typeface="Arial"/>
                <a:ea typeface="Arial"/>
                <a:cs typeface="Arial"/>
              </a:rPr>
              <a:t>prefill delay</a:t>
            </a:r>
            <a:r>
              <a:rPr sz="2200" b="0" i="0">
                <a:solidFill>
                  <a:srgbClr val="1B3A57"/>
                </a:solidFill>
                <a:latin typeface="Arial"/>
                <a:ea typeface="Arial"/>
                <a:cs typeface="Arial"/>
              </a:rPr>
              <a:t> up to rounding</a:t>
            </a:r>
          </a:p>
        </p:txBody>
      </p:sp>
      <p:cxnSp>
        <p:nvCxnSpPr>
          <p:cNvPr id="8" name="Connector 7"/>
          <p:cNvCxnSpPr/>
          <p:nvPr/>
        </p:nvCxnSpPr>
        <p:spPr>
          <a:xfrm>
            <a:off x="6172200" y="1691640"/>
            <a:ext cx="0" cy="4526280"/>
          </a:xfrm>
          <a:prstGeom prst="line">
            <a:avLst/>
          </a:prstGeom>
          <a:ln w="12700">
            <a:solidFill>
              <a:srgbClr val="D2DCDF"/>
            </a:solidFill>
          </a:ln>
        </p:spPr>
      </p:cxnSp>
      <p:sp>
        <p:nvSpPr>
          <p:cNvPr id="9" name="TextBox 8"/>
          <p:cNvSpPr txBox="1"/>
          <p:nvPr/>
        </p:nvSpPr>
        <p:spPr>
          <a:xfrm>
            <a:off x="6446520" y="1645920"/>
            <a:ext cx="5029200" cy="329184"/>
          </a:xfrm>
          <a:prstGeom prst="rect">
            <a:avLst/>
          </a:prstGeom>
          <a:noFill/>
        </p:spPr>
        <p:txBody>
          <a:bodyPr wrap="square" lIns="0" tIns="0" rIns="0" bIns="0" anchor="t"/>
          <a:lstStyle/>
          <a:p>
            <a:pPr algn="l"/>
            <a:r>
              <a:rPr sz="1800" b="1" i="0">
                <a:solidFill>
                  <a:srgbClr val="586B73"/>
                </a:solidFill>
                <a:latin typeface="Arial"/>
                <a:ea typeface="Arial"/>
                <a:cs typeface="Arial"/>
              </a:rPr>
              <a:t>GSM8K, 1,319 problems, sampled</a:t>
            </a:r>
          </a:p>
        </p:txBody>
      </p:sp>
      <p:sp>
        <p:nvSpPr>
          <p:cNvPr id="10" name="TextBox 9"/>
          <p:cNvSpPr txBox="1"/>
          <p:nvPr/>
        </p:nvSpPr>
        <p:spPr>
          <a:xfrm>
            <a:off x="6446520" y="2103120"/>
            <a:ext cx="5029200" cy="640080"/>
          </a:xfrm>
          <a:prstGeom prst="rect">
            <a:avLst/>
          </a:prstGeom>
          <a:noFill/>
        </p:spPr>
        <p:txBody>
          <a:bodyPr wrap="square" lIns="0" tIns="0" rIns="0" bIns="0" anchor="t"/>
          <a:lstStyle/>
          <a:p>
            <a:pPr algn="l"/>
            <a:r>
              <a:rPr sz="3200" b="1" i="0">
                <a:solidFill>
                  <a:srgbClr val="1B3A57"/>
                </a:solidFill>
                <a:latin typeface="Arial"/>
                <a:ea typeface="Arial"/>
                <a:cs typeface="Arial"/>
              </a:rPr>
              <a:t>−1.36 to +1.06 points</a:t>
            </a:r>
          </a:p>
        </p:txBody>
      </p:sp>
      <p:sp>
        <p:nvSpPr>
          <p:cNvPr id="11" name="TextBox 10"/>
          <p:cNvSpPr txBox="1"/>
          <p:nvPr/>
        </p:nvSpPr>
        <p:spPr>
          <a:xfrm>
            <a:off x="6446520" y="2880360"/>
            <a:ext cx="5029200" cy="1325880"/>
          </a:xfrm>
          <a:prstGeom prst="rect">
            <a:avLst/>
          </a:prstGeom>
          <a:noFill/>
        </p:spPr>
        <p:txBody>
          <a:bodyPr wrap="square" lIns="0" tIns="0" rIns="0" bIns="0" anchor="t"/>
          <a:lstStyle/>
          <a:p>
            <a:pPr algn="l"/>
            <a:r>
              <a:rPr sz="2000" b="0" i="0">
                <a:solidFill>
                  <a:srgbClr val="1B3A57"/>
                </a:solidFill>
                <a:latin typeface="Arial"/>
                <a:ea typeface="Arial"/>
                <a:cs typeface="Arial"/>
              </a:rPr>
              <a:t>for two MTP arms, 8-token DFlash and replayed GDN plain decoding, not the changes on the left</a:t>
            </a:r>
          </a:p>
        </p:txBody>
      </p:sp>
      <p:sp>
        <p:nvSpPr>
          <p:cNvPr id="12" name="TextBox 11"/>
          <p:cNvSpPr txBox="1"/>
          <p:nvPr/>
        </p:nvSpPr>
        <p:spPr>
          <a:xfrm>
            <a:off x="6446520" y="4114800"/>
            <a:ext cx="5029200" cy="914400"/>
          </a:xfrm>
          <a:prstGeom prst="rect">
            <a:avLst/>
          </a:prstGeom>
          <a:noFill/>
        </p:spPr>
        <p:txBody>
          <a:bodyPr wrap="square" lIns="0" tIns="0" rIns="0" bIns="0" anchor="t"/>
          <a:lstStyle/>
          <a:p>
            <a:pPr algn="l"/>
            <a:r>
              <a:rPr sz="2000" b="1" i="0">
                <a:solidFill>
                  <a:srgbClr val="1B3A57"/>
                </a:solidFill>
                <a:latin typeface="Arial"/>
                <a:ea typeface="Arial"/>
                <a:cs typeface="Arial"/>
              </a:rPr>
              <a:t>Rules out only losses above about 3.3 points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Hold the fast path to the engine’s own token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§§8–9</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17</a:t>
            </a:r>
          </a:p>
        </p:txBody>
      </p:sp>
      <p:sp>
        <p:nvSpPr>
          <p:cNvPr id="6" name="TextBox 5"/>
          <p:cNvSpPr txBox="1"/>
          <p:nvPr/>
        </p:nvSpPr>
        <p:spPr>
          <a:xfrm>
            <a:off x="731520" y="1600200"/>
            <a:ext cx="10744200" cy="868680"/>
          </a:xfrm>
          <a:prstGeom prst="rect">
            <a:avLst/>
          </a:prstGeom>
          <a:noFill/>
        </p:spPr>
        <p:txBody>
          <a:bodyPr wrap="square" lIns="0" tIns="0" rIns="0" bIns="0" anchor="t"/>
          <a:lstStyle/>
          <a:p>
            <a:pPr algn="l"/>
            <a:r>
              <a:rPr sz="2200" b="1" i="0">
                <a:solidFill>
                  <a:srgbClr val="0072B2"/>
                </a:solidFill>
                <a:latin typeface="Arial"/>
                <a:ea typeface="Arial"/>
                <a:cs typeface="Arial"/>
              </a:rPr>
              <a:t>A fast path held to the engine’s own output, with its kernel as fallback, is not specific to the head.</a:t>
            </a:r>
          </a:p>
        </p:txBody>
      </p:sp>
      <p:cxnSp>
        <p:nvCxnSpPr>
          <p:cNvPr id="7" name="Connector 6"/>
          <p:cNvCxnSpPr/>
          <p:nvPr/>
        </p:nvCxnSpPr>
        <p:spPr>
          <a:xfrm>
            <a:off x="731520" y="2651760"/>
            <a:ext cx="10744200" cy="0"/>
          </a:xfrm>
          <a:prstGeom prst="line">
            <a:avLst/>
          </a:prstGeom>
          <a:ln w="12700">
            <a:solidFill>
              <a:srgbClr val="D2DCDF"/>
            </a:solidFill>
          </a:ln>
        </p:spPr>
      </p:cxnSp>
      <p:sp>
        <p:nvSpPr>
          <p:cNvPr id="8" name="TextBox 7"/>
          <p:cNvSpPr txBox="1"/>
          <p:nvPr/>
        </p:nvSpPr>
        <p:spPr>
          <a:xfrm>
            <a:off x="731520" y="2880360"/>
            <a:ext cx="10744200" cy="329184"/>
          </a:xfrm>
          <a:prstGeom prst="rect">
            <a:avLst/>
          </a:prstGeom>
          <a:noFill/>
        </p:spPr>
        <p:txBody>
          <a:bodyPr wrap="square" lIns="0" tIns="0" rIns="0" bIns="0" anchor="t"/>
          <a:lstStyle/>
          <a:p>
            <a:pPr algn="l"/>
            <a:r>
              <a:rPr sz="1600" b="1" i="0">
                <a:solidFill>
                  <a:srgbClr val="586B73"/>
                </a:solidFill>
                <a:latin typeface="Arial"/>
                <a:ea typeface="Arial"/>
                <a:cs typeface="Arial"/>
              </a:rPr>
              <a:t>Limits</a:t>
            </a:r>
          </a:p>
        </p:txBody>
      </p:sp>
      <p:sp>
        <p:nvSpPr>
          <p:cNvPr id="9" name="TextBox 8"/>
          <p:cNvSpPr txBox="1"/>
          <p:nvPr/>
        </p:nvSpPr>
        <p:spPr>
          <a:xfrm>
            <a:off x="731520" y="3246120"/>
            <a:ext cx="10744200" cy="731520"/>
          </a:xfrm>
          <a:prstGeom prst="rect">
            <a:avLst/>
          </a:prstGeom>
          <a:noFill/>
        </p:spPr>
        <p:txBody>
          <a:bodyPr wrap="square" lIns="0" tIns="0" rIns="0" bIns="0" anchor="t"/>
          <a:lstStyle/>
          <a:p>
            <a:pPr algn="l"/>
            <a:r>
              <a:rPr sz="2000" b="0" i="0">
                <a:solidFill>
                  <a:srgbClr val="1B3A57"/>
                </a:solidFill>
                <a:latin typeface="Arial"/>
                <a:ea typeface="Arial"/>
                <a:cs typeface="Arial"/>
              </a:rPr>
              <a:t>Error model tested on one GPU, not proved; fallbacks inside the served graph not timed; one model, engine commit, GPU and workload</a:t>
            </a:r>
          </a:p>
        </p:txBody>
      </p:sp>
      <p:sp>
        <p:nvSpPr>
          <p:cNvPr id="10" name="TextBox 9"/>
          <p:cNvSpPr txBox="1"/>
          <p:nvPr/>
        </p:nvSpPr>
        <p:spPr>
          <a:xfrm>
            <a:off x="731520" y="4206240"/>
            <a:ext cx="10744200" cy="329184"/>
          </a:xfrm>
          <a:prstGeom prst="rect">
            <a:avLst/>
          </a:prstGeom>
          <a:noFill/>
        </p:spPr>
        <p:txBody>
          <a:bodyPr wrap="square" lIns="0" tIns="0" rIns="0" bIns="0" anchor="t"/>
          <a:lstStyle/>
          <a:p>
            <a:pPr algn="l"/>
            <a:r>
              <a:rPr sz="1600" b="1" i="0">
                <a:solidFill>
                  <a:srgbClr val="586B73"/>
                </a:solidFill>
                <a:latin typeface="Arial"/>
                <a:ea typeface="Arial"/>
                <a:cs typeface="Arial"/>
              </a:rPr>
              <a:t>Next</a:t>
            </a:r>
          </a:p>
        </p:txBody>
      </p:sp>
      <p:sp>
        <p:nvSpPr>
          <p:cNvPr id="11" name="TextBox 10"/>
          <p:cNvSpPr txBox="1"/>
          <p:nvPr/>
        </p:nvSpPr>
        <p:spPr>
          <a:xfrm>
            <a:off x="731520" y="4572000"/>
            <a:ext cx="10744200" cy="731520"/>
          </a:xfrm>
          <a:prstGeom prst="rect">
            <a:avLst/>
          </a:prstGeom>
          <a:noFill/>
        </p:spPr>
        <p:txBody>
          <a:bodyPr wrap="square" lIns="0" tIns="0" rIns="0" bIns="0" anchor="t"/>
          <a:lstStyle/>
          <a:p>
            <a:pPr algn="l"/>
            <a:r>
              <a:rPr sz="2000" b="0" i="0">
                <a:solidFill>
                  <a:srgbClr val="1B3A57"/>
                </a:solidFill>
                <a:latin typeface="Arial"/>
                <a:ea typeface="Arial"/>
                <a:cs typeface="Arial"/>
              </a:rPr>
              <a:t>Time the in-graph fallbacks; a delay-only admission arm; batched equality for fold + FA4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Backup slides, by question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Backup slides follow the paper’s appendices and the committed evidence; each footer names its source</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B01</a:t>
            </a:r>
          </a:p>
        </p:txBody>
      </p:sp>
      <p:sp>
        <p:nvSpPr>
          <p:cNvPr id="6" name="TextBox 5"/>
          <p:cNvSpPr txBox="1"/>
          <p:nvPr/>
        </p:nvSpPr>
        <p:spPr>
          <a:xfrm>
            <a:off x="731520" y="1691640"/>
            <a:ext cx="7863840" cy="411480"/>
          </a:xfrm>
          <a:prstGeom prst="rect">
            <a:avLst/>
          </a:prstGeom>
          <a:noFill/>
        </p:spPr>
        <p:txBody>
          <a:bodyPr wrap="square" lIns="0" tIns="0" rIns="0" bIns="0" anchor="t"/>
          <a:lstStyle/>
          <a:p>
            <a:pPr algn="l"/>
            <a:r>
              <a:rPr sz="2000" b="1" i="0">
                <a:solidFill>
                  <a:srgbClr val="1B3A57"/>
                </a:solidFill>
                <a:latin typeface="Arial"/>
                <a:ea typeface="Arial"/>
                <a:cs typeface="Arial"/>
              </a:rPr>
              <a:t>Is it really exact? The contract and the error model</a:t>
            </a:r>
          </a:p>
        </p:txBody>
      </p:sp>
      <p:sp>
        <p:nvSpPr>
          <p:cNvPr id="7" name="TextBox 6"/>
          <p:cNvSpPr txBox="1"/>
          <p:nvPr/>
        </p:nvSpPr>
        <p:spPr>
          <a:xfrm>
            <a:off x="8778240" y="1691640"/>
            <a:ext cx="2697480" cy="411480"/>
          </a:xfrm>
          <a:prstGeom prst="rect">
            <a:avLst/>
          </a:prstGeom>
          <a:noFill/>
        </p:spPr>
        <p:txBody>
          <a:bodyPr wrap="square" lIns="0" tIns="0" rIns="0" bIns="0" anchor="t"/>
          <a:lstStyle/>
          <a:p>
            <a:pPr algn="r"/>
            <a:r>
              <a:rPr sz="2000" b="0" i="0">
                <a:solidFill>
                  <a:srgbClr val="586B73"/>
                </a:solidFill>
                <a:latin typeface="Arial"/>
                <a:ea typeface="Arial"/>
                <a:cs typeface="Arial"/>
              </a:rPr>
              <a:t>B02–B09</a:t>
            </a:r>
          </a:p>
        </p:txBody>
      </p:sp>
      <p:sp>
        <p:nvSpPr>
          <p:cNvPr id="8" name="TextBox 7"/>
          <p:cNvSpPr txBox="1"/>
          <p:nvPr/>
        </p:nvSpPr>
        <p:spPr>
          <a:xfrm>
            <a:off x="731520" y="2560320"/>
            <a:ext cx="7863840" cy="411480"/>
          </a:xfrm>
          <a:prstGeom prst="rect">
            <a:avLst/>
          </a:prstGeom>
          <a:noFill/>
        </p:spPr>
        <p:txBody>
          <a:bodyPr wrap="square" lIns="0" tIns="0" rIns="0" bIns="0" anchor="t"/>
          <a:lstStyle/>
          <a:p>
            <a:pPr algn="l"/>
            <a:r>
              <a:rPr sz="2000" b="1" i="0">
                <a:solidFill>
                  <a:srgbClr val="1B3A57"/>
                </a:solidFill>
                <a:latin typeface="Arial"/>
                <a:ea typeface="Arial"/>
                <a:cs typeface="Arial"/>
              </a:rPr>
              <a:t>Why is the served gain so small?</a:t>
            </a:r>
          </a:p>
        </p:txBody>
      </p:sp>
      <p:sp>
        <p:nvSpPr>
          <p:cNvPr id="9" name="TextBox 8"/>
          <p:cNvSpPr txBox="1"/>
          <p:nvPr/>
        </p:nvSpPr>
        <p:spPr>
          <a:xfrm>
            <a:off x="8778240" y="2560320"/>
            <a:ext cx="2697480" cy="411480"/>
          </a:xfrm>
          <a:prstGeom prst="rect">
            <a:avLst/>
          </a:prstGeom>
          <a:noFill/>
        </p:spPr>
        <p:txBody>
          <a:bodyPr wrap="square" lIns="0" tIns="0" rIns="0" bIns="0" anchor="t"/>
          <a:lstStyle/>
          <a:p>
            <a:pPr algn="r"/>
            <a:r>
              <a:rPr sz="2000" b="0" i="0">
                <a:solidFill>
                  <a:srgbClr val="586B73"/>
                </a:solidFill>
                <a:latin typeface="Arial"/>
                <a:ea typeface="Arial"/>
                <a:cs typeface="Arial"/>
              </a:rPr>
              <a:t>B10–B14</a:t>
            </a:r>
          </a:p>
        </p:txBody>
      </p:sp>
      <p:sp>
        <p:nvSpPr>
          <p:cNvPr id="10" name="TextBox 9"/>
          <p:cNvSpPr txBox="1"/>
          <p:nvPr/>
        </p:nvSpPr>
        <p:spPr>
          <a:xfrm>
            <a:off x="731520" y="3429000"/>
            <a:ext cx="7863840" cy="411480"/>
          </a:xfrm>
          <a:prstGeom prst="rect">
            <a:avLst/>
          </a:prstGeom>
          <a:noFill/>
        </p:spPr>
        <p:txBody>
          <a:bodyPr wrap="square" lIns="0" tIns="0" rIns="0" bIns="0" anchor="t"/>
          <a:lstStyle/>
          <a:p>
            <a:pPr algn="l"/>
            <a:r>
              <a:rPr sz="2000" b="1" i="0">
                <a:solidFill>
                  <a:srgbClr val="1B3A57"/>
                </a:solidFill>
                <a:latin typeface="Arial"/>
                <a:ea typeface="Arial"/>
                <a:cs typeface="Arial"/>
              </a:rPr>
              <a:t>Why does transport fail?</a:t>
            </a:r>
          </a:p>
        </p:txBody>
      </p:sp>
      <p:sp>
        <p:nvSpPr>
          <p:cNvPr id="11" name="TextBox 10"/>
          <p:cNvSpPr txBox="1"/>
          <p:nvPr/>
        </p:nvSpPr>
        <p:spPr>
          <a:xfrm>
            <a:off x="8778240" y="3429000"/>
            <a:ext cx="2697480" cy="411480"/>
          </a:xfrm>
          <a:prstGeom prst="rect">
            <a:avLst/>
          </a:prstGeom>
          <a:noFill/>
        </p:spPr>
        <p:txBody>
          <a:bodyPr wrap="square" lIns="0" tIns="0" rIns="0" bIns="0" anchor="t"/>
          <a:lstStyle/>
          <a:p>
            <a:pPr algn="r"/>
            <a:r>
              <a:rPr sz="2000" b="0" i="0">
                <a:solidFill>
                  <a:srgbClr val="586B73"/>
                </a:solidFill>
                <a:latin typeface="Arial"/>
                <a:ea typeface="Arial"/>
                <a:cs typeface="Arial"/>
              </a:rPr>
              <a:t>B15–B18</a:t>
            </a:r>
          </a:p>
        </p:txBody>
      </p:sp>
      <p:sp>
        <p:nvSpPr>
          <p:cNvPr id="12" name="TextBox 11"/>
          <p:cNvSpPr txBox="1"/>
          <p:nvPr/>
        </p:nvSpPr>
        <p:spPr>
          <a:xfrm>
            <a:off x="731520" y="4297680"/>
            <a:ext cx="7863840" cy="411480"/>
          </a:xfrm>
          <a:prstGeom prst="rect">
            <a:avLst/>
          </a:prstGeom>
          <a:noFill/>
        </p:spPr>
        <p:txBody>
          <a:bodyPr wrap="square" lIns="0" tIns="0" rIns="0" bIns="0" anchor="t"/>
          <a:lstStyle/>
          <a:p>
            <a:pPr algn="l"/>
            <a:r>
              <a:rPr sz="2000" b="1" i="0">
                <a:solidFill>
                  <a:srgbClr val="1B3A57"/>
                </a:solidFill>
                <a:latin typeface="Arial"/>
                <a:ea typeface="Arial"/>
                <a:cs typeface="Arial"/>
              </a:rPr>
              <a:t>The engine changes and their exactness classes</a:t>
            </a:r>
          </a:p>
        </p:txBody>
      </p:sp>
      <p:sp>
        <p:nvSpPr>
          <p:cNvPr id="13" name="TextBox 12"/>
          <p:cNvSpPr txBox="1"/>
          <p:nvPr/>
        </p:nvSpPr>
        <p:spPr>
          <a:xfrm>
            <a:off x="8778240" y="4297680"/>
            <a:ext cx="2697480" cy="411480"/>
          </a:xfrm>
          <a:prstGeom prst="rect">
            <a:avLst/>
          </a:prstGeom>
          <a:noFill/>
        </p:spPr>
        <p:txBody>
          <a:bodyPr wrap="square" lIns="0" tIns="0" rIns="0" bIns="0" anchor="t"/>
          <a:lstStyle/>
          <a:p>
            <a:pPr algn="r"/>
            <a:r>
              <a:rPr sz="2000" b="0" i="0">
                <a:solidFill>
                  <a:srgbClr val="586B73"/>
                </a:solidFill>
                <a:latin typeface="Arial"/>
                <a:ea typeface="Arial"/>
                <a:cs typeface="Arial"/>
              </a:rPr>
              <a:t>B19–B24</a:t>
            </a:r>
          </a:p>
        </p:txBody>
      </p:sp>
      <p:sp>
        <p:nvSpPr>
          <p:cNvPr id="14" name="TextBox 13"/>
          <p:cNvSpPr txBox="1"/>
          <p:nvPr/>
        </p:nvSpPr>
        <p:spPr>
          <a:xfrm>
            <a:off x="731520" y="5166360"/>
            <a:ext cx="7863840" cy="411480"/>
          </a:xfrm>
          <a:prstGeom prst="rect">
            <a:avLst/>
          </a:prstGeom>
          <a:noFill/>
        </p:spPr>
        <p:txBody>
          <a:bodyPr wrap="square" lIns="0" tIns="0" rIns="0" bIns="0" anchor="t"/>
          <a:lstStyle/>
          <a:p>
            <a:pPr algn="l"/>
            <a:r>
              <a:rPr sz="2000" b="1" i="0">
                <a:solidFill>
                  <a:srgbClr val="1B3A57"/>
                </a:solidFill>
                <a:latin typeface="Arial"/>
                <a:ea typeface="Arial"/>
                <a:cs typeface="Arial"/>
              </a:rPr>
              <a:t>The profile in detail, related work, upstream fixes, code</a:t>
            </a:r>
          </a:p>
        </p:txBody>
      </p:sp>
      <p:sp>
        <p:nvSpPr>
          <p:cNvPr id="15" name="TextBox 14"/>
          <p:cNvSpPr txBox="1"/>
          <p:nvPr/>
        </p:nvSpPr>
        <p:spPr>
          <a:xfrm>
            <a:off x="8778240" y="5166360"/>
            <a:ext cx="2697480" cy="411480"/>
          </a:xfrm>
          <a:prstGeom prst="rect">
            <a:avLst/>
          </a:prstGeom>
          <a:noFill/>
        </p:spPr>
        <p:txBody>
          <a:bodyPr wrap="square" lIns="0" tIns="0" rIns="0" bIns="0" anchor="t"/>
          <a:lstStyle/>
          <a:p>
            <a:pPr algn="r"/>
            <a:r>
              <a:rPr sz="2000" b="0" i="0">
                <a:solidFill>
                  <a:srgbClr val="586B73"/>
                </a:solidFill>
                <a:latin typeface="Arial"/>
                <a:ea typeface="Arial"/>
                <a:cs typeface="Arial"/>
              </a:rPr>
              <a:t>B25–B29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Every exact change matches stock up to rounding-level ties</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§4.5, §6 · evidence/: hostgap, drafter, backbone/served, bench/equality, speed_lowc/confirm/equality, admission, certified_head/served, bench/quality</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B06</a:t>
            </a:r>
          </a:p>
        </p:txBody>
      </p:sp>
      <p:sp>
        <p:nvSpPr>
          <p:cNvPr id="6" name="TextBox 5"/>
          <p:cNvSpPr txBox="1"/>
          <p:nvPr/>
        </p:nvSpPr>
        <p:spPr>
          <a:xfrm>
            <a:off x="731520" y="1737360"/>
            <a:ext cx="2743200" cy="1783080"/>
          </a:xfrm>
          <a:prstGeom prst="rect">
            <a:avLst/>
          </a:prstGeom>
          <a:noFill/>
        </p:spPr>
        <p:txBody>
          <a:bodyPr wrap="square" lIns="0" tIns="0" rIns="0" bIns="0" anchor="t"/>
          <a:lstStyle/>
          <a:p>
            <a:pPr algn="l"/>
            <a:r>
              <a:rPr sz="1900" b="1" i="0">
                <a:solidFill>
                  <a:srgbClr val="1B3A57"/>
                </a:solidFill>
                <a:latin typeface="Arial"/>
                <a:ea typeface="Arial"/>
                <a:cs typeface="Arial"/>
              </a:rPr>
              <a:t>Same configuration</a:t>
            </a:r>
          </a:p>
        </p:txBody>
      </p:sp>
      <p:sp>
        <p:nvSpPr>
          <p:cNvPr id="7" name="TextBox 6"/>
          <p:cNvSpPr txBox="1"/>
          <p:nvPr/>
        </p:nvSpPr>
        <p:spPr>
          <a:xfrm>
            <a:off x="3611880" y="1737360"/>
            <a:ext cx="7863840" cy="1783080"/>
          </a:xfrm>
          <a:prstGeom prst="rect">
            <a:avLst/>
          </a:prstGeom>
          <a:noFill/>
        </p:spPr>
        <p:txBody>
          <a:bodyPr wrap="square" lIns="0" tIns="0" rIns="0" bIns="0" anchor="t"/>
          <a:lstStyle/>
          <a:p>
            <a:pPr algn="l"/>
            <a:r>
              <a:rPr sz="1600" b="0" i="0">
                <a:solidFill>
                  <a:srgbClr val="1B3A57"/>
                </a:solidFill>
                <a:latin typeface="Arial"/>
                <a:ea typeface="Arial"/>
                <a:cs typeface="Arial"/>
              </a:rPr>
              <a:t>Host-gap patches: tokens identical on 192 of 192 requests</a:t>
            </a:r>
          </a:p>
          <a:p>
            <a:pPr algn="l">
              <a:spcBef>
                <a:spcPts val="600"/>
              </a:spcBef>
            </a:pPr>
            <a:r>
              <a:rPr sz="1600" b="0" i="0">
                <a:solidFill>
                  <a:srgbClr val="1B3A57"/>
                </a:solidFill>
                <a:latin typeface="Arial"/>
                <a:ea typeface="Arial"/>
                <a:cs typeface="Arial"/>
              </a:rPr>
              <a:t>Fold verify (matched pools): bitwise; with FA4: ties, one BF16 step or near ties (c = 1)</a:t>
            </a:r>
          </a:p>
          <a:p>
            <a:pPr algn="l">
              <a:spcBef>
                <a:spcPts val="600"/>
              </a:spcBef>
            </a:pPr>
            <a:r>
              <a:rPr sz="1600" b="0" i="0">
                <a:solidFill>
                  <a:srgbClr val="1B3A57"/>
                </a:solidFill>
                <a:latin typeface="Arial"/>
                <a:ea typeface="Arial"/>
                <a:cs typeface="Arial"/>
              </a:rPr>
              <a:t>Certified head: 0 of 592,433 positions differ in check mode</a:t>
            </a:r>
          </a:p>
        </p:txBody>
      </p:sp>
      <p:cxnSp>
        <p:nvCxnSpPr>
          <p:cNvPr id="8" name="Connector 7"/>
          <p:cNvCxnSpPr/>
          <p:nvPr/>
        </p:nvCxnSpPr>
        <p:spPr>
          <a:xfrm>
            <a:off x="731520" y="3566160"/>
            <a:ext cx="10744200" cy="0"/>
          </a:xfrm>
          <a:prstGeom prst="line">
            <a:avLst/>
          </a:prstGeom>
          <a:ln w="12700">
            <a:solidFill>
              <a:srgbClr val="D2DCDF"/>
            </a:solidFill>
          </a:ln>
        </p:spPr>
      </p:cxnSp>
      <p:sp>
        <p:nvSpPr>
          <p:cNvPr id="9" name="TextBox 8"/>
          <p:cNvSpPr txBox="1"/>
          <p:nvPr/>
        </p:nvSpPr>
        <p:spPr>
          <a:xfrm>
            <a:off x="731520" y="3657600"/>
            <a:ext cx="2743200" cy="777240"/>
          </a:xfrm>
          <a:prstGeom prst="rect">
            <a:avLst/>
          </a:prstGeom>
          <a:noFill/>
        </p:spPr>
        <p:txBody>
          <a:bodyPr wrap="square" lIns="0" tIns="0" rIns="0" bIns="0" anchor="t"/>
          <a:lstStyle/>
          <a:p>
            <a:pPr algn="l"/>
            <a:r>
              <a:rPr sz="1900" b="1" i="0">
                <a:solidFill>
                  <a:srgbClr val="1B3A57"/>
                </a:solidFill>
                <a:latin typeface="Arial"/>
                <a:ea typeface="Arial"/>
                <a:cs typeface="Arial"/>
              </a:rPr>
              <a:t>Closed loop</a:t>
            </a:r>
          </a:p>
        </p:txBody>
      </p:sp>
      <p:sp>
        <p:nvSpPr>
          <p:cNvPr id="10" name="TextBox 9"/>
          <p:cNvSpPr txBox="1"/>
          <p:nvPr/>
        </p:nvSpPr>
        <p:spPr>
          <a:xfrm>
            <a:off x="3611880" y="3657600"/>
            <a:ext cx="7863840" cy="777240"/>
          </a:xfrm>
          <a:prstGeom prst="rect">
            <a:avLst/>
          </a:prstGeom>
          <a:noFill/>
        </p:spPr>
        <p:txBody>
          <a:bodyPr wrap="square" lIns="0" tIns="0" rIns="0" bIns="0" anchor="t"/>
          <a:lstStyle/>
          <a:p>
            <a:pPr algn="l"/>
            <a:r>
              <a:rPr sz="1600" b="0" i="0">
                <a:solidFill>
                  <a:srgbClr val="1B3A57"/>
                </a:solidFill>
                <a:latin typeface="Arial"/>
                <a:ea typeface="Arial"/>
                <a:cs typeface="Arial"/>
              </a:rPr>
              <a:t>Batches evolve differently run to run: certified vs stock diverges at 1.03–1.21× the stock-vs-stock rate</a:t>
            </a:r>
          </a:p>
        </p:txBody>
      </p:sp>
      <p:cxnSp>
        <p:nvCxnSpPr>
          <p:cNvPr id="11" name="Connector 10"/>
          <p:cNvCxnSpPr/>
          <p:nvPr/>
        </p:nvCxnSpPr>
        <p:spPr>
          <a:xfrm>
            <a:off x="731520" y="4480560"/>
            <a:ext cx="10744200" cy="0"/>
          </a:xfrm>
          <a:prstGeom prst="line">
            <a:avLst/>
          </a:prstGeom>
          <a:ln w="12700">
            <a:solidFill>
              <a:srgbClr val="D2DCDF"/>
            </a:solidFill>
          </a:ln>
        </p:spPr>
      </p:cxnSp>
      <p:sp>
        <p:nvSpPr>
          <p:cNvPr id="12" name="TextBox 11"/>
          <p:cNvSpPr txBox="1"/>
          <p:nvPr/>
        </p:nvSpPr>
        <p:spPr>
          <a:xfrm>
            <a:off x="731520" y="4572000"/>
            <a:ext cx="2743200" cy="777240"/>
          </a:xfrm>
          <a:prstGeom prst="rect">
            <a:avLst/>
          </a:prstGeom>
          <a:noFill/>
        </p:spPr>
        <p:txBody>
          <a:bodyPr wrap="square" lIns="0" tIns="0" rIns="0" bIns="0" anchor="t"/>
          <a:lstStyle/>
          <a:p>
            <a:pPr algn="l"/>
            <a:r>
              <a:rPr sz="1900" b="1" i="0">
                <a:solidFill>
                  <a:srgbClr val="1B3A57"/>
                </a:solidFill>
                <a:latin typeface="Arial"/>
                <a:ea typeface="Arial"/>
                <a:cs typeface="Arial"/>
              </a:rPr>
              <a:t>Task accuracy</a:t>
            </a:r>
          </a:p>
        </p:txBody>
      </p:sp>
      <p:sp>
        <p:nvSpPr>
          <p:cNvPr id="13" name="TextBox 12"/>
          <p:cNvSpPr txBox="1"/>
          <p:nvPr/>
        </p:nvSpPr>
        <p:spPr>
          <a:xfrm>
            <a:off x="3611880" y="4572000"/>
            <a:ext cx="7863840" cy="777240"/>
          </a:xfrm>
          <a:prstGeom prst="rect">
            <a:avLst/>
          </a:prstGeom>
          <a:noFill/>
        </p:spPr>
        <p:txBody>
          <a:bodyPr wrap="square" lIns="0" tIns="0" rIns="0" bIns="0" anchor="t"/>
          <a:lstStyle/>
          <a:p>
            <a:pPr algn="l"/>
            <a:r>
              <a:rPr sz="1600" b="0" i="0">
                <a:solidFill>
                  <a:srgbClr val="1B3A57"/>
                </a:solidFill>
                <a:latin typeface="Arial"/>
                <a:ea typeface="Arial"/>
                <a:cs typeface="Arial"/>
              </a:rPr>
              <a:t>GSM8K, sampled: exact arms within −1.36 to +1.06 points of plain decoding; it cannot exclude losses under about 3.3 points</a:t>
            </a:r>
          </a:p>
        </p:txBody>
      </p:sp>
      <p:cxnSp>
        <p:nvCxnSpPr>
          <p:cNvPr id="14" name="Connector 13"/>
          <p:cNvCxnSpPr/>
          <p:nvPr/>
        </p:nvCxnSpPr>
        <p:spPr>
          <a:xfrm>
            <a:off x="731520" y="5394960"/>
            <a:ext cx="10744200" cy="0"/>
          </a:xfrm>
          <a:prstGeom prst="line">
            <a:avLst/>
          </a:prstGeom>
          <a:ln w="12700">
            <a:solidFill>
              <a:srgbClr val="D2DCDF"/>
            </a:solidFill>
          </a:ln>
        </p:spPr>
      </p:cxn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SGLang’s typical BF16 error matches Hugging Face’s</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evidence/bf16_paths (rates.json, rates_eot.json, positions.json, README) · FP32: transformers on the CPU · correctness only</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B07</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Mean |log-probability error| on FP32’s top token (nats); misses above 2 nats</a:t>
            </a:r>
          </a:p>
        </p:txBody>
      </p:sp>
      <p:sp>
        <p:nvSpPr>
          <p:cNvPr id="7" name="Rectangle 6"/>
          <p:cNvSpPr/>
          <p:nvPr/>
        </p:nvSpPr>
        <p:spPr>
          <a:xfrm>
            <a:off x="731520" y="2103120"/>
            <a:ext cx="10744200" cy="457200"/>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2130551"/>
            <a:ext cx="3840479" cy="402336"/>
          </a:xfrm>
          <a:prstGeom prst="rect">
            <a:avLst/>
          </a:prstGeom>
          <a:noFill/>
        </p:spPr>
        <p:txBody>
          <a:bodyPr wrap="square" lIns="0" tIns="0" rIns="0" bIns="0" anchor="ctr"/>
          <a:lstStyle/>
          <a:p>
            <a:pPr algn="l"/>
            <a:r>
              <a:rPr sz="1500" b="1" i="0">
                <a:solidFill>
                  <a:srgbClr val="586B73"/>
                </a:solidFill>
                <a:latin typeface="Arial"/>
                <a:ea typeface="Arial"/>
                <a:cs typeface="Arial"/>
              </a:rPr>
              <a:t>Implementation, path</a:t>
            </a:r>
          </a:p>
        </p:txBody>
      </p:sp>
      <p:sp>
        <p:nvSpPr>
          <p:cNvPr id="9" name="TextBox 8"/>
          <p:cNvSpPr txBox="1"/>
          <p:nvPr/>
        </p:nvSpPr>
        <p:spPr>
          <a:xfrm>
            <a:off x="4818888" y="2130551"/>
            <a:ext cx="1965960" cy="402336"/>
          </a:xfrm>
          <a:prstGeom prst="rect">
            <a:avLst/>
          </a:prstGeom>
          <a:noFill/>
        </p:spPr>
        <p:txBody>
          <a:bodyPr wrap="square" lIns="0" tIns="0" rIns="0" bIns="0" anchor="ctr"/>
          <a:lstStyle/>
          <a:p>
            <a:pPr algn="l"/>
            <a:r>
              <a:rPr sz="1500" b="1" i="0">
                <a:solidFill>
                  <a:srgbClr val="586B73"/>
                </a:solidFill>
                <a:latin typeface="Arial"/>
                <a:ea typeface="Arial"/>
                <a:cs typeface="Arial"/>
              </a:rPr>
              <a:t>Sample 1: 6,144</a:t>
            </a:r>
          </a:p>
        </p:txBody>
      </p:sp>
      <p:sp>
        <p:nvSpPr>
          <p:cNvPr id="10" name="TextBox 9"/>
          <p:cNvSpPr txBox="1"/>
          <p:nvPr/>
        </p:nvSpPr>
        <p:spPr>
          <a:xfrm>
            <a:off x="6922007" y="2130551"/>
            <a:ext cx="2606040" cy="402336"/>
          </a:xfrm>
          <a:prstGeom prst="rect">
            <a:avLst/>
          </a:prstGeom>
          <a:noFill/>
        </p:spPr>
        <p:txBody>
          <a:bodyPr wrap="square" lIns="0" tIns="0" rIns="0" bIns="0" anchor="ctr"/>
          <a:lstStyle/>
          <a:p>
            <a:pPr algn="l"/>
            <a:r>
              <a:rPr sz="1500" b="1" i="0">
                <a:solidFill>
                  <a:srgbClr val="586B73"/>
                </a:solidFill>
                <a:latin typeface="Arial"/>
                <a:ea typeface="Arial"/>
                <a:cs typeface="Arial"/>
              </a:rPr>
              <a:t>Sample 2: 9,216</a:t>
            </a:r>
          </a:p>
        </p:txBody>
      </p:sp>
      <p:sp>
        <p:nvSpPr>
          <p:cNvPr id="11" name="TextBox 10"/>
          <p:cNvSpPr txBox="1"/>
          <p:nvPr/>
        </p:nvSpPr>
        <p:spPr>
          <a:xfrm>
            <a:off x="9665208" y="2130551"/>
            <a:ext cx="1783080" cy="402336"/>
          </a:xfrm>
          <a:prstGeom prst="rect">
            <a:avLst/>
          </a:prstGeom>
          <a:noFill/>
        </p:spPr>
        <p:txBody>
          <a:bodyPr wrap="square" lIns="0" tIns="0" rIns="0" bIns="0" anchor="ctr"/>
          <a:lstStyle/>
          <a:p>
            <a:pPr algn="l"/>
            <a:r>
              <a:rPr sz="1500" b="1" i="0">
                <a:solidFill>
                  <a:srgbClr val="586B73"/>
                </a:solidFill>
                <a:latin typeface="Arial"/>
                <a:ea typeface="Arial"/>
                <a:cs typeface="Arial"/>
              </a:rPr>
              <a:t>Misses &gt; 2 nats</a:t>
            </a:r>
          </a:p>
        </p:txBody>
      </p:sp>
      <p:sp>
        <p:nvSpPr>
          <p:cNvPr id="12" name="TextBox 11"/>
          <p:cNvSpPr txBox="1"/>
          <p:nvPr/>
        </p:nvSpPr>
        <p:spPr>
          <a:xfrm>
            <a:off x="841248" y="2624327"/>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SGLang (pin, unpatched)</a:t>
            </a:r>
            <a:r>
              <a:rPr sz="1400" b="0" i="0">
                <a:solidFill>
                  <a:srgbClr val="586B73"/>
                </a:solidFill>
                <a:latin typeface="Arial"/>
                <a:ea typeface="Arial"/>
                <a:cs typeface="Arial"/>
              </a:rPr>
              <a:t> · decode</a:t>
            </a:r>
          </a:p>
        </p:txBody>
      </p:sp>
      <p:sp>
        <p:nvSpPr>
          <p:cNvPr id="13" name="TextBox 12"/>
          <p:cNvSpPr txBox="1"/>
          <p:nvPr/>
        </p:nvSpPr>
        <p:spPr>
          <a:xfrm>
            <a:off x="4818888" y="2624327"/>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0.0054</a:t>
            </a:r>
          </a:p>
        </p:txBody>
      </p:sp>
      <p:sp>
        <p:nvSpPr>
          <p:cNvPr id="14" name="TextBox 13"/>
          <p:cNvSpPr txBox="1"/>
          <p:nvPr/>
        </p:nvSpPr>
        <p:spPr>
          <a:xfrm>
            <a:off x="6922007" y="2624327"/>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0.0039</a:t>
            </a:r>
          </a:p>
        </p:txBody>
      </p:sp>
      <p:sp>
        <p:nvSpPr>
          <p:cNvPr id="15" name="TextBox 14"/>
          <p:cNvSpPr txBox="1"/>
          <p:nvPr/>
        </p:nvSpPr>
        <p:spPr>
          <a:xfrm>
            <a:off x="9665208" y="2624327"/>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0</a:t>
            </a:r>
          </a:p>
        </p:txBody>
      </p:sp>
      <p:cxnSp>
        <p:nvCxnSpPr>
          <p:cNvPr id="16" name="Connector 15"/>
          <p:cNvCxnSpPr/>
          <p:nvPr/>
        </p:nvCxnSpPr>
        <p:spPr>
          <a:xfrm>
            <a:off x="731520" y="3017520"/>
            <a:ext cx="10744200" cy="0"/>
          </a:xfrm>
          <a:prstGeom prst="line">
            <a:avLst/>
          </a:prstGeom>
          <a:ln w="12700">
            <a:solidFill>
              <a:srgbClr val="D2DCDF"/>
            </a:solidFill>
          </a:ln>
        </p:spPr>
      </p:cxnSp>
      <p:sp>
        <p:nvSpPr>
          <p:cNvPr id="17" name="TextBox 16"/>
          <p:cNvSpPr txBox="1"/>
          <p:nvPr/>
        </p:nvSpPr>
        <p:spPr>
          <a:xfrm>
            <a:off x="841248" y="3044951"/>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SGLang (pin, unpatched)</a:t>
            </a:r>
            <a:r>
              <a:rPr sz="1400" b="0" i="0">
                <a:solidFill>
                  <a:srgbClr val="586B73"/>
                </a:solidFill>
                <a:latin typeface="Arial"/>
                <a:ea typeface="Arial"/>
                <a:cs typeface="Arial"/>
              </a:rPr>
              <a:t> · prefill</a:t>
            </a:r>
          </a:p>
        </p:txBody>
      </p:sp>
      <p:sp>
        <p:nvSpPr>
          <p:cNvPr id="18" name="TextBox 17"/>
          <p:cNvSpPr txBox="1"/>
          <p:nvPr/>
        </p:nvSpPr>
        <p:spPr>
          <a:xfrm>
            <a:off x="4818888" y="3044951"/>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0.0054</a:t>
            </a:r>
          </a:p>
        </p:txBody>
      </p:sp>
      <p:sp>
        <p:nvSpPr>
          <p:cNvPr id="19" name="TextBox 18"/>
          <p:cNvSpPr txBox="1"/>
          <p:nvPr/>
        </p:nvSpPr>
        <p:spPr>
          <a:xfrm>
            <a:off x="6922007" y="3044951"/>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0.0045</a:t>
            </a:r>
          </a:p>
        </p:txBody>
      </p:sp>
      <p:sp>
        <p:nvSpPr>
          <p:cNvPr id="20" name="TextBox 19"/>
          <p:cNvSpPr txBox="1"/>
          <p:nvPr/>
        </p:nvSpPr>
        <p:spPr>
          <a:xfrm>
            <a:off x="9665208" y="3044951"/>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1</a:t>
            </a:r>
          </a:p>
        </p:txBody>
      </p:sp>
      <p:cxnSp>
        <p:nvCxnSpPr>
          <p:cNvPr id="21" name="Connector 20"/>
          <p:cNvCxnSpPr/>
          <p:nvPr/>
        </p:nvCxnSpPr>
        <p:spPr>
          <a:xfrm>
            <a:off x="731520" y="3438144"/>
            <a:ext cx="10744200" cy="0"/>
          </a:xfrm>
          <a:prstGeom prst="line">
            <a:avLst/>
          </a:prstGeom>
          <a:ln w="12700">
            <a:solidFill>
              <a:srgbClr val="D2DCDF"/>
            </a:solidFill>
          </a:ln>
        </p:spPr>
      </p:cxnSp>
      <p:sp>
        <p:nvSpPr>
          <p:cNvPr id="22" name="TextBox 21"/>
          <p:cNvSpPr txBox="1"/>
          <p:nvPr/>
        </p:nvSpPr>
        <p:spPr>
          <a:xfrm>
            <a:off x="841248" y="3465575"/>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transformers, torch GDN</a:t>
            </a:r>
            <a:r>
              <a:rPr sz="1400" b="0" i="0">
                <a:solidFill>
                  <a:srgbClr val="586B73"/>
                </a:solidFill>
                <a:latin typeface="Arial"/>
                <a:ea typeface="Arial"/>
                <a:cs typeface="Arial"/>
              </a:rPr>
              <a:t> · decode</a:t>
            </a:r>
          </a:p>
        </p:txBody>
      </p:sp>
      <p:sp>
        <p:nvSpPr>
          <p:cNvPr id="23" name="TextBox 22"/>
          <p:cNvSpPr txBox="1"/>
          <p:nvPr/>
        </p:nvSpPr>
        <p:spPr>
          <a:xfrm>
            <a:off x="4818888" y="3465575"/>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0.0057</a:t>
            </a:r>
          </a:p>
        </p:txBody>
      </p:sp>
      <p:sp>
        <p:nvSpPr>
          <p:cNvPr id="24" name="TextBox 23"/>
          <p:cNvSpPr txBox="1"/>
          <p:nvPr/>
        </p:nvSpPr>
        <p:spPr>
          <a:xfrm>
            <a:off x="6922007" y="3465575"/>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0.0044</a:t>
            </a:r>
          </a:p>
        </p:txBody>
      </p:sp>
      <p:sp>
        <p:nvSpPr>
          <p:cNvPr id="25" name="TextBox 24"/>
          <p:cNvSpPr txBox="1"/>
          <p:nvPr/>
        </p:nvSpPr>
        <p:spPr>
          <a:xfrm>
            <a:off x="9665208" y="3465575"/>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0</a:t>
            </a:r>
          </a:p>
        </p:txBody>
      </p:sp>
      <p:cxnSp>
        <p:nvCxnSpPr>
          <p:cNvPr id="26" name="Connector 25"/>
          <p:cNvCxnSpPr/>
          <p:nvPr/>
        </p:nvCxnSpPr>
        <p:spPr>
          <a:xfrm>
            <a:off x="731520" y="3858768"/>
            <a:ext cx="10744200" cy="0"/>
          </a:xfrm>
          <a:prstGeom prst="line">
            <a:avLst/>
          </a:prstGeom>
          <a:ln w="12700">
            <a:solidFill>
              <a:srgbClr val="D2DCDF"/>
            </a:solidFill>
          </a:ln>
        </p:spPr>
      </p:cxnSp>
      <p:sp>
        <p:nvSpPr>
          <p:cNvPr id="27" name="TextBox 26"/>
          <p:cNvSpPr txBox="1"/>
          <p:nvPr/>
        </p:nvSpPr>
        <p:spPr>
          <a:xfrm>
            <a:off x="841248" y="3886200"/>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transformers, torch GDN</a:t>
            </a:r>
            <a:r>
              <a:rPr sz="1400" b="0" i="0">
                <a:solidFill>
                  <a:srgbClr val="586B73"/>
                </a:solidFill>
                <a:latin typeface="Arial"/>
                <a:ea typeface="Arial"/>
                <a:cs typeface="Arial"/>
              </a:rPr>
              <a:t> · prefill</a:t>
            </a:r>
          </a:p>
        </p:txBody>
      </p:sp>
      <p:sp>
        <p:nvSpPr>
          <p:cNvPr id="28" name="TextBox 27"/>
          <p:cNvSpPr txBox="1"/>
          <p:nvPr/>
        </p:nvSpPr>
        <p:spPr>
          <a:xfrm>
            <a:off x="4818888" y="3886200"/>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0.0056</a:t>
            </a:r>
          </a:p>
        </p:txBody>
      </p:sp>
      <p:sp>
        <p:nvSpPr>
          <p:cNvPr id="29" name="TextBox 28"/>
          <p:cNvSpPr txBox="1"/>
          <p:nvPr/>
        </p:nvSpPr>
        <p:spPr>
          <a:xfrm>
            <a:off x="6922007" y="3886200"/>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0.0049</a:t>
            </a:r>
          </a:p>
        </p:txBody>
      </p:sp>
      <p:sp>
        <p:nvSpPr>
          <p:cNvPr id="30" name="TextBox 29"/>
          <p:cNvSpPr txBox="1"/>
          <p:nvPr/>
        </p:nvSpPr>
        <p:spPr>
          <a:xfrm>
            <a:off x="9665208" y="3886200"/>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1</a:t>
            </a:r>
          </a:p>
        </p:txBody>
      </p:sp>
      <p:cxnSp>
        <p:nvCxnSpPr>
          <p:cNvPr id="31" name="Connector 30"/>
          <p:cNvCxnSpPr/>
          <p:nvPr/>
        </p:nvCxnSpPr>
        <p:spPr>
          <a:xfrm>
            <a:off x="731520" y="4279392"/>
            <a:ext cx="10744200" cy="0"/>
          </a:xfrm>
          <a:prstGeom prst="line">
            <a:avLst/>
          </a:prstGeom>
          <a:ln w="12700">
            <a:solidFill>
              <a:srgbClr val="D2DCDF"/>
            </a:solidFill>
          </a:ln>
        </p:spPr>
      </p:cxnSp>
      <p:sp>
        <p:nvSpPr>
          <p:cNvPr id="32" name="TextBox 31"/>
          <p:cNvSpPr txBox="1"/>
          <p:nvPr/>
        </p:nvSpPr>
        <p:spPr>
          <a:xfrm>
            <a:off x="841248" y="4306824"/>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transformers, fla GDN</a:t>
            </a:r>
            <a:r>
              <a:rPr sz="1400" b="0" i="0">
                <a:solidFill>
                  <a:srgbClr val="586B73"/>
                </a:solidFill>
                <a:latin typeface="Arial"/>
                <a:ea typeface="Arial"/>
                <a:cs typeface="Arial"/>
              </a:rPr>
              <a:t> · decode</a:t>
            </a:r>
          </a:p>
        </p:txBody>
      </p:sp>
      <p:sp>
        <p:nvSpPr>
          <p:cNvPr id="33" name="TextBox 32"/>
          <p:cNvSpPr txBox="1"/>
          <p:nvPr/>
        </p:nvSpPr>
        <p:spPr>
          <a:xfrm>
            <a:off x="4818888" y="4306824"/>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0.0056</a:t>
            </a:r>
          </a:p>
        </p:txBody>
      </p:sp>
      <p:sp>
        <p:nvSpPr>
          <p:cNvPr id="34" name="TextBox 33"/>
          <p:cNvSpPr txBox="1"/>
          <p:nvPr/>
        </p:nvSpPr>
        <p:spPr>
          <a:xfrm>
            <a:off x="6922007" y="4306824"/>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0.0042</a:t>
            </a:r>
          </a:p>
        </p:txBody>
      </p:sp>
      <p:sp>
        <p:nvSpPr>
          <p:cNvPr id="35" name="TextBox 34"/>
          <p:cNvSpPr txBox="1"/>
          <p:nvPr/>
        </p:nvSpPr>
        <p:spPr>
          <a:xfrm>
            <a:off x="9665208" y="4306824"/>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0</a:t>
            </a:r>
          </a:p>
        </p:txBody>
      </p:sp>
      <p:cxnSp>
        <p:nvCxnSpPr>
          <p:cNvPr id="36" name="Connector 35"/>
          <p:cNvCxnSpPr/>
          <p:nvPr/>
        </p:nvCxnSpPr>
        <p:spPr>
          <a:xfrm>
            <a:off x="731520" y="4700016"/>
            <a:ext cx="10744200" cy="0"/>
          </a:xfrm>
          <a:prstGeom prst="line">
            <a:avLst/>
          </a:prstGeom>
          <a:ln w="12700">
            <a:solidFill>
              <a:srgbClr val="D2DCDF"/>
            </a:solidFill>
          </a:ln>
        </p:spPr>
      </p:cxnSp>
      <p:sp>
        <p:nvSpPr>
          <p:cNvPr id="37" name="TextBox 36"/>
          <p:cNvSpPr txBox="1"/>
          <p:nvPr/>
        </p:nvSpPr>
        <p:spPr>
          <a:xfrm>
            <a:off x="841248" y="4727448"/>
            <a:ext cx="3840479" cy="365760"/>
          </a:xfrm>
          <a:prstGeom prst="rect">
            <a:avLst/>
          </a:prstGeom>
          <a:noFill/>
        </p:spPr>
        <p:txBody>
          <a:bodyPr wrap="square" lIns="0" tIns="0" rIns="0" bIns="0" anchor="ctr"/>
          <a:lstStyle/>
          <a:p>
            <a:pPr algn="l"/>
            <a:r>
              <a:rPr sz="1500" b="1" i="0">
                <a:solidFill>
                  <a:srgbClr val="1B3A57"/>
                </a:solidFill>
                <a:latin typeface="Arial"/>
                <a:ea typeface="Arial"/>
                <a:cs typeface="Arial"/>
              </a:rPr>
              <a:t>transformers, fla GDN</a:t>
            </a:r>
            <a:r>
              <a:rPr sz="1400" b="0" i="0">
                <a:solidFill>
                  <a:srgbClr val="586B73"/>
                </a:solidFill>
                <a:latin typeface="Arial"/>
                <a:ea typeface="Arial"/>
                <a:cs typeface="Arial"/>
              </a:rPr>
              <a:t> · prefill</a:t>
            </a:r>
          </a:p>
        </p:txBody>
      </p:sp>
      <p:sp>
        <p:nvSpPr>
          <p:cNvPr id="38" name="TextBox 37"/>
          <p:cNvSpPr txBox="1"/>
          <p:nvPr/>
        </p:nvSpPr>
        <p:spPr>
          <a:xfrm>
            <a:off x="4818888" y="4727448"/>
            <a:ext cx="196596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0.0056</a:t>
            </a:r>
          </a:p>
        </p:txBody>
      </p:sp>
      <p:sp>
        <p:nvSpPr>
          <p:cNvPr id="39" name="TextBox 38"/>
          <p:cNvSpPr txBox="1"/>
          <p:nvPr/>
        </p:nvSpPr>
        <p:spPr>
          <a:xfrm>
            <a:off x="6922007" y="4727448"/>
            <a:ext cx="2606040" cy="365760"/>
          </a:xfrm>
          <a:prstGeom prst="rect">
            <a:avLst/>
          </a:prstGeom>
          <a:noFill/>
        </p:spPr>
        <p:txBody>
          <a:bodyPr wrap="square" lIns="0" tIns="0" rIns="0" bIns="0" anchor="ctr"/>
          <a:lstStyle/>
          <a:p>
            <a:pPr algn="l"/>
            <a:r>
              <a:rPr sz="1600" b="0" i="0">
                <a:solidFill>
                  <a:srgbClr val="1B3A57"/>
                </a:solidFill>
                <a:latin typeface="Arial"/>
                <a:ea typeface="Arial"/>
                <a:cs typeface="Arial"/>
              </a:rPr>
              <a:t>0.0047</a:t>
            </a:r>
          </a:p>
        </p:txBody>
      </p:sp>
      <p:sp>
        <p:nvSpPr>
          <p:cNvPr id="40" name="TextBox 39"/>
          <p:cNvSpPr txBox="1"/>
          <p:nvPr/>
        </p:nvSpPr>
        <p:spPr>
          <a:xfrm>
            <a:off x="9665208" y="4727448"/>
            <a:ext cx="1783080" cy="365760"/>
          </a:xfrm>
          <a:prstGeom prst="rect">
            <a:avLst/>
          </a:prstGeom>
          <a:noFill/>
        </p:spPr>
        <p:txBody>
          <a:bodyPr wrap="square" lIns="0" tIns="0" rIns="0" bIns="0" anchor="ctr"/>
          <a:lstStyle/>
          <a:p>
            <a:pPr algn="l"/>
            <a:r>
              <a:rPr sz="1600" b="0" i="0">
                <a:solidFill>
                  <a:srgbClr val="1B3A57"/>
                </a:solidFill>
                <a:latin typeface="Arial"/>
                <a:ea typeface="Arial"/>
                <a:cs typeface="Arial"/>
              </a:rPr>
              <a:t>1</a:t>
            </a:r>
          </a:p>
        </p:txBody>
      </p:sp>
      <p:cxnSp>
        <p:nvCxnSpPr>
          <p:cNvPr id="41" name="Connector 40"/>
          <p:cNvCxnSpPr/>
          <p:nvPr/>
        </p:nvCxnSpPr>
        <p:spPr>
          <a:xfrm>
            <a:off x="731520" y="5120640"/>
            <a:ext cx="10744200" cy="0"/>
          </a:xfrm>
          <a:prstGeom prst="line">
            <a:avLst/>
          </a:prstGeom>
          <a:ln w="12700">
            <a:solidFill>
              <a:srgbClr val="D2DCDF"/>
            </a:solidFill>
          </a:ln>
        </p:spPr>
      </p:cxnSp>
      <p:sp>
        <p:nvSpPr>
          <p:cNvPr id="42" name="TextBox 41"/>
          <p:cNvSpPr txBox="1"/>
          <p:nvPr/>
        </p:nvSpPr>
        <p:spPr>
          <a:xfrm>
            <a:off x="731520" y="5257800"/>
            <a:ext cx="10744200" cy="1005840"/>
          </a:xfrm>
          <a:prstGeom prst="rect">
            <a:avLst/>
          </a:prstGeom>
          <a:noFill/>
        </p:spPr>
        <p:txBody>
          <a:bodyPr wrap="square" lIns="0" tIns="0" rIns="0" bIns="0" anchor="t"/>
          <a:lstStyle/>
          <a:p>
            <a:pPr algn="l"/>
            <a:r>
              <a:rPr sz="1600" b="0" i="0">
                <a:solidFill>
                  <a:srgbClr val="1B3A57"/>
                </a:solidFill>
                <a:latin typeface="Arial"/>
                <a:ea typeface="Arial"/>
                <a:cs typeface="Arial"/>
              </a:rPr>
              <a:t>The 8.9-nat miss is an SGLang outlier at one position; a second position is ill-conditioned: FP32’s own top token flips under rounding-size noise. No issue filed.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Certified head served: every point against its prediction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evidence/certified_head/served (summary.json, predictions.json) · 3 sessions · bold: declared primary · vermilion: loss · grey: no detectable change · italic: gated off</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B13</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Throughput ratio, certified ÷ stock; second line: predicted before the runs</a:t>
            </a:r>
          </a:p>
        </p:txBody>
      </p:sp>
      <p:sp>
        <p:nvSpPr>
          <p:cNvPr id="7" name="Rectangle 6"/>
          <p:cNvSpPr/>
          <p:nvPr/>
        </p:nvSpPr>
        <p:spPr>
          <a:xfrm>
            <a:off x="731520" y="2057400"/>
            <a:ext cx="10744200" cy="420624"/>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2084831"/>
            <a:ext cx="2221991" cy="365760"/>
          </a:xfrm>
          <a:prstGeom prst="rect">
            <a:avLst/>
          </a:prstGeom>
          <a:noFill/>
        </p:spPr>
        <p:txBody>
          <a:bodyPr wrap="square" lIns="0" tIns="0" rIns="0" bIns="0" anchor="ctr"/>
          <a:lstStyle/>
          <a:p>
            <a:pPr algn="l"/>
            <a:r>
              <a:rPr sz="1400" b="1" i="0">
                <a:solidFill>
                  <a:srgbClr val="586B73"/>
                </a:solidFill>
                <a:latin typeface="Arial"/>
                <a:ea typeface="Arial"/>
                <a:cs typeface="Arial"/>
              </a:rPr>
              <a:t>Arm</a:t>
            </a:r>
          </a:p>
        </p:txBody>
      </p:sp>
      <p:sp>
        <p:nvSpPr>
          <p:cNvPr id="9" name="TextBox 8"/>
          <p:cNvSpPr txBox="1"/>
          <p:nvPr/>
        </p:nvSpPr>
        <p:spPr>
          <a:xfrm>
            <a:off x="317296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1</a:t>
            </a:r>
          </a:p>
        </p:txBody>
      </p:sp>
      <p:sp>
        <p:nvSpPr>
          <p:cNvPr id="10" name="TextBox 9"/>
          <p:cNvSpPr txBox="1"/>
          <p:nvPr/>
        </p:nvSpPr>
        <p:spPr>
          <a:xfrm>
            <a:off x="4224527"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2</a:t>
            </a:r>
          </a:p>
        </p:txBody>
      </p:sp>
      <p:sp>
        <p:nvSpPr>
          <p:cNvPr id="11" name="TextBox 10"/>
          <p:cNvSpPr txBox="1"/>
          <p:nvPr/>
        </p:nvSpPr>
        <p:spPr>
          <a:xfrm>
            <a:off x="527608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4</a:t>
            </a:r>
          </a:p>
        </p:txBody>
      </p:sp>
      <p:sp>
        <p:nvSpPr>
          <p:cNvPr id="12" name="TextBox 11"/>
          <p:cNvSpPr txBox="1"/>
          <p:nvPr/>
        </p:nvSpPr>
        <p:spPr>
          <a:xfrm>
            <a:off x="632764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8</a:t>
            </a:r>
          </a:p>
        </p:txBody>
      </p:sp>
      <p:sp>
        <p:nvSpPr>
          <p:cNvPr id="13" name="TextBox 12"/>
          <p:cNvSpPr txBox="1"/>
          <p:nvPr/>
        </p:nvSpPr>
        <p:spPr>
          <a:xfrm>
            <a:off x="737920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16</a:t>
            </a:r>
          </a:p>
        </p:txBody>
      </p:sp>
      <p:sp>
        <p:nvSpPr>
          <p:cNvPr id="14" name="TextBox 13"/>
          <p:cNvSpPr txBox="1"/>
          <p:nvPr/>
        </p:nvSpPr>
        <p:spPr>
          <a:xfrm>
            <a:off x="843076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32</a:t>
            </a:r>
          </a:p>
        </p:txBody>
      </p:sp>
      <p:sp>
        <p:nvSpPr>
          <p:cNvPr id="15" name="TextBox 14"/>
          <p:cNvSpPr txBox="1"/>
          <p:nvPr/>
        </p:nvSpPr>
        <p:spPr>
          <a:xfrm>
            <a:off x="948232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64</a:t>
            </a:r>
          </a:p>
        </p:txBody>
      </p:sp>
      <p:sp>
        <p:nvSpPr>
          <p:cNvPr id="16" name="TextBox 15"/>
          <p:cNvSpPr txBox="1"/>
          <p:nvPr/>
        </p:nvSpPr>
        <p:spPr>
          <a:xfrm>
            <a:off x="10533888" y="2084831"/>
            <a:ext cx="941831" cy="365760"/>
          </a:xfrm>
          <a:prstGeom prst="rect">
            <a:avLst/>
          </a:prstGeom>
          <a:noFill/>
        </p:spPr>
        <p:txBody>
          <a:bodyPr wrap="square" lIns="0" tIns="0" rIns="0" bIns="0" anchor="ctr"/>
          <a:lstStyle/>
          <a:p>
            <a:pPr algn="l"/>
            <a:r>
              <a:rPr sz="1400" b="1" i="0">
                <a:solidFill>
                  <a:srgbClr val="586B73"/>
                </a:solidFill>
                <a:latin typeface="Arial"/>
                <a:ea typeface="Arial"/>
                <a:cs typeface="Arial"/>
              </a:rPr>
              <a:t>c = 128</a:t>
            </a:r>
          </a:p>
        </p:txBody>
      </p:sp>
      <p:sp>
        <p:nvSpPr>
          <p:cNvPr id="17" name="TextBox 16"/>
          <p:cNvSpPr txBox="1"/>
          <p:nvPr/>
        </p:nvSpPr>
        <p:spPr>
          <a:xfrm>
            <a:off x="841248" y="2551176"/>
            <a:ext cx="2221991" cy="731520"/>
          </a:xfrm>
          <a:prstGeom prst="rect">
            <a:avLst/>
          </a:prstGeom>
          <a:noFill/>
        </p:spPr>
        <p:txBody>
          <a:bodyPr wrap="square" lIns="0" tIns="0" rIns="0" bIns="0" anchor="ctr"/>
          <a:lstStyle/>
          <a:p>
            <a:pPr algn="l"/>
            <a:r>
              <a:rPr sz="1600" b="1" i="0">
                <a:solidFill>
                  <a:srgbClr val="1B3A57"/>
                </a:solidFill>
                <a:latin typeface="Arial"/>
                <a:ea typeface="Arial"/>
                <a:cs typeface="Arial"/>
              </a:rPr>
              <a:t>Plain decoding</a:t>
            </a:r>
          </a:p>
        </p:txBody>
      </p:sp>
      <p:sp>
        <p:nvSpPr>
          <p:cNvPr id="18" name="TextBox 17"/>
          <p:cNvSpPr txBox="1"/>
          <p:nvPr/>
        </p:nvSpPr>
        <p:spPr>
          <a:xfrm>
            <a:off x="3172968" y="2551176"/>
            <a:ext cx="960119" cy="731520"/>
          </a:xfrm>
          <a:prstGeom prst="rect">
            <a:avLst/>
          </a:prstGeom>
          <a:noFill/>
        </p:spPr>
        <p:txBody>
          <a:bodyPr wrap="square" lIns="0" tIns="0" rIns="0" bIns="0" anchor="ctr"/>
          <a:lstStyle/>
          <a:p>
            <a:pPr algn="l"/>
            <a:r>
              <a:rPr sz="1600" b="1" i="0">
                <a:solidFill>
                  <a:srgbClr val="1B3A57"/>
                </a:solidFill>
                <a:latin typeface="Arial"/>
                <a:ea typeface="Arial"/>
                <a:cs typeface="Arial"/>
              </a:rPr>
              <a:t>1.025</a:t>
            </a:r>
          </a:p>
          <a:p>
            <a:pPr algn="l"/>
            <a:r>
              <a:rPr sz="1300" b="0" i="1">
                <a:solidFill>
                  <a:srgbClr val="586B73"/>
                </a:solidFill>
                <a:latin typeface="Arial"/>
                <a:ea typeface="Arial"/>
                <a:cs typeface="Arial"/>
              </a:rPr>
              <a:t>1.035</a:t>
            </a:r>
          </a:p>
        </p:txBody>
      </p:sp>
      <p:sp>
        <p:nvSpPr>
          <p:cNvPr id="19" name="TextBox 18"/>
          <p:cNvSpPr txBox="1"/>
          <p:nvPr/>
        </p:nvSpPr>
        <p:spPr>
          <a:xfrm>
            <a:off x="5276088" y="2551176"/>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1.021</a:t>
            </a:r>
          </a:p>
          <a:p>
            <a:pPr algn="l"/>
            <a:r>
              <a:rPr sz="1300" b="0" i="1">
                <a:solidFill>
                  <a:srgbClr val="586B73"/>
                </a:solidFill>
                <a:latin typeface="Arial"/>
                <a:ea typeface="Arial"/>
                <a:cs typeface="Arial"/>
              </a:rPr>
              <a:t>1.031</a:t>
            </a:r>
          </a:p>
        </p:txBody>
      </p:sp>
      <p:sp>
        <p:nvSpPr>
          <p:cNvPr id="20" name="TextBox 19"/>
          <p:cNvSpPr txBox="1"/>
          <p:nvPr/>
        </p:nvSpPr>
        <p:spPr>
          <a:xfrm>
            <a:off x="6327648" y="2551176"/>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1.021</a:t>
            </a:r>
          </a:p>
          <a:p>
            <a:pPr algn="l"/>
            <a:r>
              <a:rPr sz="1300" b="0" i="1">
                <a:solidFill>
                  <a:srgbClr val="586B73"/>
                </a:solidFill>
                <a:latin typeface="Arial"/>
                <a:ea typeface="Arial"/>
                <a:cs typeface="Arial"/>
              </a:rPr>
              <a:t>1.030</a:t>
            </a:r>
          </a:p>
        </p:txBody>
      </p:sp>
      <p:sp>
        <p:nvSpPr>
          <p:cNvPr id="21" name="TextBox 20"/>
          <p:cNvSpPr txBox="1"/>
          <p:nvPr/>
        </p:nvSpPr>
        <p:spPr>
          <a:xfrm>
            <a:off x="7379208" y="2551176"/>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1.020</a:t>
            </a:r>
          </a:p>
          <a:p>
            <a:pPr algn="l"/>
            <a:r>
              <a:rPr sz="1300" b="0" i="1">
                <a:solidFill>
                  <a:srgbClr val="586B73"/>
                </a:solidFill>
                <a:latin typeface="Arial"/>
                <a:ea typeface="Arial"/>
                <a:cs typeface="Arial"/>
              </a:rPr>
              <a:t>1.029</a:t>
            </a:r>
          </a:p>
        </p:txBody>
      </p:sp>
      <p:sp>
        <p:nvSpPr>
          <p:cNvPr id="22" name="TextBox 21"/>
          <p:cNvSpPr txBox="1"/>
          <p:nvPr/>
        </p:nvSpPr>
        <p:spPr>
          <a:xfrm>
            <a:off x="8430768" y="2551176"/>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1.011</a:t>
            </a:r>
          </a:p>
          <a:p>
            <a:pPr algn="l"/>
            <a:r>
              <a:rPr sz="1300" b="0" i="1">
                <a:solidFill>
                  <a:srgbClr val="586B73"/>
                </a:solidFill>
                <a:latin typeface="Arial"/>
                <a:ea typeface="Arial"/>
                <a:cs typeface="Arial"/>
              </a:rPr>
              <a:t>1.016</a:t>
            </a:r>
          </a:p>
        </p:txBody>
      </p:sp>
      <p:sp>
        <p:nvSpPr>
          <p:cNvPr id="23" name="TextBox 22"/>
          <p:cNvSpPr txBox="1"/>
          <p:nvPr/>
        </p:nvSpPr>
        <p:spPr>
          <a:xfrm>
            <a:off x="9482328" y="2551176"/>
            <a:ext cx="960119" cy="731520"/>
          </a:xfrm>
          <a:prstGeom prst="rect">
            <a:avLst/>
          </a:prstGeom>
          <a:noFill/>
        </p:spPr>
        <p:txBody>
          <a:bodyPr wrap="square" lIns="0" tIns="0" rIns="0" bIns="0" anchor="ctr"/>
          <a:lstStyle/>
          <a:p>
            <a:pPr algn="l"/>
            <a:r>
              <a:rPr sz="1600" b="0" i="0">
                <a:solidFill>
                  <a:srgbClr val="586B73"/>
                </a:solidFill>
                <a:latin typeface="Arial"/>
                <a:ea typeface="Arial"/>
                <a:cs typeface="Arial"/>
              </a:rPr>
              <a:t>0.999</a:t>
            </a:r>
          </a:p>
          <a:p>
            <a:pPr algn="l"/>
            <a:r>
              <a:rPr sz="1300" b="0" i="1">
                <a:solidFill>
                  <a:srgbClr val="586B73"/>
                </a:solidFill>
                <a:latin typeface="Arial"/>
                <a:ea typeface="Arial"/>
                <a:cs typeface="Arial"/>
              </a:rPr>
              <a:t>1.005</a:t>
            </a:r>
          </a:p>
        </p:txBody>
      </p:sp>
      <p:sp>
        <p:nvSpPr>
          <p:cNvPr id="24" name="TextBox 23"/>
          <p:cNvSpPr txBox="1"/>
          <p:nvPr/>
        </p:nvSpPr>
        <p:spPr>
          <a:xfrm>
            <a:off x="10533888" y="2551176"/>
            <a:ext cx="960119" cy="731520"/>
          </a:xfrm>
          <a:prstGeom prst="rect">
            <a:avLst/>
          </a:prstGeom>
          <a:noFill/>
        </p:spPr>
        <p:txBody>
          <a:bodyPr wrap="square" lIns="0" tIns="0" rIns="0" bIns="0" anchor="ctr"/>
          <a:lstStyle/>
          <a:p>
            <a:pPr algn="l"/>
            <a:r>
              <a:rPr sz="1600" b="0" i="1">
                <a:solidFill>
                  <a:srgbClr val="D55E00"/>
                </a:solidFill>
                <a:latin typeface="Arial"/>
                <a:ea typeface="Arial"/>
                <a:cs typeface="Arial"/>
              </a:rPr>
              <a:t>0.994</a:t>
            </a:r>
          </a:p>
          <a:p>
            <a:pPr algn="l"/>
            <a:r>
              <a:rPr sz="1300" b="0" i="1">
                <a:solidFill>
                  <a:srgbClr val="586B73"/>
                </a:solidFill>
                <a:latin typeface="Arial"/>
                <a:ea typeface="Arial"/>
                <a:cs typeface="Arial"/>
              </a:rPr>
              <a:t>1.000</a:t>
            </a:r>
          </a:p>
        </p:txBody>
      </p:sp>
      <p:cxnSp>
        <p:nvCxnSpPr>
          <p:cNvPr id="25" name="Connector 24"/>
          <p:cNvCxnSpPr/>
          <p:nvPr/>
        </p:nvCxnSpPr>
        <p:spPr>
          <a:xfrm>
            <a:off x="731520" y="3300984"/>
            <a:ext cx="10744200" cy="0"/>
          </a:xfrm>
          <a:prstGeom prst="line">
            <a:avLst/>
          </a:prstGeom>
          <a:ln w="12700">
            <a:solidFill>
              <a:srgbClr val="D2DCDF"/>
            </a:solidFill>
          </a:ln>
        </p:spPr>
      </p:cxnSp>
      <p:sp>
        <p:nvSpPr>
          <p:cNvPr id="26" name="TextBox 25"/>
          <p:cNvSpPr txBox="1"/>
          <p:nvPr/>
        </p:nvSpPr>
        <p:spPr>
          <a:xfrm>
            <a:off x="841248" y="3337560"/>
            <a:ext cx="2221991" cy="731520"/>
          </a:xfrm>
          <a:prstGeom prst="rect">
            <a:avLst/>
          </a:prstGeom>
          <a:noFill/>
        </p:spPr>
        <p:txBody>
          <a:bodyPr wrap="square" lIns="0" tIns="0" rIns="0" bIns="0" anchor="ctr"/>
          <a:lstStyle/>
          <a:p>
            <a:pPr algn="l"/>
            <a:r>
              <a:rPr sz="1600" b="1" i="0">
                <a:solidFill>
                  <a:srgbClr val="1C6402"/>
                </a:solidFill>
                <a:latin typeface="Arial"/>
                <a:ea typeface="Arial"/>
                <a:cs typeface="Arial"/>
              </a:rPr>
              <a:t>MTP, 3 steps</a:t>
            </a:r>
          </a:p>
        </p:txBody>
      </p:sp>
      <p:sp>
        <p:nvSpPr>
          <p:cNvPr id="27" name="TextBox 26"/>
          <p:cNvSpPr txBox="1"/>
          <p:nvPr/>
        </p:nvSpPr>
        <p:spPr>
          <a:xfrm>
            <a:off x="3172968" y="3337560"/>
            <a:ext cx="960119" cy="731520"/>
          </a:xfrm>
          <a:prstGeom prst="rect">
            <a:avLst/>
          </a:prstGeom>
          <a:noFill/>
        </p:spPr>
        <p:txBody>
          <a:bodyPr wrap="square" lIns="0" tIns="0" rIns="0" bIns="0" anchor="ctr"/>
          <a:lstStyle/>
          <a:p>
            <a:pPr algn="l"/>
            <a:r>
              <a:rPr sz="1600" b="1" i="0">
                <a:solidFill>
                  <a:srgbClr val="1B3A57"/>
                </a:solidFill>
                <a:latin typeface="Arial"/>
                <a:ea typeface="Arial"/>
                <a:cs typeface="Arial"/>
              </a:rPr>
              <a:t>1.046</a:t>
            </a:r>
          </a:p>
          <a:p>
            <a:pPr algn="l"/>
            <a:r>
              <a:rPr sz="1300" b="0" i="1">
                <a:solidFill>
                  <a:srgbClr val="586B73"/>
                </a:solidFill>
                <a:latin typeface="Arial"/>
                <a:ea typeface="Arial"/>
                <a:cs typeface="Arial"/>
              </a:rPr>
              <a:t>1.086</a:t>
            </a:r>
          </a:p>
        </p:txBody>
      </p:sp>
      <p:sp>
        <p:nvSpPr>
          <p:cNvPr id="28" name="TextBox 27"/>
          <p:cNvSpPr txBox="1"/>
          <p:nvPr/>
        </p:nvSpPr>
        <p:spPr>
          <a:xfrm>
            <a:off x="4224527" y="3337560"/>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1.035</a:t>
            </a:r>
          </a:p>
          <a:p>
            <a:pPr algn="l"/>
            <a:r>
              <a:rPr sz="1300" b="0" i="1">
                <a:solidFill>
                  <a:srgbClr val="586B73"/>
                </a:solidFill>
                <a:latin typeface="Arial"/>
                <a:ea typeface="Arial"/>
                <a:cs typeface="Arial"/>
              </a:rPr>
              <a:t>1.077</a:t>
            </a:r>
          </a:p>
        </p:txBody>
      </p:sp>
      <p:sp>
        <p:nvSpPr>
          <p:cNvPr id="29" name="TextBox 28"/>
          <p:cNvSpPr txBox="1"/>
          <p:nvPr/>
        </p:nvSpPr>
        <p:spPr>
          <a:xfrm>
            <a:off x="5276088" y="3337560"/>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1.030</a:t>
            </a:r>
          </a:p>
          <a:p>
            <a:pPr algn="l"/>
            <a:r>
              <a:rPr sz="1300" b="0" i="1">
                <a:solidFill>
                  <a:srgbClr val="586B73"/>
                </a:solidFill>
                <a:latin typeface="Arial"/>
                <a:ea typeface="Arial"/>
                <a:cs typeface="Arial"/>
              </a:rPr>
              <a:t>1.071</a:t>
            </a:r>
          </a:p>
        </p:txBody>
      </p:sp>
      <p:sp>
        <p:nvSpPr>
          <p:cNvPr id="30" name="TextBox 29"/>
          <p:cNvSpPr txBox="1"/>
          <p:nvPr/>
        </p:nvSpPr>
        <p:spPr>
          <a:xfrm>
            <a:off x="6327648" y="3337560"/>
            <a:ext cx="960119" cy="731520"/>
          </a:xfrm>
          <a:prstGeom prst="rect">
            <a:avLst/>
          </a:prstGeom>
          <a:noFill/>
        </p:spPr>
        <p:txBody>
          <a:bodyPr wrap="square" lIns="0" tIns="0" rIns="0" bIns="0" anchor="ctr"/>
          <a:lstStyle/>
          <a:p>
            <a:pPr algn="l"/>
            <a:r>
              <a:rPr sz="1600" b="0" i="0">
                <a:solidFill>
                  <a:srgbClr val="1B3A57"/>
                </a:solidFill>
                <a:latin typeface="Arial"/>
                <a:ea typeface="Arial"/>
                <a:cs typeface="Arial"/>
              </a:rPr>
              <a:t>1.017</a:t>
            </a:r>
          </a:p>
          <a:p>
            <a:pPr algn="l"/>
            <a:r>
              <a:rPr sz="1300" b="0" i="1">
                <a:solidFill>
                  <a:srgbClr val="586B73"/>
                </a:solidFill>
                <a:latin typeface="Arial"/>
                <a:ea typeface="Arial"/>
                <a:cs typeface="Arial"/>
              </a:rPr>
              <a:t>1.057</a:t>
            </a:r>
          </a:p>
        </p:txBody>
      </p:sp>
      <p:sp>
        <p:nvSpPr>
          <p:cNvPr id="31" name="TextBox 30"/>
          <p:cNvSpPr txBox="1"/>
          <p:nvPr/>
        </p:nvSpPr>
        <p:spPr>
          <a:xfrm>
            <a:off x="7379208" y="3337560"/>
            <a:ext cx="960119" cy="731520"/>
          </a:xfrm>
          <a:prstGeom prst="rect">
            <a:avLst/>
          </a:prstGeom>
          <a:noFill/>
        </p:spPr>
        <p:txBody>
          <a:bodyPr wrap="square" lIns="0" tIns="0" rIns="0" bIns="0" anchor="ctr"/>
          <a:lstStyle/>
          <a:p>
            <a:pPr algn="l"/>
            <a:r>
              <a:rPr sz="1600" b="0" i="0">
                <a:solidFill>
                  <a:srgbClr val="586B73"/>
                </a:solidFill>
                <a:latin typeface="Arial"/>
                <a:ea typeface="Arial"/>
                <a:cs typeface="Arial"/>
              </a:rPr>
              <a:t>1.000</a:t>
            </a:r>
          </a:p>
          <a:p>
            <a:pPr algn="l"/>
            <a:r>
              <a:rPr sz="1300" b="0" i="1">
                <a:solidFill>
                  <a:srgbClr val="586B73"/>
                </a:solidFill>
                <a:latin typeface="Arial"/>
                <a:ea typeface="Arial"/>
                <a:cs typeface="Arial"/>
              </a:rPr>
              <a:t>1.041</a:t>
            </a:r>
          </a:p>
        </p:txBody>
      </p:sp>
      <p:sp>
        <p:nvSpPr>
          <p:cNvPr id="32" name="TextBox 31"/>
          <p:cNvSpPr txBox="1"/>
          <p:nvPr/>
        </p:nvSpPr>
        <p:spPr>
          <a:xfrm>
            <a:off x="8430768" y="3337560"/>
            <a:ext cx="960119" cy="731520"/>
          </a:xfrm>
          <a:prstGeom prst="rect">
            <a:avLst/>
          </a:prstGeom>
          <a:noFill/>
        </p:spPr>
        <p:txBody>
          <a:bodyPr wrap="square" lIns="0" tIns="0" rIns="0" bIns="0" anchor="ctr"/>
          <a:lstStyle/>
          <a:p>
            <a:pPr algn="l"/>
            <a:r>
              <a:rPr sz="1600" b="0" i="0">
                <a:solidFill>
                  <a:srgbClr val="586B73"/>
                </a:solidFill>
                <a:latin typeface="Arial"/>
                <a:ea typeface="Arial"/>
                <a:cs typeface="Arial"/>
              </a:rPr>
              <a:t>0.979</a:t>
            </a:r>
          </a:p>
          <a:p>
            <a:pPr algn="l"/>
            <a:r>
              <a:rPr sz="1300" b="0" i="1">
                <a:solidFill>
                  <a:srgbClr val="586B73"/>
                </a:solidFill>
                <a:latin typeface="Arial"/>
                <a:ea typeface="Arial"/>
                <a:cs typeface="Arial"/>
              </a:rPr>
              <a:t>1.017</a:t>
            </a:r>
          </a:p>
        </p:txBody>
      </p:sp>
      <p:sp>
        <p:nvSpPr>
          <p:cNvPr id="33" name="TextBox 32"/>
          <p:cNvSpPr txBox="1"/>
          <p:nvPr/>
        </p:nvSpPr>
        <p:spPr>
          <a:xfrm>
            <a:off x="9482328" y="3337560"/>
            <a:ext cx="960119" cy="731520"/>
          </a:xfrm>
          <a:prstGeom prst="rect">
            <a:avLst/>
          </a:prstGeom>
          <a:noFill/>
        </p:spPr>
        <p:txBody>
          <a:bodyPr wrap="square" lIns="0" tIns="0" rIns="0" bIns="0" anchor="ctr"/>
          <a:lstStyle/>
          <a:p>
            <a:pPr algn="l"/>
            <a:r>
              <a:rPr sz="1600" b="0" i="0">
                <a:solidFill>
                  <a:srgbClr val="D55E00"/>
                </a:solidFill>
                <a:latin typeface="Arial"/>
                <a:ea typeface="Arial"/>
                <a:cs typeface="Arial"/>
              </a:rPr>
              <a:t>0.967</a:t>
            </a:r>
          </a:p>
          <a:p>
            <a:pPr algn="l"/>
            <a:r>
              <a:rPr sz="1300" b="0" i="1">
                <a:solidFill>
                  <a:srgbClr val="586B73"/>
                </a:solidFill>
                <a:latin typeface="Arial"/>
                <a:ea typeface="Arial"/>
                <a:cs typeface="Arial"/>
              </a:rPr>
              <a:t>1.004</a:t>
            </a:r>
          </a:p>
        </p:txBody>
      </p:sp>
      <p:cxnSp>
        <p:nvCxnSpPr>
          <p:cNvPr id="34" name="Connector 33"/>
          <p:cNvCxnSpPr/>
          <p:nvPr/>
        </p:nvCxnSpPr>
        <p:spPr>
          <a:xfrm>
            <a:off x="731520" y="4087368"/>
            <a:ext cx="10744200" cy="0"/>
          </a:xfrm>
          <a:prstGeom prst="line">
            <a:avLst/>
          </a:prstGeom>
          <a:ln w="12700">
            <a:solidFill>
              <a:srgbClr val="D2DCDF"/>
            </a:solidFill>
          </a:ln>
        </p:spPr>
      </p:cxnSp>
      <p:sp>
        <p:nvSpPr>
          <p:cNvPr id="35" name="TextBox 34"/>
          <p:cNvSpPr txBox="1"/>
          <p:nvPr/>
        </p:nvSpPr>
        <p:spPr>
          <a:xfrm>
            <a:off x="841248" y="4123944"/>
            <a:ext cx="2221991" cy="731520"/>
          </a:xfrm>
          <a:prstGeom prst="rect">
            <a:avLst/>
          </a:prstGeom>
          <a:noFill/>
        </p:spPr>
        <p:txBody>
          <a:bodyPr wrap="square" lIns="0" tIns="0" rIns="0" bIns="0" anchor="ctr"/>
          <a:lstStyle/>
          <a:p>
            <a:pPr algn="l"/>
            <a:r>
              <a:rPr sz="1600" b="1" i="0">
                <a:solidFill>
                  <a:srgbClr val="CC79A7"/>
                </a:solidFill>
                <a:latin typeface="Arial"/>
                <a:ea typeface="Arial"/>
                <a:cs typeface="Arial"/>
              </a:rPr>
              <a:t>DFlash, 16-token</a:t>
            </a:r>
          </a:p>
        </p:txBody>
      </p:sp>
      <p:sp>
        <p:nvSpPr>
          <p:cNvPr id="36" name="TextBox 35"/>
          <p:cNvSpPr txBox="1"/>
          <p:nvPr/>
        </p:nvSpPr>
        <p:spPr>
          <a:xfrm>
            <a:off x="3172968" y="4123944"/>
            <a:ext cx="960119" cy="731520"/>
          </a:xfrm>
          <a:prstGeom prst="rect">
            <a:avLst/>
          </a:prstGeom>
          <a:noFill/>
        </p:spPr>
        <p:txBody>
          <a:bodyPr wrap="square" lIns="0" tIns="0" rIns="0" bIns="0" anchor="ctr"/>
          <a:lstStyle/>
          <a:p>
            <a:pPr algn="l"/>
            <a:r>
              <a:rPr sz="1600" b="1" i="0">
                <a:solidFill>
                  <a:srgbClr val="1B3A57"/>
                </a:solidFill>
                <a:latin typeface="Arial"/>
                <a:ea typeface="Arial"/>
                <a:cs typeface="Arial"/>
              </a:rPr>
              <a:t>1.013</a:t>
            </a:r>
          </a:p>
          <a:p>
            <a:pPr algn="l"/>
            <a:r>
              <a:rPr sz="1300" b="0" i="1">
                <a:solidFill>
                  <a:srgbClr val="586B73"/>
                </a:solidFill>
                <a:latin typeface="Arial"/>
                <a:ea typeface="Arial"/>
                <a:cs typeface="Arial"/>
              </a:rPr>
              <a:t>1.045</a:t>
            </a:r>
          </a:p>
        </p:txBody>
      </p:sp>
      <p:sp>
        <p:nvSpPr>
          <p:cNvPr id="37" name="TextBox 36"/>
          <p:cNvSpPr txBox="1"/>
          <p:nvPr/>
        </p:nvSpPr>
        <p:spPr>
          <a:xfrm>
            <a:off x="4224527" y="4123944"/>
            <a:ext cx="960119" cy="731520"/>
          </a:xfrm>
          <a:prstGeom prst="rect">
            <a:avLst/>
          </a:prstGeom>
          <a:noFill/>
        </p:spPr>
        <p:txBody>
          <a:bodyPr wrap="square" lIns="0" tIns="0" rIns="0" bIns="0" anchor="ctr"/>
          <a:lstStyle/>
          <a:p>
            <a:pPr algn="l"/>
            <a:r>
              <a:rPr sz="1600" b="0" i="0">
                <a:solidFill>
                  <a:srgbClr val="D55E00"/>
                </a:solidFill>
                <a:latin typeface="Arial"/>
                <a:ea typeface="Arial"/>
                <a:cs typeface="Arial"/>
              </a:rPr>
              <a:t>0.990</a:t>
            </a:r>
          </a:p>
          <a:p>
            <a:pPr algn="l"/>
            <a:r>
              <a:rPr sz="1300" b="0" i="1">
                <a:solidFill>
                  <a:srgbClr val="586B73"/>
                </a:solidFill>
                <a:latin typeface="Arial"/>
                <a:ea typeface="Arial"/>
                <a:cs typeface="Arial"/>
              </a:rPr>
              <a:t>1.026</a:t>
            </a:r>
          </a:p>
        </p:txBody>
      </p:sp>
      <p:sp>
        <p:nvSpPr>
          <p:cNvPr id="38" name="TextBox 37"/>
          <p:cNvSpPr txBox="1"/>
          <p:nvPr/>
        </p:nvSpPr>
        <p:spPr>
          <a:xfrm>
            <a:off x="5276088" y="4123944"/>
            <a:ext cx="960119" cy="731520"/>
          </a:xfrm>
          <a:prstGeom prst="rect">
            <a:avLst/>
          </a:prstGeom>
          <a:noFill/>
        </p:spPr>
        <p:txBody>
          <a:bodyPr wrap="square" lIns="0" tIns="0" rIns="0" bIns="0" anchor="ctr"/>
          <a:lstStyle/>
          <a:p>
            <a:pPr algn="l"/>
            <a:r>
              <a:rPr sz="1600" b="0" i="0">
                <a:solidFill>
                  <a:srgbClr val="D55E00"/>
                </a:solidFill>
                <a:latin typeface="Arial"/>
                <a:ea typeface="Arial"/>
                <a:cs typeface="Arial"/>
              </a:rPr>
              <a:t>0.970</a:t>
            </a:r>
          </a:p>
          <a:p>
            <a:pPr algn="l"/>
            <a:r>
              <a:rPr sz="1300" b="0" i="1">
                <a:solidFill>
                  <a:srgbClr val="586B73"/>
                </a:solidFill>
                <a:latin typeface="Arial"/>
                <a:ea typeface="Arial"/>
                <a:cs typeface="Arial"/>
              </a:rPr>
              <a:t>1.009</a:t>
            </a:r>
          </a:p>
        </p:txBody>
      </p:sp>
      <p:sp>
        <p:nvSpPr>
          <p:cNvPr id="39" name="TextBox 38"/>
          <p:cNvSpPr txBox="1"/>
          <p:nvPr/>
        </p:nvSpPr>
        <p:spPr>
          <a:xfrm>
            <a:off x="6327648" y="4123944"/>
            <a:ext cx="960119" cy="731520"/>
          </a:xfrm>
          <a:prstGeom prst="rect">
            <a:avLst/>
          </a:prstGeom>
          <a:noFill/>
        </p:spPr>
        <p:txBody>
          <a:bodyPr wrap="square" lIns="0" tIns="0" rIns="0" bIns="0" anchor="ctr"/>
          <a:lstStyle/>
          <a:p>
            <a:pPr algn="l"/>
            <a:r>
              <a:rPr sz="1600" b="0" i="1">
                <a:solidFill>
                  <a:srgbClr val="D55E00"/>
                </a:solidFill>
                <a:latin typeface="Arial"/>
                <a:ea typeface="Arial"/>
                <a:cs typeface="Arial"/>
              </a:rPr>
              <a:t>0.988</a:t>
            </a:r>
          </a:p>
          <a:p>
            <a:pPr algn="l"/>
            <a:r>
              <a:rPr sz="1300" b="0" i="1">
                <a:solidFill>
                  <a:srgbClr val="586B73"/>
                </a:solidFill>
                <a:latin typeface="Arial"/>
                <a:ea typeface="Arial"/>
                <a:cs typeface="Arial"/>
              </a:rPr>
              <a:t>1.000</a:t>
            </a:r>
          </a:p>
        </p:txBody>
      </p:sp>
      <p:cxnSp>
        <p:nvCxnSpPr>
          <p:cNvPr id="40" name="Connector 39"/>
          <p:cNvCxnSpPr/>
          <p:nvPr/>
        </p:nvCxnSpPr>
        <p:spPr>
          <a:xfrm>
            <a:off x="731520" y="4873752"/>
            <a:ext cx="10744200" cy="0"/>
          </a:xfrm>
          <a:prstGeom prst="line">
            <a:avLst/>
          </a:prstGeom>
          <a:ln w="12700">
            <a:solidFill>
              <a:srgbClr val="D2DCDF"/>
            </a:solidFill>
          </a:ln>
        </p:spPr>
      </p:cxnSp>
      <p:sp>
        <p:nvSpPr>
          <p:cNvPr id="41" name="TextBox 40"/>
          <p:cNvSpPr txBox="1"/>
          <p:nvPr/>
        </p:nvSpPr>
        <p:spPr>
          <a:xfrm>
            <a:off x="841248" y="4910328"/>
            <a:ext cx="2221991" cy="731520"/>
          </a:xfrm>
          <a:prstGeom prst="rect">
            <a:avLst/>
          </a:prstGeom>
          <a:noFill/>
        </p:spPr>
        <p:txBody>
          <a:bodyPr wrap="square" lIns="0" tIns="0" rIns="0" bIns="0" anchor="ctr"/>
          <a:lstStyle/>
          <a:p>
            <a:pPr algn="l"/>
            <a:r>
              <a:rPr sz="1600" b="1" i="0">
                <a:solidFill>
                  <a:srgbClr val="6F1FA7"/>
                </a:solidFill>
                <a:latin typeface="Arial"/>
                <a:ea typeface="Arial"/>
                <a:cs typeface="Arial"/>
              </a:rPr>
              <a:t>DFlash, 8-token</a:t>
            </a:r>
          </a:p>
        </p:txBody>
      </p:sp>
      <p:sp>
        <p:nvSpPr>
          <p:cNvPr id="42" name="TextBox 41"/>
          <p:cNvSpPr txBox="1"/>
          <p:nvPr/>
        </p:nvSpPr>
        <p:spPr>
          <a:xfrm>
            <a:off x="5276088" y="4910328"/>
            <a:ext cx="960119" cy="731520"/>
          </a:xfrm>
          <a:prstGeom prst="rect">
            <a:avLst/>
          </a:prstGeom>
          <a:noFill/>
        </p:spPr>
        <p:txBody>
          <a:bodyPr wrap="square" lIns="0" tIns="0" rIns="0" bIns="0" anchor="ctr"/>
          <a:lstStyle/>
          <a:p>
            <a:pPr algn="l"/>
            <a:r>
              <a:rPr sz="1600" b="1" i="0">
                <a:solidFill>
                  <a:srgbClr val="D55E00"/>
                </a:solidFill>
                <a:latin typeface="Arial"/>
                <a:ea typeface="Arial"/>
                <a:cs typeface="Arial"/>
              </a:rPr>
              <a:t>0.988</a:t>
            </a:r>
          </a:p>
          <a:p>
            <a:pPr algn="l"/>
            <a:r>
              <a:rPr sz="1300" b="0" i="1">
                <a:solidFill>
                  <a:srgbClr val="586B73"/>
                </a:solidFill>
                <a:latin typeface="Arial"/>
                <a:ea typeface="Arial"/>
                <a:cs typeface="Arial"/>
              </a:rPr>
              <a:t>1.024</a:t>
            </a:r>
          </a:p>
        </p:txBody>
      </p:sp>
      <p:sp>
        <p:nvSpPr>
          <p:cNvPr id="43" name="TextBox 42"/>
          <p:cNvSpPr txBox="1"/>
          <p:nvPr/>
        </p:nvSpPr>
        <p:spPr>
          <a:xfrm>
            <a:off x="6327648" y="4910328"/>
            <a:ext cx="960119" cy="731520"/>
          </a:xfrm>
          <a:prstGeom prst="rect">
            <a:avLst/>
          </a:prstGeom>
          <a:noFill/>
        </p:spPr>
        <p:txBody>
          <a:bodyPr wrap="square" lIns="0" tIns="0" rIns="0" bIns="0" anchor="ctr"/>
          <a:lstStyle/>
          <a:p>
            <a:pPr algn="l"/>
            <a:r>
              <a:rPr sz="1600" b="0" i="0">
                <a:solidFill>
                  <a:srgbClr val="D55E00"/>
                </a:solidFill>
                <a:latin typeface="Arial"/>
                <a:ea typeface="Arial"/>
                <a:cs typeface="Arial"/>
              </a:rPr>
              <a:t>0.975</a:t>
            </a:r>
          </a:p>
          <a:p>
            <a:pPr algn="l"/>
            <a:r>
              <a:rPr sz="1300" b="0" i="1">
                <a:solidFill>
                  <a:srgbClr val="586B73"/>
                </a:solidFill>
                <a:latin typeface="Arial"/>
                <a:ea typeface="Arial"/>
                <a:cs typeface="Arial"/>
              </a:rPr>
              <a:t>1.008</a:t>
            </a:r>
          </a:p>
        </p:txBody>
      </p:sp>
      <p:sp>
        <p:nvSpPr>
          <p:cNvPr id="44" name="TextBox 43"/>
          <p:cNvSpPr txBox="1"/>
          <p:nvPr/>
        </p:nvSpPr>
        <p:spPr>
          <a:xfrm>
            <a:off x="7379208" y="4910328"/>
            <a:ext cx="960119" cy="731520"/>
          </a:xfrm>
          <a:prstGeom prst="rect">
            <a:avLst/>
          </a:prstGeom>
          <a:noFill/>
        </p:spPr>
        <p:txBody>
          <a:bodyPr wrap="square" lIns="0" tIns="0" rIns="0" bIns="0" anchor="ctr"/>
          <a:lstStyle/>
          <a:p>
            <a:pPr algn="l"/>
            <a:r>
              <a:rPr sz="1600" b="0" i="1">
                <a:solidFill>
                  <a:srgbClr val="586B73"/>
                </a:solidFill>
                <a:latin typeface="Arial"/>
                <a:ea typeface="Arial"/>
                <a:cs typeface="Arial"/>
              </a:rPr>
              <a:t>0.988</a:t>
            </a:r>
          </a:p>
          <a:p>
            <a:pPr algn="l"/>
            <a:r>
              <a:rPr sz="1300" b="0" i="1">
                <a:solidFill>
                  <a:srgbClr val="586B73"/>
                </a:solidFill>
                <a:latin typeface="Arial"/>
                <a:ea typeface="Arial"/>
                <a:cs typeface="Arial"/>
              </a:rPr>
              <a:t>1.000</a:t>
            </a:r>
          </a:p>
        </p:txBody>
      </p:sp>
      <p:sp>
        <p:nvSpPr>
          <p:cNvPr id="45" name="TextBox 44"/>
          <p:cNvSpPr txBox="1"/>
          <p:nvPr/>
        </p:nvSpPr>
        <p:spPr>
          <a:xfrm>
            <a:off x="8430768" y="4910328"/>
            <a:ext cx="960119" cy="731520"/>
          </a:xfrm>
          <a:prstGeom prst="rect">
            <a:avLst/>
          </a:prstGeom>
          <a:noFill/>
        </p:spPr>
        <p:txBody>
          <a:bodyPr wrap="square" lIns="0" tIns="0" rIns="0" bIns="0" anchor="ctr"/>
          <a:lstStyle/>
          <a:p>
            <a:pPr algn="l"/>
            <a:r>
              <a:rPr sz="1600" b="0" i="1">
                <a:solidFill>
                  <a:srgbClr val="586B73"/>
                </a:solidFill>
                <a:latin typeface="Arial"/>
                <a:ea typeface="Arial"/>
                <a:cs typeface="Arial"/>
              </a:rPr>
              <a:t>0.994</a:t>
            </a:r>
          </a:p>
          <a:p>
            <a:pPr algn="l"/>
            <a:r>
              <a:rPr sz="1300" b="0" i="1">
                <a:solidFill>
                  <a:srgbClr val="586B73"/>
                </a:solidFill>
                <a:latin typeface="Arial"/>
                <a:ea typeface="Arial"/>
                <a:cs typeface="Arial"/>
              </a:rPr>
              <a:t>1.000</a:t>
            </a:r>
          </a:p>
        </p:txBody>
      </p:sp>
      <p:cxnSp>
        <p:nvCxnSpPr>
          <p:cNvPr id="46" name="Connector 45"/>
          <p:cNvCxnSpPr/>
          <p:nvPr/>
        </p:nvCxnSpPr>
        <p:spPr>
          <a:xfrm>
            <a:off x="731520" y="5660136"/>
            <a:ext cx="10744200" cy="0"/>
          </a:xfrm>
          <a:prstGeom prst="line">
            <a:avLst/>
          </a:prstGeom>
          <a:ln w="12700">
            <a:solidFill>
              <a:srgbClr val="D2DCDF"/>
            </a:solidFill>
          </a:ln>
        </p:spPr>
      </p:cxnSp>
      <p:sp>
        <p:nvSpPr>
          <p:cNvPr id="47" name="TextBox 46"/>
          <p:cNvSpPr txBox="1"/>
          <p:nvPr/>
        </p:nvSpPr>
        <p:spPr>
          <a:xfrm>
            <a:off x="731520" y="5843016"/>
            <a:ext cx="10744200" cy="640080"/>
          </a:xfrm>
          <a:prstGeom prst="rect">
            <a:avLst/>
          </a:prstGeom>
          <a:noFill/>
        </p:spPr>
        <p:txBody>
          <a:bodyPr wrap="square" lIns="0" tIns="0" rIns="0" bIns="0" anchor="t"/>
          <a:lstStyle/>
          <a:p>
            <a:pPr algn="l"/>
            <a:r>
              <a:rPr sz="1600" b="0" i="0">
                <a:solidFill>
                  <a:srgbClr val="1B3A57"/>
                </a:solidFill>
                <a:latin typeface="Arial"/>
                <a:ea typeface="Arial"/>
                <a:cs typeface="Arial"/>
              </a:rPr>
              <a:t>The predictions assumed plain decoding’s fallback rate on every path; drafted positions fall back more.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Both declared approximations miss the quality budget</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§6 (declared approximations) · evidence/lossy (ratios.csv, decisions.json, gemm_w4a16.json, README) · three sessions · budget set before measuring</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B22</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Budget: GSM8K within 1.0 point; logit probe top-1 ≥ 0.98, KL ≤ 0.01</a:t>
            </a:r>
          </a:p>
        </p:txBody>
      </p:sp>
      <p:sp>
        <p:nvSpPr>
          <p:cNvPr id="7" name="Rectangle 6"/>
          <p:cNvSpPr/>
          <p:nvPr/>
        </p:nvSpPr>
        <p:spPr>
          <a:xfrm>
            <a:off x="731520" y="2148840"/>
            <a:ext cx="10744200" cy="457200"/>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2176272"/>
            <a:ext cx="2606040" cy="402336"/>
          </a:xfrm>
          <a:prstGeom prst="rect">
            <a:avLst/>
          </a:prstGeom>
          <a:noFill/>
        </p:spPr>
        <p:txBody>
          <a:bodyPr wrap="square" lIns="0" tIns="0" rIns="0" bIns="0" anchor="ctr"/>
          <a:lstStyle/>
          <a:p>
            <a:pPr algn="l"/>
            <a:r>
              <a:rPr sz="1500" b="1" i="0">
                <a:solidFill>
                  <a:srgbClr val="586B73"/>
                </a:solidFill>
                <a:latin typeface="Arial"/>
                <a:ea typeface="Arial"/>
                <a:cs typeface="Arial"/>
              </a:rPr>
              <a:t>Approximation</a:t>
            </a:r>
          </a:p>
        </p:txBody>
      </p:sp>
      <p:sp>
        <p:nvSpPr>
          <p:cNvPr id="9" name="TextBox 8"/>
          <p:cNvSpPr txBox="1"/>
          <p:nvPr/>
        </p:nvSpPr>
        <p:spPr>
          <a:xfrm>
            <a:off x="3584448" y="2176272"/>
            <a:ext cx="3108960" cy="402336"/>
          </a:xfrm>
          <a:prstGeom prst="rect">
            <a:avLst/>
          </a:prstGeom>
          <a:noFill/>
        </p:spPr>
        <p:txBody>
          <a:bodyPr wrap="square" lIns="0" tIns="0" rIns="0" bIns="0" anchor="ctr"/>
          <a:lstStyle/>
          <a:p>
            <a:pPr algn="l"/>
            <a:r>
              <a:rPr sz="1500" b="1" i="0">
                <a:solidFill>
                  <a:srgbClr val="586B73"/>
                </a:solidFill>
                <a:latin typeface="Arial"/>
                <a:ea typeface="Arial"/>
                <a:cs typeface="Arial"/>
              </a:rPr>
              <a:t>Throughput vs best non-lossy</a:t>
            </a:r>
          </a:p>
        </p:txBody>
      </p:sp>
      <p:sp>
        <p:nvSpPr>
          <p:cNvPr id="10" name="TextBox 9"/>
          <p:cNvSpPr txBox="1"/>
          <p:nvPr/>
        </p:nvSpPr>
        <p:spPr>
          <a:xfrm>
            <a:off x="6830568" y="2176272"/>
            <a:ext cx="3246120" cy="402336"/>
          </a:xfrm>
          <a:prstGeom prst="rect">
            <a:avLst/>
          </a:prstGeom>
          <a:noFill/>
        </p:spPr>
        <p:txBody>
          <a:bodyPr wrap="square" lIns="0" tIns="0" rIns="0" bIns="0" anchor="ctr"/>
          <a:lstStyle/>
          <a:p>
            <a:pPr algn="l"/>
            <a:r>
              <a:rPr sz="1500" b="1" i="0">
                <a:solidFill>
                  <a:srgbClr val="586B73"/>
                </a:solidFill>
                <a:latin typeface="Arial"/>
                <a:ea typeface="Arial"/>
                <a:cs typeface="Arial"/>
              </a:rPr>
              <a:t>Quality</a:t>
            </a:r>
          </a:p>
        </p:txBody>
      </p:sp>
      <p:sp>
        <p:nvSpPr>
          <p:cNvPr id="11" name="TextBox 10"/>
          <p:cNvSpPr txBox="1"/>
          <p:nvPr/>
        </p:nvSpPr>
        <p:spPr>
          <a:xfrm>
            <a:off x="10213848" y="2176272"/>
            <a:ext cx="1234440" cy="402336"/>
          </a:xfrm>
          <a:prstGeom prst="rect">
            <a:avLst/>
          </a:prstGeom>
          <a:noFill/>
        </p:spPr>
        <p:txBody>
          <a:bodyPr wrap="square" lIns="0" tIns="0" rIns="0" bIns="0" anchor="ctr"/>
          <a:lstStyle/>
          <a:p>
            <a:pPr algn="l"/>
            <a:r>
              <a:rPr sz="1500" b="1" i="0">
                <a:solidFill>
                  <a:srgbClr val="586B73"/>
                </a:solidFill>
                <a:latin typeface="Arial"/>
                <a:ea typeface="Arial"/>
                <a:cs typeface="Arial"/>
              </a:rPr>
              <a:t>In budget</a:t>
            </a:r>
          </a:p>
        </p:txBody>
      </p:sp>
      <p:sp>
        <p:nvSpPr>
          <p:cNvPr id="12" name="TextBox 11"/>
          <p:cNvSpPr txBox="1"/>
          <p:nvPr/>
        </p:nvSpPr>
        <p:spPr>
          <a:xfrm>
            <a:off x="841248" y="2670048"/>
            <a:ext cx="2606040" cy="676656"/>
          </a:xfrm>
          <a:prstGeom prst="rect">
            <a:avLst/>
          </a:prstGeom>
          <a:noFill/>
        </p:spPr>
        <p:txBody>
          <a:bodyPr wrap="square" lIns="0" tIns="0" rIns="0" bIns="0" anchor="ctr"/>
          <a:lstStyle/>
          <a:p>
            <a:pPr algn="l"/>
            <a:r>
              <a:rPr sz="1700" b="1" i="0">
                <a:solidFill>
                  <a:srgbClr val="1B3A57"/>
                </a:solidFill>
                <a:latin typeface="Arial"/>
                <a:ea typeface="Arial"/>
                <a:cs typeface="Arial"/>
              </a:rPr>
              <a:t>FP16 recurrent state</a:t>
            </a:r>
          </a:p>
        </p:txBody>
      </p:sp>
      <p:sp>
        <p:nvSpPr>
          <p:cNvPr id="13" name="TextBox 12"/>
          <p:cNvSpPr txBox="1"/>
          <p:nvPr/>
        </p:nvSpPr>
        <p:spPr>
          <a:xfrm>
            <a:off x="3584448" y="2670048"/>
            <a:ext cx="3108960" cy="676656"/>
          </a:xfrm>
          <a:prstGeom prst="rect">
            <a:avLst/>
          </a:prstGeom>
          <a:noFill/>
        </p:spPr>
        <p:txBody>
          <a:bodyPr wrap="square" lIns="0" tIns="0" rIns="0" bIns="0" anchor="ctr"/>
          <a:lstStyle/>
          <a:p>
            <a:pPr algn="l"/>
            <a:r>
              <a:rPr sz="1700" b="0" i="0">
                <a:solidFill>
                  <a:srgbClr val="1B3A57"/>
                </a:solidFill>
                <a:latin typeface="Arial"/>
                <a:ea typeface="Arial"/>
                <a:cs typeface="Arial"/>
              </a:rPr>
              <a:t>1.16–1.17× at c = 64–256</a:t>
            </a:r>
          </a:p>
        </p:txBody>
      </p:sp>
      <p:sp>
        <p:nvSpPr>
          <p:cNvPr id="14" name="TextBox 13"/>
          <p:cNvSpPr txBox="1"/>
          <p:nvPr/>
        </p:nvSpPr>
        <p:spPr>
          <a:xfrm>
            <a:off x="6830568" y="2670048"/>
            <a:ext cx="3246120" cy="676656"/>
          </a:xfrm>
          <a:prstGeom prst="rect">
            <a:avLst/>
          </a:prstGeom>
          <a:noFill/>
        </p:spPr>
        <p:txBody>
          <a:bodyPr wrap="square" lIns="0" tIns="0" rIns="0" bIns="0" anchor="ctr"/>
          <a:lstStyle/>
          <a:p>
            <a:pPr algn="l"/>
            <a:r>
              <a:rPr sz="1700" b="0" i="0">
                <a:solidFill>
                  <a:srgbClr val="1B3A57"/>
                </a:solidFill>
                <a:latin typeface="Arial"/>
                <a:ea typeface="Arial"/>
                <a:cs typeface="Arial"/>
              </a:rPr>
              <a:t>GSM8K −1.0 to −1.4 points</a:t>
            </a:r>
          </a:p>
        </p:txBody>
      </p:sp>
      <p:sp>
        <p:nvSpPr>
          <p:cNvPr id="15" name="TextBox 14"/>
          <p:cNvSpPr txBox="1"/>
          <p:nvPr/>
        </p:nvSpPr>
        <p:spPr>
          <a:xfrm>
            <a:off x="10213848" y="2670048"/>
            <a:ext cx="1234440" cy="676656"/>
          </a:xfrm>
          <a:prstGeom prst="rect">
            <a:avLst/>
          </a:prstGeom>
          <a:noFill/>
        </p:spPr>
        <p:txBody>
          <a:bodyPr wrap="square" lIns="0" tIns="0" rIns="0" bIns="0" anchor="ctr"/>
          <a:lstStyle/>
          <a:p>
            <a:pPr algn="l"/>
            <a:r>
              <a:rPr sz="1700" b="0" i="0">
                <a:solidFill>
                  <a:srgbClr val="D55E00"/>
                </a:solidFill>
                <a:latin typeface="Arial"/>
                <a:ea typeface="Arial"/>
                <a:cs typeface="Arial"/>
              </a:rPr>
              <a:t>No</a:t>
            </a:r>
          </a:p>
        </p:txBody>
      </p:sp>
      <p:cxnSp>
        <p:nvCxnSpPr>
          <p:cNvPr id="16" name="Connector 15"/>
          <p:cNvCxnSpPr/>
          <p:nvPr/>
        </p:nvCxnSpPr>
        <p:spPr>
          <a:xfrm>
            <a:off x="731520" y="3374136"/>
            <a:ext cx="10744200" cy="0"/>
          </a:xfrm>
          <a:prstGeom prst="line">
            <a:avLst/>
          </a:prstGeom>
          <a:ln w="12700">
            <a:solidFill>
              <a:srgbClr val="D2DCDF"/>
            </a:solidFill>
          </a:ln>
        </p:spPr>
      </p:cxnSp>
      <p:sp>
        <p:nvSpPr>
          <p:cNvPr id="17" name="TextBox 16"/>
          <p:cNvSpPr txBox="1"/>
          <p:nvPr/>
        </p:nvSpPr>
        <p:spPr>
          <a:xfrm>
            <a:off x="841248" y="3401568"/>
            <a:ext cx="2606040" cy="676656"/>
          </a:xfrm>
          <a:prstGeom prst="rect">
            <a:avLst/>
          </a:prstGeom>
          <a:noFill/>
        </p:spPr>
        <p:txBody>
          <a:bodyPr wrap="square" lIns="0" tIns="0" rIns="0" bIns="0" anchor="ctr"/>
          <a:lstStyle/>
          <a:p>
            <a:pPr algn="l"/>
            <a:r>
              <a:rPr sz="1700" b="1" i="0">
                <a:solidFill>
                  <a:srgbClr val="1B3A57"/>
                </a:solidFill>
                <a:latin typeface="Arial"/>
                <a:ea typeface="Arial"/>
                <a:cs typeface="Arial"/>
              </a:rPr>
              <a:t>Int4 target and drafter</a:t>
            </a:r>
          </a:p>
        </p:txBody>
      </p:sp>
      <p:sp>
        <p:nvSpPr>
          <p:cNvPr id="18" name="TextBox 17"/>
          <p:cNvSpPr txBox="1"/>
          <p:nvPr/>
        </p:nvSpPr>
        <p:spPr>
          <a:xfrm>
            <a:off x="3584448" y="3401568"/>
            <a:ext cx="3108960" cy="676656"/>
          </a:xfrm>
          <a:prstGeom prst="rect">
            <a:avLst/>
          </a:prstGeom>
          <a:noFill/>
        </p:spPr>
        <p:txBody>
          <a:bodyPr wrap="square" lIns="0" tIns="0" rIns="0" bIns="0" anchor="ctr"/>
          <a:lstStyle/>
          <a:p>
            <a:pPr algn="l"/>
            <a:r>
              <a:rPr sz="1700" b="0" i="0">
                <a:solidFill>
                  <a:srgbClr val="D55E00"/>
                </a:solidFill>
                <a:latin typeface="Arial"/>
                <a:ea typeface="Arial"/>
                <a:cs typeface="Arial"/>
              </a:rPr>
              <a:t>0.715–0.870× above c = 1</a:t>
            </a:r>
          </a:p>
        </p:txBody>
      </p:sp>
      <p:sp>
        <p:nvSpPr>
          <p:cNvPr id="19" name="TextBox 18"/>
          <p:cNvSpPr txBox="1"/>
          <p:nvPr/>
        </p:nvSpPr>
        <p:spPr>
          <a:xfrm>
            <a:off x="6830568" y="3401568"/>
            <a:ext cx="3246120" cy="676656"/>
          </a:xfrm>
          <a:prstGeom prst="rect">
            <a:avLst/>
          </a:prstGeom>
          <a:noFill/>
        </p:spPr>
        <p:txBody>
          <a:bodyPr wrap="square" lIns="0" tIns="0" rIns="0" bIns="0" anchor="ctr"/>
          <a:lstStyle/>
          <a:p>
            <a:pPr algn="l"/>
            <a:r>
              <a:rPr sz="1700" b="0" i="0">
                <a:solidFill>
                  <a:srgbClr val="1B3A57"/>
                </a:solidFill>
                <a:latin typeface="Arial"/>
                <a:ea typeface="Arial"/>
                <a:cs typeface="Arial"/>
              </a:rPr>
              <a:t>probe fails: top-1 0.969–0.975</a:t>
            </a:r>
          </a:p>
        </p:txBody>
      </p:sp>
      <p:sp>
        <p:nvSpPr>
          <p:cNvPr id="20" name="TextBox 19"/>
          <p:cNvSpPr txBox="1"/>
          <p:nvPr/>
        </p:nvSpPr>
        <p:spPr>
          <a:xfrm>
            <a:off x="10213848" y="3401568"/>
            <a:ext cx="1234440" cy="676656"/>
          </a:xfrm>
          <a:prstGeom prst="rect">
            <a:avLst/>
          </a:prstGeom>
          <a:noFill/>
        </p:spPr>
        <p:txBody>
          <a:bodyPr wrap="square" lIns="0" tIns="0" rIns="0" bIns="0" anchor="ctr"/>
          <a:lstStyle/>
          <a:p>
            <a:pPr algn="l"/>
            <a:r>
              <a:rPr sz="1700" b="0" i="0">
                <a:solidFill>
                  <a:srgbClr val="D55E00"/>
                </a:solidFill>
                <a:latin typeface="Arial"/>
                <a:ea typeface="Arial"/>
                <a:cs typeface="Arial"/>
              </a:rPr>
              <a:t>No</a:t>
            </a:r>
          </a:p>
        </p:txBody>
      </p:sp>
      <p:cxnSp>
        <p:nvCxnSpPr>
          <p:cNvPr id="21" name="Connector 20"/>
          <p:cNvCxnSpPr/>
          <p:nvPr/>
        </p:nvCxnSpPr>
        <p:spPr>
          <a:xfrm>
            <a:off x="731520" y="4105656"/>
            <a:ext cx="10744200" cy="0"/>
          </a:xfrm>
          <a:prstGeom prst="line">
            <a:avLst/>
          </a:prstGeom>
          <a:ln w="12700">
            <a:solidFill>
              <a:srgbClr val="D2DCDF"/>
            </a:solidFill>
          </a:ln>
        </p:spPr>
      </p:cxnSp>
      <p:sp>
        <p:nvSpPr>
          <p:cNvPr id="22" name="TextBox 21"/>
          <p:cNvSpPr txBox="1"/>
          <p:nvPr/>
        </p:nvSpPr>
        <p:spPr>
          <a:xfrm>
            <a:off x="731520" y="4297680"/>
            <a:ext cx="10744200" cy="1645920"/>
          </a:xfrm>
          <a:prstGeom prst="rect">
            <a:avLst/>
          </a:prstGeom>
          <a:noFill/>
        </p:spPr>
        <p:txBody>
          <a:bodyPr wrap="square" lIns="0" tIns="0" rIns="0" bIns="0" anchor="t"/>
          <a:lstStyle/>
          <a:p>
            <a:pPr algn="l"/>
            <a:r>
              <a:rPr sz="1600" b="0" i="0">
                <a:solidFill>
                  <a:srgbClr val="1B3A57"/>
                </a:solidFill>
                <a:latin typeface="Arial"/>
                <a:ea typeface="Arial"/>
                <a:cs typeface="Arial"/>
              </a:rPr>
              <a:t>FP16 state halves the recurrent state; its GSM8K loss is within the exact arms’ own spread (−1.36 to +1.06), which this check cannot resolve.</a:t>
            </a:r>
          </a:p>
          <a:p>
            <a:pPr algn="l">
              <a:spcBef>
                <a:spcPts val="800"/>
              </a:spcBef>
            </a:pPr>
            <a:r>
              <a:rPr sz="1600" b="0" i="0">
                <a:solidFill>
                  <a:srgbClr val="1B3A57"/>
                </a:solidFill>
                <a:latin typeface="Arial"/>
                <a:ea typeface="Arial"/>
                <a:cs typeface="Arial"/>
              </a:rPr>
              <a:t>Int4: the W4A16 GEMM is slower than BF16 from 32 rows per call, and the int4 drafter accepts fewer tokens.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The first composition fell below its declared range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Appendix E.4 · evidence/stack (ratios.csv, README) · three sessions, session-paired · per-request rate · ink: speedup, vermilion: slowdown, grey: no detectable change</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B23</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Against tuned 16-token DFlash: ratio and 95% interval</a:t>
            </a:r>
          </a:p>
        </p:txBody>
      </p:sp>
      <p:sp>
        <p:nvSpPr>
          <p:cNvPr id="7" name="Rectangle 6"/>
          <p:cNvSpPr/>
          <p:nvPr/>
        </p:nvSpPr>
        <p:spPr>
          <a:xfrm>
            <a:off x="731520" y="1965960"/>
            <a:ext cx="10744200" cy="457200"/>
          </a:xfrm>
          <a:prstGeom prst="rect">
            <a:avLst/>
          </a:prstGeom>
          <a:solidFill>
            <a:srgbClr val="F1F5F5"/>
          </a:solidFill>
          <a:ln w="12700">
            <a:solidFill>
              <a:srgbClr val="F1F5F5"/>
            </a:solidFill>
          </a:ln>
        </p:spPr>
        <p:txBody>
          <a:bodyPr rtlCol="0" anchor="ctr"/>
          <a:lstStyle/>
          <a:p>
            <a:pPr algn="ctr"/>
          </a:p>
        </p:txBody>
      </p:sp>
      <p:sp>
        <p:nvSpPr>
          <p:cNvPr id="8" name="TextBox 7"/>
          <p:cNvSpPr txBox="1"/>
          <p:nvPr/>
        </p:nvSpPr>
        <p:spPr>
          <a:xfrm>
            <a:off x="841248" y="1993391"/>
            <a:ext cx="3474720" cy="402336"/>
          </a:xfrm>
          <a:prstGeom prst="rect">
            <a:avLst/>
          </a:prstGeom>
          <a:noFill/>
        </p:spPr>
        <p:txBody>
          <a:bodyPr wrap="square" lIns="0" tIns="0" rIns="0" bIns="0" anchor="ctr"/>
          <a:lstStyle/>
          <a:p>
            <a:pPr algn="l"/>
            <a:r>
              <a:rPr sz="1500" b="1" i="0">
                <a:solidFill>
                  <a:srgbClr val="586B73"/>
                </a:solidFill>
                <a:latin typeface="Arial"/>
                <a:ea typeface="Arial"/>
                <a:cs typeface="Arial"/>
              </a:rPr>
              <a:t>Arm</a:t>
            </a:r>
          </a:p>
        </p:txBody>
      </p:sp>
      <p:sp>
        <p:nvSpPr>
          <p:cNvPr id="9" name="TextBox 8"/>
          <p:cNvSpPr txBox="1"/>
          <p:nvPr/>
        </p:nvSpPr>
        <p:spPr>
          <a:xfrm>
            <a:off x="4453128" y="1993391"/>
            <a:ext cx="1645920" cy="402336"/>
          </a:xfrm>
          <a:prstGeom prst="rect">
            <a:avLst/>
          </a:prstGeom>
          <a:noFill/>
        </p:spPr>
        <p:txBody>
          <a:bodyPr wrap="square" lIns="0" tIns="0" rIns="0" bIns="0" anchor="ctr"/>
          <a:lstStyle/>
          <a:p>
            <a:pPr algn="l"/>
            <a:r>
              <a:rPr sz="1500" b="1" i="0">
                <a:solidFill>
                  <a:srgbClr val="586B73"/>
                </a:solidFill>
                <a:latin typeface="Arial"/>
                <a:ea typeface="Arial"/>
                <a:cs typeface="Arial"/>
              </a:rPr>
              <a:t>c = 1</a:t>
            </a:r>
          </a:p>
        </p:txBody>
      </p:sp>
      <p:sp>
        <p:nvSpPr>
          <p:cNvPr id="10" name="TextBox 9"/>
          <p:cNvSpPr txBox="1"/>
          <p:nvPr/>
        </p:nvSpPr>
        <p:spPr>
          <a:xfrm>
            <a:off x="6236208" y="1993391"/>
            <a:ext cx="1645920" cy="402336"/>
          </a:xfrm>
          <a:prstGeom prst="rect">
            <a:avLst/>
          </a:prstGeom>
          <a:noFill/>
        </p:spPr>
        <p:txBody>
          <a:bodyPr wrap="square" lIns="0" tIns="0" rIns="0" bIns="0" anchor="ctr"/>
          <a:lstStyle/>
          <a:p>
            <a:pPr algn="l"/>
            <a:r>
              <a:rPr sz="1500" b="1" i="0">
                <a:solidFill>
                  <a:srgbClr val="586B73"/>
                </a:solidFill>
                <a:latin typeface="Arial"/>
                <a:ea typeface="Arial"/>
                <a:cs typeface="Arial"/>
              </a:rPr>
              <a:t>c = 2</a:t>
            </a:r>
          </a:p>
        </p:txBody>
      </p:sp>
      <p:sp>
        <p:nvSpPr>
          <p:cNvPr id="11" name="TextBox 10"/>
          <p:cNvSpPr txBox="1"/>
          <p:nvPr/>
        </p:nvSpPr>
        <p:spPr>
          <a:xfrm>
            <a:off x="8019288" y="1993391"/>
            <a:ext cx="1645920" cy="402336"/>
          </a:xfrm>
          <a:prstGeom prst="rect">
            <a:avLst/>
          </a:prstGeom>
          <a:noFill/>
        </p:spPr>
        <p:txBody>
          <a:bodyPr wrap="square" lIns="0" tIns="0" rIns="0" bIns="0" anchor="ctr"/>
          <a:lstStyle/>
          <a:p>
            <a:pPr algn="l"/>
            <a:r>
              <a:rPr sz="1500" b="1" i="0">
                <a:solidFill>
                  <a:srgbClr val="586B73"/>
                </a:solidFill>
                <a:latin typeface="Arial"/>
                <a:ea typeface="Arial"/>
                <a:cs typeface="Arial"/>
              </a:rPr>
              <a:t>c = 4</a:t>
            </a:r>
          </a:p>
        </p:txBody>
      </p:sp>
      <p:sp>
        <p:nvSpPr>
          <p:cNvPr id="12" name="TextBox 11"/>
          <p:cNvSpPr txBox="1"/>
          <p:nvPr/>
        </p:nvSpPr>
        <p:spPr>
          <a:xfrm>
            <a:off x="9802367" y="1993391"/>
            <a:ext cx="1645920" cy="402336"/>
          </a:xfrm>
          <a:prstGeom prst="rect">
            <a:avLst/>
          </a:prstGeom>
          <a:noFill/>
        </p:spPr>
        <p:txBody>
          <a:bodyPr wrap="square" lIns="0" tIns="0" rIns="0" bIns="0" anchor="ctr"/>
          <a:lstStyle/>
          <a:p>
            <a:pPr algn="l"/>
            <a:r>
              <a:rPr sz="1500" b="1" i="0">
                <a:solidFill>
                  <a:srgbClr val="586B73"/>
                </a:solidFill>
                <a:latin typeface="Arial"/>
                <a:ea typeface="Arial"/>
                <a:cs typeface="Arial"/>
              </a:rPr>
              <a:t>c = 8</a:t>
            </a:r>
          </a:p>
        </p:txBody>
      </p:sp>
      <p:sp>
        <p:nvSpPr>
          <p:cNvPr id="13" name="TextBox 12"/>
          <p:cNvSpPr txBox="1"/>
          <p:nvPr/>
        </p:nvSpPr>
        <p:spPr>
          <a:xfrm>
            <a:off x="841248" y="2487168"/>
            <a:ext cx="3474720" cy="566928"/>
          </a:xfrm>
          <a:prstGeom prst="rect">
            <a:avLst/>
          </a:prstGeom>
          <a:noFill/>
        </p:spPr>
        <p:txBody>
          <a:bodyPr wrap="square" lIns="0" tIns="0" rIns="0" bIns="0" anchor="ctr"/>
          <a:lstStyle/>
          <a:p>
            <a:pPr algn="l"/>
            <a:r>
              <a:rPr sz="1600" b="1" i="0">
                <a:solidFill>
                  <a:srgbClr val="1B3A57"/>
                </a:solidFill>
                <a:latin typeface="Arial"/>
                <a:ea typeface="Arial"/>
                <a:cs typeface="Arial"/>
              </a:rPr>
              <a:t>Fold + routing + certified head</a:t>
            </a:r>
          </a:p>
        </p:txBody>
      </p:sp>
      <p:sp>
        <p:nvSpPr>
          <p:cNvPr id="14" name="TextBox 13"/>
          <p:cNvSpPr txBox="1"/>
          <p:nvPr/>
        </p:nvSpPr>
        <p:spPr>
          <a:xfrm>
            <a:off x="4453128" y="2487168"/>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0.986</a:t>
            </a:r>
          </a:p>
          <a:p>
            <a:pPr algn="l"/>
            <a:r>
              <a:rPr sz="1300" b="0" i="0">
                <a:solidFill>
                  <a:srgbClr val="586B73"/>
                </a:solidFill>
                <a:latin typeface="Arial"/>
                <a:ea typeface="Arial"/>
                <a:cs typeface="Arial"/>
              </a:rPr>
              <a:t>0.982–0.989</a:t>
            </a:r>
          </a:p>
        </p:txBody>
      </p:sp>
      <p:sp>
        <p:nvSpPr>
          <p:cNvPr id="15" name="TextBox 14"/>
          <p:cNvSpPr txBox="1"/>
          <p:nvPr/>
        </p:nvSpPr>
        <p:spPr>
          <a:xfrm>
            <a:off x="6236208" y="2487168"/>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0.972</a:t>
            </a:r>
          </a:p>
          <a:p>
            <a:pPr algn="l"/>
            <a:r>
              <a:rPr sz="1300" b="0" i="0">
                <a:solidFill>
                  <a:srgbClr val="586B73"/>
                </a:solidFill>
                <a:latin typeface="Arial"/>
                <a:ea typeface="Arial"/>
                <a:cs typeface="Arial"/>
              </a:rPr>
              <a:t>0.966–0.979</a:t>
            </a:r>
          </a:p>
        </p:txBody>
      </p:sp>
      <p:sp>
        <p:nvSpPr>
          <p:cNvPr id="16" name="TextBox 15"/>
          <p:cNvSpPr txBox="1"/>
          <p:nvPr/>
        </p:nvSpPr>
        <p:spPr>
          <a:xfrm>
            <a:off x="8019288" y="2487168"/>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1.013</a:t>
            </a:r>
          </a:p>
          <a:p>
            <a:pPr algn="l"/>
            <a:r>
              <a:rPr sz="1300" b="0" i="0">
                <a:solidFill>
                  <a:srgbClr val="586B73"/>
                </a:solidFill>
                <a:latin typeface="Arial"/>
                <a:ea typeface="Arial"/>
                <a:cs typeface="Arial"/>
              </a:rPr>
              <a:t>1.007–1.020</a:t>
            </a:r>
          </a:p>
        </p:txBody>
      </p:sp>
      <p:sp>
        <p:nvSpPr>
          <p:cNvPr id="17" name="TextBox 16"/>
          <p:cNvSpPr txBox="1"/>
          <p:nvPr/>
        </p:nvSpPr>
        <p:spPr>
          <a:xfrm>
            <a:off x="9802367" y="2487168"/>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1.079</a:t>
            </a:r>
          </a:p>
          <a:p>
            <a:pPr algn="l"/>
            <a:r>
              <a:rPr sz="1300" b="0" i="0">
                <a:solidFill>
                  <a:srgbClr val="586B73"/>
                </a:solidFill>
                <a:latin typeface="Arial"/>
                <a:ea typeface="Arial"/>
                <a:cs typeface="Arial"/>
              </a:rPr>
              <a:t>1.063–1.095</a:t>
            </a:r>
          </a:p>
        </p:txBody>
      </p:sp>
      <p:cxnSp>
        <p:nvCxnSpPr>
          <p:cNvPr id="18" name="Connector 17"/>
          <p:cNvCxnSpPr/>
          <p:nvPr/>
        </p:nvCxnSpPr>
        <p:spPr>
          <a:xfrm>
            <a:off x="731520" y="3081528"/>
            <a:ext cx="10744200" cy="0"/>
          </a:xfrm>
          <a:prstGeom prst="line">
            <a:avLst/>
          </a:prstGeom>
          <a:ln w="12700">
            <a:solidFill>
              <a:srgbClr val="D2DCDF"/>
            </a:solidFill>
          </a:ln>
        </p:spPr>
      </p:cxnSp>
      <p:sp>
        <p:nvSpPr>
          <p:cNvPr id="19" name="TextBox 18"/>
          <p:cNvSpPr txBox="1"/>
          <p:nvPr/>
        </p:nvSpPr>
        <p:spPr>
          <a:xfrm>
            <a:off x="841248" y="3108960"/>
            <a:ext cx="3474720" cy="566928"/>
          </a:xfrm>
          <a:prstGeom prst="rect">
            <a:avLst/>
          </a:prstGeom>
          <a:noFill/>
        </p:spPr>
        <p:txBody>
          <a:bodyPr wrap="square" lIns="0" tIns="0" rIns="0" bIns="0" anchor="ctr"/>
          <a:lstStyle/>
          <a:p>
            <a:pPr algn="l"/>
            <a:r>
              <a:rPr sz="1600" b="1" i="0">
                <a:solidFill>
                  <a:srgbClr val="1B3A57"/>
                </a:solidFill>
                <a:latin typeface="Arial"/>
                <a:ea typeface="Arial"/>
                <a:cs typeface="Arial"/>
              </a:rPr>
              <a:t>Fold verify</a:t>
            </a:r>
          </a:p>
        </p:txBody>
      </p:sp>
      <p:sp>
        <p:nvSpPr>
          <p:cNvPr id="20" name="TextBox 19"/>
          <p:cNvSpPr txBox="1"/>
          <p:nvPr/>
        </p:nvSpPr>
        <p:spPr>
          <a:xfrm>
            <a:off x="4453128" y="3108960"/>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0.970</a:t>
            </a:r>
          </a:p>
          <a:p>
            <a:pPr algn="l"/>
            <a:r>
              <a:rPr sz="1300" b="0" i="0">
                <a:solidFill>
                  <a:srgbClr val="586B73"/>
                </a:solidFill>
                <a:latin typeface="Arial"/>
                <a:ea typeface="Arial"/>
                <a:cs typeface="Arial"/>
              </a:rPr>
              <a:t>0.967–0.974</a:t>
            </a:r>
          </a:p>
        </p:txBody>
      </p:sp>
      <p:sp>
        <p:nvSpPr>
          <p:cNvPr id="21" name="TextBox 20"/>
          <p:cNvSpPr txBox="1"/>
          <p:nvPr/>
        </p:nvSpPr>
        <p:spPr>
          <a:xfrm>
            <a:off x="6236208" y="3108960"/>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0.987</a:t>
            </a:r>
          </a:p>
          <a:p>
            <a:pPr algn="l"/>
            <a:r>
              <a:rPr sz="1300" b="0" i="0">
                <a:solidFill>
                  <a:srgbClr val="586B73"/>
                </a:solidFill>
                <a:latin typeface="Arial"/>
                <a:ea typeface="Arial"/>
                <a:cs typeface="Arial"/>
              </a:rPr>
              <a:t>0.984–0.989</a:t>
            </a:r>
          </a:p>
        </p:txBody>
      </p:sp>
      <p:sp>
        <p:nvSpPr>
          <p:cNvPr id="22" name="TextBox 21"/>
          <p:cNvSpPr txBox="1"/>
          <p:nvPr/>
        </p:nvSpPr>
        <p:spPr>
          <a:xfrm>
            <a:off x="8019288" y="3108960"/>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1.009</a:t>
            </a:r>
          </a:p>
          <a:p>
            <a:pPr algn="l"/>
            <a:r>
              <a:rPr sz="1300" b="0" i="0">
                <a:solidFill>
                  <a:srgbClr val="586B73"/>
                </a:solidFill>
                <a:latin typeface="Arial"/>
                <a:ea typeface="Arial"/>
                <a:cs typeface="Arial"/>
              </a:rPr>
              <a:t>1.002–1.016</a:t>
            </a:r>
          </a:p>
        </p:txBody>
      </p:sp>
      <p:sp>
        <p:nvSpPr>
          <p:cNvPr id="23" name="TextBox 22"/>
          <p:cNvSpPr txBox="1"/>
          <p:nvPr/>
        </p:nvSpPr>
        <p:spPr>
          <a:xfrm>
            <a:off x="9802367" y="3108960"/>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1.073</a:t>
            </a:r>
          </a:p>
          <a:p>
            <a:pPr algn="l"/>
            <a:r>
              <a:rPr sz="1300" b="0" i="0">
                <a:solidFill>
                  <a:srgbClr val="586B73"/>
                </a:solidFill>
                <a:latin typeface="Arial"/>
                <a:ea typeface="Arial"/>
                <a:cs typeface="Arial"/>
              </a:rPr>
              <a:t>1.065–1.081</a:t>
            </a:r>
          </a:p>
        </p:txBody>
      </p:sp>
      <p:cxnSp>
        <p:nvCxnSpPr>
          <p:cNvPr id="24" name="Connector 23"/>
          <p:cNvCxnSpPr/>
          <p:nvPr/>
        </p:nvCxnSpPr>
        <p:spPr>
          <a:xfrm>
            <a:off x="731520" y="3703320"/>
            <a:ext cx="10744200" cy="0"/>
          </a:xfrm>
          <a:prstGeom prst="line">
            <a:avLst/>
          </a:prstGeom>
          <a:ln w="12700">
            <a:solidFill>
              <a:srgbClr val="D2DCDF"/>
            </a:solidFill>
          </a:ln>
        </p:spPr>
      </p:cxnSp>
      <p:sp>
        <p:nvSpPr>
          <p:cNvPr id="25" name="TextBox 24"/>
          <p:cNvSpPr txBox="1"/>
          <p:nvPr/>
        </p:nvSpPr>
        <p:spPr>
          <a:xfrm>
            <a:off x="841248" y="3730752"/>
            <a:ext cx="3474720" cy="566928"/>
          </a:xfrm>
          <a:prstGeom prst="rect">
            <a:avLst/>
          </a:prstGeom>
          <a:noFill/>
        </p:spPr>
        <p:txBody>
          <a:bodyPr wrap="square" lIns="0" tIns="0" rIns="0" bIns="0" anchor="ctr"/>
          <a:lstStyle/>
          <a:p>
            <a:pPr algn="l"/>
            <a:r>
              <a:rPr sz="1600" b="1" i="0">
                <a:solidFill>
                  <a:srgbClr val="1B3A57"/>
                </a:solidFill>
                <a:latin typeface="Arial"/>
                <a:ea typeface="Arial"/>
                <a:cs typeface="Arial"/>
              </a:rPr>
              <a:t>Routing table</a:t>
            </a:r>
          </a:p>
        </p:txBody>
      </p:sp>
      <p:sp>
        <p:nvSpPr>
          <p:cNvPr id="26" name="TextBox 25"/>
          <p:cNvSpPr txBox="1"/>
          <p:nvPr/>
        </p:nvSpPr>
        <p:spPr>
          <a:xfrm>
            <a:off x="4453128" y="3730752"/>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1.009</a:t>
            </a:r>
          </a:p>
          <a:p>
            <a:pPr algn="l"/>
            <a:r>
              <a:rPr sz="1300" b="0" i="0">
                <a:solidFill>
                  <a:srgbClr val="586B73"/>
                </a:solidFill>
                <a:latin typeface="Arial"/>
                <a:ea typeface="Arial"/>
                <a:cs typeface="Arial"/>
              </a:rPr>
              <a:t>1.004–1.014</a:t>
            </a:r>
          </a:p>
        </p:txBody>
      </p:sp>
      <p:sp>
        <p:nvSpPr>
          <p:cNvPr id="27" name="TextBox 26"/>
          <p:cNvSpPr txBox="1"/>
          <p:nvPr/>
        </p:nvSpPr>
        <p:spPr>
          <a:xfrm>
            <a:off x="6236208" y="3730752"/>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0.988</a:t>
            </a:r>
          </a:p>
          <a:p>
            <a:pPr algn="l"/>
            <a:r>
              <a:rPr sz="1300" b="0" i="0">
                <a:solidFill>
                  <a:srgbClr val="586B73"/>
                </a:solidFill>
                <a:latin typeface="Arial"/>
                <a:ea typeface="Arial"/>
                <a:cs typeface="Arial"/>
              </a:rPr>
              <a:t>0.985–0.991</a:t>
            </a:r>
          </a:p>
        </p:txBody>
      </p:sp>
      <p:sp>
        <p:nvSpPr>
          <p:cNvPr id="28" name="TextBox 27"/>
          <p:cNvSpPr txBox="1"/>
          <p:nvPr/>
        </p:nvSpPr>
        <p:spPr>
          <a:xfrm>
            <a:off x="8019288" y="3730752"/>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1.017</a:t>
            </a:r>
          </a:p>
          <a:p>
            <a:pPr algn="l"/>
            <a:r>
              <a:rPr sz="1300" b="0" i="0">
                <a:solidFill>
                  <a:srgbClr val="586B73"/>
                </a:solidFill>
                <a:latin typeface="Arial"/>
                <a:ea typeface="Arial"/>
                <a:cs typeface="Arial"/>
              </a:rPr>
              <a:t>1.011–1.022</a:t>
            </a:r>
          </a:p>
        </p:txBody>
      </p:sp>
      <p:sp>
        <p:nvSpPr>
          <p:cNvPr id="29" name="TextBox 28"/>
          <p:cNvSpPr txBox="1"/>
          <p:nvPr/>
        </p:nvSpPr>
        <p:spPr>
          <a:xfrm>
            <a:off x="9802367" y="3730752"/>
            <a:ext cx="1645920" cy="566928"/>
          </a:xfrm>
          <a:prstGeom prst="rect">
            <a:avLst/>
          </a:prstGeom>
          <a:noFill/>
        </p:spPr>
        <p:txBody>
          <a:bodyPr wrap="square" lIns="0" tIns="0" rIns="0" bIns="0" anchor="ctr"/>
          <a:lstStyle/>
          <a:p>
            <a:pPr algn="l"/>
            <a:r>
              <a:rPr sz="1700" b="1" i="0">
                <a:solidFill>
                  <a:srgbClr val="586B73"/>
                </a:solidFill>
                <a:latin typeface="Arial"/>
                <a:ea typeface="Arial"/>
                <a:cs typeface="Arial"/>
              </a:rPr>
              <a:t>1.008</a:t>
            </a:r>
          </a:p>
          <a:p>
            <a:pPr algn="l"/>
            <a:r>
              <a:rPr sz="1300" b="0" i="0">
                <a:solidFill>
                  <a:srgbClr val="586B73"/>
                </a:solidFill>
                <a:latin typeface="Arial"/>
                <a:ea typeface="Arial"/>
                <a:cs typeface="Arial"/>
              </a:rPr>
              <a:t>0.995–1.021</a:t>
            </a:r>
          </a:p>
        </p:txBody>
      </p:sp>
      <p:cxnSp>
        <p:nvCxnSpPr>
          <p:cNvPr id="30" name="Connector 29"/>
          <p:cNvCxnSpPr/>
          <p:nvPr/>
        </p:nvCxnSpPr>
        <p:spPr>
          <a:xfrm>
            <a:off x="731520" y="4325112"/>
            <a:ext cx="10744200" cy="0"/>
          </a:xfrm>
          <a:prstGeom prst="line">
            <a:avLst/>
          </a:prstGeom>
          <a:ln w="12700">
            <a:solidFill>
              <a:srgbClr val="D2DCDF"/>
            </a:solidFill>
          </a:ln>
        </p:spPr>
      </p:cxnSp>
      <p:sp>
        <p:nvSpPr>
          <p:cNvPr id="31" name="TextBox 30"/>
          <p:cNvSpPr txBox="1"/>
          <p:nvPr/>
        </p:nvSpPr>
        <p:spPr>
          <a:xfrm>
            <a:off x="841248" y="4352544"/>
            <a:ext cx="3474720" cy="566928"/>
          </a:xfrm>
          <a:prstGeom prst="rect">
            <a:avLst/>
          </a:prstGeom>
          <a:noFill/>
        </p:spPr>
        <p:txBody>
          <a:bodyPr wrap="square" lIns="0" tIns="0" rIns="0" bIns="0" anchor="ctr"/>
          <a:lstStyle/>
          <a:p>
            <a:pPr algn="l"/>
            <a:r>
              <a:rPr sz="1600" b="1" i="0">
                <a:solidFill>
                  <a:srgbClr val="1B3A57"/>
                </a:solidFill>
                <a:latin typeface="Arial"/>
                <a:ea typeface="Arial"/>
                <a:cs typeface="Arial"/>
              </a:rPr>
              <a:t>Fold + routing</a:t>
            </a:r>
          </a:p>
        </p:txBody>
      </p:sp>
      <p:sp>
        <p:nvSpPr>
          <p:cNvPr id="32" name="TextBox 31"/>
          <p:cNvSpPr txBox="1"/>
          <p:nvPr/>
        </p:nvSpPr>
        <p:spPr>
          <a:xfrm>
            <a:off x="4453128" y="4352544"/>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0.974</a:t>
            </a:r>
          </a:p>
          <a:p>
            <a:pPr algn="l"/>
            <a:r>
              <a:rPr sz="1300" b="0" i="0">
                <a:solidFill>
                  <a:srgbClr val="586B73"/>
                </a:solidFill>
                <a:latin typeface="Arial"/>
                <a:ea typeface="Arial"/>
                <a:cs typeface="Arial"/>
              </a:rPr>
              <a:t>0.967–0.982</a:t>
            </a:r>
          </a:p>
        </p:txBody>
      </p:sp>
      <p:sp>
        <p:nvSpPr>
          <p:cNvPr id="33" name="TextBox 32"/>
          <p:cNvSpPr txBox="1"/>
          <p:nvPr/>
        </p:nvSpPr>
        <p:spPr>
          <a:xfrm>
            <a:off x="6236208" y="4352544"/>
            <a:ext cx="1645920" cy="566928"/>
          </a:xfrm>
          <a:prstGeom prst="rect">
            <a:avLst/>
          </a:prstGeom>
          <a:noFill/>
        </p:spPr>
        <p:txBody>
          <a:bodyPr wrap="square" lIns="0" tIns="0" rIns="0" bIns="0" anchor="ctr"/>
          <a:lstStyle/>
          <a:p>
            <a:pPr algn="l"/>
            <a:r>
              <a:rPr sz="1700" b="1" i="0">
                <a:solidFill>
                  <a:srgbClr val="D55E00"/>
                </a:solidFill>
                <a:latin typeface="Arial"/>
                <a:ea typeface="Arial"/>
                <a:cs typeface="Arial"/>
              </a:rPr>
              <a:t>0.971</a:t>
            </a:r>
          </a:p>
          <a:p>
            <a:pPr algn="l"/>
            <a:r>
              <a:rPr sz="1300" b="0" i="0">
                <a:solidFill>
                  <a:srgbClr val="586B73"/>
                </a:solidFill>
                <a:latin typeface="Arial"/>
                <a:ea typeface="Arial"/>
                <a:cs typeface="Arial"/>
              </a:rPr>
              <a:t>0.959–0.984</a:t>
            </a:r>
          </a:p>
        </p:txBody>
      </p:sp>
      <p:sp>
        <p:nvSpPr>
          <p:cNvPr id="34" name="TextBox 33"/>
          <p:cNvSpPr txBox="1"/>
          <p:nvPr/>
        </p:nvSpPr>
        <p:spPr>
          <a:xfrm>
            <a:off x="8019288" y="4352544"/>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1.021</a:t>
            </a:r>
          </a:p>
          <a:p>
            <a:pPr algn="l"/>
            <a:r>
              <a:rPr sz="1300" b="0" i="0">
                <a:solidFill>
                  <a:srgbClr val="586B73"/>
                </a:solidFill>
                <a:latin typeface="Arial"/>
                <a:ea typeface="Arial"/>
                <a:cs typeface="Arial"/>
              </a:rPr>
              <a:t>1.008–1.033</a:t>
            </a:r>
          </a:p>
        </p:txBody>
      </p:sp>
      <p:sp>
        <p:nvSpPr>
          <p:cNvPr id="35" name="TextBox 34"/>
          <p:cNvSpPr txBox="1"/>
          <p:nvPr/>
        </p:nvSpPr>
        <p:spPr>
          <a:xfrm>
            <a:off x="9802367" y="4352544"/>
            <a:ext cx="1645920" cy="566928"/>
          </a:xfrm>
          <a:prstGeom prst="rect">
            <a:avLst/>
          </a:prstGeom>
          <a:noFill/>
        </p:spPr>
        <p:txBody>
          <a:bodyPr wrap="square" lIns="0" tIns="0" rIns="0" bIns="0" anchor="ctr"/>
          <a:lstStyle/>
          <a:p>
            <a:pPr algn="l"/>
            <a:r>
              <a:rPr sz="1700" b="1" i="0">
                <a:solidFill>
                  <a:srgbClr val="1B3A57"/>
                </a:solidFill>
                <a:latin typeface="Arial"/>
                <a:ea typeface="Arial"/>
                <a:cs typeface="Arial"/>
              </a:rPr>
              <a:t>1.082</a:t>
            </a:r>
          </a:p>
          <a:p>
            <a:pPr algn="l"/>
            <a:r>
              <a:rPr sz="1300" b="0" i="0">
                <a:solidFill>
                  <a:srgbClr val="586B73"/>
                </a:solidFill>
                <a:latin typeface="Arial"/>
                <a:ea typeface="Arial"/>
                <a:cs typeface="Arial"/>
              </a:rPr>
              <a:t>1.058–1.107</a:t>
            </a:r>
          </a:p>
        </p:txBody>
      </p:sp>
      <p:cxnSp>
        <p:nvCxnSpPr>
          <p:cNvPr id="36" name="Connector 35"/>
          <p:cNvCxnSpPr/>
          <p:nvPr/>
        </p:nvCxnSpPr>
        <p:spPr>
          <a:xfrm>
            <a:off x="731520" y="4946903"/>
            <a:ext cx="10744200" cy="0"/>
          </a:xfrm>
          <a:prstGeom prst="line">
            <a:avLst/>
          </a:prstGeom>
          <a:ln w="12700">
            <a:solidFill>
              <a:srgbClr val="D2DCDF"/>
            </a:solidFill>
          </a:ln>
        </p:spPr>
      </p:cxnSp>
      <p:sp>
        <p:nvSpPr>
          <p:cNvPr id="37" name="TextBox 36"/>
          <p:cNvSpPr txBox="1"/>
          <p:nvPr/>
        </p:nvSpPr>
        <p:spPr>
          <a:xfrm>
            <a:off x="841248" y="4974336"/>
            <a:ext cx="3474720" cy="566928"/>
          </a:xfrm>
          <a:prstGeom prst="rect">
            <a:avLst/>
          </a:prstGeom>
          <a:noFill/>
        </p:spPr>
        <p:txBody>
          <a:bodyPr wrap="square" lIns="0" tIns="0" rIns="0" bIns="0" anchor="ctr"/>
          <a:lstStyle/>
          <a:p>
            <a:pPr algn="l"/>
            <a:r>
              <a:rPr sz="1600" b="1" i="0">
                <a:solidFill>
                  <a:srgbClr val="1B3A57"/>
                </a:solidFill>
                <a:latin typeface="Arial"/>
                <a:ea typeface="Arial"/>
                <a:cs typeface="Arial"/>
              </a:rPr>
              <a:t>Composed tree, switches off</a:t>
            </a:r>
          </a:p>
        </p:txBody>
      </p:sp>
      <p:sp>
        <p:nvSpPr>
          <p:cNvPr id="38" name="TextBox 37"/>
          <p:cNvSpPr txBox="1"/>
          <p:nvPr/>
        </p:nvSpPr>
        <p:spPr>
          <a:xfrm>
            <a:off x="4453128" y="4974336"/>
            <a:ext cx="1645920" cy="566928"/>
          </a:xfrm>
          <a:prstGeom prst="rect">
            <a:avLst/>
          </a:prstGeom>
          <a:noFill/>
        </p:spPr>
        <p:txBody>
          <a:bodyPr wrap="square" lIns="0" tIns="0" rIns="0" bIns="0" anchor="ctr"/>
          <a:lstStyle/>
          <a:p>
            <a:pPr algn="l"/>
            <a:r>
              <a:rPr sz="1700" b="1" i="0">
                <a:solidFill>
                  <a:srgbClr val="586B73"/>
                </a:solidFill>
                <a:latin typeface="Arial"/>
                <a:ea typeface="Arial"/>
                <a:cs typeface="Arial"/>
              </a:rPr>
              <a:t>0.999</a:t>
            </a:r>
          </a:p>
          <a:p>
            <a:pPr algn="l"/>
            <a:r>
              <a:rPr sz="1300" b="0" i="0">
                <a:solidFill>
                  <a:srgbClr val="586B73"/>
                </a:solidFill>
                <a:latin typeface="Arial"/>
                <a:ea typeface="Arial"/>
                <a:cs typeface="Arial"/>
              </a:rPr>
              <a:t>0.996–1.003</a:t>
            </a:r>
          </a:p>
        </p:txBody>
      </p:sp>
      <p:sp>
        <p:nvSpPr>
          <p:cNvPr id="39" name="TextBox 38"/>
          <p:cNvSpPr txBox="1"/>
          <p:nvPr/>
        </p:nvSpPr>
        <p:spPr>
          <a:xfrm>
            <a:off x="6236208" y="4974336"/>
            <a:ext cx="1645920" cy="566928"/>
          </a:xfrm>
          <a:prstGeom prst="rect">
            <a:avLst/>
          </a:prstGeom>
          <a:noFill/>
        </p:spPr>
        <p:txBody>
          <a:bodyPr wrap="square" lIns="0" tIns="0" rIns="0" bIns="0" anchor="ctr"/>
          <a:lstStyle/>
          <a:p>
            <a:pPr algn="l"/>
            <a:r>
              <a:rPr sz="1700" b="1" i="0">
                <a:solidFill>
                  <a:srgbClr val="586B73"/>
                </a:solidFill>
                <a:latin typeface="Arial"/>
                <a:ea typeface="Arial"/>
                <a:cs typeface="Arial"/>
              </a:rPr>
              <a:t>0.998</a:t>
            </a:r>
          </a:p>
          <a:p>
            <a:pPr algn="l"/>
            <a:r>
              <a:rPr sz="1300" b="0" i="0">
                <a:solidFill>
                  <a:srgbClr val="586B73"/>
                </a:solidFill>
                <a:latin typeface="Arial"/>
                <a:ea typeface="Arial"/>
                <a:cs typeface="Arial"/>
              </a:rPr>
              <a:t>0.995–1.002</a:t>
            </a:r>
          </a:p>
        </p:txBody>
      </p:sp>
      <p:sp>
        <p:nvSpPr>
          <p:cNvPr id="40" name="TextBox 39"/>
          <p:cNvSpPr txBox="1"/>
          <p:nvPr/>
        </p:nvSpPr>
        <p:spPr>
          <a:xfrm>
            <a:off x="8019288" y="4974336"/>
            <a:ext cx="1645920" cy="566928"/>
          </a:xfrm>
          <a:prstGeom prst="rect">
            <a:avLst/>
          </a:prstGeom>
          <a:noFill/>
        </p:spPr>
        <p:txBody>
          <a:bodyPr wrap="square" lIns="0" tIns="0" rIns="0" bIns="0" anchor="ctr"/>
          <a:lstStyle/>
          <a:p>
            <a:pPr algn="l"/>
            <a:r>
              <a:rPr sz="1700" b="1" i="0">
                <a:solidFill>
                  <a:srgbClr val="586B73"/>
                </a:solidFill>
                <a:latin typeface="Arial"/>
                <a:ea typeface="Arial"/>
                <a:cs typeface="Arial"/>
              </a:rPr>
              <a:t>0.999</a:t>
            </a:r>
          </a:p>
          <a:p>
            <a:pPr algn="l"/>
            <a:r>
              <a:rPr sz="1300" b="0" i="0">
                <a:solidFill>
                  <a:srgbClr val="586B73"/>
                </a:solidFill>
                <a:latin typeface="Arial"/>
                <a:ea typeface="Arial"/>
                <a:cs typeface="Arial"/>
              </a:rPr>
              <a:t>0.990–1.009</a:t>
            </a:r>
          </a:p>
        </p:txBody>
      </p:sp>
      <p:sp>
        <p:nvSpPr>
          <p:cNvPr id="41" name="TextBox 40"/>
          <p:cNvSpPr txBox="1"/>
          <p:nvPr/>
        </p:nvSpPr>
        <p:spPr>
          <a:xfrm>
            <a:off x="9802367" y="4974336"/>
            <a:ext cx="1645920" cy="566928"/>
          </a:xfrm>
          <a:prstGeom prst="rect">
            <a:avLst/>
          </a:prstGeom>
          <a:noFill/>
        </p:spPr>
        <p:txBody>
          <a:bodyPr wrap="square" lIns="0" tIns="0" rIns="0" bIns="0" anchor="ctr"/>
          <a:lstStyle/>
          <a:p>
            <a:pPr algn="l"/>
            <a:r>
              <a:rPr sz="1700" b="1" i="0">
                <a:solidFill>
                  <a:srgbClr val="586B73"/>
                </a:solidFill>
                <a:latin typeface="Arial"/>
                <a:ea typeface="Arial"/>
                <a:cs typeface="Arial"/>
              </a:rPr>
              <a:t>0.995</a:t>
            </a:r>
          </a:p>
          <a:p>
            <a:pPr algn="l"/>
            <a:r>
              <a:rPr sz="1300" b="0" i="0">
                <a:solidFill>
                  <a:srgbClr val="586B73"/>
                </a:solidFill>
                <a:latin typeface="Arial"/>
                <a:ea typeface="Arial"/>
                <a:cs typeface="Arial"/>
              </a:rPr>
              <a:t>0.983–1.007</a:t>
            </a:r>
          </a:p>
        </p:txBody>
      </p:sp>
      <p:cxnSp>
        <p:nvCxnSpPr>
          <p:cNvPr id="42" name="Connector 41"/>
          <p:cNvCxnSpPr/>
          <p:nvPr/>
        </p:nvCxnSpPr>
        <p:spPr>
          <a:xfrm>
            <a:off x="731520" y="5568695"/>
            <a:ext cx="10744200" cy="0"/>
          </a:xfrm>
          <a:prstGeom prst="line">
            <a:avLst/>
          </a:prstGeom>
          <a:ln w="12700">
            <a:solidFill>
              <a:srgbClr val="D2DCDF"/>
            </a:solidFill>
          </a:ln>
        </p:spPr>
      </p:cxnSp>
      <p:sp>
        <p:nvSpPr>
          <p:cNvPr id="43" name="TextBox 42"/>
          <p:cNvSpPr txBox="1"/>
          <p:nvPr/>
        </p:nvSpPr>
        <p:spPr>
          <a:xfrm>
            <a:off x="731520" y="5760720"/>
            <a:ext cx="10744200" cy="457200"/>
          </a:xfrm>
          <a:prstGeom prst="rect">
            <a:avLst/>
          </a:prstGeom>
          <a:noFill/>
        </p:spPr>
        <p:txBody>
          <a:bodyPr wrap="square" lIns="0" tIns="0" rIns="0" bIns="0" anchor="t"/>
          <a:lstStyle/>
          <a:p>
            <a:pPr algn="l"/>
            <a:r>
              <a:rPr sz="1700" b="0" i="0">
                <a:solidFill>
                  <a:srgbClr val="1B3A57"/>
                </a:solidFill>
                <a:latin typeface="Arial"/>
                <a:ea typeface="Arial"/>
                <a:cs typeface="Arial"/>
              </a:rPr>
              <a:t>The later composition, the fold with narrow tiles and FA4, gained +9.3% per request at c = 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FP8 halved the weight bytes; added kernels took it back</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evidence/speed_bytes (step_budget.csv, served.csv, probes.json, gsm8k.json, README) · exploratory, one session per measurement · research notes only, not in the paper</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B24</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Plain decoding, one request: µs per decode step, FP8 with per-row scales against BF16 (Nsight)</a:t>
            </a:r>
          </a:p>
        </p:txBody>
      </p:sp>
      <p:cxnSp>
        <p:nvCxnSpPr>
          <p:cNvPr id="7" name="Connector 6"/>
          <p:cNvCxnSpPr/>
          <p:nvPr/>
        </p:nvCxnSpPr>
        <p:spPr>
          <a:xfrm>
            <a:off x="2331720" y="2331720"/>
            <a:ext cx="0" cy="2194560"/>
          </a:xfrm>
          <a:prstGeom prst="line">
            <a:avLst/>
          </a:prstGeom>
          <a:ln w="9525">
            <a:solidFill>
              <a:srgbClr val="6B7780"/>
            </a:solidFill>
          </a:ln>
        </p:spPr>
      </p:cxnSp>
      <p:sp>
        <p:nvSpPr>
          <p:cNvPr id="8" name="TextBox 7"/>
          <p:cNvSpPr txBox="1"/>
          <p:nvPr/>
        </p:nvSpPr>
        <p:spPr>
          <a:xfrm>
            <a:off x="1965960" y="4553712"/>
            <a:ext cx="731520" cy="256032"/>
          </a:xfrm>
          <a:prstGeom prst="rect">
            <a:avLst/>
          </a:prstGeom>
          <a:noFill/>
        </p:spPr>
        <p:txBody>
          <a:bodyPr wrap="square" lIns="0" tIns="0" rIns="0" bIns="0" anchor="t"/>
          <a:lstStyle/>
          <a:p>
            <a:pPr algn="ctr"/>
            <a:r>
              <a:rPr sz="1400" b="0" i="0">
                <a:solidFill>
                  <a:srgbClr val="586B73"/>
                </a:solidFill>
                <a:latin typeface="Arial"/>
                <a:ea typeface="Arial"/>
                <a:cs typeface="Arial"/>
              </a:rPr>
              <a:t>0</a:t>
            </a:r>
          </a:p>
        </p:txBody>
      </p:sp>
      <p:cxnSp>
        <p:nvCxnSpPr>
          <p:cNvPr id="9" name="Connector 8"/>
          <p:cNvCxnSpPr/>
          <p:nvPr/>
        </p:nvCxnSpPr>
        <p:spPr>
          <a:xfrm>
            <a:off x="3360420" y="2331720"/>
            <a:ext cx="0" cy="2194560"/>
          </a:xfrm>
          <a:prstGeom prst="line">
            <a:avLst/>
          </a:prstGeom>
          <a:ln w="9525">
            <a:solidFill>
              <a:srgbClr val="D2DCDF"/>
            </a:solidFill>
          </a:ln>
        </p:spPr>
      </p:cxnSp>
      <p:sp>
        <p:nvSpPr>
          <p:cNvPr id="10" name="TextBox 9"/>
          <p:cNvSpPr txBox="1"/>
          <p:nvPr/>
        </p:nvSpPr>
        <p:spPr>
          <a:xfrm>
            <a:off x="2994660" y="4553712"/>
            <a:ext cx="731520" cy="256032"/>
          </a:xfrm>
          <a:prstGeom prst="rect">
            <a:avLst/>
          </a:prstGeom>
          <a:noFill/>
        </p:spPr>
        <p:txBody>
          <a:bodyPr wrap="square" lIns="0" tIns="0" rIns="0" bIns="0" anchor="t"/>
          <a:lstStyle/>
          <a:p>
            <a:pPr algn="ctr"/>
            <a:r>
              <a:rPr sz="1400" b="0" i="0">
                <a:solidFill>
                  <a:srgbClr val="586B73"/>
                </a:solidFill>
                <a:latin typeface="Arial"/>
                <a:ea typeface="Arial"/>
                <a:cs typeface="Arial"/>
              </a:rPr>
              <a:t>250</a:t>
            </a:r>
          </a:p>
        </p:txBody>
      </p:sp>
      <p:cxnSp>
        <p:nvCxnSpPr>
          <p:cNvPr id="11" name="Connector 10"/>
          <p:cNvCxnSpPr/>
          <p:nvPr/>
        </p:nvCxnSpPr>
        <p:spPr>
          <a:xfrm>
            <a:off x="4389120" y="2331720"/>
            <a:ext cx="0" cy="2194560"/>
          </a:xfrm>
          <a:prstGeom prst="line">
            <a:avLst/>
          </a:prstGeom>
          <a:ln w="9525">
            <a:solidFill>
              <a:srgbClr val="D2DCDF"/>
            </a:solidFill>
          </a:ln>
        </p:spPr>
      </p:cxnSp>
      <p:sp>
        <p:nvSpPr>
          <p:cNvPr id="12" name="TextBox 11"/>
          <p:cNvSpPr txBox="1"/>
          <p:nvPr/>
        </p:nvSpPr>
        <p:spPr>
          <a:xfrm>
            <a:off x="4023359" y="4553712"/>
            <a:ext cx="731520" cy="256032"/>
          </a:xfrm>
          <a:prstGeom prst="rect">
            <a:avLst/>
          </a:prstGeom>
          <a:noFill/>
        </p:spPr>
        <p:txBody>
          <a:bodyPr wrap="square" lIns="0" tIns="0" rIns="0" bIns="0" anchor="t"/>
          <a:lstStyle/>
          <a:p>
            <a:pPr algn="ctr"/>
            <a:r>
              <a:rPr sz="1400" b="0" i="0">
                <a:solidFill>
                  <a:srgbClr val="586B73"/>
                </a:solidFill>
                <a:latin typeface="Arial"/>
                <a:ea typeface="Arial"/>
                <a:cs typeface="Arial"/>
              </a:rPr>
              <a:t>500</a:t>
            </a:r>
          </a:p>
        </p:txBody>
      </p:sp>
      <p:cxnSp>
        <p:nvCxnSpPr>
          <p:cNvPr id="13" name="Connector 12"/>
          <p:cNvCxnSpPr/>
          <p:nvPr/>
        </p:nvCxnSpPr>
        <p:spPr>
          <a:xfrm>
            <a:off x="5417820" y="2331720"/>
            <a:ext cx="0" cy="2194560"/>
          </a:xfrm>
          <a:prstGeom prst="line">
            <a:avLst/>
          </a:prstGeom>
          <a:ln w="9525">
            <a:solidFill>
              <a:srgbClr val="D2DCDF"/>
            </a:solidFill>
          </a:ln>
        </p:spPr>
      </p:cxnSp>
      <p:sp>
        <p:nvSpPr>
          <p:cNvPr id="14" name="TextBox 13"/>
          <p:cNvSpPr txBox="1"/>
          <p:nvPr/>
        </p:nvSpPr>
        <p:spPr>
          <a:xfrm>
            <a:off x="5052059" y="4553712"/>
            <a:ext cx="731520" cy="256032"/>
          </a:xfrm>
          <a:prstGeom prst="rect">
            <a:avLst/>
          </a:prstGeom>
          <a:noFill/>
        </p:spPr>
        <p:txBody>
          <a:bodyPr wrap="square" lIns="0" tIns="0" rIns="0" bIns="0" anchor="t"/>
          <a:lstStyle/>
          <a:p>
            <a:pPr algn="ctr"/>
            <a:r>
              <a:rPr sz="1400" b="0" i="0">
                <a:solidFill>
                  <a:srgbClr val="586B73"/>
                </a:solidFill>
                <a:latin typeface="Arial"/>
                <a:ea typeface="Arial"/>
                <a:cs typeface="Arial"/>
              </a:rPr>
              <a:t>750</a:t>
            </a:r>
          </a:p>
        </p:txBody>
      </p:sp>
      <p:cxnSp>
        <p:nvCxnSpPr>
          <p:cNvPr id="15" name="Connector 14"/>
          <p:cNvCxnSpPr/>
          <p:nvPr/>
        </p:nvCxnSpPr>
        <p:spPr>
          <a:xfrm>
            <a:off x="6446520" y="2331720"/>
            <a:ext cx="0" cy="2194560"/>
          </a:xfrm>
          <a:prstGeom prst="line">
            <a:avLst/>
          </a:prstGeom>
          <a:ln w="9525">
            <a:solidFill>
              <a:srgbClr val="D2DCDF"/>
            </a:solidFill>
          </a:ln>
        </p:spPr>
      </p:cxnSp>
      <p:sp>
        <p:nvSpPr>
          <p:cNvPr id="16" name="TextBox 15"/>
          <p:cNvSpPr txBox="1"/>
          <p:nvPr/>
        </p:nvSpPr>
        <p:spPr>
          <a:xfrm>
            <a:off x="6080759" y="4553712"/>
            <a:ext cx="731520" cy="256032"/>
          </a:xfrm>
          <a:prstGeom prst="rect">
            <a:avLst/>
          </a:prstGeom>
          <a:noFill/>
        </p:spPr>
        <p:txBody>
          <a:bodyPr wrap="square" lIns="0" tIns="0" rIns="0" bIns="0" anchor="t"/>
          <a:lstStyle/>
          <a:p>
            <a:pPr algn="ctr"/>
            <a:r>
              <a:rPr sz="1400" b="0" i="0">
                <a:solidFill>
                  <a:srgbClr val="586B73"/>
                </a:solidFill>
                <a:latin typeface="Arial"/>
                <a:ea typeface="Arial"/>
                <a:cs typeface="Arial"/>
              </a:rPr>
              <a:t>1,000</a:t>
            </a:r>
          </a:p>
        </p:txBody>
      </p:sp>
      <p:sp>
        <p:nvSpPr>
          <p:cNvPr id="17" name="TextBox 16"/>
          <p:cNvSpPr txBox="1"/>
          <p:nvPr/>
        </p:nvSpPr>
        <p:spPr>
          <a:xfrm>
            <a:off x="2331720" y="4846320"/>
            <a:ext cx="4114800" cy="274320"/>
          </a:xfrm>
          <a:prstGeom prst="rect">
            <a:avLst/>
          </a:prstGeom>
          <a:noFill/>
        </p:spPr>
        <p:txBody>
          <a:bodyPr wrap="square" lIns="0" tIns="0" rIns="0" bIns="0" anchor="t"/>
          <a:lstStyle/>
          <a:p>
            <a:pPr algn="ctr"/>
            <a:r>
              <a:rPr sz="1500" b="0" i="0">
                <a:solidFill>
                  <a:srgbClr val="1B3A57"/>
                </a:solidFill>
                <a:latin typeface="Arial"/>
                <a:ea typeface="Arial"/>
                <a:cs typeface="Arial"/>
              </a:rPr>
              <a:t>µs per step</a:t>
            </a:r>
          </a:p>
        </p:txBody>
      </p:sp>
      <p:sp>
        <p:nvSpPr>
          <p:cNvPr id="18" name="TextBox 17"/>
          <p:cNvSpPr txBox="1"/>
          <p:nvPr/>
        </p:nvSpPr>
        <p:spPr>
          <a:xfrm>
            <a:off x="731520" y="2670048"/>
            <a:ext cx="1508760" cy="365760"/>
          </a:xfrm>
          <a:prstGeom prst="rect">
            <a:avLst/>
          </a:prstGeom>
          <a:noFill/>
        </p:spPr>
        <p:txBody>
          <a:bodyPr wrap="square" lIns="0" tIns="0" rIns="0" bIns="0" anchor="t"/>
          <a:lstStyle/>
          <a:p>
            <a:pPr algn="r"/>
            <a:r>
              <a:rPr sz="1800" b="1" i="0">
                <a:solidFill>
                  <a:srgbClr val="1B3A57"/>
                </a:solidFill>
                <a:latin typeface="Arial"/>
                <a:ea typeface="Arial"/>
                <a:cs typeface="Arial"/>
              </a:rPr>
              <a:t>Saved</a:t>
            </a:r>
          </a:p>
        </p:txBody>
      </p:sp>
      <p:sp>
        <p:nvSpPr>
          <p:cNvPr id="19" name="Rectangle 18"/>
          <p:cNvSpPr/>
          <p:nvPr/>
        </p:nvSpPr>
        <p:spPr>
          <a:xfrm>
            <a:off x="2331720" y="2560320"/>
            <a:ext cx="3830878" cy="566928"/>
          </a:xfrm>
          <a:prstGeom prst="rect">
            <a:avLst/>
          </a:prstGeom>
          <a:solidFill>
            <a:srgbClr val="1B3A57"/>
          </a:solidFill>
          <a:ln w="9525">
            <a:solidFill>
              <a:srgbClr val="FFFFFF"/>
            </a:solidFill>
          </a:ln>
        </p:spPr>
        <p:txBody>
          <a:bodyPr rtlCol="0" anchor="ctr"/>
          <a:lstStyle/>
          <a:p>
            <a:pPr algn="ctr"/>
          </a:p>
        </p:txBody>
      </p:sp>
      <p:sp>
        <p:nvSpPr>
          <p:cNvPr id="20" name="TextBox 19"/>
          <p:cNvSpPr txBox="1"/>
          <p:nvPr/>
        </p:nvSpPr>
        <p:spPr>
          <a:xfrm>
            <a:off x="2368296" y="2606039"/>
            <a:ext cx="3776014" cy="475488"/>
          </a:xfrm>
          <a:prstGeom prst="rect">
            <a:avLst/>
          </a:prstGeom>
          <a:noFill/>
        </p:spPr>
        <p:txBody>
          <a:bodyPr wrap="square" lIns="0" tIns="0" rIns="0" bIns="0" anchor="ctr"/>
          <a:lstStyle/>
          <a:p>
            <a:pPr algn="ctr"/>
            <a:r>
              <a:rPr sz="1300" b="0" i="0">
                <a:solidFill>
                  <a:srgbClr val="FFFFFF"/>
                </a:solidFill>
                <a:latin typeface="Arial"/>
                <a:ea typeface="Arial"/>
                <a:cs typeface="Arial"/>
              </a:rPr>
              <a:t>GEMMs</a:t>
            </a:r>
          </a:p>
          <a:p>
            <a:pPr algn="ctr"/>
            <a:r>
              <a:rPr sz="1300" b="0" i="0">
                <a:solidFill>
                  <a:srgbClr val="FFFFFF"/>
                </a:solidFill>
                <a:latin typeface="Arial"/>
                <a:ea typeface="Arial"/>
                <a:cs typeface="Arial"/>
              </a:rPr>
              <a:t>931</a:t>
            </a:r>
          </a:p>
        </p:txBody>
      </p:sp>
      <p:sp>
        <p:nvSpPr>
          <p:cNvPr id="21" name="Rectangle 20"/>
          <p:cNvSpPr/>
          <p:nvPr/>
        </p:nvSpPr>
        <p:spPr>
          <a:xfrm>
            <a:off x="6162598" y="2560320"/>
            <a:ext cx="241497" cy="566928"/>
          </a:xfrm>
          <a:prstGeom prst="rect">
            <a:avLst/>
          </a:prstGeom>
          <a:solidFill>
            <a:srgbClr val="AFBAC4"/>
          </a:solidFill>
          <a:ln w="9525">
            <a:solidFill>
              <a:srgbClr val="FFFFFF"/>
            </a:solidFill>
          </a:ln>
        </p:spPr>
        <p:txBody>
          <a:bodyPr rtlCol="0" anchor="ctr"/>
          <a:lstStyle/>
          <a:p>
            <a:pPr algn="ctr"/>
          </a:p>
        </p:txBody>
      </p:sp>
      <p:sp>
        <p:nvSpPr>
          <p:cNvPr id="22" name="TextBox 21"/>
          <p:cNvSpPr txBox="1"/>
          <p:nvPr/>
        </p:nvSpPr>
        <p:spPr>
          <a:xfrm>
            <a:off x="6495536" y="2670048"/>
            <a:ext cx="822960" cy="329184"/>
          </a:xfrm>
          <a:prstGeom prst="rect">
            <a:avLst/>
          </a:prstGeom>
          <a:noFill/>
        </p:spPr>
        <p:txBody>
          <a:bodyPr wrap="square" lIns="0" tIns="0" rIns="0" bIns="0" anchor="t"/>
          <a:lstStyle/>
          <a:p>
            <a:pPr algn="l"/>
            <a:r>
              <a:rPr sz="1800" b="1" i="0">
                <a:solidFill>
                  <a:srgbClr val="1B3A57"/>
                </a:solidFill>
                <a:latin typeface="Arial"/>
                <a:ea typeface="Arial"/>
                <a:cs typeface="Arial"/>
              </a:rPr>
              <a:t>990</a:t>
            </a:r>
          </a:p>
        </p:txBody>
      </p:sp>
      <p:sp>
        <p:nvSpPr>
          <p:cNvPr id="23" name="TextBox 22"/>
          <p:cNvSpPr txBox="1"/>
          <p:nvPr/>
        </p:nvSpPr>
        <p:spPr>
          <a:xfrm>
            <a:off x="731520" y="3721608"/>
            <a:ext cx="1508760" cy="365760"/>
          </a:xfrm>
          <a:prstGeom prst="rect">
            <a:avLst/>
          </a:prstGeom>
          <a:noFill/>
        </p:spPr>
        <p:txBody>
          <a:bodyPr wrap="square" lIns="0" tIns="0" rIns="0" bIns="0" anchor="t"/>
          <a:lstStyle/>
          <a:p>
            <a:pPr algn="r"/>
            <a:r>
              <a:rPr sz="1800" b="1" i="0">
                <a:solidFill>
                  <a:srgbClr val="1B3A57"/>
                </a:solidFill>
                <a:latin typeface="Arial"/>
                <a:ea typeface="Arial"/>
                <a:cs typeface="Arial"/>
              </a:rPr>
              <a:t>Added</a:t>
            </a:r>
          </a:p>
        </p:txBody>
      </p:sp>
      <p:sp>
        <p:nvSpPr>
          <p:cNvPr id="24" name="Rectangle 23"/>
          <p:cNvSpPr/>
          <p:nvPr/>
        </p:nvSpPr>
        <p:spPr>
          <a:xfrm>
            <a:off x="2331720" y="3611880"/>
            <a:ext cx="1993908" cy="566928"/>
          </a:xfrm>
          <a:prstGeom prst="rect">
            <a:avLst/>
          </a:prstGeom>
          <a:solidFill>
            <a:srgbClr val="D55E00"/>
          </a:solidFill>
          <a:ln w="9525">
            <a:solidFill>
              <a:srgbClr val="FFFFFF"/>
            </a:solidFill>
          </a:ln>
        </p:spPr>
        <p:txBody>
          <a:bodyPr rtlCol="0" anchor="ctr"/>
          <a:lstStyle/>
          <a:p>
            <a:pPr algn="ctr"/>
          </a:p>
        </p:txBody>
      </p:sp>
      <p:sp>
        <p:nvSpPr>
          <p:cNvPr id="25" name="TextBox 24"/>
          <p:cNvSpPr txBox="1"/>
          <p:nvPr/>
        </p:nvSpPr>
        <p:spPr>
          <a:xfrm>
            <a:off x="2368296" y="3657600"/>
            <a:ext cx="1939044" cy="475488"/>
          </a:xfrm>
          <a:prstGeom prst="rect">
            <a:avLst/>
          </a:prstGeom>
          <a:noFill/>
        </p:spPr>
        <p:txBody>
          <a:bodyPr wrap="square" lIns="0" tIns="0" rIns="0" bIns="0" anchor="ctr"/>
          <a:lstStyle/>
          <a:p>
            <a:pPr algn="ctr"/>
            <a:r>
              <a:rPr sz="1300" b="0" i="0">
                <a:solidFill>
                  <a:srgbClr val="FFFFFF"/>
                </a:solidFill>
                <a:latin typeface="Arial"/>
                <a:ea typeface="Arial"/>
                <a:cs typeface="Arial"/>
              </a:rPr>
              <a:t>row scale</a:t>
            </a:r>
          </a:p>
          <a:p>
            <a:pPr algn="ctr"/>
            <a:r>
              <a:rPr sz="1300" b="0" i="0">
                <a:solidFill>
                  <a:srgbClr val="FFFFFF"/>
                </a:solidFill>
                <a:latin typeface="Arial"/>
                <a:ea typeface="Arial"/>
                <a:cs typeface="Arial"/>
              </a:rPr>
              <a:t>485</a:t>
            </a:r>
          </a:p>
        </p:txBody>
      </p:sp>
      <p:sp>
        <p:nvSpPr>
          <p:cNvPr id="26" name="Rectangle 25"/>
          <p:cNvSpPr/>
          <p:nvPr/>
        </p:nvSpPr>
        <p:spPr>
          <a:xfrm>
            <a:off x="4325628" y="3611880"/>
            <a:ext cx="1038040" cy="566928"/>
          </a:xfrm>
          <a:prstGeom prst="rect">
            <a:avLst/>
          </a:prstGeom>
          <a:solidFill>
            <a:srgbClr val="E69E66"/>
          </a:solidFill>
          <a:ln w="9525">
            <a:solidFill>
              <a:srgbClr val="FFFFFF"/>
            </a:solidFill>
          </a:ln>
        </p:spPr>
        <p:txBody>
          <a:bodyPr rtlCol="0" anchor="ctr"/>
          <a:lstStyle/>
          <a:p>
            <a:pPr algn="ctr"/>
          </a:p>
        </p:txBody>
      </p:sp>
      <p:sp>
        <p:nvSpPr>
          <p:cNvPr id="27" name="TextBox 26"/>
          <p:cNvSpPr txBox="1"/>
          <p:nvPr/>
        </p:nvSpPr>
        <p:spPr>
          <a:xfrm>
            <a:off x="4362204" y="3657600"/>
            <a:ext cx="983176" cy="475488"/>
          </a:xfrm>
          <a:prstGeom prst="rect">
            <a:avLst/>
          </a:prstGeom>
          <a:noFill/>
        </p:spPr>
        <p:txBody>
          <a:bodyPr wrap="square" lIns="0" tIns="0" rIns="0" bIns="0" anchor="ctr"/>
          <a:lstStyle/>
          <a:p>
            <a:pPr algn="ctr"/>
            <a:r>
              <a:rPr sz="1300" b="0" i="0">
                <a:solidFill>
                  <a:srgbClr val="1B3A57"/>
                </a:solidFill>
                <a:latin typeface="Arial"/>
                <a:ea typeface="Arial"/>
                <a:cs typeface="Arial"/>
              </a:rPr>
              <a:t>quantize</a:t>
            </a:r>
          </a:p>
          <a:p>
            <a:pPr algn="ctr"/>
            <a:r>
              <a:rPr sz="1300" b="0" i="0">
                <a:solidFill>
                  <a:srgbClr val="1B3A57"/>
                </a:solidFill>
                <a:latin typeface="Arial"/>
                <a:ea typeface="Arial"/>
                <a:cs typeface="Arial"/>
              </a:rPr>
              <a:t>252</a:t>
            </a:r>
          </a:p>
        </p:txBody>
      </p:sp>
      <p:sp>
        <p:nvSpPr>
          <p:cNvPr id="28" name="Rectangle 27"/>
          <p:cNvSpPr/>
          <p:nvPr/>
        </p:nvSpPr>
        <p:spPr>
          <a:xfrm>
            <a:off x="5363669" y="3611880"/>
            <a:ext cx="438102" cy="566928"/>
          </a:xfrm>
          <a:prstGeom prst="rect">
            <a:avLst/>
          </a:prstGeom>
          <a:solidFill>
            <a:srgbClr val="F0C7A6"/>
          </a:solidFill>
          <a:ln w="9525">
            <a:solidFill>
              <a:srgbClr val="FFFFFF"/>
            </a:solidFill>
          </a:ln>
        </p:spPr>
        <p:txBody>
          <a:bodyPr rtlCol="0" anchor="ctr"/>
          <a:lstStyle/>
          <a:p>
            <a:pPr algn="ctr"/>
          </a:p>
        </p:txBody>
      </p:sp>
      <p:sp>
        <p:nvSpPr>
          <p:cNvPr id="29" name="Rectangle 28"/>
          <p:cNvSpPr/>
          <p:nvPr/>
        </p:nvSpPr>
        <p:spPr>
          <a:xfrm>
            <a:off x="5801771" y="3611880"/>
            <a:ext cx="152124" cy="566928"/>
          </a:xfrm>
          <a:prstGeom prst="rect">
            <a:avLst/>
          </a:prstGeom>
          <a:solidFill>
            <a:srgbClr val="F7DFCC"/>
          </a:solidFill>
          <a:ln w="9525">
            <a:solidFill>
              <a:srgbClr val="FFFFFF"/>
            </a:solidFill>
          </a:ln>
        </p:spPr>
        <p:txBody>
          <a:bodyPr rtlCol="0" anchor="ctr"/>
          <a:lstStyle/>
          <a:p>
            <a:pPr algn="ctr"/>
          </a:p>
        </p:txBody>
      </p:sp>
      <p:sp>
        <p:nvSpPr>
          <p:cNvPr id="30" name="TextBox 29"/>
          <p:cNvSpPr txBox="1"/>
          <p:nvPr/>
        </p:nvSpPr>
        <p:spPr>
          <a:xfrm>
            <a:off x="6045336" y="3721608"/>
            <a:ext cx="822960" cy="329184"/>
          </a:xfrm>
          <a:prstGeom prst="rect">
            <a:avLst/>
          </a:prstGeom>
          <a:noFill/>
        </p:spPr>
        <p:txBody>
          <a:bodyPr wrap="square" lIns="0" tIns="0" rIns="0" bIns="0" anchor="t"/>
          <a:lstStyle/>
          <a:p>
            <a:pPr algn="l"/>
            <a:r>
              <a:rPr sz="1800" b="1" i="0">
                <a:solidFill>
                  <a:srgbClr val="D55E00"/>
                </a:solidFill>
                <a:latin typeface="Arial"/>
                <a:ea typeface="Arial"/>
                <a:cs typeface="Arial"/>
              </a:rPr>
              <a:t>880</a:t>
            </a:r>
          </a:p>
        </p:txBody>
      </p:sp>
      <p:cxnSp>
        <p:nvCxnSpPr>
          <p:cNvPr id="31" name="Connector 30"/>
          <p:cNvCxnSpPr/>
          <p:nvPr/>
        </p:nvCxnSpPr>
        <p:spPr>
          <a:xfrm>
            <a:off x="6903720" y="2029968"/>
            <a:ext cx="0" cy="3730752"/>
          </a:xfrm>
          <a:prstGeom prst="line">
            <a:avLst/>
          </a:prstGeom>
          <a:ln w="12700">
            <a:solidFill>
              <a:srgbClr val="D2DCDF"/>
            </a:solidFill>
          </a:ln>
        </p:spPr>
      </p:cxnSp>
      <p:sp>
        <p:nvSpPr>
          <p:cNvPr id="32" name="TextBox 31"/>
          <p:cNvSpPr txBox="1"/>
          <p:nvPr/>
        </p:nvSpPr>
        <p:spPr>
          <a:xfrm>
            <a:off x="7178040" y="2011680"/>
            <a:ext cx="4297680" cy="502920"/>
          </a:xfrm>
          <a:prstGeom prst="rect">
            <a:avLst/>
          </a:prstGeom>
          <a:noFill/>
        </p:spPr>
        <p:txBody>
          <a:bodyPr wrap="square" lIns="0" tIns="0" rIns="0" bIns="0" anchor="t"/>
          <a:lstStyle/>
          <a:p>
            <a:pPr algn="l"/>
            <a:r>
              <a:rPr sz="2800" b="1" i="0">
                <a:solidFill>
                  <a:srgbClr val="D55E00"/>
                </a:solidFill>
                <a:latin typeface="Arial"/>
                <a:ea typeface="Arial"/>
                <a:cs typeface="Arial"/>
              </a:rPr>
              <a:t>1.014×</a:t>
            </a:r>
          </a:p>
        </p:txBody>
      </p:sp>
      <p:sp>
        <p:nvSpPr>
          <p:cNvPr id="33" name="TextBox 32"/>
          <p:cNvSpPr txBox="1"/>
          <p:nvPr/>
        </p:nvSpPr>
        <p:spPr>
          <a:xfrm>
            <a:off x="7178040" y="2560320"/>
            <a:ext cx="4297680" cy="822960"/>
          </a:xfrm>
          <a:prstGeom prst="rect">
            <a:avLst/>
          </a:prstGeom>
          <a:noFill/>
        </p:spPr>
        <p:txBody>
          <a:bodyPr wrap="square" lIns="0" tIns="0" rIns="0" bIns="0" anchor="t"/>
          <a:lstStyle/>
          <a:p>
            <a:pPr algn="l"/>
            <a:r>
              <a:rPr sz="1600" b="0" i="0">
                <a:solidFill>
                  <a:srgbClr val="1B3A57"/>
                </a:solidFill>
                <a:latin typeface="Arial"/>
                <a:ea typeface="Arial"/>
                <a:cs typeface="Arial"/>
              </a:rPr>
              <a:t>decode rate at c = 64 against a kill rule of 1.05</a:t>
            </a:r>
          </a:p>
        </p:txBody>
      </p:sp>
      <p:sp>
        <p:nvSpPr>
          <p:cNvPr id="34" name="TextBox 33"/>
          <p:cNvSpPr txBox="1"/>
          <p:nvPr/>
        </p:nvSpPr>
        <p:spPr>
          <a:xfrm>
            <a:off x="7178040" y="3429000"/>
            <a:ext cx="4297680" cy="502920"/>
          </a:xfrm>
          <a:prstGeom prst="rect">
            <a:avLst/>
          </a:prstGeom>
          <a:noFill/>
        </p:spPr>
        <p:txBody>
          <a:bodyPr wrap="square" lIns="0" tIns="0" rIns="0" bIns="0" anchor="t"/>
          <a:lstStyle/>
          <a:p>
            <a:pPr algn="l"/>
            <a:r>
              <a:rPr sz="2800" b="1" i="0">
                <a:solidFill>
                  <a:srgbClr val="1B3A57"/>
                </a:solidFill>
                <a:latin typeface="Arial"/>
                <a:ea typeface="Arial"/>
                <a:cs typeface="Arial"/>
              </a:rPr>
              <a:t>1.120–1.260×</a:t>
            </a:r>
          </a:p>
        </p:txBody>
      </p:sp>
      <p:sp>
        <p:nvSpPr>
          <p:cNvPr id="35" name="TextBox 34"/>
          <p:cNvSpPr txBox="1"/>
          <p:nvPr/>
        </p:nvSpPr>
        <p:spPr>
          <a:xfrm>
            <a:off x="7178040" y="3977639"/>
            <a:ext cx="4297680" cy="822960"/>
          </a:xfrm>
          <a:prstGeom prst="rect">
            <a:avLst/>
          </a:prstGeom>
          <a:noFill/>
        </p:spPr>
        <p:txBody>
          <a:bodyPr wrap="square" lIns="0" tIns="0" rIns="0" bIns="0" anchor="t"/>
          <a:lstStyle/>
          <a:p>
            <a:pPr algn="l"/>
            <a:r>
              <a:rPr sz="1600" b="0" i="0">
                <a:solidFill>
                  <a:srgbClr val="1B3A57"/>
                </a:solidFill>
                <a:latin typeface="Arial"/>
                <a:ea typeface="Arial"/>
                <a:cs typeface="Arial"/>
              </a:rPr>
              <a:t>without the row-scale kernel, at c = 1–64; neither variant shown inside the quality budget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Weights dominate at batch 1, recurrent state at batch 128</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Appendix E.2 · evidence/profiles (breakdown.csv, dflash_breakdown.csv, tables.md) · Nsight Systems, fixed batch, graphs and overlap on · tracing inflates MTP’s idle</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B25</a:t>
            </a:r>
          </a:p>
        </p:txBody>
      </p:sp>
      <p:sp>
        <p:nvSpPr>
          <p:cNvPr id="6" name="TextBox 5"/>
          <p:cNvSpPr txBox="1"/>
          <p:nvPr/>
        </p:nvSpPr>
        <p:spPr>
          <a:xfrm>
            <a:off x="731520" y="1572768"/>
            <a:ext cx="10698480" cy="365760"/>
          </a:xfrm>
          <a:prstGeom prst="rect">
            <a:avLst/>
          </a:prstGeom>
          <a:noFill/>
        </p:spPr>
        <p:txBody>
          <a:bodyPr wrap="square" lIns="0" tIns="0" rIns="0" bIns="0" anchor="t"/>
          <a:lstStyle/>
          <a:p>
            <a:pPr algn="l"/>
            <a:r>
              <a:rPr sz="1900" b="0" i="0">
                <a:solidFill>
                  <a:srgbClr val="586B73"/>
                </a:solidFill>
                <a:latin typeface="Arial"/>
                <a:ea typeface="Arial"/>
                <a:cs typeface="Arial"/>
              </a:rPr>
              <a:t>Share of GPU time per step (plain) or cycle (MTP, untuned; 16-token DFlash, tuned)</a:t>
            </a:r>
          </a:p>
        </p:txBody>
      </p:sp>
      <p:sp>
        <p:nvSpPr>
          <p:cNvPr id="7" name="TextBox 6"/>
          <p:cNvSpPr txBox="1"/>
          <p:nvPr/>
        </p:nvSpPr>
        <p:spPr>
          <a:xfrm>
            <a:off x="731520" y="2048255"/>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Plain, B = 1</a:t>
            </a:r>
          </a:p>
        </p:txBody>
      </p:sp>
      <p:sp>
        <p:nvSpPr>
          <p:cNvPr id="8" name="Rectangle 7"/>
          <p:cNvSpPr/>
          <p:nvPr/>
        </p:nvSpPr>
        <p:spPr>
          <a:xfrm>
            <a:off x="2606040" y="2084831"/>
            <a:ext cx="764612" cy="246888"/>
          </a:xfrm>
          <a:prstGeom prst="rect">
            <a:avLst/>
          </a:prstGeom>
          <a:solidFill>
            <a:srgbClr val="1B3A57"/>
          </a:solidFill>
          <a:ln w="9525">
            <a:solidFill>
              <a:srgbClr val="FFFFFF"/>
            </a:solidFill>
          </a:ln>
        </p:spPr>
        <p:txBody>
          <a:bodyPr rtlCol="0" anchor="ctr"/>
          <a:lstStyle/>
          <a:p>
            <a:pPr algn="ctr"/>
          </a:p>
        </p:txBody>
      </p:sp>
      <p:sp>
        <p:nvSpPr>
          <p:cNvPr id="9" name="Rectangle 8"/>
          <p:cNvSpPr/>
          <p:nvPr/>
        </p:nvSpPr>
        <p:spPr>
          <a:xfrm>
            <a:off x="3370652" y="2084831"/>
            <a:ext cx="5066114" cy="246888"/>
          </a:xfrm>
          <a:prstGeom prst="rect">
            <a:avLst/>
          </a:prstGeom>
          <a:solidFill>
            <a:srgbClr val="BCC2C6"/>
          </a:solidFill>
          <a:ln w="9525">
            <a:solidFill>
              <a:srgbClr val="FFFFFF"/>
            </a:solidFill>
          </a:ln>
        </p:spPr>
        <p:txBody>
          <a:bodyPr rtlCol="0" anchor="ctr"/>
          <a:lstStyle/>
          <a:p>
            <a:pPr algn="ctr"/>
          </a:p>
        </p:txBody>
      </p:sp>
      <p:sp>
        <p:nvSpPr>
          <p:cNvPr id="10" name="TextBox 9"/>
          <p:cNvSpPr txBox="1"/>
          <p:nvPr/>
        </p:nvSpPr>
        <p:spPr>
          <a:xfrm>
            <a:off x="3370652" y="2084831"/>
            <a:ext cx="5066114" cy="246888"/>
          </a:xfrm>
          <a:prstGeom prst="rect">
            <a:avLst/>
          </a:prstGeom>
          <a:noFill/>
        </p:spPr>
        <p:txBody>
          <a:bodyPr wrap="square" lIns="0" tIns="0" rIns="0" bIns="0" anchor="ctr"/>
          <a:lstStyle/>
          <a:p>
            <a:pPr algn="ctr"/>
            <a:r>
              <a:rPr sz="1200" b="1" i="0">
                <a:solidFill>
                  <a:srgbClr val="1B3A57"/>
                </a:solidFill>
                <a:latin typeface="Arial"/>
                <a:ea typeface="Arial"/>
                <a:cs typeface="Arial"/>
              </a:rPr>
              <a:t>68%</a:t>
            </a:r>
          </a:p>
        </p:txBody>
      </p:sp>
      <p:sp>
        <p:nvSpPr>
          <p:cNvPr id="11" name="Rectangle 10"/>
          <p:cNvSpPr/>
          <p:nvPr/>
        </p:nvSpPr>
        <p:spPr>
          <a:xfrm>
            <a:off x="8436766" y="2084831"/>
            <a:ext cx="458320" cy="246888"/>
          </a:xfrm>
          <a:prstGeom prst="rect">
            <a:avLst/>
          </a:prstGeom>
          <a:solidFill>
            <a:srgbClr val="818B93"/>
          </a:solidFill>
          <a:ln w="9525">
            <a:solidFill>
              <a:srgbClr val="FFFFFF"/>
            </a:solidFill>
          </a:ln>
        </p:spPr>
        <p:txBody>
          <a:bodyPr rtlCol="0" anchor="ctr"/>
          <a:lstStyle/>
          <a:p>
            <a:pPr algn="ctr"/>
          </a:p>
        </p:txBody>
      </p:sp>
      <p:sp>
        <p:nvSpPr>
          <p:cNvPr id="12" name="Rectangle 11"/>
          <p:cNvSpPr/>
          <p:nvPr/>
        </p:nvSpPr>
        <p:spPr>
          <a:xfrm>
            <a:off x="8895086" y="2084831"/>
            <a:ext cx="360694" cy="246888"/>
          </a:xfrm>
          <a:prstGeom prst="rect">
            <a:avLst/>
          </a:prstGeom>
          <a:solidFill>
            <a:srgbClr val="9FA7AC"/>
          </a:solidFill>
          <a:ln w="9525">
            <a:solidFill>
              <a:srgbClr val="FFFFFF"/>
            </a:solidFill>
          </a:ln>
        </p:spPr>
        <p:txBody>
          <a:bodyPr rtlCol="0" anchor="ctr"/>
          <a:lstStyle/>
          <a:p>
            <a:pPr algn="ctr"/>
          </a:p>
        </p:txBody>
      </p:sp>
      <p:sp>
        <p:nvSpPr>
          <p:cNvPr id="13" name="Rectangle 12"/>
          <p:cNvSpPr/>
          <p:nvPr/>
        </p:nvSpPr>
        <p:spPr>
          <a:xfrm>
            <a:off x="9255780" y="2084831"/>
            <a:ext cx="484403" cy="246888"/>
          </a:xfrm>
          <a:prstGeom prst="rect">
            <a:avLst/>
          </a:prstGeom>
          <a:solidFill>
            <a:srgbClr val="EDEFF0"/>
          </a:solidFill>
          <a:ln w="9525">
            <a:solidFill>
              <a:srgbClr val="FFFFFF"/>
            </a:solidFill>
          </a:ln>
        </p:spPr>
        <p:txBody>
          <a:bodyPr rtlCol="0" anchor="ctr"/>
          <a:lstStyle/>
          <a:p>
            <a:pPr algn="ctr"/>
          </a:p>
        </p:txBody>
      </p:sp>
      <p:sp>
        <p:nvSpPr>
          <p:cNvPr id="14" name="Rectangle 13"/>
          <p:cNvSpPr/>
          <p:nvPr/>
        </p:nvSpPr>
        <p:spPr>
          <a:xfrm>
            <a:off x="9740184" y="2084831"/>
            <a:ext cx="318961" cy="246888"/>
          </a:xfrm>
          <a:prstGeom prst="rect">
            <a:avLst/>
          </a:prstGeom>
          <a:solidFill>
            <a:srgbClr val="FFFFFF"/>
          </a:solidFill>
          <a:ln w="9525">
            <a:solidFill>
              <a:srgbClr val="6B7780"/>
            </a:solidFill>
          </a:ln>
        </p:spPr>
        <p:txBody>
          <a:bodyPr rtlCol="0" anchor="ctr"/>
          <a:lstStyle/>
          <a:p>
            <a:pPr algn="ctr"/>
          </a:p>
        </p:txBody>
      </p:sp>
      <p:sp>
        <p:nvSpPr>
          <p:cNvPr id="15" name="TextBox 14"/>
          <p:cNvSpPr txBox="1"/>
          <p:nvPr/>
        </p:nvSpPr>
        <p:spPr>
          <a:xfrm>
            <a:off x="10149840" y="2048255"/>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10.3%</a:t>
            </a:r>
          </a:p>
        </p:txBody>
      </p:sp>
      <p:sp>
        <p:nvSpPr>
          <p:cNvPr id="16" name="TextBox 15"/>
          <p:cNvSpPr txBox="1"/>
          <p:nvPr/>
        </p:nvSpPr>
        <p:spPr>
          <a:xfrm>
            <a:off x="731520" y="2350008"/>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Plain, B = 8</a:t>
            </a:r>
          </a:p>
        </p:txBody>
      </p:sp>
      <p:sp>
        <p:nvSpPr>
          <p:cNvPr id="17" name="Rectangle 16"/>
          <p:cNvSpPr/>
          <p:nvPr/>
        </p:nvSpPr>
        <p:spPr>
          <a:xfrm>
            <a:off x="2606040" y="2386584"/>
            <a:ext cx="697540" cy="246888"/>
          </a:xfrm>
          <a:prstGeom prst="rect">
            <a:avLst/>
          </a:prstGeom>
          <a:solidFill>
            <a:srgbClr val="1B3A57"/>
          </a:solidFill>
          <a:ln w="9525">
            <a:solidFill>
              <a:srgbClr val="FFFFFF"/>
            </a:solidFill>
          </a:ln>
        </p:spPr>
        <p:txBody>
          <a:bodyPr rtlCol="0" anchor="ctr"/>
          <a:lstStyle/>
          <a:p>
            <a:pPr algn="ctr"/>
          </a:p>
        </p:txBody>
      </p:sp>
      <p:sp>
        <p:nvSpPr>
          <p:cNvPr id="18" name="Rectangle 17"/>
          <p:cNvSpPr/>
          <p:nvPr/>
        </p:nvSpPr>
        <p:spPr>
          <a:xfrm>
            <a:off x="3303580" y="2386584"/>
            <a:ext cx="4806772" cy="246888"/>
          </a:xfrm>
          <a:prstGeom prst="rect">
            <a:avLst/>
          </a:prstGeom>
          <a:solidFill>
            <a:srgbClr val="BCC2C6"/>
          </a:solidFill>
          <a:ln w="9525">
            <a:solidFill>
              <a:srgbClr val="FFFFFF"/>
            </a:solidFill>
          </a:ln>
        </p:spPr>
        <p:txBody>
          <a:bodyPr rtlCol="0" anchor="ctr"/>
          <a:lstStyle/>
          <a:p>
            <a:pPr algn="ctr"/>
          </a:p>
        </p:txBody>
      </p:sp>
      <p:sp>
        <p:nvSpPr>
          <p:cNvPr id="19" name="TextBox 18"/>
          <p:cNvSpPr txBox="1"/>
          <p:nvPr/>
        </p:nvSpPr>
        <p:spPr>
          <a:xfrm>
            <a:off x="3303580" y="2386584"/>
            <a:ext cx="4806772" cy="246888"/>
          </a:xfrm>
          <a:prstGeom prst="rect">
            <a:avLst/>
          </a:prstGeom>
          <a:noFill/>
        </p:spPr>
        <p:txBody>
          <a:bodyPr wrap="square" lIns="0" tIns="0" rIns="0" bIns="0" anchor="ctr"/>
          <a:lstStyle/>
          <a:p>
            <a:pPr algn="ctr"/>
            <a:r>
              <a:rPr sz="1200" b="1" i="0">
                <a:solidFill>
                  <a:srgbClr val="1B3A57"/>
                </a:solidFill>
                <a:latin typeface="Arial"/>
                <a:ea typeface="Arial"/>
                <a:cs typeface="Arial"/>
              </a:rPr>
              <a:t>64%</a:t>
            </a:r>
          </a:p>
        </p:txBody>
      </p:sp>
      <p:sp>
        <p:nvSpPr>
          <p:cNvPr id="20" name="Rectangle 19"/>
          <p:cNvSpPr/>
          <p:nvPr/>
        </p:nvSpPr>
        <p:spPr>
          <a:xfrm>
            <a:off x="8110353" y="2386584"/>
            <a:ext cx="713190" cy="246888"/>
          </a:xfrm>
          <a:prstGeom prst="rect">
            <a:avLst/>
          </a:prstGeom>
          <a:solidFill>
            <a:srgbClr val="818B93"/>
          </a:solidFill>
          <a:ln w="9525">
            <a:solidFill>
              <a:srgbClr val="FFFFFF"/>
            </a:solidFill>
          </a:ln>
        </p:spPr>
        <p:txBody>
          <a:bodyPr rtlCol="0" anchor="ctr"/>
          <a:lstStyle/>
          <a:p>
            <a:pPr algn="ctr"/>
          </a:p>
        </p:txBody>
      </p:sp>
      <p:sp>
        <p:nvSpPr>
          <p:cNvPr id="21" name="Rectangle 20"/>
          <p:cNvSpPr/>
          <p:nvPr/>
        </p:nvSpPr>
        <p:spPr>
          <a:xfrm>
            <a:off x="8823543" y="2386584"/>
            <a:ext cx="408389" cy="246888"/>
          </a:xfrm>
          <a:prstGeom prst="rect">
            <a:avLst/>
          </a:prstGeom>
          <a:solidFill>
            <a:srgbClr val="9FA7AC"/>
          </a:solidFill>
          <a:ln w="9525">
            <a:solidFill>
              <a:srgbClr val="FFFFFF"/>
            </a:solidFill>
          </a:ln>
        </p:spPr>
        <p:txBody>
          <a:bodyPr rtlCol="0" anchor="ctr"/>
          <a:lstStyle/>
          <a:p>
            <a:pPr algn="ctr"/>
          </a:p>
        </p:txBody>
      </p:sp>
      <p:sp>
        <p:nvSpPr>
          <p:cNvPr id="22" name="Rectangle 21"/>
          <p:cNvSpPr/>
          <p:nvPr/>
        </p:nvSpPr>
        <p:spPr>
          <a:xfrm>
            <a:off x="9231933" y="2386584"/>
            <a:ext cx="526881" cy="246888"/>
          </a:xfrm>
          <a:prstGeom prst="rect">
            <a:avLst/>
          </a:prstGeom>
          <a:solidFill>
            <a:srgbClr val="EDEFF0"/>
          </a:solidFill>
          <a:ln w="9525">
            <a:solidFill>
              <a:srgbClr val="FFFFFF"/>
            </a:solidFill>
          </a:ln>
        </p:spPr>
        <p:txBody>
          <a:bodyPr rtlCol="0" anchor="ctr"/>
          <a:lstStyle/>
          <a:p>
            <a:pPr algn="ctr"/>
          </a:p>
        </p:txBody>
      </p:sp>
      <p:sp>
        <p:nvSpPr>
          <p:cNvPr id="23" name="Rectangle 22"/>
          <p:cNvSpPr/>
          <p:nvPr/>
        </p:nvSpPr>
        <p:spPr>
          <a:xfrm>
            <a:off x="9758815" y="2386584"/>
            <a:ext cx="299584" cy="246888"/>
          </a:xfrm>
          <a:prstGeom prst="rect">
            <a:avLst/>
          </a:prstGeom>
          <a:solidFill>
            <a:srgbClr val="FFFFFF"/>
          </a:solidFill>
          <a:ln w="9525">
            <a:solidFill>
              <a:srgbClr val="6B7780"/>
            </a:solidFill>
          </a:ln>
        </p:spPr>
        <p:txBody>
          <a:bodyPr rtlCol="0" anchor="ctr"/>
          <a:lstStyle/>
          <a:p>
            <a:pPr algn="ctr"/>
          </a:p>
        </p:txBody>
      </p:sp>
      <p:sp>
        <p:nvSpPr>
          <p:cNvPr id="24" name="TextBox 23"/>
          <p:cNvSpPr txBox="1"/>
          <p:nvPr/>
        </p:nvSpPr>
        <p:spPr>
          <a:xfrm>
            <a:off x="10149840" y="2350008"/>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9.4%</a:t>
            </a:r>
          </a:p>
        </p:txBody>
      </p:sp>
      <p:sp>
        <p:nvSpPr>
          <p:cNvPr id="25" name="TextBox 24"/>
          <p:cNvSpPr txBox="1"/>
          <p:nvPr/>
        </p:nvSpPr>
        <p:spPr>
          <a:xfrm>
            <a:off x="731520" y="2651760"/>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Plain, B = 32</a:t>
            </a:r>
          </a:p>
        </p:txBody>
      </p:sp>
      <p:sp>
        <p:nvSpPr>
          <p:cNvPr id="26" name="Rectangle 25"/>
          <p:cNvSpPr/>
          <p:nvPr/>
        </p:nvSpPr>
        <p:spPr>
          <a:xfrm>
            <a:off x="2606040" y="2688336"/>
            <a:ext cx="581284" cy="246888"/>
          </a:xfrm>
          <a:prstGeom prst="rect">
            <a:avLst/>
          </a:prstGeom>
          <a:solidFill>
            <a:srgbClr val="1B3A57"/>
          </a:solidFill>
          <a:ln w="9525">
            <a:solidFill>
              <a:srgbClr val="FFFFFF"/>
            </a:solidFill>
          </a:ln>
        </p:spPr>
        <p:txBody>
          <a:bodyPr rtlCol="0" anchor="ctr"/>
          <a:lstStyle/>
          <a:p>
            <a:pPr algn="ctr"/>
          </a:p>
        </p:txBody>
      </p:sp>
      <p:sp>
        <p:nvSpPr>
          <p:cNvPr id="27" name="Rectangle 26"/>
          <p:cNvSpPr/>
          <p:nvPr/>
        </p:nvSpPr>
        <p:spPr>
          <a:xfrm>
            <a:off x="3187324" y="2688336"/>
            <a:ext cx="4023529" cy="246888"/>
          </a:xfrm>
          <a:prstGeom prst="rect">
            <a:avLst/>
          </a:prstGeom>
          <a:solidFill>
            <a:srgbClr val="BCC2C6"/>
          </a:solidFill>
          <a:ln w="9525">
            <a:solidFill>
              <a:srgbClr val="FFFFFF"/>
            </a:solidFill>
          </a:ln>
        </p:spPr>
        <p:txBody>
          <a:bodyPr rtlCol="0" anchor="ctr"/>
          <a:lstStyle/>
          <a:p>
            <a:pPr algn="ctr"/>
          </a:p>
        </p:txBody>
      </p:sp>
      <p:sp>
        <p:nvSpPr>
          <p:cNvPr id="28" name="TextBox 27"/>
          <p:cNvSpPr txBox="1"/>
          <p:nvPr/>
        </p:nvSpPr>
        <p:spPr>
          <a:xfrm>
            <a:off x="3187324" y="2688336"/>
            <a:ext cx="4023529" cy="246888"/>
          </a:xfrm>
          <a:prstGeom prst="rect">
            <a:avLst/>
          </a:prstGeom>
          <a:noFill/>
        </p:spPr>
        <p:txBody>
          <a:bodyPr wrap="square" lIns="0" tIns="0" rIns="0" bIns="0" anchor="ctr"/>
          <a:lstStyle/>
          <a:p>
            <a:pPr algn="ctr"/>
            <a:r>
              <a:rPr sz="1200" b="1" i="0">
                <a:solidFill>
                  <a:srgbClr val="1B3A57"/>
                </a:solidFill>
                <a:latin typeface="Arial"/>
                <a:ea typeface="Arial"/>
                <a:cs typeface="Arial"/>
              </a:rPr>
              <a:t>54%</a:t>
            </a:r>
          </a:p>
        </p:txBody>
      </p:sp>
      <p:sp>
        <p:nvSpPr>
          <p:cNvPr id="29" name="Rectangle 28"/>
          <p:cNvSpPr/>
          <p:nvPr/>
        </p:nvSpPr>
        <p:spPr>
          <a:xfrm>
            <a:off x="7210853" y="2688336"/>
            <a:ext cx="1591824" cy="246888"/>
          </a:xfrm>
          <a:prstGeom prst="rect">
            <a:avLst/>
          </a:prstGeom>
          <a:solidFill>
            <a:srgbClr val="818B93"/>
          </a:solidFill>
          <a:ln w="9525">
            <a:solidFill>
              <a:srgbClr val="FFFFFF"/>
            </a:solidFill>
          </a:ln>
        </p:spPr>
        <p:txBody>
          <a:bodyPr rtlCol="0" anchor="ctr"/>
          <a:lstStyle/>
          <a:p>
            <a:pPr algn="ctr"/>
          </a:p>
        </p:txBody>
      </p:sp>
      <p:sp>
        <p:nvSpPr>
          <p:cNvPr id="30" name="TextBox 29"/>
          <p:cNvSpPr txBox="1"/>
          <p:nvPr/>
        </p:nvSpPr>
        <p:spPr>
          <a:xfrm>
            <a:off x="7210853" y="2688336"/>
            <a:ext cx="1591824" cy="246888"/>
          </a:xfrm>
          <a:prstGeom prst="rect">
            <a:avLst/>
          </a:prstGeom>
          <a:noFill/>
        </p:spPr>
        <p:txBody>
          <a:bodyPr wrap="square" lIns="0" tIns="0" rIns="0" bIns="0" anchor="ctr"/>
          <a:lstStyle/>
          <a:p>
            <a:pPr algn="ctr"/>
            <a:r>
              <a:rPr sz="1200" b="1" i="0">
                <a:solidFill>
                  <a:srgbClr val="FFFFFF"/>
                </a:solidFill>
                <a:latin typeface="Arial"/>
                <a:ea typeface="Arial"/>
                <a:cs typeface="Arial"/>
              </a:rPr>
              <a:t>21%</a:t>
            </a:r>
          </a:p>
        </p:txBody>
      </p:sp>
      <p:sp>
        <p:nvSpPr>
          <p:cNvPr id="31" name="Rectangle 30"/>
          <p:cNvSpPr/>
          <p:nvPr/>
        </p:nvSpPr>
        <p:spPr>
          <a:xfrm>
            <a:off x="8802677" y="2688336"/>
            <a:ext cx="536569" cy="246888"/>
          </a:xfrm>
          <a:prstGeom prst="rect">
            <a:avLst/>
          </a:prstGeom>
          <a:solidFill>
            <a:srgbClr val="9FA7AC"/>
          </a:solidFill>
          <a:ln w="9525">
            <a:solidFill>
              <a:srgbClr val="FFFFFF"/>
            </a:solidFill>
          </a:ln>
        </p:spPr>
        <p:txBody>
          <a:bodyPr rtlCol="0" anchor="ctr"/>
          <a:lstStyle/>
          <a:p>
            <a:pPr algn="ctr"/>
          </a:p>
        </p:txBody>
      </p:sp>
      <p:sp>
        <p:nvSpPr>
          <p:cNvPr id="32" name="Rectangle 31"/>
          <p:cNvSpPr/>
          <p:nvPr/>
        </p:nvSpPr>
        <p:spPr>
          <a:xfrm>
            <a:off x="9339247" y="2688336"/>
            <a:ext cx="499308" cy="246888"/>
          </a:xfrm>
          <a:prstGeom prst="rect">
            <a:avLst/>
          </a:prstGeom>
          <a:solidFill>
            <a:srgbClr val="EDEFF0"/>
          </a:solidFill>
          <a:ln w="9525">
            <a:solidFill>
              <a:srgbClr val="FFFFFF"/>
            </a:solidFill>
          </a:ln>
        </p:spPr>
        <p:txBody>
          <a:bodyPr rtlCol="0" anchor="ctr"/>
          <a:lstStyle/>
          <a:p>
            <a:pPr algn="ctr"/>
          </a:p>
        </p:txBody>
      </p:sp>
      <p:sp>
        <p:nvSpPr>
          <p:cNvPr id="33" name="Rectangle 32"/>
          <p:cNvSpPr/>
          <p:nvPr/>
        </p:nvSpPr>
        <p:spPr>
          <a:xfrm>
            <a:off x="9838555" y="2688336"/>
            <a:ext cx="220589" cy="246888"/>
          </a:xfrm>
          <a:prstGeom prst="rect">
            <a:avLst/>
          </a:prstGeom>
          <a:solidFill>
            <a:srgbClr val="FFFFFF"/>
          </a:solidFill>
          <a:ln w="9525">
            <a:solidFill>
              <a:srgbClr val="6B7780"/>
            </a:solidFill>
          </a:ln>
        </p:spPr>
        <p:txBody>
          <a:bodyPr rtlCol="0" anchor="ctr"/>
          <a:lstStyle/>
          <a:p>
            <a:pPr algn="ctr"/>
          </a:p>
        </p:txBody>
      </p:sp>
      <p:sp>
        <p:nvSpPr>
          <p:cNvPr id="34" name="TextBox 33"/>
          <p:cNvSpPr txBox="1"/>
          <p:nvPr/>
        </p:nvSpPr>
        <p:spPr>
          <a:xfrm>
            <a:off x="10149840" y="2651760"/>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7.8%</a:t>
            </a:r>
          </a:p>
        </p:txBody>
      </p:sp>
      <p:sp>
        <p:nvSpPr>
          <p:cNvPr id="35" name="TextBox 34"/>
          <p:cNvSpPr txBox="1"/>
          <p:nvPr/>
        </p:nvSpPr>
        <p:spPr>
          <a:xfrm>
            <a:off x="731520" y="2953512"/>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Plain, B = 128</a:t>
            </a:r>
          </a:p>
        </p:txBody>
      </p:sp>
      <p:sp>
        <p:nvSpPr>
          <p:cNvPr id="36" name="Rectangle 35"/>
          <p:cNvSpPr/>
          <p:nvPr/>
        </p:nvSpPr>
        <p:spPr>
          <a:xfrm>
            <a:off x="2606040" y="2990088"/>
            <a:ext cx="456084" cy="246888"/>
          </a:xfrm>
          <a:prstGeom prst="rect">
            <a:avLst/>
          </a:prstGeom>
          <a:solidFill>
            <a:srgbClr val="1B3A57"/>
          </a:solidFill>
          <a:ln w="9525">
            <a:solidFill>
              <a:srgbClr val="FFFFFF"/>
            </a:solidFill>
          </a:ln>
        </p:spPr>
        <p:txBody>
          <a:bodyPr rtlCol="0" anchor="ctr"/>
          <a:lstStyle/>
          <a:p>
            <a:pPr algn="ctr"/>
          </a:p>
        </p:txBody>
      </p:sp>
      <p:sp>
        <p:nvSpPr>
          <p:cNvPr id="37" name="Rectangle 36"/>
          <p:cNvSpPr/>
          <p:nvPr/>
        </p:nvSpPr>
        <p:spPr>
          <a:xfrm>
            <a:off x="3062124" y="2990088"/>
            <a:ext cx="2570318" cy="246888"/>
          </a:xfrm>
          <a:prstGeom prst="rect">
            <a:avLst/>
          </a:prstGeom>
          <a:solidFill>
            <a:srgbClr val="BCC2C6"/>
          </a:solidFill>
          <a:ln w="9525">
            <a:solidFill>
              <a:srgbClr val="FFFFFF"/>
            </a:solidFill>
          </a:ln>
        </p:spPr>
        <p:txBody>
          <a:bodyPr rtlCol="0" anchor="ctr"/>
          <a:lstStyle/>
          <a:p>
            <a:pPr algn="ctr"/>
          </a:p>
        </p:txBody>
      </p:sp>
      <p:sp>
        <p:nvSpPr>
          <p:cNvPr id="38" name="TextBox 37"/>
          <p:cNvSpPr txBox="1"/>
          <p:nvPr/>
        </p:nvSpPr>
        <p:spPr>
          <a:xfrm>
            <a:off x="3062124" y="2990088"/>
            <a:ext cx="2570318" cy="246888"/>
          </a:xfrm>
          <a:prstGeom prst="rect">
            <a:avLst/>
          </a:prstGeom>
          <a:noFill/>
        </p:spPr>
        <p:txBody>
          <a:bodyPr wrap="square" lIns="0" tIns="0" rIns="0" bIns="0" anchor="ctr"/>
          <a:lstStyle/>
          <a:p>
            <a:pPr algn="ctr"/>
            <a:r>
              <a:rPr sz="1200" b="1" i="0">
                <a:solidFill>
                  <a:srgbClr val="1B3A57"/>
                </a:solidFill>
                <a:latin typeface="Arial"/>
                <a:ea typeface="Arial"/>
                <a:cs typeface="Arial"/>
              </a:rPr>
              <a:t>34%</a:t>
            </a:r>
          </a:p>
        </p:txBody>
      </p:sp>
      <p:sp>
        <p:nvSpPr>
          <p:cNvPr id="39" name="Rectangle 38"/>
          <p:cNvSpPr/>
          <p:nvPr/>
        </p:nvSpPr>
        <p:spPr>
          <a:xfrm>
            <a:off x="5632443" y="2990088"/>
            <a:ext cx="3384116" cy="246888"/>
          </a:xfrm>
          <a:prstGeom prst="rect">
            <a:avLst/>
          </a:prstGeom>
          <a:solidFill>
            <a:srgbClr val="818B93"/>
          </a:solidFill>
          <a:ln w="9525">
            <a:solidFill>
              <a:srgbClr val="FFFFFF"/>
            </a:solidFill>
          </a:ln>
        </p:spPr>
        <p:txBody>
          <a:bodyPr rtlCol="0" anchor="ctr"/>
          <a:lstStyle/>
          <a:p>
            <a:pPr algn="ctr"/>
          </a:p>
        </p:txBody>
      </p:sp>
      <p:sp>
        <p:nvSpPr>
          <p:cNvPr id="40" name="TextBox 39"/>
          <p:cNvSpPr txBox="1"/>
          <p:nvPr/>
        </p:nvSpPr>
        <p:spPr>
          <a:xfrm>
            <a:off x="5632443" y="2990088"/>
            <a:ext cx="3384116" cy="246888"/>
          </a:xfrm>
          <a:prstGeom prst="rect">
            <a:avLst/>
          </a:prstGeom>
          <a:noFill/>
        </p:spPr>
        <p:txBody>
          <a:bodyPr wrap="square" lIns="0" tIns="0" rIns="0" bIns="0" anchor="ctr"/>
          <a:lstStyle/>
          <a:p>
            <a:pPr algn="ctr"/>
            <a:r>
              <a:rPr sz="1200" b="1" i="0">
                <a:solidFill>
                  <a:srgbClr val="FFFFFF"/>
                </a:solidFill>
                <a:latin typeface="Arial"/>
                <a:ea typeface="Arial"/>
                <a:cs typeface="Arial"/>
              </a:rPr>
              <a:t>45%</a:t>
            </a:r>
          </a:p>
        </p:txBody>
      </p:sp>
      <p:sp>
        <p:nvSpPr>
          <p:cNvPr id="41" name="Rectangle 40"/>
          <p:cNvSpPr/>
          <p:nvPr/>
        </p:nvSpPr>
        <p:spPr>
          <a:xfrm>
            <a:off x="9016560" y="2990088"/>
            <a:ext cx="631960" cy="246888"/>
          </a:xfrm>
          <a:prstGeom prst="rect">
            <a:avLst/>
          </a:prstGeom>
          <a:solidFill>
            <a:srgbClr val="9FA7AC"/>
          </a:solidFill>
          <a:ln w="9525">
            <a:solidFill>
              <a:srgbClr val="FFFFFF"/>
            </a:solidFill>
          </a:ln>
        </p:spPr>
        <p:txBody>
          <a:bodyPr rtlCol="0" anchor="ctr"/>
          <a:lstStyle/>
          <a:p>
            <a:pPr algn="ctr"/>
          </a:p>
        </p:txBody>
      </p:sp>
      <p:sp>
        <p:nvSpPr>
          <p:cNvPr id="42" name="Rectangle 41"/>
          <p:cNvSpPr/>
          <p:nvPr/>
        </p:nvSpPr>
        <p:spPr>
          <a:xfrm>
            <a:off x="9648520" y="2990088"/>
            <a:ext cx="280953" cy="246888"/>
          </a:xfrm>
          <a:prstGeom prst="rect">
            <a:avLst/>
          </a:prstGeom>
          <a:solidFill>
            <a:srgbClr val="EDEFF0"/>
          </a:solidFill>
          <a:ln w="9525">
            <a:solidFill>
              <a:srgbClr val="FFFFFF"/>
            </a:solidFill>
          </a:ln>
        </p:spPr>
        <p:txBody>
          <a:bodyPr rtlCol="0" anchor="ctr"/>
          <a:lstStyle/>
          <a:p>
            <a:pPr algn="ctr"/>
          </a:p>
        </p:txBody>
      </p:sp>
      <p:sp>
        <p:nvSpPr>
          <p:cNvPr id="43" name="Rectangle 42"/>
          <p:cNvSpPr/>
          <p:nvPr/>
        </p:nvSpPr>
        <p:spPr>
          <a:xfrm>
            <a:off x="9929474" y="2990088"/>
            <a:ext cx="128925" cy="246888"/>
          </a:xfrm>
          <a:prstGeom prst="rect">
            <a:avLst/>
          </a:prstGeom>
          <a:solidFill>
            <a:srgbClr val="FFFFFF"/>
          </a:solidFill>
          <a:ln w="9525">
            <a:solidFill>
              <a:srgbClr val="6B7780"/>
            </a:solidFill>
          </a:ln>
        </p:spPr>
        <p:txBody>
          <a:bodyPr rtlCol="0" anchor="ctr"/>
          <a:lstStyle/>
          <a:p>
            <a:pPr algn="ctr"/>
          </a:p>
        </p:txBody>
      </p:sp>
      <p:sp>
        <p:nvSpPr>
          <p:cNvPr id="44" name="TextBox 43"/>
          <p:cNvSpPr txBox="1"/>
          <p:nvPr/>
        </p:nvSpPr>
        <p:spPr>
          <a:xfrm>
            <a:off x="10149840" y="2953512"/>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6.1%</a:t>
            </a:r>
          </a:p>
        </p:txBody>
      </p:sp>
      <p:sp>
        <p:nvSpPr>
          <p:cNvPr id="45" name="TextBox 44"/>
          <p:cNvSpPr txBox="1"/>
          <p:nvPr/>
        </p:nvSpPr>
        <p:spPr>
          <a:xfrm>
            <a:off x="731520" y="3346704"/>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MTP, B = 1</a:t>
            </a:r>
          </a:p>
        </p:txBody>
      </p:sp>
      <p:sp>
        <p:nvSpPr>
          <p:cNvPr id="46" name="Rectangle 45"/>
          <p:cNvSpPr/>
          <p:nvPr/>
        </p:nvSpPr>
        <p:spPr>
          <a:xfrm>
            <a:off x="2606040" y="3383280"/>
            <a:ext cx="324922" cy="246888"/>
          </a:xfrm>
          <a:prstGeom prst="rect">
            <a:avLst/>
          </a:prstGeom>
          <a:solidFill>
            <a:srgbClr val="1B3A57"/>
          </a:solidFill>
          <a:ln w="9525">
            <a:solidFill>
              <a:srgbClr val="FFFFFF"/>
            </a:solidFill>
          </a:ln>
        </p:spPr>
        <p:txBody>
          <a:bodyPr rtlCol="0" anchor="ctr"/>
          <a:lstStyle/>
          <a:p>
            <a:pPr algn="ctr"/>
          </a:p>
        </p:txBody>
      </p:sp>
      <p:sp>
        <p:nvSpPr>
          <p:cNvPr id="47" name="Rectangle 46"/>
          <p:cNvSpPr/>
          <p:nvPr/>
        </p:nvSpPr>
        <p:spPr>
          <a:xfrm>
            <a:off x="2930962" y="3383280"/>
            <a:ext cx="959118" cy="246888"/>
          </a:xfrm>
          <a:prstGeom prst="rect">
            <a:avLst/>
          </a:prstGeom>
          <a:solidFill>
            <a:srgbClr val="1C6402"/>
          </a:solidFill>
          <a:ln w="9525">
            <a:solidFill>
              <a:srgbClr val="FFFFFF"/>
            </a:solidFill>
          </a:ln>
        </p:spPr>
        <p:txBody>
          <a:bodyPr rtlCol="0" anchor="ctr"/>
          <a:lstStyle/>
          <a:p>
            <a:pPr algn="ctr"/>
          </a:p>
        </p:txBody>
      </p:sp>
      <p:sp>
        <p:nvSpPr>
          <p:cNvPr id="48" name="Rectangle 47"/>
          <p:cNvSpPr/>
          <p:nvPr/>
        </p:nvSpPr>
        <p:spPr>
          <a:xfrm>
            <a:off x="3890081" y="3383280"/>
            <a:ext cx="2208134" cy="246888"/>
          </a:xfrm>
          <a:prstGeom prst="rect">
            <a:avLst/>
          </a:prstGeom>
          <a:solidFill>
            <a:srgbClr val="BCC2C6"/>
          </a:solidFill>
          <a:ln w="9525">
            <a:solidFill>
              <a:srgbClr val="FFFFFF"/>
            </a:solidFill>
          </a:ln>
        </p:spPr>
        <p:txBody>
          <a:bodyPr rtlCol="0" anchor="ctr"/>
          <a:lstStyle/>
          <a:p>
            <a:pPr algn="ctr"/>
          </a:p>
        </p:txBody>
      </p:sp>
      <p:sp>
        <p:nvSpPr>
          <p:cNvPr id="49" name="TextBox 48"/>
          <p:cNvSpPr txBox="1"/>
          <p:nvPr/>
        </p:nvSpPr>
        <p:spPr>
          <a:xfrm>
            <a:off x="3890081" y="3383280"/>
            <a:ext cx="2208134" cy="246888"/>
          </a:xfrm>
          <a:prstGeom prst="rect">
            <a:avLst/>
          </a:prstGeom>
          <a:noFill/>
        </p:spPr>
        <p:txBody>
          <a:bodyPr wrap="square" lIns="0" tIns="0" rIns="0" bIns="0" anchor="ctr"/>
          <a:lstStyle/>
          <a:p>
            <a:pPr algn="ctr"/>
            <a:r>
              <a:rPr sz="1200" b="1" i="0">
                <a:solidFill>
                  <a:srgbClr val="1B3A57"/>
                </a:solidFill>
                <a:latin typeface="Arial"/>
                <a:ea typeface="Arial"/>
                <a:cs typeface="Arial"/>
              </a:rPr>
              <a:t>30%</a:t>
            </a:r>
          </a:p>
        </p:txBody>
      </p:sp>
      <p:sp>
        <p:nvSpPr>
          <p:cNvPr id="50" name="Rectangle 49"/>
          <p:cNvSpPr/>
          <p:nvPr/>
        </p:nvSpPr>
        <p:spPr>
          <a:xfrm>
            <a:off x="6098215" y="3383280"/>
            <a:ext cx="316725" cy="246888"/>
          </a:xfrm>
          <a:prstGeom prst="rect">
            <a:avLst/>
          </a:prstGeom>
          <a:solidFill>
            <a:srgbClr val="818B93"/>
          </a:solidFill>
          <a:ln w="9525">
            <a:solidFill>
              <a:srgbClr val="FFFFFF"/>
            </a:solidFill>
          </a:ln>
        </p:spPr>
        <p:txBody>
          <a:bodyPr rtlCol="0" anchor="ctr"/>
          <a:lstStyle/>
          <a:p>
            <a:pPr algn="ctr"/>
          </a:p>
        </p:txBody>
      </p:sp>
      <p:sp>
        <p:nvSpPr>
          <p:cNvPr id="51" name="Rectangle 50"/>
          <p:cNvSpPr/>
          <p:nvPr/>
        </p:nvSpPr>
        <p:spPr>
          <a:xfrm>
            <a:off x="6414941" y="3383280"/>
            <a:ext cx="169913" cy="246888"/>
          </a:xfrm>
          <a:prstGeom prst="rect">
            <a:avLst/>
          </a:prstGeom>
          <a:solidFill>
            <a:srgbClr val="9FA7AC"/>
          </a:solidFill>
          <a:ln w="9525">
            <a:solidFill>
              <a:srgbClr val="FFFFFF"/>
            </a:solidFill>
          </a:ln>
        </p:spPr>
        <p:txBody>
          <a:bodyPr rtlCol="0" anchor="ctr"/>
          <a:lstStyle/>
          <a:p>
            <a:pPr algn="ctr"/>
          </a:p>
        </p:txBody>
      </p:sp>
      <p:sp>
        <p:nvSpPr>
          <p:cNvPr id="52" name="Rectangle 51"/>
          <p:cNvSpPr/>
          <p:nvPr/>
        </p:nvSpPr>
        <p:spPr>
          <a:xfrm>
            <a:off x="6584855" y="3383280"/>
            <a:ext cx="345044" cy="246888"/>
          </a:xfrm>
          <a:prstGeom prst="rect">
            <a:avLst/>
          </a:prstGeom>
          <a:solidFill>
            <a:srgbClr val="D6D9DB"/>
          </a:solidFill>
          <a:ln w="9525">
            <a:solidFill>
              <a:srgbClr val="FFFFFF"/>
            </a:solidFill>
          </a:ln>
        </p:spPr>
        <p:txBody>
          <a:bodyPr rtlCol="0" anchor="ctr"/>
          <a:lstStyle/>
          <a:p>
            <a:pPr algn="ctr"/>
          </a:p>
        </p:txBody>
      </p:sp>
      <p:sp>
        <p:nvSpPr>
          <p:cNvPr id="53" name="Rectangle 52"/>
          <p:cNvSpPr/>
          <p:nvPr/>
        </p:nvSpPr>
        <p:spPr>
          <a:xfrm>
            <a:off x="6929899" y="3383280"/>
            <a:ext cx="350260" cy="246888"/>
          </a:xfrm>
          <a:prstGeom prst="rect">
            <a:avLst/>
          </a:prstGeom>
          <a:solidFill>
            <a:srgbClr val="EDEFF0"/>
          </a:solidFill>
          <a:ln w="9525">
            <a:solidFill>
              <a:srgbClr val="FFFFFF"/>
            </a:solidFill>
          </a:ln>
        </p:spPr>
        <p:txBody>
          <a:bodyPr rtlCol="0" anchor="ctr"/>
          <a:lstStyle/>
          <a:p>
            <a:pPr algn="ctr"/>
          </a:p>
        </p:txBody>
      </p:sp>
      <p:sp>
        <p:nvSpPr>
          <p:cNvPr id="54" name="Rectangle 53"/>
          <p:cNvSpPr/>
          <p:nvPr/>
        </p:nvSpPr>
        <p:spPr>
          <a:xfrm>
            <a:off x="7280160" y="3383280"/>
            <a:ext cx="2777494" cy="246888"/>
          </a:xfrm>
          <a:prstGeom prst="rect">
            <a:avLst/>
          </a:prstGeom>
          <a:solidFill>
            <a:srgbClr val="FFFFFF"/>
          </a:solidFill>
          <a:ln w="9525">
            <a:solidFill>
              <a:srgbClr val="6B7780"/>
            </a:solidFill>
          </a:ln>
        </p:spPr>
        <p:txBody>
          <a:bodyPr rtlCol="0" anchor="ctr"/>
          <a:lstStyle/>
          <a:p>
            <a:pPr algn="ctr"/>
          </a:p>
        </p:txBody>
      </p:sp>
      <p:sp>
        <p:nvSpPr>
          <p:cNvPr id="55" name="TextBox 54"/>
          <p:cNvSpPr txBox="1"/>
          <p:nvPr/>
        </p:nvSpPr>
        <p:spPr>
          <a:xfrm>
            <a:off x="10149840" y="3346704"/>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4.4 + 12.9%</a:t>
            </a:r>
          </a:p>
        </p:txBody>
      </p:sp>
      <p:sp>
        <p:nvSpPr>
          <p:cNvPr id="56" name="TextBox 55"/>
          <p:cNvSpPr txBox="1"/>
          <p:nvPr/>
        </p:nvSpPr>
        <p:spPr>
          <a:xfrm>
            <a:off x="731520" y="3648456"/>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MTP, B = 32</a:t>
            </a:r>
          </a:p>
        </p:txBody>
      </p:sp>
      <p:sp>
        <p:nvSpPr>
          <p:cNvPr id="57" name="Rectangle 56"/>
          <p:cNvSpPr/>
          <p:nvPr/>
        </p:nvSpPr>
        <p:spPr>
          <a:xfrm>
            <a:off x="2606040" y="3685032"/>
            <a:ext cx="292132" cy="246888"/>
          </a:xfrm>
          <a:prstGeom prst="rect">
            <a:avLst/>
          </a:prstGeom>
          <a:solidFill>
            <a:srgbClr val="1B3A57"/>
          </a:solidFill>
          <a:ln w="9525">
            <a:solidFill>
              <a:srgbClr val="FFFFFF"/>
            </a:solidFill>
          </a:ln>
        </p:spPr>
        <p:txBody>
          <a:bodyPr rtlCol="0" anchor="ctr"/>
          <a:lstStyle/>
          <a:p>
            <a:pPr algn="ctr"/>
          </a:p>
        </p:txBody>
      </p:sp>
      <p:sp>
        <p:nvSpPr>
          <p:cNvPr id="58" name="Rectangle 57"/>
          <p:cNvSpPr/>
          <p:nvPr/>
        </p:nvSpPr>
        <p:spPr>
          <a:xfrm>
            <a:off x="2898172" y="3685032"/>
            <a:ext cx="635686" cy="246888"/>
          </a:xfrm>
          <a:prstGeom prst="rect">
            <a:avLst/>
          </a:prstGeom>
          <a:solidFill>
            <a:srgbClr val="1C6402"/>
          </a:solidFill>
          <a:ln w="9525">
            <a:solidFill>
              <a:srgbClr val="FFFFFF"/>
            </a:solidFill>
          </a:ln>
        </p:spPr>
        <p:txBody>
          <a:bodyPr rtlCol="0" anchor="ctr"/>
          <a:lstStyle/>
          <a:p>
            <a:pPr algn="ctr"/>
          </a:p>
        </p:txBody>
      </p:sp>
      <p:sp>
        <p:nvSpPr>
          <p:cNvPr id="59" name="Rectangle 58"/>
          <p:cNvSpPr/>
          <p:nvPr/>
        </p:nvSpPr>
        <p:spPr>
          <a:xfrm>
            <a:off x="3533858" y="3685032"/>
            <a:ext cx="1652188" cy="246888"/>
          </a:xfrm>
          <a:prstGeom prst="rect">
            <a:avLst/>
          </a:prstGeom>
          <a:solidFill>
            <a:srgbClr val="BCC2C6"/>
          </a:solidFill>
          <a:ln w="9525">
            <a:solidFill>
              <a:srgbClr val="FFFFFF"/>
            </a:solidFill>
          </a:ln>
        </p:spPr>
        <p:txBody>
          <a:bodyPr rtlCol="0" anchor="ctr"/>
          <a:lstStyle/>
          <a:p>
            <a:pPr algn="ctr"/>
          </a:p>
        </p:txBody>
      </p:sp>
      <p:sp>
        <p:nvSpPr>
          <p:cNvPr id="60" name="TextBox 59"/>
          <p:cNvSpPr txBox="1"/>
          <p:nvPr/>
        </p:nvSpPr>
        <p:spPr>
          <a:xfrm>
            <a:off x="3533858" y="3685032"/>
            <a:ext cx="1652188" cy="246888"/>
          </a:xfrm>
          <a:prstGeom prst="rect">
            <a:avLst/>
          </a:prstGeom>
          <a:noFill/>
        </p:spPr>
        <p:txBody>
          <a:bodyPr wrap="square" lIns="0" tIns="0" rIns="0" bIns="0" anchor="ctr"/>
          <a:lstStyle/>
          <a:p>
            <a:pPr algn="ctr"/>
            <a:r>
              <a:rPr sz="1200" b="1" i="0">
                <a:solidFill>
                  <a:srgbClr val="1B3A57"/>
                </a:solidFill>
                <a:latin typeface="Arial"/>
                <a:ea typeface="Arial"/>
                <a:cs typeface="Arial"/>
              </a:rPr>
              <a:t>22%</a:t>
            </a:r>
          </a:p>
        </p:txBody>
      </p:sp>
      <p:sp>
        <p:nvSpPr>
          <p:cNvPr id="61" name="Rectangle 60"/>
          <p:cNvSpPr/>
          <p:nvPr/>
        </p:nvSpPr>
        <p:spPr>
          <a:xfrm>
            <a:off x="5186047" y="3685032"/>
            <a:ext cx="2267007" cy="246888"/>
          </a:xfrm>
          <a:prstGeom prst="rect">
            <a:avLst/>
          </a:prstGeom>
          <a:solidFill>
            <a:srgbClr val="818B93"/>
          </a:solidFill>
          <a:ln w="9525">
            <a:solidFill>
              <a:srgbClr val="FFFFFF"/>
            </a:solidFill>
          </a:ln>
        </p:spPr>
        <p:txBody>
          <a:bodyPr rtlCol="0" anchor="ctr"/>
          <a:lstStyle/>
          <a:p>
            <a:pPr algn="ctr"/>
          </a:p>
        </p:txBody>
      </p:sp>
      <p:sp>
        <p:nvSpPr>
          <p:cNvPr id="62" name="TextBox 61"/>
          <p:cNvSpPr txBox="1"/>
          <p:nvPr/>
        </p:nvSpPr>
        <p:spPr>
          <a:xfrm>
            <a:off x="5186047" y="3685032"/>
            <a:ext cx="2267007" cy="246888"/>
          </a:xfrm>
          <a:prstGeom prst="rect">
            <a:avLst/>
          </a:prstGeom>
          <a:noFill/>
        </p:spPr>
        <p:txBody>
          <a:bodyPr wrap="square" lIns="0" tIns="0" rIns="0" bIns="0" anchor="ctr"/>
          <a:lstStyle/>
          <a:p>
            <a:pPr algn="ctr"/>
            <a:r>
              <a:rPr sz="1200" b="1" i="0">
                <a:solidFill>
                  <a:srgbClr val="FFFFFF"/>
                </a:solidFill>
                <a:latin typeface="Arial"/>
                <a:ea typeface="Arial"/>
                <a:cs typeface="Arial"/>
              </a:rPr>
              <a:t>30%</a:t>
            </a:r>
          </a:p>
        </p:txBody>
      </p:sp>
      <p:sp>
        <p:nvSpPr>
          <p:cNvPr id="63" name="Rectangle 62"/>
          <p:cNvSpPr/>
          <p:nvPr/>
        </p:nvSpPr>
        <p:spPr>
          <a:xfrm>
            <a:off x="7453054" y="3685032"/>
            <a:ext cx="330884" cy="246888"/>
          </a:xfrm>
          <a:prstGeom prst="rect">
            <a:avLst/>
          </a:prstGeom>
          <a:solidFill>
            <a:srgbClr val="9FA7AC"/>
          </a:solidFill>
          <a:ln w="9525">
            <a:solidFill>
              <a:srgbClr val="FFFFFF"/>
            </a:solidFill>
          </a:ln>
        </p:spPr>
        <p:txBody>
          <a:bodyPr rtlCol="0" anchor="ctr"/>
          <a:lstStyle/>
          <a:p>
            <a:pPr algn="ctr"/>
          </a:p>
        </p:txBody>
      </p:sp>
      <p:sp>
        <p:nvSpPr>
          <p:cNvPr id="64" name="Rectangle 63"/>
          <p:cNvSpPr/>
          <p:nvPr/>
        </p:nvSpPr>
        <p:spPr>
          <a:xfrm>
            <a:off x="7783939" y="3685032"/>
            <a:ext cx="273501" cy="246888"/>
          </a:xfrm>
          <a:prstGeom prst="rect">
            <a:avLst/>
          </a:prstGeom>
          <a:solidFill>
            <a:srgbClr val="D6D9DB"/>
          </a:solidFill>
          <a:ln w="9525">
            <a:solidFill>
              <a:srgbClr val="FFFFFF"/>
            </a:solidFill>
          </a:ln>
        </p:spPr>
        <p:txBody>
          <a:bodyPr rtlCol="0" anchor="ctr"/>
          <a:lstStyle/>
          <a:p>
            <a:pPr algn="ctr"/>
          </a:p>
        </p:txBody>
      </p:sp>
      <p:sp>
        <p:nvSpPr>
          <p:cNvPr id="65" name="Rectangle 64"/>
          <p:cNvSpPr/>
          <p:nvPr/>
        </p:nvSpPr>
        <p:spPr>
          <a:xfrm>
            <a:off x="8057441" y="3685032"/>
            <a:ext cx="247418" cy="246888"/>
          </a:xfrm>
          <a:prstGeom prst="rect">
            <a:avLst/>
          </a:prstGeom>
          <a:solidFill>
            <a:srgbClr val="EDEFF0"/>
          </a:solidFill>
          <a:ln w="9525">
            <a:solidFill>
              <a:srgbClr val="FFFFFF"/>
            </a:solidFill>
          </a:ln>
        </p:spPr>
        <p:txBody>
          <a:bodyPr rtlCol="0" anchor="ctr"/>
          <a:lstStyle/>
          <a:p>
            <a:pPr algn="ctr"/>
          </a:p>
        </p:txBody>
      </p:sp>
      <p:sp>
        <p:nvSpPr>
          <p:cNvPr id="66" name="Rectangle 65"/>
          <p:cNvSpPr/>
          <p:nvPr/>
        </p:nvSpPr>
        <p:spPr>
          <a:xfrm>
            <a:off x="8304859" y="3685032"/>
            <a:ext cx="1754285" cy="246888"/>
          </a:xfrm>
          <a:prstGeom prst="rect">
            <a:avLst/>
          </a:prstGeom>
          <a:solidFill>
            <a:srgbClr val="FFFFFF"/>
          </a:solidFill>
          <a:ln w="9525">
            <a:solidFill>
              <a:srgbClr val="6B7780"/>
            </a:solidFill>
          </a:ln>
        </p:spPr>
        <p:txBody>
          <a:bodyPr rtlCol="0" anchor="ctr"/>
          <a:lstStyle/>
          <a:p>
            <a:pPr algn="ctr"/>
          </a:p>
        </p:txBody>
      </p:sp>
      <p:sp>
        <p:nvSpPr>
          <p:cNvPr id="67" name="TextBox 66"/>
          <p:cNvSpPr txBox="1"/>
          <p:nvPr/>
        </p:nvSpPr>
        <p:spPr>
          <a:xfrm>
            <a:off x="10149840" y="3648456"/>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3.9 + 8.5%</a:t>
            </a:r>
          </a:p>
        </p:txBody>
      </p:sp>
      <p:sp>
        <p:nvSpPr>
          <p:cNvPr id="68" name="TextBox 67"/>
          <p:cNvSpPr txBox="1"/>
          <p:nvPr/>
        </p:nvSpPr>
        <p:spPr>
          <a:xfrm>
            <a:off x="731520" y="4041648"/>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DFlash, B = 1</a:t>
            </a:r>
          </a:p>
        </p:txBody>
      </p:sp>
      <p:sp>
        <p:nvSpPr>
          <p:cNvPr id="69" name="Rectangle 68"/>
          <p:cNvSpPr/>
          <p:nvPr/>
        </p:nvSpPr>
        <p:spPr>
          <a:xfrm>
            <a:off x="2606040" y="4078224"/>
            <a:ext cx="359948" cy="246888"/>
          </a:xfrm>
          <a:prstGeom prst="rect">
            <a:avLst/>
          </a:prstGeom>
          <a:solidFill>
            <a:srgbClr val="1B3A57"/>
          </a:solidFill>
          <a:ln w="9525">
            <a:solidFill>
              <a:srgbClr val="FFFFFF"/>
            </a:solidFill>
          </a:ln>
        </p:spPr>
        <p:txBody>
          <a:bodyPr rtlCol="0" anchor="ctr"/>
          <a:lstStyle/>
          <a:p>
            <a:pPr algn="ctr"/>
          </a:p>
        </p:txBody>
      </p:sp>
      <p:sp>
        <p:nvSpPr>
          <p:cNvPr id="70" name="Rectangle 69"/>
          <p:cNvSpPr/>
          <p:nvPr/>
        </p:nvSpPr>
        <p:spPr>
          <a:xfrm>
            <a:off x="2965988" y="4078224"/>
            <a:ext cx="348770" cy="246888"/>
          </a:xfrm>
          <a:prstGeom prst="rect">
            <a:avLst/>
          </a:prstGeom>
          <a:solidFill>
            <a:srgbClr val="CC79A7"/>
          </a:solidFill>
          <a:ln w="9525">
            <a:solidFill>
              <a:srgbClr val="FFFFFF"/>
            </a:solidFill>
          </a:ln>
        </p:spPr>
        <p:txBody>
          <a:bodyPr rtlCol="0" anchor="ctr"/>
          <a:lstStyle/>
          <a:p>
            <a:pPr algn="ctr"/>
          </a:p>
        </p:txBody>
      </p:sp>
      <p:sp>
        <p:nvSpPr>
          <p:cNvPr id="71" name="Rectangle 70"/>
          <p:cNvSpPr/>
          <p:nvPr/>
        </p:nvSpPr>
        <p:spPr>
          <a:xfrm>
            <a:off x="3314759" y="4078224"/>
            <a:ext cx="2507719" cy="246888"/>
          </a:xfrm>
          <a:prstGeom prst="rect">
            <a:avLst/>
          </a:prstGeom>
          <a:solidFill>
            <a:srgbClr val="BCC2C6"/>
          </a:solidFill>
          <a:ln w="9525">
            <a:solidFill>
              <a:srgbClr val="FFFFFF"/>
            </a:solidFill>
          </a:ln>
        </p:spPr>
        <p:txBody>
          <a:bodyPr rtlCol="0" anchor="ctr"/>
          <a:lstStyle/>
          <a:p>
            <a:pPr algn="ctr"/>
          </a:p>
        </p:txBody>
      </p:sp>
      <p:sp>
        <p:nvSpPr>
          <p:cNvPr id="72" name="TextBox 71"/>
          <p:cNvSpPr txBox="1"/>
          <p:nvPr/>
        </p:nvSpPr>
        <p:spPr>
          <a:xfrm>
            <a:off x="3314759" y="4078224"/>
            <a:ext cx="2507719" cy="246888"/>
          </a:xfrm>
          <a:prstGeom prst="rect">
            <a:avLst/>
          </a:prstGeom>
          <a:noFill/>
        </p:spPr>
        <p:txBody>
          <a:bodyPr wrap="square" lIns="0" tIns="0" rIns="0" bIns="0" anchor="ctr"/>
          <a:lstStyle/>
          <a:p>
            <a:pPr algn="ctr"/>
            <a:r>
              <a:rPr sz="1200" b="1" i="0">
                <a:solidFill>
                  <a:srgbClr val="1B3A57"/>
                </a:solidFill>
                <a:latin typeface="Arial"/>
                <a:ea typeface="Arial"/>
                <a:cs typeface="Arial"/>
              </a:rPr>
              <a:t>34%</a:t>
            </a:r>
          </a:p>
        </p:txBody>
      </p:sp>
      <p:sp>
        <p:nvSpPr>
          <p:cNvPr id="73" name="Rectangle 72"/>
          <p:cNvSpPr/>
          <p:nvPr/>
        </p:nvSpPr>
        <p:spPr>
          <a:xfrm>
            <a:off x="5822478" y="4078224"/>
            <a:ext cx="810071" cy="246888"/>
          </a:xfrm>
          <a:prstGeom prst="rect">
            <a:avLst/>
          </a:prstGeom>
          <a:solidFill>
            <a:srgbClr val="818B93"/>
          </a:solidFill>
          <a:ln w="9525">
            <a:solidFill>
              <a:srgbClr val="FFFFFF"/>
            </a:solidFill>
          </a:ln>
        </p:spPr>
        <p:txBody>
          <a:bodyPr rtlCol="0" anchor="ctr"/>
          <a:lstStyle/>
          <a:p>
            <a:pPr algn="ctr"/>
          </a:p>
        </p:txBody>
      </p:sp>
      <p:sp>
        <p:nvSpPr>
          <p:cNvPr id="74" name="Rectangle 73"/>
          <p:cNvSpPr/>
          <p:nvPr/>
        </p:nvSpPr>
        <p:spPr>
          <a:xfrm>
            <a:off x="6632550" y="4078224"/>
            <a:ext cx="1393591" cy="246888"/>
          </a:xfrm>
          <a:prstGeom prst="rect">
            <a:avLst/>
          </a:prstGeom>
          <a:solidFill>
            <a:srgbClr val="9FA7AC"/>
          </a:solidFill>
          <a:ln w="9525">
            <a:solidFill>
              <a:srgbClr val="FFFFFF"/>
            </a:solidFill>
          </a:ln>
        </p:spPr>
        <p:txBody>
          <a:bodyPr rtlCol="0" anchor="ctr"/>
          <a:lstStyle/>
          <a:p>
            <a:pPr algn="ctr"/>
          </a:p>
        </p:txBody>
      </p:sp>
      <p:sp>
        <p:nvSpPr>
          <p:cNvPr id="75" name="TextBox 74"/>
          <p:cNvSpPr txBox="1"/>
          <p:nvPr/>
        </p:nvSpPr>
        <p:spPr>
          <a:xfrm>
            <a:off x="6632550" y="4078224"/>
            <a:ext cx="1393591" cy="246888"/>
          </a:xfrm>
          <a:prstGeom prst="rect">
            <a:avLst/>
          </a:prstGeom>
          <a:noFill/>
        </p:spPr>
        <p:txBody>
          <a:bodyPr wrap="square" lIns="0" tIns="0" rIns="0" bIns="0" anchor="ctr"/>
          <a:lstStyle/>
          <a:p>
            <a:pPr algn="ctr"/>
            <a:r>
              <a:rPr sz="1200" b="1" i="0">
                <a:solidFill>
                  <a:srgbClr val="1B3A57"/>
                </a:solidFill>
                <a:latin typeface="Arial"/>
                <a:ea typeface="Arial"/>
                <a:cs typeface="Arial"/>
              </a:rPr>
              <a:t>19%</a:t>
            </a:r>
          </a:p>
        </p:txBody>
      </p:sp>
      <p:sp>
        <p:nvSpPr>
          <p:cNvPr id="76" name="Rectangle 75"/>
          <p:cNvSpPr/>
          <p:nvPr/>
        </p:nvSpPr>
        <p:spPr>
          <a:xfrm>
            <a:off x="8026141" y="4078224"/>
            <a:ext cx="1442776" cy="246888"/>
          </a:xfrm>
          <a:prstGeom prst="rect">
            <a:avLst/>
          </a:prstGeom>
          <a:solidFill>
            <a:srgbClr val="D6D9DB"/>
          </a:solidFill>
          <a:ln w="9525">
            <a:solidFill>
              <a:srgbClr val="FFFFFF"/>
            </a:solidFill>
          </a:ln>
        </p:spPr>
        <p:txBody>
          <a:bodyPr rtlCol="0" anchor="ctr"/>
          <a:lstStyle/>
          <a:p>
            <a:pPr algn="ctr"/>
          </a:p>
        </p:txBody>
      </p:sp>
      <p:sp>
        <p:nvSpPr>
          <p:cNvPr id="77" name="Rectangle 76"/>
          <p:cNvSpPr/>
          <p:nvPr/>
        </p:nvSpPr>
        <p:spPr>
          <a:xfrm>
            <a:off x="9468918" y="4078224"/>
            <a:ext cx="338337" cy="246888"/>
          </a:xfrm>
          <a:prstGeom prst="rect">
            <a:avLst/>
          </a:prstGeom>
          <a:solidFill>
            <a:srgbClr val="EDEFF0"/>
          </a:solidFill>
          <a:ln w="9525">
            <a:solidFill>
              <a:srgbClr val="FFFFFF"/>
            </a:solidFill>
          </a:ln>
        </p:spPr>
        <p:txBody>
          <a:bodyPr rtlCol="0" anchor="ctr"/>
          <a:lstStyle/>
          <a:p>
            <a:pPr algn="ctr"/>
          </a:p>
        </p:txBody>
      </p:sp>
      <p:sp>
        <p:nvSpPr>
          <p:cNvPr id="78" name="Rectangle 77"/>
          <p:cNvSpPr/>
          <p:nvPr/>
        </p:nvSpPr>
        <p:spPr>
          <a:xfrm>
            <a:off x="9807255" y="4078224"/>
            <a:ext cx="251144" cy="246888"/>
          </a:xfrm>
          <a:prstGeom prst="rect">
            <a:avLst/>
          </a:prstGeom>
          <a:solidFill>
            <a:srgbClr val="FFFFFF"/>
          </a:solidFill>
          <a:ln w="9525">
            <a:solidFill>
              <a:srgbClr val="6B7780"/>
            </a:solidFill>
          </a:ln>
        </p:spPr>
        <p:txBody>
          <a:bodyPr rtlCol="0" anchor="ctr"/>
          <a:lstStyle/>
          <a:p>
            <a:pPr algn="ctr"/>
          </a:p>
        </p:txBody>
      </p:sp>
      <p:sp>
        <p:nvSpPr>
          <p:cNvPr id="79" name="TextBox 78"/>
          <p:cNvSpPr txBox="1"/>
          <p:nvPr/>
        </p:nvSpPr>
        <p:spPr>
          <a:xfrm>
            <a:off x="10149840" y="4041648"/>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4.8 + 4.7%</a:t>
            </a:r>
          </a:p>
        </p:txBody>
      </p:sp>
      <p:sp>
        <p:nvSpPr>
          <p:cNvPr id="80" name="TextBox 79"/>
          <p:cNvSpPr txBox="1"/>
          <p:nvPr/>
        </p:nvSpPr>
        <p:spPr>
          <a:xfrm>
            <a:off x="731520" y="4343400"/>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DFlash, B = 4</a:t>
            </a:r>
          </a:p>
        </p:txBody>
      </p:sp>
      <p:sp>
        <p:nvSpPr>
          <p:cNvPr id="81" name="Rectangle 80"/>
          <p:cNvSpPr/>
          <p:nvPr/>
        </p:nvSpPr>
        <p:spPr>
          <a:xfrm>
            <a:off x="2606040" y="4379976"/>
            <a:ext cx="359948" cy="246888"/>
          </a:xfrm>
          <a:prstGeom prst="rect">
            <a:avLst/>
          </a:prstGeom>
          <a:solidFill>
            <a:srgbClr val="1B3A57"/>
          </a:solidFill>
          <a:ln w="9525">
            <a:solidFill>
              <a:srgbClr val="FFFFFF"/>
            </a:solidFill>
          </a:ln>
        </p:spPr>
        <p:txBody>
          <a:bodyPr rtlCol="0" anchor="ctr"/>
          <a:lstStyle/>
          <a:p>
            <a:pPr algn="ctr"/>
          </a:p>
        </p:txBody>
      </p:sp>
      <p:sp>
        <p:nvSpPr>
          <p:cNvPr id="82" name="Rectangle 81"/>
          <p:cNvSpPr/>
          <p:nvPr/>
        </p:nvSpPr>
        <p:spPr>
          <a:xfrm>
            <a:off x="2965988" y="4379976"/>
            <a:ext cx="316725" cy="246888"/>
          </a:xfrm>
          <a:prstGeom prst="rect">
            <a:avLst/>
          </a:prstGeom>
          <a:solidFill>
            <a:srgbClr val="CC79A7"/>
          </a:solidFill>
          <a:ln w="9525">
            <a:solidFill>
              <a:srgbClr val="FFFFFF"/>
            </a:solidFill>
          </a:ln>
        </p:spPr>
        <p:txBody>
          <a:bodyPr rtlCol="0" anchor="ctr"/>
          <a:lstStyle/>
          <a:p>
            <a:pPr algn="ctr"/>
          </a:p>
        </p:txBody>
      </p:sp>
      <p:sp>
        <p:nvSpPr>
          <p:cNvPr id="83" name="Rectangle 82"/>
          <p:cNvSpPr/>
          <p:nvPr/>
        </p:nvSpPr>
        <p:spPr>
          <a:xfrm>
            <a:off x="3282714" y="4379976"/>
            <a:ext cx="2323645" cy="246888"/>
          </a:xfrm>
          <a:prstGeom prst="rect">
            <a:avLst/>
          </a:prstGeom>
          <a:solidFill>
            <a:srgbClr val="BCC2C6"/>
          </a:solidFill>
          <a:ln w="9525">
            <a:solidFill>
              <a:srgbClr val="FFFFFF"/>
            </a:solidFill>
          </a:ln>
        </p:spPr>
        <p:txBody>
          <a:bodyPr rtlCol="0" anchor="ctr"/>
          <a:lstStyle/>
          <a:p>
            <a:pPr algn="ctr"/>
          </a:p>
        </p:txBody>
      </p:sp>
      <p:sp>
        <p:nvSpPr>
          <p:cNvPr id="84" name="TextBox 83"/>
          <p:cNvSpPr txBox="1"/>
          <p:nvPr/>
        </p:nvSpPr>
        <p:spPr>
          <a:xfrm>
            <a:off x="3282714" y="4379976"/>
            <a:ext cx="2323645" cy="246888"/>
          </a:xfrm>
          <a:prstGeom prst="rect">
            <a:avLst/>
          </a:prstGeom>
          <a:noFill/>
        </p:spPr>
        <p:txBody>
          <a:bodyPr wrap="square" lIns="0" tIns="0" rIns="0" bIns="0" anchor="ctr"/>
          <a:lstStyle/>
          <a:p>
            <a:pPr algn="ctr"/>
            <a:r>
              <a:rPr sz="1200" b="1" i="0">
                <a:solidFill>
                  <a:srgbClr val="1B3A57"/>
                </a:solidFill>
                <a:latin typeface="Arial"/>
                <a:ea typeface="Arial"/>
                <a:cs typeface="Arial"/>
              </a:rPr>
              <a:t>31%</a:t>
            </a:r>
          </a:p>
        </p:txBody>
      </p:sp>
      <p:sp>
        <p:nvSpPr>
          <p:cNvPr id="85" name="Rectangle 84"/>
          <p:cNvSpPr/>
          <p:nvPr/>
        </p:nvSpPr>
        <p:spPr>
          <a:xfrm>
            <a:off x="5606360" y="4379976"/>
            <a:ext cx="1442776" cy="246888"/>
          </a:xfrm>
          <a:prstGeom prst="rect">
            <a:avLst/>
          </a:prstGeom>
          <a:solidFill>
            <a:srgbClr val="818B93"/>
          </a:solidFill>
          <a:ln w="9525">
            <a:solidFill>
              <a:srgbClr val="FFFFFF"/>
            </a:solidFill>
          </a:ln>
        </p:spPr>
        <p:txBody>
          <a:bodyPr rtlCol="0" anchor="ctr"/>
          <a:lstStyle/>
          <a:p>
            <a:pPr algn="ctr"/>
          </a:p>
        </p:txBody>
      </p:sp>
      <p:sp>
        <p:nvSpPr>
          <p:cNvPr id="86" name="TextBox 85"/>
          <p:cNvSpPr txBox="1"/>
          <p:nvPr/>
        </p:nvSpPr>
        <p:spPr>
          <a:xfrm>
            <a:off x="5606360" y="4379976"/>
            <a:ext cx="1442776" cy="246888"/>
          </a:xfrm>
          <a:prstGeom prst="rect">
            <a:avLst/>
          </a:prstGeom>
          <a:noFill/>
        </p:spPr>
        <p:txBody>
          <a:bodyPr wrap="square" lIns="0" tIns="0" rIns="0" bIns="0" anchor="ctr"/>
          <a:lstStyle/>
          <a:p>
            <a:pPr algn="ctr"/>
            <a:r>
              <a:rPr sz="1200" b="1" i="0">
                <a:solidFill>
                  <a:srgbClr val="FFFFFF"/>
                </a:solidFill>
                <a:latin typeface="Arial"/>
                <a:ea typeface="Arial"/>
                <a:cs typeface="Arial"/>
              </a:rPr>
              <a:t>19%</a:t>
            </a:r>
          </a:p>
        </p:txBody>
      </p:sp>
      <p:sp>
        <p:nvSpPr>
          <p:cNvPr id="87" name="Rectangle 86"/>
          <p:cNvSpPr/>
          <p:nvPr/>
        </p:nvSpPr>
        <p:spPr>
          <a:xfrm>
            <a:off x="7049137" y="4379976"/>
            <a:ext cx="1192377" cy="246888"/>
          </a:xfrm>
          <a:prstGeom prst="rect">
            <a:avLst/>
          </a:prstGeom>
          <a:solidFill>
            <a:srgbClr val="9FA7AC"/>
          </a:solidFill>
          <a:ln w="9525">
            <a:solidFill>
              <a:srgbClr val="FFFFFF"/>
            </a:solidFill>
          </a:ln>
        </p:spPr>
        <p:txBody>
          <a:bodyPr rtlCol="0" anchor="ctr"/>
          <a:lstStyle/>
          <a:p>
            <a:pPr algn="ctr"/>
          </a:p>
        </p:txBody>
      </p:sp>
      <p:sp>
        <p:nvSpPr>
          <p:cNvPr id="88" name="TextBox 87"/>
          <p:cNvSpPr txBox="1"/>
          <p:nvPr/>
        </p:nvSpPr>
        <p:spPr>
          <a:xfrm>
            <a:off x="7049137" y="4379976"/>
            <a:ext cx="1192377" cy="246888"/>
          </a:xfrm>
          <a:prstGeom prst="rect">
            <a:avLst/>
          </a:prstGeom>
          <a:noFill/>
        </p:spPr>
        <p:txBody>
          <a:bodyPr wrap="square" lIns="0" tIns="0" rIns="0" bIns="0" anchor="ctr"/>
          <a:lstStyle/>
          <a:p>
            <a:pPr algn="ctr"/>
            <a:r>
              <a:rPr sz="1200" b="1" i="0">
                <a:solidFill>
                  <a:srgbClr val="1B3A57"/>
                </a:solidFill>
                <a:latin typeface="Arial"/>
                <a:ea typeface="Arial"/>
                <a:cs typeface="Arial"/>
              </a:rPr>
              <a:t>16%</a:t>
            </a:r>
          </a:p>
        </p:txBody>
      </p:sp>
      <p:sp>
        <p:nvSpPr>
          <p:cNvPr id="89" name="Rectangle 88"/>
          <p:cNvSpPr/>
          <p:nvPr/>
        </p:nvSpPr>
        <p:spPr>
          <a:xfrm>
            <a:off x="8241514" y="4379976"/>
            <a:ext cx="1270627" cy="246888"/>
          </a:xfrm>
          <a:prstGeom prst="rect">
            <a:avLst/>
          </a:prstGeom>
          <a:solidFill>
            <a:srgbClr val="D6D9DB"/>
          </a:solidFill>
          <a:ln w="9525">
            <a:solidFill>
              <a:srgbClr val="FFFFFF"/>
            </a:solidFill>
          </a:ln>
        </p:spPr>
        <p:txBody>
          <a:bodyPr rtlCol="0" anchor="ctr"/>
          <a:lstStyle/>
          <a:p>
            <a:pPr algn="ctr"/>
          </a:p>
        </p:txBody>
      </p:sp>
      <p:sp>
        <p:nvSpPr>
          <p:cNvPr id="90" name="Rectangle 89"/>
          <p:cNvSpPr/>
          <p:nvPr/>
        </p:nvSpPr>
        <p:spPr>
          <a:xfrm>
            <a:off x="9512142" y="4379976"/>
            <a:ext cx="326413" cy="246888"/>
          </a:xfrm>
          <a:prstGeom prst="rect">
            <a:avLst/>
          </a:prstGeom>
          <a:solidFill>
            <a:srgbClr val="EDEFF0"/>
          </a:solidFill>
          <a:ln w="9525">
            <a:solidFill>
              <a:srgbClr val="FFFFFF"/>
            </a:solidFill>
          </a:ln>
        </p:spPr>
        <p:txBody>
          <a:bodyPr rtlCol="0" anchor="ctr"/>
          <a:lstStyle/>
          <a:p>
            <a:pPr algn="ctr"/>
          </a:p>
        </p:txBody>
      </p:sp>
      <p:sp>
        <p:nvSpPr>
          <p:cNvPr id="91" name="Rectangle 90"/>
          <p:cNvSpPr/>
          <p:nvPr/>
        </p:nvSpPr>
        <p:spPr>
          <a:xfrm>
            <a:off x="9838555" y="4379976"/>
            <a:ext cx="219844" cy="246888"/>
          </a:xfrm>
          <a:prstGeom prst="rect">
            <a:avLst/>
          </a:prstGeom>
          <a:solidFill>
            <a:srgbClr val="FFFFFF"/>
          </a:solidFill>
          <a:ln w="9525">
            <a:solidFill>
              <a:srgbClr val="6B7780"/>
            </a:solidFill>
          </a:ln>
        </p:spPr>
        <p:txBody>
          <a:bodyPr rtlCol="0" anchor="ctr"/>
          <a:lstStyle/>
          <a:p>
            <a:pPr algn="ctr"/>
          </a:p>
        </p:txBody>
      </p:sp>
      <p:sp>
        <p:nvSpPr>
          <p:cNvPr id="92" name="TextBox 91"/>
          <p:cNvSpPr txBox="1"/>
          <p:nvPr/>
        </p:nvSpPr>
        <p:spPr>
          <a:xfrm>
            <a:off x="10149840" y="4343400"/>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4.8 + 4.2%</a:t>
            </a:r>
          </a:p>
        </p:txBody>
      </p:sp>
      <p:sp>
        <p:nvSpPr>
          <p:cNvPr id="93" name="TextBox 92"/>
          <p:cNvSpPr txBox="1"/>
          <p:nvPr/>
        </p:nvSpPr>
        <p:spPr>
          <a:xfrm>
            <a:off x="731520" y="4645152"/>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DFlash, B = 16</a:t>
            </a:r>
          </a:p>
        </p:txBody>
      </p:sp>
      <p:sp>
        <p:nvSpPr>
          <p:cNvPr id="94" name="Rectangle 93"/>
          <p:cNvSpPr/>
          <p:nvPr/>
        </p:nvSpPr>
        <p:spPr>
          <a:xfrm>
            <a:off x="2606040" y="4681728"/>
            <a:ext cx="342063" cy="246888"/>
          </a:xfrm>
          <a:prstGeom prst="rect">
            <a:avLst/>
          </a:prstGeom>
          <a:solidFill>
            <a:srgbClr val="1B3A57"/>
          </a:solidFill>
          <a:ln w="9525">
            <a:solidFill>
              <a:srgbClr val="FFFFFF"/>
            </a:solidFill>
          </a:ln>
        </p:spPr>
        <p:txBody>
          <a:bodyPr rtlCol="0" anchor="ctr"/>
          <a:lstStyle/>
          <a:p>
            <a:pPr algn="ctr"/>
          </a:p>
        </p:txBody>
      </p:sp>
      <p:sp>
        <p:nvSpPr>
          <p:cNvPr id="95" name="Rectangle 94"/>
          <p:cNvSpPr/>
          <p:nvPr/>
        </p:nvSpPr>
        <p:spPr>
          <a:xfrm>
            <a:off x="2948103" y="4681728"/>
            <a:ext cx="227296" cy="246888"/>
          </a:xfrm>
          <a:prstGeom prst="rect">
            <a:avLst/>
          </a:prstGeom>
          <a:solidFill>
            <a:srgbClr val="CC79A7"/>
          </a:solidFill>
          <a:ln w="9525">
            <a:solidFill>
              <a:srgbClr val="FFFFFF"/>
            </a:solidFill>
          </a:ln>
        </p:spPr>
        <p:txBody>
          <a:bodyPr rtlCol="0" anchor="ctr"/>
          <a:lstStyle/>
          <a:p>
            <a:pPr algn="ctr"/>
          </a:p>
        </p:txBody>
      </p:sp>
      <p:sp>
        <p:nvSpPr>
          <p:cNvPr id="96" name="Rectangle 95"/>
          <p:cNvSpPr/>
          <p:nvPr/>
        </p:nvSpPr>
        <p:spPr>
          <a:xfrm>
            <a:off x="3175400" y="4681728"/>
            <a:ext cx="1610454" cy="246888"/>
          </a:xfrm>
          <a:prstGeom prst="rect">
            <a:avLst/>
          </a:prstGeom>
          <a:solidFill>
            <a:srgbClr val="BCC2C6"/>
          </a:solidFill>
          <a:ln w="9525">
            <a:solidFill>
              <a:srgbClr val="FFFFFF"/>
            </a:solidFill>
          </a:ln>
        </p:spPr>
        <p:txBody>
          <a:bodyPr rtlCol="0" anchor="ctr"/>
          <a:lstStyle/>
          <a:p>
            <a:pPr algn="ctr"/>
          </a:p>
        </p:txBody>
      </p:sp>
      <p:sp>
        <p:nvSpPr>
          <p:cNvPr id="97" name="TextBox 96"/>
          <p:cNvSpPr txBox="1"/>
          <p:nvPr/>
        </p:nvSpPr>
        <p:spPr>
          <a:xfrm>
            <a:off x="3175400" y="4681728"/>
            <a:ext cx="1610454" cy="246888"/>
          </a:xfrm>
          <a:prstGeom prst="rect">
            <a:avLst/>
          </a:prstGeom>
          <a:noFill/>
        </p:spPr>
        <p:txBody>
          <a:bodyPr wrap="square" lIns="0" tIns="0" rIns="0" bIns="0" anchor="ctr"/>
          <a:lstStyle/>
          <a:p>
            <a:pPr algn="ctr"/>
            <a:r>
              <a:rPr sz="1200" b="1" i="0">
                <a:solidFill>
                  <a:srgbClr val="1B3A57"/>
                </a:solidFill>
                <a:latin typeface="Arial"/>
                <a:ea typeface="Arial"/>
                <a:cs typeface="Arial"/>
              </a:rPr>
              <a:t>22%</a:t>
            </a:r>
          </a:p>
        </p:txBody>
      </p:sp>
      <p:sp>
        <p:nvSpPr>
          <p:cNvPr id="98" name="Rectangle 97"/>
          <p:cNvSpPr/>
          <p:nvPr/>
        </p:nvSpPr>
        <p:spPr>
          <a:xfrm>
            <a:off x="4785855" y="4681728"/>
            <a:ext cx="2905675" cy="246888"/>
          </a:xfrm>
          <a:prstGeom prst="rect">
            <a:avLst/>
          </a:prstGeom>
          <a:solidFill>
            <a:srgbClr val="818B93"/>
          </a:solidFill>
          <a:ln w="9525">
            <a:solidFill>
              <a:srgbClr val="FFFFFF"/>
            </a:solidFill>
          </a:ln>
        </p:spPr>
        <p:txBody>
          <a:bodyPr rtlCol="0" anchor="ctr"/>
          <a:lstStyle/>
          <a:p>
            <a:pPr algn="ctr"/>
          </a:p>
        </p:txBody>
      </p:sp>
      <p:sp>
        <p:nvSpPr>
          <p:cNvPr id="99" name="TextBox 98"/>
          <p:cNvSpPr txBox="1"/>
          <p:nvPr/>
        </p:nvSpPr>
        <p:spPr>
          <a:xfrm>
            <a:off x="4785855" y="4681728"/>
            <a:ext cx="2905675" cy="246888"/>
          </a:xfrm>
          <a:prstGeom prst="rect">
            <a:avLst/>
          </a:prstGeom>
          <a:noFill/>
        </p:spPr>
        <p:txBody>
          <a:bodyPr wrap="square" lIns="0" tIns="0" rIns="0" bIns="0" anchor="ctr"/>
          <a:lstStyle/>
          <a:p>
            <a:pPr algn="ctr"/>
            <a:r>
              <a:rPr sz="1200" b="1" i="0">
                <a:solidFill>
                  <a:srgbClr val="FFFFFF"/>
                </a:solidFill>
                <a:latin typeface="Arial"/>
                <a:ea typeface="Arial"/>
                <a:cs typeface="Arial"/>
              </a:rPr>
              <a:t>39%</a:t>
            </a:r>
          </a:p>
        </p:txBody>
      </p:sp>
      <p:sp>
        <p:nvSpPr>
          <p:cNvPr id="100" name="Rectangle 99"/>
          <p:cNvSpPr/>
          <p:nvPr/>
        </p:nvSpPr>
        <p:spPr>
          <a:xfrm>
            <a:off x="7691530" y="4681728"/>
            <a:ext cx="769083" cy="246888"/>
          </a:xfrm>
          <a:prstGeom prst="rect">
            <a:avLst/>
          </a:prstGeom>
          <a:solidFill>
            <a:srgbClr val="9FA7AC"/>
          </a:solidFill>
          <a:ln w="9525">
            <a:solidFill>
              <a:srgbClr val="FFFFFF"/>
            </a:solidFill>
          </a:ln>
        </p:spPr>
        <p:txBody>
          <a:bodyPr rtlCol="0" anchor="ctr"/>
          <a:lstStyle/>
          <a:p>
            <a:pPr algn="ctr"/>
          </a:p>
        </p:txBody>
      </p:sp>
      <p:sp>
        <p:nvSpPr>
          <p:cNvPr id="101" name="Rectangle 100"/>
          <p:cNvSpPr/>
          <p:nvPr/>
        </p:nvSpPr>
        <p:spPr>
          <a:xfrm>
            <a:off x="8460614" y="4681728"/>
            <a:ext cx="1269136" cy="246888"/>
          </a:xfrm>
          <a:prstGeom prst="rect">
            <a:avLst/>
          </a:prstGeom>
          <a:solidFill>
            <a:srgbClr val="D6D9DB"/>
          </a:solidFill>
          <a:ln w="9525">
            <a:solidFill>
              <a:srgbClr val="FFFFFF"/>
            </a:solidFill>
          </a:ln>
        </p:spPr>
        <p:txBody>
          <a:bodyPr rtlCol="0" anchor="ctr"/>
          <a:lstStyle/>
          <a:p>
            <a:pPr algn="ctr"/>
          </a:p>
        </p:txBody>
      </p:sp>
      <p:sp>
        <p:nvSpPr>
          <p:cNvPr id="102" name="Rectangle 101"/>
          <p:cNvSpPr/>
          <p:nvPr/>
        </p:nvSpPr>
        <p:spPr>
          <a:xfrm>
            <a:off x="9729750" y="4681728"/>
            <a:ext cx="204939" cy="246888"/>
          </a:xfrm>
          <a:prstGeom prst="rect">
            <a:avLst/>
          </a:prstGeom>
          <a:solidFill>
            <a:srgbClr val="EDEFF0"/>
          </a:solidFill>
          <a:ln w="9525">
            <a:solidFill>
              <a:srgbClr val="FFFFFF"/>
            </a:solidFill>
          </a:ln>
        </p:spPr>
        <p:txBody>
          <a:bodyPr rtlCol="0" anchor="ctr"/>
          <a:lstStyle/>
          <a:p>
            <a:pPr algn="ctr"/>
          </a:p>
        </p:txBody>
      </p:sp>
      <p:sp>
        <p:nvSpPr>
          <p:cNvPr id="103" name="Rectangle 102"/>
          <p:cNvSpPr/>
          <p:nvPr/>
        </p:nvSpPr>
        <p:spPr>
          <a:xfrm>
            <a:off x="9934690" y="4681728"/>
            <a:ext cx="123709" cy="246888"/>
          </a:xfrm>
          <a:prstGeom prst="rect">
            <a:avLst/>
          </a:prstGeom>
          <a:solidFill>
            <a:srgbClr val="FFFFFF"/>
          </a:solidFill>
          <a:ln w="9525">
            <a:solidFill>
              <a:srgbClr val="6B7780"/>
            </a:solidFill>
          </a:ln>
        </p:spPr>
        <p:txBody>
          <a:bodyPr rtlCol="0" anchor="ctr"/>
          <a:lstStyle/>
          <a:p>
            <a:pPr algn="ctr"/>
          </a:p>
        </p:txBody>
      </p:sp>
      <p:sp>
        <p:nvSpPr>
          <p:cNvPr id="104" name="TextBox 103"/>
          <p:cNvSpPr txBox="1"/>
          <p:nvPr/>
        </p:nvSpPr>
        <p:spPr>
          <a:xfrm>
            <a:off x="10149840" y="4645152"/>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4.6 + 3.0%</a:t>
            </a:r>
          </a:p>
        </p:txBody>
      </p:sp>
      <p:sp>
        <p:nvSpPr>
          <p:cNvPr id="105" name="TextBox 104"/>
          <p:cNvSpPr txBox="1"/>
          <p:nvPr/>
        </p:nvSpPr>
        <p:spPr>
          <a:xfrm>
            <a:off x="731520" y="4946904"/>
            <a:ext cx="1828800" cy="310896"/>
          </a:xfrm>
          <a:prstGeom prst="rect">
            <a:avLst/>
          </a:prstGeom>
          <a:noFill/>
        </p:spPr>
        <p:txBody>
          <a:bodyPr wrap="square" lIns="0" tIns="0" rIns="0" bIns="0" anchor="ctr"/>
          <a:lstStyle/>
          <a:p>
            <a:pPr algn="l"/>
            <a:r>
              <a:rPr sz="1400" b="0" i="0">
                <a:solidFill>
                  <a:srgbClr val="1B3A57"/>
                </a:solidFill>
                <a:latin typeface="Arial"/>
                <a:ea typeface="Arial"/>
                <a:cs typeface="Arial"/>
              </a:rPr>
              <a:t>DFlash, B = 64</a:t>
            </a:r>
          </a:p>
        </p:txBody>
      </p:sp>
      <p:sp>
        <p:nvSpPr>
          <p:cNvPr id="106" name="Rectangle 105"/>
          <p:cNvSpPr/>
          <p:nvPr/>
        </p:nvSpPr>
        <p:spPr>
          <a:xfrm>
            <a:off x="2606040" y="4983480"/>
            <a:ext cx="386777" cy="246888"/>
          </a:xfrm>
          <a:prstGeom prst="rect">
            <a:avLst/>
          </a:prstGeom>
          <a:solidFill>
            <a:srgbClr val="1B3A57"/>
          </a:solidFill>
          <a:ln w="9525">
            <a:solidFill>
              <a:srgbClr val="FFFFFF"/>
            </a:solidFill>
          </a:ln>
        </p:spPr>
        <p:txBody>
          <a:bodyPr rtlCol="0" anchor="ctr"/>
          <a:lstStyle/>
          <a:p>
            <a:pPr algn="ctr"/>
          </a:p>
        </p:txBody>
      </p:sp>
      <p:sp>
        <p:nvSpPr>
          <p:cNvPr id="107" name="Rectangle 106"/>
          <p:cNvSpPr/>
          <p:nvPr/>
        </p:nvSpPr>
        <p:spPr>
          <a:xfrm>
            <a:off x="2992817" y="4983480"/>
            <a:ext cx="255615" cy="246888"/>
          </a:xfrm>
          <a:prstGeom prst="rect">
            <a:avLst/>
          </a:prstGeom>
          <a:solidFill>
            <a:srgbClr val="CC79A7"/>
          </a:solidFill>
          <a:ln w="9525">
            <a:solidFill>
              <a:srgbClr val="FFFFFF"/>
            </a:solidFill>
          </a:ln>
        </p:spPr>
        <p:txBody>
          <a:bodyPr rtlCol="0" anchor="ctr"/>
          <a:lstStyle/>
          <a:p>
            <a:pPr algn="ctr"/>
          </a:p>
        </p:txBody>
      </p:sp>
      <p:sp>
        <p:nvSpPr>
          <p:cNvPr id="108" name="Rectangle 107"/>
          <p:cNvSpPr/>
          <p:nvPr/>
        </p:nvSpPr>
        <p:spPr>
          <a:xfrm>
            <a:off x="3248433" y="4983480"/>
            <a:ext cx="1446503" cy="246888"/>
          </a:xfrm>
          <a:prstGeom prst="rect">
            <a:avLst/>
          </a:prstGeom>
          <a:solidFill>
            <a:srgbClr val="BCC2C6"/>
          </a:solidFill>
          <a:ln w="9525">
            <a:solidFill>
              <a:srgbClr val="FFFFFF"/>
            </a:solidFill>
          </a:ln>
        </p:spPr>
        <p:txBody>
          <a:bodyPr rtlCol="0" anchor="ctr"/>
          <a:lstStyle/>
          <a:p>
            <a:pPr algn="ctr"/>
          </a:p>
        </p:txBody>
      </p:sp>
      <p:sp>
        <p:nvSpPr>
          <p:cNvPr id="109" name="TextBox 108"/>
          <p:cNvSpPr txBox="1"/>
          <p:nvPr/>
        </p:nvSpPr>
        <p:spPr>
          <a:xfrm>
            <a:off x="3248433" y="4983480"/>
            <a:ext cx="1446503" cy="246888"/>
          </a:xfrm>
          <a:prstGeom prst="rect">
            <a:avLst/>
          </a:prstGeom>
          <a:noFill/>
        </p:spPr>
        <p:txBody>
          <a:bodyPr wrap="square" lIns="0" tIns="0" rIns="0" bIns="0" anchor="ctr"/>
          <a:lstStyle/>
          <a:p>
            <a:pPr algn="ctr"/>
            <a:r>
              <a:rPr sz="1200" b="1" i="0">
                <a:solidFill>
                  <a:srgbClr val="1B3A57"/>
                </a:solidFill>
                <a:latin typeface="Arial"/>
                <a:ea typeface="Arial"/>
                <a:cs typeface="Arial"/>
              </a:rPr>
              <a:t>19%</a:t>
            </a:r>
          </a:p>
        </p:txBody>
      </p:sp>
      <p:sp>
        <p:nvSpPr>
          <p:cNvPr id="110" name="Rectangle 109"/>
          <p:cNvSpPr/>
          <p:nvPr/>
        </p:nvSpPr>
        <p:spPr>
          <a:xfrm>
            <a:off x="4694936" y="4983480"/>
            <a:ext cx="3679230" cy="246888"/>
          </a:xfrm>
          <a:prstGeom prst="rect">
            <a:avLst/>
          </a:prstGeom>
          <a:solidFill>
            <a:srgbClr val="818B93"/>
          </a:solidFill>
          <a:ln w="9525">
            <a:solidFill>
              <a:srgbClr val="FFFFFF"/>
            </a:solidFill>
          </a:ln>
        </p:spPr>
        <p:txBody>
          <a:bodyPr rtlCol="0" anchor="ctr"/>
          <a:lstStyle/>
          <a:p>
            <a:pPr algn="ctr"/>
          </a:p>
        </p:txBody>
      </p:sp>
      <p:sp>
        <p:nvSpPr>
          <p:cNvPr id="111" name="TextBox 110"/>
          <p:cNvSpPr txBox="1"/>
          <p:nvPr/>
        </p:nvSpPr>
        <p:spPr>
          <a:xfrm>
            <a:off x="4694936" y="4983480"/>
            <a:ext cx="3679230" cy="246888"/>
          </a:xfrm>
          <a:prstGeom prst="rect">
            <a:avLst/>
          </a:prstGeom>
          <a:noFill/>
        </p:spPr>
        <p:txBody>
          <a:bodyPr wrap="square" lIns="0" tIns="0" rIns="0" bIns="0" anchor="ctr"/>
          <a:lstStyle/>
          <a:p>
            <a:pPr algn="ctr"/>
            <a:r>
              <a:rPr sz="1200" b="1" i="0">
                <a:solidFill>
                  <a:srgbClr val="FFFFFF"/>
                </a:solidFill>
                <a:latin typeface="Arial"/>
                <a:ea typeface="Arial"/>
                <a:cs typeface="Arial"/>
              </a:rPr>
              <a:t>49%</a:t>
            </a:r>
          </a:p>
        </p:txBody>
      </p:sp>
      <p:sp>
        <p:nvSpPr>
          <p:cNvPr id="112" name="Rectangle 111"/>
          <p:cNvSpPr/>
          <p:nvPr/>
        </p:nvSpPr>
        <p:spPr>
          <a:xfrm>
            <a:off x="8374166" y="4983480"/>
            <a:ext cx="497817" cy="246888"/>
          </a:xfrm>
          <a:prstGeom prst="rect">
            <a:avLst/>
          </a:prstGeom>
          <a:solidFill>
            <a:srgbClr val="9FA7AC"/>
          </a:solidFill>
          <a:ln w="9525">
            <a:solidFill>
              <a:srgbClr val="FFFFFF"/>
            </a:solidFill>
          </a:ln>
        </p:spPr>
        <p:txBody>
          <a:bodyPr rtlCol="0" anchor="ctr"/>
          <a:lstStyle/>
          <a:p>
            <a:pPr algn="ctr"/>
          </a:p>
        </p:txBody>
      </p:sp>
      <p:sp>
        <p:nvSpPr>
          <p:cNvPr id="113" name="Rectangle 112"/>
          <p:cNvSpPr/>
          <p:nvPr/>
        </p:nvSpPr>
        <p:spPr>
          <a:xfrm>
            <a:off x="8871984" y="4983480"/>
            <a:ext cx="947940" cy="246888"/>
          </a:xfrm>
          <a:prstGeom prst="rect">
            <a:avLst/>
          </a:prstGeom>
          <a:solidFill>
            <a:srgbClr val="D6D9DB"/>
          </a:solidFill>
          <a:ln w="9525">
            <a:solidFill>
              <a:srgbClr val="FFFFFF"/>
            </a:solidFill>
          </a:ln>
        </p:spPr>
        <p:txBody>
          <a:bodyPr rtlCol="0" anchor="ctr"/>
          <a:lstStyle/>
          <a:p>
            <a:pPr algn="ctr"/>
          </a:p>
        </p:txBody>
      </p:sp>
      <p:sp>
        <p:nvSpPr>
          <p:cNvPr id="114" name="Rectangle 113"/>
          <p:cNvSpPr/>
          <p:nvPr/>
        </p:nvSpPr>
        <p:spPr>
          <a:xfrm>
            <a:off x="9819924" y="4983480"/>
            <a:ext cx="146066" cy="246888"/>
          </a:xfrm>
          <a:prstGeom prst="rect">
            <a:avLst/>
          </a:prstGeom>
          <a:solidFill>
            <a:srgbClr val="EDEFF0"/>
          </a:solidFill>
          <a:ln w="9525">
            <a:solidFill>
              <a:srgbClr val="FFFFFF"/>
            </a:solidFill>
          </a:ln>
        </p:spPr>
        <p:txBody>
          <a:bodyPr rtlCol="0" anchor="ctr"/>
          <a:lstStyle/>
          <a:p>
            <a:pPr algn="ctr"/>
          </a:p>
        </p:txBody>
      </p:sp>
      <p:sp>
        <p:nvSpPr>
          <p:cNvPr id="115" name="Rectangle 114"/>
          <p:cNvSpPr/>
          <p:nvPr/>
        </p:nvSpPr>
        <p:spPr>
          <a:xfrm>
            <a:off x="9965990" y="4983480"/>
            <a:ext cx="93154" cy="246888"/>
          </a:xfrm>
          <a:prstGeom prst="rect">
            <a:avLst/>
          </a:prstGeom>
          <a:solidFill>
            <a:srgbClr val="FFFFFF"/>
          </a:solidFill>
          <a:ln w="9525">
            <a:solidFill>
              <a:srgbClr val="6B7780"/>
            </a:solidFill>
          </a:ln>
        </p:spPr>
        <p:txBody>
          <a:bodyPr rtlCol="0" anchor="ctr"/>
          <a:lstStyle/>
          <a:p>
            <a:pPr algn="ctr"/>
          </a:p>
        </p:txBody>
      </p:sp>
      <p:sp>
        <p:nvSpPr>
          <p:cNvPr id="116" name="TextBox 115"/>
          <p:cNvSpPr txBox="1"/>
          <p:nvPr/>
        </p:nvSpPr>
        <p:spPr>
          <a:xfrm>
            <a:off x="10149840" y="4946904"/>
            <a:ext cx="1417320" cy="310896"/>
          </a:xfrm>
          <a:prstGeom prst="rect">
            <a:avLst/>
          </a:prstGeom>
          <a:noFill/>
        </p:spPr>
        <p:txBody>
          <a:bodyPr wrap="square" lIns="0" tIns="0" rIns="0" bIns="0" anchor="ctr"/>
          <a:lstStyle/>
          <a:p>
            <a:pPr algn="l"/>
            <a:r>
              <a:rPr sz="1400" b="1" i="0">
                <a:solidFill>
                  <a:srgbClr val="1B3A57"/>
                </a:solidFill>
                <a:latin typeface="Arial"/>
                <a:ea typeface="Arial"/>
                <a:cs typeface="Arial"/>
              </a:rPr>
              <a:t>5.2 + 3.4%</a:t>
            </a:r>
          </a:p>
        </p:txBody>
      </p:sp>
      <p:sp>
        <p:nvSpPr>
          <p:cNvPr id="117" name="TextBox 116"/>
          <p:cNvSpPr txBox="1"/>
          <p:nvPr/>
        </p:nvSpPr>
        <p:spPr>
          <a:xfrm>
            <a:off x="10149840" y="1865376"/>
            <a:ext cx="1417320" cy="237744"/>
          </a:xfrm>
          <a:prstGeom prst="rect">
            <a:avLst/>
          </a:prstGeom>
          <a:noFill/>
        </p:spPr>
        <p:txBody>
          <a:bodyPr wrap="square" lIns="0" tIns="0" rIns="0" bIns="0" anchor="t"/>
          <a:lstStyle/>
          <a:p>
            <a:pPr algn="l"/>
            <a:r>
              <a:rPr sz="1400" b="1" i="0">
                <a:solidFill>
                  <a:srgbClr val="586B73"/>
                </a:solidFill>
                <a:latin typeface="Arial"/>
                <a:ea typeface="Arial"/>
                <a:cs typeface="Arial"/>
              </a:rPr>
              <a:t>Head share</a:t>
            </a:r>
          </a:p>
        </p:txBody>
      </p:sp>
      <p:sp>
        <p:nvSpPr>
          <p:cNvPr id="118" name="Rectangle 117"/>
          <p:cNvSpPr/>
          <p:nvPr/>
        </p:nvSpPr>
        <p:spPr>
          <a:xfrm>
            <a:off x="731520" y="5806440"/>
            <a:ext cx="164592" cy="164592"/>
          </a:xfrm>
          <a:prstGeom prst="rect">
            <a:avLst/>
          </a:prstGeom>
          <a:solidFill>
            <a:srgbClr val="1B3A57"/>
          </a:solidFill>
          <a:ln w="12700">
            <a:solidFill>
              <a:srgbClr val="1B3A57"/>
            </a:solidFill>
          </a:ln>
        </p:spPr>
        <p:txBody>
          <a:bodyPr rtlCol="0" anchor="ctr"/>
          <a:lstStyle/>
          <a:p>
            <a:pPr algn="ctr"/>
          </a:p>
        </p:txBody>
      </p:sp>
      <p:sp>
        <p:nvSpPr>
          <p:cNvPr id="119" name="TextBox 118"/>
          <p:cNvSpPr txBox="1"/>
          <p:nvPr/>
        </p:nvSpPr>
        <p:spPr>
          <a:xfrm>
            <a:off x="969264" y="5760720"/>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target head</a:t>
            </a:r>
          </a:p>
        </p:txBody>
      </p:sp>
      <p:sp>
        <p:nvSpPr>
          <p:cNvPr id="120" name="Rectangle 119"/>
          <p:cNvSpPr/>
          <p:nvPr/>
        </p:nvSpPr>
        <p:spPr>
          <a:xfrm>
            <a:off x="3456432" y="5806440"/>
            <a:ext cx="82296" cy="164592"/>
          </a:xfrm>
          <a:prstGeom prst="rect">
            <a:avLst/>
          </a:prstGeom>
          <a:solidFill>
            <a:srgbClr val="1C6402"/>
          </a:solidFill>
          <a:ln w="12700">
            <a:solidFill>
              <a:srgbClr val="1C6402"/>
            </a:solidFill>
          </a:ln>
        </p:spPr>
        <p:txBody>
          <a:bodyPr rtlCol="0" anchor="ctr"/>
          <a:lstStyle/>
          <a:p>
            <a:pPr algn="ctr"/>
          </a:p>
        </p:txBody>
      </p:sp>
      <p:sp>
        <p:nvSpPr>
          <p:cNvPr id="121" name="Rectangle 120"/>
          <p:cNvSpPr/>
          <p:nvPr/>
        </p:nvSpPr>
        <p:spPr>
          <a:xfrm>
            <a:off x="3538728" y="5806440"/>
            <a:ext cx="82296" cy="164592"/>
          </a:xfrm>
          <a:prstGeom prst="rect">
            <a:avLst/>
          </a:prstGeom>
          <a:solidFill>
            <a:srgbClr val="CC79A7"/>
          </a:solidFill>
          <a:ln w="12700">
            <a:solidFill>
              <a:srgbClr val="CC79A7"/>
            </a:solidFill>
          </a:ln>
        </p:spPr>
        <p:txBody>
          <a:bodyPr rtlCol="0" anchor="ctr"/>
          <a:lstStyle/>
          <a:p>
            <a:pPr algn="ctr"/>
          </a:p>
        </p:txBody>
      </p:sp>
      <p:sp>
        <p:nvSpPr>
          <p:cNvPr id="122" name="TextBox 121"/>
          <p:cNvSpPr txBox="1"/>
          <p:nvPr/>
        </p:nvSpPr>
        <p:spPr>
          <a:xfrm>
            <a:off x="3694176" y="5760720"/>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drafter heads (MTP, DFlash)</a:t>
            </a:r>
          </a:p>
        </p:txBody>
      </p:sp>
      <p:sp>
        <p:nvSpPr>
          <p:cNvPr id="123" name="Rectangle 122"/>
          <p:cNvSpPr/>
          <p:nvPr/>
        </p:nvSpPr>
        <p:spPr>
          <a:xfrm>
            <a:off x="6181344" y="5806440"/>
            <a:ext cx="164592" cy="164592"/>
          </a:xfrm>
          <a:prstGeom prst="rect">
            <a:avLst/>
          </a:prstGeom>
          <a:solidFill>
            <a:srgbClr val="BCC2C6"/>
          </a:solidFill>
          <a:ln w="12700">
            <a:solidFill>
              <a:srgbClr val="BCC2C6"/>
            </a:solidFill>
          </a:ln>
        </p:spPr>
        <p:txBody>
          <a:bodyPr rtlCol="0" anchor="ctr"/>
          <a:lstStyle/>
          <a:p>
            <a:pPr algn="ctr"/>
          </a:p>
        </p:txBody>
      </p:sp>
      <p:sp>
        <p:nvSpPr>
          <p:cNvPr id="124" name="TextBox 123"/>
          <p:cNvSpPr txBox="1"/>
          <p:nvPr/>
        </p:nvSpPr>
        <p:spPr>
          <a:xfrm>
            <a:off x="6419088" y="5760720"/>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weight GEMMs</a:t>
            </a:r>
          </a:p>
        </p:txBody>
      </p:sp>
      <p:sp>
        <p:nvSpPr>
          <p:cNvPr id="125" name="Rectangle 124"/>
          <p:cNvSpPr/>
          <p:nvPr/>
        </p:nvSpPr>
        <p:spPr>
          <a:xfrm>
            <a:off x="8906256" y="5806440"/>
            <a:ext cx="164592" cy="164592"/>
          </a:xfrm>
          <a:prstGeom prst="rect">
            <a:avLst/>
          </a:prstGeom>
          <a:solidFill>
            <a:srgbClr val="818B93"/>
          </a:solidFill>
          <a:ln w="12700">
            <a:solidFill>
              <a:srgbClr val="818B93"/>
            </a:solidFill>
          </a:ln>
        </p:spPr>
        <p:txBody>
          <a:bodyPr rtlCol="0" anchor="ctr"/>
          <a:lstStyle/>
          <a:p>
            <a:pPr algn="ctr"/>
          </a:p>
        </p:txBody>
      </p:sp>
      <p:sp>
        <p:nvSpPr>
          <p:cNvPr id="126" name="TextBox 125"/>
          <p:cNvSpPr txBox="1"/>
          <p:nvPr/>
        </p:nvSpPr>
        <p:spPr>
          <a:xfrm>
            <a:off x="9144000" y="5760720"/>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GDN kernels</a:t>
            </a:r>
          </a:p>
        </p:txBody>
      </p:sp>
      <p:sp>
        <p:nvSpPr>
          <p:cNvPr id="127" name="Rectangle 126"/>
          <p:cNvSpPr/>
          <p:nvPr/>
        </p:nvSpPr>
        <p:spPr>
          <a:xfrm>
            <a:off x="731520" y="6108192"/>
            <a:ext cx="164592" cy="164592"/>
          </a:xfrm>
          <a:prstGeom prst="rect">
            <a:avLst/>
          </a:prstGeom>
          <a:solidFill>
            <a:srgbClr val="9FA7AC"/>
          </a:solidFill>
          <a:ln w="12700">
            <a:solidFill>
              <a:srgbClr val="9FA7AC"/>
            </a:solidFill>
          </a:ln>
        </p:spPr>
        <p:txBody>
          <a:bodyPr rtlCol="0" anchor="ctr"/>
          <a:lstStyle/>
          <a:p>
            <a:pPr algn="ctr"/>
          </a:p>
        </p:txBody>
      </p:sp>
      <p:sp>
        <p:nvSpPr>
          <p:cNvPr id="128" name="TextBox 127"/>
          <p:cNvSpPr txBox="1"/>
          <p:nvPr/>
        </p:nvSpPr>
        <p:spPr>
          <a:xfrm>
            <a:off x="969264" y="6062472"/>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attention</a:t>
            </a:r>
          </a:p>
        </p:txBody>
      </p:sp>
      <p:sp>
        <p:nvSpPr>
          <p:cNvPr id="129" name="Rectangle 128"/>
          <p:cNvSpPr/>
          <p:nvPr/>
        </p:nvSpPr>
        <p:spPr>
          <a:xfrm>
            <a:off x="3456432" y="6108192"/>
            <a:ext cx="164592" cy="164592"/>
          </a:xfrm>
          <a:prstGeom prst="rect">
            <a:avLst/>
          </a:prstGeom>
          <a:solidFill>
            <a:srgbClr val="D6D9DB"/>
          </a:solidFill>
          <a:ln w="12700">
            <a:solidFill>
              <a:srgbClr val="D6D9DB"/>
            </a:solidFill>
          </a:ln>
        </p:spPr>
        <p:txBody>
          <a:bodyPr rtlCol="0" anchor="ctr"/>
          <a:lstStyle/>
          <a:p>
            <a:pPr algn="ctr"/>
          </a:p>
        </p:txBody>
      </p:sp>
      <p:sp>
        <p:nvSpPr>
          <p:cNvPr id="130" name="TextBox 129"/>
          <p:cNvSpPr txBox="1"/>
          <p:nvPr/>
        </p:nvSpPr>
        <p:spPr>
          <a:xfrm>
            <a:off x="3694176" y="6062472"/>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drafter layers</a:t>
            </a:r>
          </a:p>
        </p:txBody>
      </p:sp>
      <p:sp>
        <p:nvSpPr>
          <p:cNvPr id="131" name="Rectangle 130"/>
          <p:cNvSpPr/>
          <p:nvPr/>
        </p:nvSpPr>
        <p:spPr>
          <a:xfrm>
            <a:off x="6181344" y="6108192"/>
            <a:ext cx="164592" cy="164592"/>
          </a:xfrm>
          <a:prstGeom prst="rect">
            <a:avLst/>
          </a:prstGeom>
          <a:solidFill>
            <a:srgbClr val="EDEFF0"/>
          </a:solidFill>
          <a:ln w="12700">
            <a:solidFill>
              <a:srgbClr val="EDEFF0"/>
            </a:solidFill>
          </a:ln>
        </p:spPr>
        <p:txBody>
          <a:bodyPr rtlCol="0" anchor="ctr"/>
          <a:lstStyle/>
          <a:p>
            <a:pPr algn="ctr"/>
          </a:p>
        </p:txBody>
      </p:sp>
      <p:sp>
        <p:nvSpPr>
          <p:cNvPr id="132" name="TextBox 131"/>
          <p:cNvSpPr txBox="1"/>
          <p:nvPr/>
        </p:nvSpPr>
        <p:spPr>
          <a:xfrm>
            <a:off x="6419088" y="6062472"/>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other kernels</a:t>
            </a:r>
          </a:p>
        </p:txBody>
      </p:sp>
      <p:sp>
        <p:nvSpPr>
          <p:cNvPr id="133" name="Rectangle 132"/>
          <p:cNvSpPr/>
          <p:nvPr/>
        </p:nvSpPr>
        <p:spPr>
          <a:xfrm>
            <a:off x="8906256" y="6108192"/>
            <a:ext cx="164592" cy="164592"/>
          </a:xfrm>
          <a:prstGeom prst="rect">
            <a:avLst/>
          </a:prstGeom>
          <a:solidFill>
            <a:srgbClr val="FFFFFF"/>
          </a:solidFill>
          <a:ln w="12700">
            <a:solidFill>
              <a:srgbClr val="6B7780"/>
            </a:solidFill>
          </a:ln>
        </p:spPr>
        <p:txBody>
          <a:bodyPr rtlCol="0" anchor="ctr"/>
          <a:lstStyle/>
          <a:p>
            <a:pPr algn="ctr"/>
          </a:p>
        </p:txBody>
      </p:sp>
      <p:sp>
        <p:nvSpPr>
          <p:cNvPr id="134" name="TextBox 133"/>
          <p:cNvSpPr txBox="1"/>
          <p:nvPr/>
        </p:nvSpPr>
        <p:spPr>
          <a:xfrm>
            <a:off x="9144000" y="6062472"/>
            <a:ext cx="2468880" cy="256032"/>
          </a:xfrm>
          <a:prstGeom prst="rect">
            <a:avLst/>
          </a:prstGeom>
          <a:noFill/>
        </p:spPr>
        <p:txBody>
          <a:bodyPr wrap="square" lIns="0" tIns="0" rIns="0" bIns="0" anchor="t"/>
          <a:lstStyle/>
          <a:p>
            <a:pPr algn="l"/>
            <a:r>
              <a:rPr sz="1300" b="0" i="0">
                <a:solidFill>
                  <a:srgbClr val="1B3A57"/>
                </a:solidFill>
                <a:latin typeface="Arial"/>
                <a:ea typeface="Arial"/>
                <a:cs typeface="Arial"/>
              </a:rPr>
              <a:t>GPU idle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New here: certifying a closed-source kernel’s token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Paper §7 · sources/literature_review.md, citation_audit.md · performance figures of other work are the authors’ own</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B26</a:t>
            </a:r>
          </a:p>
        </p:txBody>
      </p:sp>
      <p:sp>
        <p:nvSpPr>
          <p:cNvPr id="6" name="TextBox 5"/>
          <p:cNvSpPr txBox="1"/>
          <p:nvPr/>
        </p:nvSpPr>
        <p:spPr>
          <a:xfrm>
            <a:off x="731520" y="1645920"/>
            <a:ext cx="5120640" cy="411480"/>
          </a:xfrm>
          <a:prstGeom prst="rect">
            <a:avLst/>
          </a:prstGeom>
          <a:noFill/>
        </p:spPr>
        <p:txBody>
          <a:bodyPr wrap="square" lIns="0" tIns="0" rIns="0" bIns="0" anchor="t"/>
          <a:lstStyle/>
          <a:p>
            <a:pPr algn="l"/>
            <a:r>
              <a:rPr sz="2200" b="1" i="0">
                <a:solidFill>
                  <a:srgbClr val="586B73"/>
                </a:solidFill>
                <a:latin typeface="Arial"/>
                <a:ea typeface="Arial"/>
                <a:cs typeface="Arial"/>
              </a:rPr>
              <a:t>Prior art</a:t>
            </a:r>
          </a:p>
        </p:txBody>
      </p:sp>
      <p:sp>
        <p:nvSpPr>
          <p:cNvPr id="7" name="TextBox 6"/>
          <p:cNvSpPr txBox="1"/>
          <p:nvPr/>
        </p:nvSpPr>
        <p:spPr>
          <a:xfrm>
            <a:off x="731520" y="2194560"/>
            <a:ext cx="5120640" cy="4023360"/>
          </a:xfrm>
          <a:prstGeom prst="rect">
            <a:avLst/>
          </a:prstGeom>
          <a:noFill/>
        </p:spPr>
        <p:txBody>
          <a:bodyPr wrap="square" lIns="0" tIns="0" rIns="0" bIns="0" anchor="t"/>
          <a:lstStyle/>
          <a:p>
            <a:pPr algn="l"/>
            <a:r>
              <a:rPr sz="1800" b="0" i="0">
                <a:solidFill>
                  <a:srgbClr val="1B3A57"/>
                </a:solidFill>
                <a:latin typeface="Arial"/>
                <a:ea typeface="Arial"/>
                <a:cs typeface="Arial"/>
              </a:rPr>
              <a:t>Certified low-precision heads: Sparkpipe, dgpp, a Metal engine that replicates its kernel, knlp</a:t>
            </a:r>
          </a:p>
          <a:p>
            <a:pPr algn="l">
              <a:spcBef>
                <a:spcPts val="1400"/>
              </a:spcBef>
            </a:pPr>
            <a:r>
              <a:rPr sz="1800" b="0" i="0">
                <a:solidFill>
                  <a:srgbClr val="1B3A57"/>
                </a:solidFill>
                <a:latin typeface="Arial"/>
                <a:ea typeface="Arial"/>
                <a:cs typeface="Arial"/>
              </a:rPr>
              <a:t>Bound-and-refine search; cluster bounds (the static screen)</a:t>
            </a:r>
          </a:p>
          <a:p>
            <a:pPr algn="l">
              <a:spcBef>
                <a:spcPts val="1400"/>
              </a:spcBef>
            </a:pPr>
            <a:r>
              <a:rPr sz="1800" b="0" i="0">
                <a:solidFill>
                  <a:srgbClr val="1B3A57"/>
                </a:solidFill>
                <a:latin typeface="Arial"/>
                <a:ea typeface="Arial"/>
                <a:cs typeface="Arial"/>
              </a:rPr>
              <a:t>Sampling from bounded scores; drafter-invariant verification</a:t>
            </a:r>
          </a:p>
        </p:txBody>
      </p:sp>
      <p:cxnSp>
        <p:nvCxnSpPr>
          <p:cNvPr id="8" name="Connector 7"/>
          <p:cNvCxnSpPr/>
          <p:nvPr/>
        </p:nvCxnSpPr>
        <p:spPr>
          <a:xfrm>
            <a:off x="6126480" y="1737360"/>
            <a:ext cx="0" cy="4480560"/>
          </a:xfrm>
          <a:prstGeom prst="line">
            <a:avLst/>
          </a:prstGeom>
          <a:ln w="12700">
            <a:solidFill>
              <a:srgbClr val="D2DCDF"/>
            </a:solidFill>
          </a:ln>
        </p:spPr>
      </p:cxnSp>
      <p:sp>
        <p:nvSpPr>
          <p:cNvPr id="9" name="TextBox 8"/>
          <p:cNvSpPr txBox="1"/>
          <p:nvPr/>
        </p:nvSpPr>
        <p:spPr>
          <a:xfrm>
            <a:off x="6400800" y="1645920"/>
            <a:ext cx="5074920" cy="411480"/>
          </a:xfrm>
          <a:prstGeom prst="rect">
            <a:avLst/>
          </a:prstGeom>
          <a:noFill/>
        </p:spPr>
        <p:txBody>
          <a:bodyPr wrap="square" lIns="0" tIns="0" rIns="0" bIns="0" anchor="t"/>
          <a:lstStyle/>
          <a:p>
            <a:pPr algn="l"/>
            <a:r>
              <a:rPr sz="2200" b="1" i="0">
                <a:solidFill>
                  <a:srgbClr val="0072B2"/>
                </a:solidFill>
                <a:latin typeface="Arial"/>
                <a:ea typeface="Arial"/>
                <a:cs typeface="Arial"/>
              </a:rPr>
              <a:t>This paper</a:t>
            </a:r>
          </a:p>
        </p:txBody>
      </p:sp>
      <p:sp>
        <p:nvSpPr>
          <p:cNvPr id="10" name="TextBox 9"/>
          <p:cNvSpPr txBox="1"/>
          <p:nvPr/>
        </p:nvSpPr>
        <p:spPr>
          <a:xfrm>
            <a:off x="6400800" y="2194560"/>
            <a:ext cx="5074920" cy="4023360"/>
          </a:xfrm>
          <a:prstGeom prst="rect">
            <a:avLst/>
          </a:prstGeom>
          <a:noFill/>
        </p:spPr>
        <p:txBody>
          <a:bodyPr wrap="square" lIns="0" tIns="0" rIns="0" bIns="0" anchor="t"/>
          <a:lstStyle/>
          <a:p>
            <a:pPr algn="l"/>
            <a:r>
              <a:rPr sz="1800" b="0" i="0">
                <a:solidFill>
                  <a:srgbClr val="1B3A57"/>
                </a:solidFill>
                <a:latin typeface="Arial"/>
                <a:ea typeface="Arial"/>
                <a:cs typeface="Arial"/>
              </a:rPr>
              <a:t>A contract with a closed-source kernel’s rounding, under a tested error model, with the stock head as fallback</a:t>
            </a:r>
          </a:p>
          <a:p>
            <a:pPr algn="l">
              <a:spcBef>
                <a:spcPts val="1400"/>
              </a:spcBef>
            </a:pPr>
            <a:r>
              <a:rPr sz="1800" b="0" i="0">
                <a:solidFill>
                  <a:srgbClr val="1B3A57"/>
                </a:solidFill>
                <a:latin typeface="Arial"/>
                <a:ea typeface="Arial"/>
                <a:cs typeface="Arial"/>
              </a:rPr>
              <a:t>Transport of draft-side tile summaries: no precedent found, and a negative result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Seven pull requests and six reports upstream, all open</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GitHub: sgl-project/sglang, Dao-AILab/flash-attention (status and replies checked 2026-10-03) · evidence/upstream_fa4 · not part of the paper</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B27</a:t>
            </a:r>
          </a:p>
        </p:txBody>
      </p:sp>
      <p:sp>
        <p:nvSpPr>
          <p:cNvPr id="6" name="Rectangle 5"/>
          <p:cNvSpPr/>
          <p:nvPr/>
        </p:nvSpPr>
        <p:spPr>
          <a:xfrm>
            <a:off x="731520" y="1554480"/>
            <a:ext cx="10744200" cy="402336"/>
          </a:xfrm>
          <a:prstGeom prst="rect">
            <a:avLst/>
          </a:prstGeom>
          <a:solidFill>
            <a:srgbClr val="F1F5F5"/>
          </a:solidFill>
          <a:ln w="12700">
            <a:solidFill>
              <a:srgbClr val="F1F5F5"/>
            </a:solidFill>
          </a:ln>
        </p:spPr>
        <p:txBody>
          <a:bodyPr rtlCol="0" anchor="ctr"/>
          <a:lstStyle/>
          <a:p>
            <a:pPr algn="ctr"/>
          </a:p>
        </p:txBody>
      </p:sp>
      <p:sp>
        <p:nvSpPr>
          <p:cNvPr id="7" name="TextBox 6"/>
          <p:cNvSpPr txBox="1"/>
          <p:nvPr/>
        </p:nvSpPr>
        <p:spPr>
          <a:xfrm>
            <a:off x="841248" y="1581912"/>
            <a:ext cx="2834640" cy="347472"/>
          </a:xfrm>
          <a:prstGeom prst="rect">
            <a:avLst/>
          </a:prstGeom>
          <a:noFill/>
        </p:spPr>
        <p:txBody>
          <a:bodyPr wrap="square" lIns="0" tIns="0" rIns="0" bIns="0" anchor="ctr"/>
          <a:lstStyle/>
          <a:p>
            <a:pPr algn="l"/>
            <a:r>
              <a:rPr sz="1500" b="1" i="0">
                <a:solidFill>
                  <a:srgbClr val="586B73"/>
                </a:solidFill>
                <a:latin typeface="Arial"/>
                <a:ea typeface="Arial"/>
                <a:cs typeface="Arial"/>
              </a:rPr>
              <a:t>Item</a:t>
            </a:r>
          </a:p>
        </p:txBody>
      </p:sp>
      <p:sp>
        <p:nvSpPr>
          <p:cNvPr id="8" name="TextBox 7"/>
          <p:cNvSpPr txBox="1"/>
          <p:nvPr/>
        </p:nvSpPr>
        <p:spPr>
          <a:xfrm>
            <a:off x="3813048" y="1581912"/>
            <a:ext cx="5852159" cy="347472"/>
          </a:xfrm>
          <a:prstGeom prst="rect">
            <a:avLst/>
          </a:prstGeom>
          <a:noFill/>
        </p:spPr>
        <p:txBody>
          <a:bodyPr wrap="square" lIns="0" tIns="0" rIns="0" bIns="0" anchor="ctr"/>
          <a:lstStyle/>
          <a:p>
            <a:pPr algn="l"/>
            <a:r>
              <a:rPr sz="1500" b="1" i="0">
                <a:solidFill>
                  <a:srgbClr val="586B73"/>
                </a:solidFill>
                <a:latin typeface="Arial"/>
                <a:ea typeface="Arial"/>
                <a:cs typeface="Arial"/>
              </a:rPr>
              <a:t>What it fixes or reports</a:t>
            </a:r>
          </a:p>
        </p:txBody>
      </p:sp>
      <p:sp>
        <p:nvSpPr>
          <p:cNvPr id="9" name="TextBox 8"/>
          <p:cNvSpPr txBox="1"/>
          <p:nvPr/>
        </p:nvSpPr>
        <p:spPr>
          <a:xfrm>
            <a:off x="9802367" y="1581912"/>
            <a:ext cx="1645920" cy="347472"/>
          </a:xfrm>
          <a:prstGeom prst="rect">
            <a:avLst/>
          </a:prstGeom>
          <a:noFill/>
        </p:spPr>
        <p:txBody>
          <a:bodyPr wrap="square" lIns="0" tIns="0" rIns="0" bIns="0" anchor="ctr"/>
          <a:lstStyle/>
          <a:p>
            <a:pPr algn="l"/>
            <a:r>
              <a:rPr sz="1500" b="1" i="0">
                <a:solidFill>
                  <a:srgbClr val="586B73"/>
                </a:solidFill>
                <a:latin typeface="Arial"/>
                <a:ea typeface="Arial"/>
                <a:cs typeface="Arial"/>
              </a:rPr>
              <a:t>Status</a:t>
            </a:r>
          </a:p>
        </p:txBody>
      </p:sp>
      <p:sp>
        <p:nvSpPr>
          <p:cNvPr id="10" name="TextBox 9"/>
          <p:cNvSpPr txBox="1"/>
          <p:nvPr/>
        </p:nvSpPr>
        <p:spPr>
          <a:xfrm>
            <a:off x="841248" y="2020823"/>
            <a:ext cx="2834640" cy="512064"/>
          </a:xfrm>
          <a:prstGeom prst="rect">
            <a:avLst/>
          </a:prstGeom>
          <a:noFill/>
        </p:spPr>
        <p:txBody>
          <a:bodyPr wrap="square" lIns="0" tIns="0" rIns="0" bIns="0" anchor="ctr"/>
          <a:lstStyle/>
          <a:p>
            <a:pPr algn="l"/>
            <a:r>
              <a:rPr sz="1450" b="1" i="0">
                <a:solidFill>
                  <a:srgbClr val="1B3A57"/>
                </a:solidFill>
                <a:latin typeface="Arial"/>
                <a:ea typeface="Arial"/>
                <a:cs typeface="Arial"/>
              </a:rPr>
              <a:t>flash-attention #2957, #2958</a:t>
            </a:r>
          </a:p>
        </p:txBody>
      </p:sp>
      <p:sp>
        <p:nvSpPr>
          <p:cNvPr id="11" name="TextBox 10"/>
          <p:cNvSpPr txBox="1"/>
          <p:nvPr/>
        </p:nvSpPr>
        <p:spPr>
          <a:xfrm>
            <a:off x="3813048" y="2020823"/>
            <a:ext cx="5852159" cy="512064"/>
          </a:xfrm>
          <a:prstGeom prst="rect">
            <a:avLst/>
          </a:prstGeom>
          <a:noFill/>
        </p:spPr>
        <p:txBody>
          <a:bodyPr wrap="square" lIns="0" tIns="0" rIns="0" bIns="0" anchor="ctr"/>
          <a:lstStyle/>
          <a:p>
            <a:pPr algn="l"/>
            <a:r>
              <a:rPr sz="1400" b="0" i="0">
                <a:solidFill>
                  <a:srgbClr val="1B3A57"/>
                </a:solidFill>
                <a:latin typeface="Arial"/>
                <a:ea typeface="Arial"/>
                <a:cs typeface="Arial"/>
              </a:rPr>
              <a:t>FA4’s SM90 paged-KV loader copies rows past a partial tile (head dims 80, 96, 160, 224); the PR skips those copies</a:t>
            </a:r>
          </a:p>
        </p:txBody>
      </p:sp>
      <p:sp>
        <p:nvSpPr>
          <p:cNvPr id="12" name="TextBox 11"/>
          <p:cNvSpPr txBox="1"/>
          <p:nvPr/>
        </p:nvSpPr>
        <p:spPr>
          <a:xfrm>
            <a:off x="9802367" y="2020823"/>
            <a:ext cx="1645920" cy="512064"/>
          </a:xfrm>
          <a:prstGeom prst="rect">
            <a:avLst/>
          </a:prstGeom>
          <a:noFill/>
        </p:spPr>
        <p:txBody>
          <a:bodyPr wrap="square" lIns="0" tIns="0" rIns="0" bIns="0" anchor="ctr"/>
          <a:lstStyle/>
          <a:p>
            <a:pPr algn="l"/>
            <a:r>
              <a:rPr sz="1350" b="0" i="0">
                <a:solidFill>
                  <a:srgbClr val="586B73"/>
                </a:solidFill>
                <a:latin typeface="Arial"/>
                <a:ea typeface="Arial"/>
                <a:cs typeface="Arial"/>
              </a:rPr>
              <a:t>Open, no reply</a:t>
            </a:r>
          </a:p>
          <a:p>
            <a:pPr algn="l"/>
            <a:r>
              <a:rPr sz="1350" b="0" i="0">
                <a:solidFill>
                  <a:srgbClr val="586B73"/>
                </a:solidFill>
                <a:latin typeface="Arial"/>
                <a:ea typeface="Arial"/>
                <a:cs typeface="Arial"/>
              </a:rPr>
              <a:t>Open, no review</a:t>
            </a:r>
          </a:p>
        </p:txBody>
      </p:sp>
      <p:cxnSp>
        <p:nvCxnSpPr>
          <p:cNvPr id="13" name="Connector 12"/>
          <p:cNvCxnSpPr/>
          <p:nvPr/>
        </p:nvCxnSpPr>
        <p:spPr>
          <a:xfrm>
            <a:off x="731520" y="2560320"/>
            <a:ext cx="10744200" cy="0"/>
          </a:xfrm>
          <a:prstGeom prst="line">
            <a:avLst/>
          </a:prstGeom>
          <a:ln w="12700">
            <a:solidFill>
              <a:srgbClr val="D2DCDF"/>
            </a:solidFill>
          </a:ln>
        </p:spPr>
      </p:cxnSp>
      <p:sp>
        <p:nvSpPr>
          <p:cNvPr id="14" name="TextBox 13"/>
          <p:cNvSpPr txBox="1"/>
          <p:nvPr/>
        </p:nvSpPr>
        <p:spPr>
          <a:xfrm>
            <a:off x="841248" y="2587751"/>
            <a:ext cx="2834640" cy="512064"/>
          </a:xfrm>
          <a:prstGeom prst="rect">
            <a:avLst/>
          </a:prstGeom>
          <a:noFill/>
        </p:spPr>
        <p:txBody>
          <a:bodyPr wrap="square" lIns="0" tIns="0" rIns="0" bIns="0" anchor="ctr"/>
          <a:lstStyle/>
          <a:p>
            <a:pPr algn="l"/>
            <a:r>
              <a:rPr sz="1450" b="1" i="0">
                <a:solidFill>
                  <a:srgbClr val="1B3A57"/>
                </a:solidFill>
                <a:latin typeface="Arial"/>
                <a:ea typeface="Arial"/>
                <a:cs typeface="Arial"/>
              </a:rPr>
              <a:t>Comment on SGLang #35757</a:t>
            </a:r>
          </a:p>
        </p:txBody>
      </p:sp>
      <p:sp>
        <p:nvSpPr>
          <p:cNvPr id="15" name="TextBox 14"/>
          <p:cNvSpPr txBox="1"/>
          <p:nvPr/>
        </p:nvSpPr>
        <p:spPr>
          <a:xfrm>
            <a:off x="3813048" y="2587751"/>
            <a:ext cx="5852159" cy="512064"/>
          </a:xfrm>
          <a:prstGeom prst="rect">
            <a:avLst/>
          </a:prstGeom>
          <a:noFill/>
        </p:spPr>
        <p:txBody>
          <a:bodyPr wrap="square" lIns="0" tIns="0" rIns="0" bIns="0" anchor="ctr"/>
          <a:lstStyle/>
          <a:p>
            <a:pPr algn="l"/>
            <a:r>
              <a:rPr sz="1400" b="0" i="0">
                <a:solidFill>
                  <a:srgbClr val="1B3A57"/>
                </a:solidFill>
                <a:latin typeface="Arial"/>
                <a:ea typeface="Arial"/>
                <a:cs typeface="Arial"/>
              </a:rPr>
              <a:t>Confirms the head-dim-256 compile fix on Qwen3.5; reports the loader bug with the vendored-copy diff</a:t>
            </a:r>
          </a:p>
        </p:txBody>
      </p:sp>
      <p:sp>
        <p:nvSpPr>
          <p:cNvPr id="16" name="TextBox 15"/>
          <p:cNvSpPr txBox="1"/>
          <p:nvPr/>
        </p:nvSpPr>
        <p:spPr>
          <a:xfrm>
            <a:off x="9802367" y="2587751"/>
            <a:ext cx="1645920" cy="512064"/>
          </a:xfrm>
          <a:prstGeom prst="rect">
            <a:avLst/>
          </a:prstGeom>
          <a:noFill/>
        </p:spPr>
        <p:txBody>
          <a:bodyPr wrap="square" lIns="0" tIns="0" rIns="0" bIns="0" anchor="ctr"/>
          <a:lstStyle/>
          <a:p>
            <a:pPr algn="l"/>
            <a:r>
              <a:rPr sz="1350" b="0" i="0">
                <a:solidFill>
                  <a:srgbClr val="586B73"/>
                </a:solidFill>
                <a:latin typeface="Arial"/>
                <a:ea typeface="Arial"/>
                <a:cs typeface="Arial"/>
              </a:rPr>
              <a:t>Open, no reply</a:t>
            </a:r>
          </a:p>
        </p:txBody>
      </p:sp>
      <p:cxnSp>
        <p:nvCxnSpPr>
          <p:cNvPr id="17" name="Connector 16"/>
          <p:cNvCxnSpPr/>
          <p:nvPr/>
        </p:nvCxnSpPr>
        <p:spPr>
          <a:xfrm>
            <a:off x="731520" y="3127248"/>
            <a:ext cx="10744200" cy="0"/>
          </a:xfrm>
          <a:prstGeom prst="line">
            <a:avLst/>
          </a:prstGeom>
          <a:ln w="12700">
            <a:solidFill>
              <a:srgbClr val="D2DCDF"/>
            </a:solidFill>
          </a:ln>
        </p:spPr>
      </p:cxnSp>
      <p:sp>
        <p:nvSpPr>
          <p:cNvPr id="18" name="TextBox 17"/>
          <p:cNvSpPr txBox="1"/>
          <p:nvPr/>
        </p:nvSpPr>
        <p:spPr>
          <a:xfrm>
            <a:off x="841248" y="3154679"/>
            <a:ext cx="2834640" cy="731520"/>
          </a:xfrm>
          <a:prstGeom prst="rect">
            <a:avLst/>
          </a:prstGeom>
          <a:noFill/>
        </p:spPr>
        <p:txBody>
          <a:bodyPr wrap="square" lIns="0" tIns="0" rIns="0" bIns="0" anchor="ctr"/>
          <a:lstStyle/>
          <a:p>
            <a:pPr algn="l"/>
            <a:r>
              <a:rPr sz="1450" b="1" i="0">
                <a:solidFill>
                  <a:srgbClr val="1B3A57"/>
                </a:solidFill>
                <a:latin typeface="Arial"/>
                <a:ea typeface="Arial"/>
                <a:cs typeface="Arial"/>
              </a:rPr>
              <a:t>Comment on SGLang #42019</a:t>
            </a:r>
          </a:p>
        </p:txBody>
      </p:sp>
      <p:sp>
        <p:nvSpPr>
          <p:cNvPr id="19" name="TextBox 18"/>
          <p:cNvSpPr txBox="1"/>
          <p:nvPr/>
        </p:nvSpPr>
        <p:spPr>
          <a:xfrm>
            <a:off x="3813048" y="3154679"/>
            <a:ext cx="5852159" cy="731520"/>
          </a:xfrm>
          <a:prstGeom prst="rect">
            <a:avLst/>
          </a:prstGeom>
          <a:noFill/>
        </p:spPr>
        <p:txBody>
          <a:bodyPr wrap="square" lIns="0" tIns="0" rIns="0" bIns="0" anchor="ctr"/>
          <a:lstStyle/>
          <a:p>
            <a:pPr algn="l"/>
            <a:r>
              <a:rPr sz="1400" b="0" i="0">
                <a:solidFill>
                  <a:srgbClr val="1B3A57"/>
                </a:solidFill>
                <a:latin typeface="Arial"/>
                <a:ea typeface="Arial"/>
                <a:cs typeface="Arial"/>
              </a:rPr>
              <a:t>max(1, floor) left tile_n 144 short. The author adopted the ceiling division; on an H200 it alone does not fix tile_n 144. We pointed to #2958 and offered the diff</a:t>
            </a:r>
          </a:p>
        </p:txBody>
      </p:sp>
      <p:sp>
        <p:nvSpPr>
          <p:cNvPr id="20" name="TextBox 19"/>
          <p:cNvSpPr txBox="1"/>
          <p:nvPr/>
        </p:nvSpPr>
        <p:spPr>
          <a:xfrm>
            <a:off x="9802367" y="3154679"/>
            <a:ext cx="1645920" cy="731520"/>
          </a:xfrm>
          <a:prstGeom prst="rect">
            <a:avLst/>
          </a:prstGeom>
          <a:noFill/>
        </p:spPr>
        <p:txBody>
          <a:bodyPr wrap="square" lIns="0" tIns="0" rIns="0" bIns="0" anchor="ctr"/>
          <a:lstStyle/>
          <a:p>
            <a:pPr algn="l"/>
            <a:r>
              <a:rPr sz="1350" b="0" i="0">
                <a:solidFill>
                  <a:srgbClr val="1B3A57"/>
                </a:solidFill>
                <a:latin typeface="Arial"/>
                <a:ea typeface="Arial"/>
                <a:cs typeface="Arial"/>
              </a:rPr>
              <a:t>Open; author replied, we answered</a:t>
            </a:r>
          </a:p>
        </p:txBody>
      </p:sp>
      <p:cxnSp>
        <p:nvCxnSpPr>
          <p:cNvPr id="21" name="Connector 20"/>
          <p:cNvCxnSpPr/>
          <p:nvPr/>
        </p:nvCxnSpPr>
        <p:spPr>
          <a:xfrm>
            <a:off x="731520" y="3913632"/>
            <a:ext cx="10744200" cy="0"/>
          </a:xfrm>
          <a:prstGeom prst="line">
            <a:avLst/>
          </a:prstGeom>
          <a:ln w="12700">
            <a:solidFill>
              <a:srgbClr val="D2DCDF"/>
            </a:solidFill>
          </a:ln>
        </p:spPr>
      </p:cxnSp>
      <p:sp>
        <p:nvSpPr>
          <p:cNvPr id="22" name="TextBox 21"/>
          <p:cNvSpPr txBox="1"/>
          <p:nvPr/>
        </p:nvSpPr>
        <p:spPr>
          <a:xfrm>
            <a:off x="841248" y="3941064"/>
            <a:ext cx="2834640" cy="512064"/>
          </a:xfrm>
          <a:prstGeom prst="rect">
            <a:avLst/>
          </a:prstGeom>
          <a:noFill/>
        </p:spPr>
        <p:txBody>
          <a:bodyPr wrap="square" lIns="0" tIns="0" rIns="0" bIns="0" anchor="ctr"/>
          <a:lstStyle/>
          <a:p>
            <a:pPr algn="l"/>
            <a:r>
              <a:rPr sz="1450" b="1" i="0">
                <a:solidFill>
                  <a:srgbClr val="1B3A57"/>
                </a:solidFill>
                <a:latin typeface="Arial"/>
                <a:ea typeface="Arial"/>
                <a:cs typeface="Arial"/>
              </a:rPr>
              <a:t>SGLang #42263</a:t>
            </a:r>
          </a:p>
        </p:txBody>
      </p:sp>
      <p:sp>
        <p:nvSpPr>
          <p:cNvPr id="23" name="TextBox 22"/>
          <p:cNvSpPr txBox="1"/>
          <p:nvPr/>
        </p:nvSpPr>
        <p:spPr>
          <a:xfrm>
            <a:off x="3813048" y="3941064"/>
            <a:ext cx="5852159" cy="512064"/>
          </a:xfrm>
          <a:prstGeom prst="rect">
            <a:avLst/>
          </a:prstGeom>
          <a:noFill/>
        </p:spPr>
        <p:txBody>
          <a:bodyPr wrap="square" lIns="0" tIns="0" rIns="0" bIns="0" anchor="ctr"/>
          <a:lstStyle/>
          <a:p>
            <a:pPr algn="l"/>
            <a:r>
              <a:rPr sz="1400" b="0" i="0">
                <a:solidFill>
                  <a:srgbClr val="1B3A57"/>
                </a:solidFill>
                <a:latin typeface="Arial"/>
                <a:ea typeface="Arial"/>
                <a:cs typeface="Arial"/>
              </a:rPr>
              <a:t>Builds sm_90a for the aarch64 sgl-kernel wheel, whose SM90 CUTLASS GEMMs computed nothing on GH200</a:t>
            </a:r>
          </a:p>
        </p:txBody>
      </p:sp>
      <p:sp>
        <p:nvSpPr>
          <p:cNvPr id="24" name="TextBox 23"/>
          <p:cNvSpPr txBox="1"/>
          <p:nvPr/>
        </p:nvSpPr>
        <p:spPr>
          <a:xfrm>
            <a:off x="9802367" y="3941064"/>
            <a:ext cx="1645920" cy="512064"/>
          </a:xfrm>
          <a:prstGeom prst="rect">
            <a:avLst/>
          </a:prstGeom>
          <a:noFill/>
        </p:spPr>
        <p:txBody>
          <a:bodyPr wrap="square" lIns="0" tIns="0" rIns="0" bIns="0" anchor="ctr"/>
          <a:lstStyle/>
          <a:p>
            <a:pPr algn="l"/>
            <a:r>
              <a:rPr sz="1350" b="0" i="0">
                <a:solidFill>
                  <a:srgbClr val="586B73"/>
                </a:solidFill>
                <a:latin typeface="Arial"/>
                <a:ea typeface="Arial"/>
                <a:cs typeface="Arial"/>
              </a:rPr>
              <a:t>Open, no review</a:t>
            </a:r>
          </a:p>
        </p:txBody>
      </p:sp>
      <p:cxnSp>
        <p:nvCxnSpPr>
          <p:cNvPr id="25" name="Connector 24"/>
          <p:cNvCxnSpPr/>
          <p:nvPr/>
        </p:nvCxnSpPr>
        <p:spPr>
          <a:xfrm>
            <a:off x="731520" y="4480560"/>
            <a:ext cx="10744200" cy="0"/>
          </a:xfrm>
          <a:prstGeom prst="line">
            <a:avLst/>
          </a:prstGeom>
          <a:ln w="12700">
            <a:solidFill>
              <a:srgbClr val="D2DCDF"/>
            </a:solidFill>
          </a:ln>
        </p:spPr>
      </p:cxnSp>
      <p:sp>
        <p:nvSpPr>
          <p:cNvPr id="26" name="TextBox 25"/>
          <p:cNvSpPr txBox="1"/>
          <p:nvPr/>
        </p:nvSpPr>
        <p:spPr>
          <a:xfrm>
            <a:off x="841248" y="4507992"/>
            <a:ext cx="2834640" cy="512064"/>
          </a:xfrm>
          <a:prstGeom prst="rect">
            <a:avLst/>
          </a:prstGeom>
          <a:noFill/>
        </p:spPr>
        <p:txBody>
          <a:bodyPr wrap="square" lIns="0" tIns="0" rIns="0" bIns="0" anchor="ctr"/>
          <a:lstStyle/>
          <a:p>
            <a:pPr algn="l"/>
            <a:r>
              <a:rPr sz="1450" b="1" i="0">
                <a:solidFill>
                  <a:srgbClr val="1B3A57"/>
                </a:solidFill>
                <a:latin typeface="Arial"/>
                <a:ea typeface="Arial"/>
                <a:cs typeface="Arial"/>
              </a:rPr>
              <a:t>SGLang #42209, #42195</a:t>
            </a:r>
          </a:p>
        </p:txBody>
      </p:sp>
      <p:sp>
        <p:nvSpPr>
          <p:cNvPr id="27" name="TextBox 26"/>
          <p:cNvSpPr txBox="1"/>
          <p:nvPr/>
        </p:nvSpPr>
        <p:spPr>
          <a:xfrm>
            <a:off x="3813048" y="4507992"/>
            <a:ext cx="5852159" cy="512064"/>
          </a:xfrm>
          <a:prstGeom prst="rect">
            <a:avLst/>
          </a:prstGeom>
          <a:noFill/>
        </p:spPr>
        <p:txBody>
          <a:bodyPr wrap="square" lIns="0" tIns="0" rIns="0" bIns="0" anchor="ctr"/>
          <a:lstStyle/>
          <a:p>
            <a:pPr algn="l"/>
            <a:r>
              <a:rPr sz="1400" b="0" i="0">
                <a:solidFill>
                  <a:srgbClr val="1B3A57"/>
                </a:solidFill>
                <a:latin typeface="Arial"/>
                <a:ea typeface="Arial"/>
                <a:cs typeface="Arial"/>
              </a:rPr>
              <a:t>The fold for DFlash and MTP; FlashInfer planning without blocking reads (both opt-in)</a:t>
            </a:r>
          </a:p>
        </p:txBody>
      </p:sp>
      <p:sp>
        <p:nvSpPr>
          <p:cNvPr id="28" name="TextBox 27"/>
          <p:cNvSpPr txBox="1"/>
          <p:nvPr/>
        </p:nvSpPr>
        <p:spPr>
          <a:xfrm>
            <a:off x="9802367" y="4507992"/>
            <a:ext cx="1645920" cy="512064"/>
          </a:xfrm>
          <a:prstGeom prst="rect">
            <a:avLst/>
          </a:prstGeom>
          <a:noFill/>
        </p:spPr>
        <p:txBody>
          <a:bodyPr wrap="square" lIns="0" tIns="0" rIns="0" bIns="0" anchor="ctr"/>
          <a:lstStyle/>
          <a:p>
            <a:pPr algn="l"/>
            <a:r>
              <a:rPr sz="1350" b="0" i="0">
                <a:solidFill>
                  <a:srgbClr val="586B73"/>
                </a:solidFill>
                <a:latin typeface="Arial"/>
                <a:ea typeface="Arial"/>
                <a:cs typeface="Arial"/>
              </a:rPr>
              <a:t>Open, no review</a:t>
            </a:r>
          </a:p>
        </p:txBody>
      </p:sp>
      <p:cxnSp>
        <p:nvCxnSpPr>
          <p:cNvPr id="29" name="Connector 28"/>
          <p:cNvCxnSpPr/>
          <p:nvPr/>
        </p:nvCxnSpPr>
        <p:spPr>
          <a:xfrm>
            <a:off x="731520" y="5047488"/>
            <a:ext cx="10744200" cy="0"/>
          </a:xfrm>
          <a:prstGeom prst="line">
            <a:avLst/>
          </a:prstGeom>
          <a:ln w="12700">
            <a:solidFill>
              <a:srgbClr val="D2DCDF"/>
            </a:solidFill>
          </a:ln>
        </p:spPr>
      </p:cxnSp>
      <p:sp>
        <p:nvSpPr>
          <p:cNvPr id="30" name="TextBox 29"/>
          <p:cNvSpPr txBox="1"/>
          <p:nvPr/>
        </p:nvSpPr>
        <p:spPr>
          <a:xfrm>
            <a:off x="841248" y="5074920"/>
            <a:ext cx="2834640" cy="512064"/>
          </a:xfrm>
          <a:prstGeom prst="rect">
            <a:avLst/>
          </a:prstGeom>
          <a:noFill/>
        </p:spPr>
        <p:txBody>
          <a:bodyPr wrap="square" lIns="0" tIns="0" rIns="0" bIns="0" anchor="ctr"/>
          <a:lstStyle/>
          <a:p>
            <a:pPr algn="l"/>
            <a:r>
              <a:rPr sz="1450" b="1" i="0">
                <a:solidFill>
                  <a:srgbClr val="1B3A57"/>
                </a:solidFill>
                <a:latin typeface="Arial"/>
                <a:ea typeface="Arial"/>
                <a:cs typeface="Arial"/>
              </a:rPr>
              <a:t>SGLang #42160, #42126, #42094</a:t>
            </a:r>
          </a:p>
        </p:txBody>
      </p:sp>
      <p:sp>
        <p:nvSpPr>
          <p:cNvPr id="31" name="TextBox 30"/>
          <p:cNvSpPr txBox="1"/>
          <p:nvPr/>
        </p:nvSpPr>
        <p:spPr>
          <a:xfrm>
            <a:off x="3813048" y="5074920"/>
            <a:ext cx="5852159" cy="512064"/>
          </a:xfrm>
          <a:prstGeom prst="rect">
            <a:avLst/>
          </a:prstGeom>
          <a:noFill/>
        </p:spPr>
        <p:txBody>
          <a:bodyPr wrap="square" lIns="0" tIns="0" rIns="0" bIns="0" anchor="ctr"/>
          <a:lstStyle/>
          <a:p>
            <a:pPr algn="l"/>
            <a:r>
              <a:rPr sz="1400" b="0" i="0">
                <a:solidFill>
                  <a:srgbClr val="1B3A57"/>
                </a:solidFill>
                <a:latin typeface="Arial"/>
                <a:ea typeface="Arial"/>
                <a:cs typeface="Arial"/>
              </a:rPr>
              <a:t>64-bit offsets in a fused kernel; the packed GDN projection on CUDA; a tied MTP drafter start-up crash</a:t>
            </a:r>
          </a:p>
        </p:txBody>
      </p:sp>
      <p:sp>
        <p:nvSpPr>
          <p:cNvPr id="32" name="TextBox 31"/>
          <p:cNvSpPr txBox="1"/>
          <p:nvPr/>
        </p:nvSpPr>
        <p:spPr>
          <a:xfrm>
            <a:off x="9802367" y="5074920"/>
            <a:ext cx="1645920" cy="512064"/>
          </a:xfrm>
          <a:prstGeom prst="rect">
            <a:avLst/>
          </a:prstGeom>
          <a:noFill/>
        </p:spPr>
        <p:txBody>
          <a:bodyPr wrap="square" lIns="0" tIns="0" rIns="0" bIns="0" anchor="ctr"/>
          <a:lstStyle/>
          <a:p>
            <a:pPr algn="l"/>
            <a:r>
              <a:rPr sz="1350" b="0" i="0">
                <a:solidFill>
                  <a:srgbClr val="586B73"/>
                </a:solidFill>
                <a:latin typeface="Arial"/>
                <a:ea typeface="Arial"/>
                <a:cs typeface="Arial"/>
              </a:rPr>
              <a:t>Open, no review</a:t>
            </a:r>
          </a:p>
        </p:txBody>
      </p:sp>
      <p:cxnSp>
        <p:nvCxnSpPr>
          <p:cNvPr id="33" name="Connector 32"/>
          <p:cNvCxnSpPr/>
          <p:nvPr/>
        </p:nvCxnSpPr>
        <p:spPr>
          <a:xfrm>
            <a:off x="731520" y="5614416"/>
            <a:ext cx="10744200" cy="0"/>
          </a:xfrm>
          <a:prstGeom prst="line">
            <a:avLst/>
          </a:prstGeom>
          <a:ln w="12700">
            <a:solidFill>
              <a:srgbClr val="D2DCDF"/>
            </a:solidFill>
          </a:ln>
        </p:spPr>
      </p:cxnSp>
      <p:sp>
        <p:nvSpPr>
          <p:cNvPr id="34" name="TextBox 33"/>
          <p:cNvSpPr txBox="1"/>
          <p:nvPr/>
        </p:nvSpPr>
        <p:spPr>
          <a:xfrm>
            <a:off x="841248" y="5641848"/>
            <a:ext cx="2834640" cy="585215"/>
          </a:xfrm>
          <a:prstGeom prst="rect">
            <a:avLst/>
          </a:prstGeom>
          <a:noFill/>
        </p:spPr>
        <p:txBody>
          <a:bodyPr wrap="square" lIns="0" tIns="0" rIns="0" bIns="0" anchor="ctr"/>
          <a:lstStyle/>
          <a:p>
            <a:pPr algn="l"/>
            <a:r>
              <a:rPr sz="1450" b="1" i="0">
                <a:solidFill>
                  <a:srgbClr val="1B3A57"/>
                </a:solidFill>
                <a:latin typeface="Arial"/>
                <a:ea typeface="Arial"/>
                <a:cs typeface="Arial"/>
              </a:rPr>
              <a:t>Issue #42085; on #41351, #38118</a:t>
            </a:r>
          </a:p>
        </p:txBody>
      </p:sp>
      <p:sp>
        <p:nvSpPr>
          <p:cNvPr id="35" name="TextBox 34"/>
          <p:cNvSpPr txBox="1"/>
          <p:nvPr/>
        </p:nvSpPr>
        <p:spPr>
          <a:xfrm>
            <a:off x="3813048" y="5641848"/>
            <a:ext cx="5852159" cy="585215"/>
          </a:xfrm>
          <a:prstGeom prst="rect">
            <a:avLst/>
          </a:prstGeom>
          <a:noFill/>
        </p:spPr>
        <p:txBody>
          <a:bodyPr wrap="square" lIns="0" tIns="0" rIns="0" bIns="0" anchor="ctr"/>
          <a:lstStyle/>
          <a:p>
            <a:pPr algn="l"/>
            <a:r>
              <a:rPr sz="1400" b="0" i="0">
                <a:solidFill>
                  <a:srgbClr val="1B3A57"/>
                </a:solidFill>
                <a:latin typeface="Arial"/>
                <a:ea typeface="Arial"/>
                <a:cs typeface="Arial"/>
              </a:rPr>
              <a:t>GEMV flag ignored by unquantized layers; radix-cache history changes log-probabilities; a chunked tail counted twice</a:t>
            </a:r>
          </a:p>
        </p:txBody>
      </p:sp>
      <p:sp>
        <p:nvSpPr>
          <p:cNvPr id="36" name="TextBox 35"/>
          <p:cNvSpPr txBox="1"/>
          <p:nvPr/>
        </p:nvSpPr>
        <p:spPr>
          <a:xfrm>
            <a:off x="9802367" y="5641848"/>
            <a:ext cx="1645920" cy="585215"/>
          </a:xfrm>
          <a:prstGeom prst="rect">
            <a:avLst/>
          </a:prstGeom>
          <a:noFill/>
        </p:spPr>
        <p:txBody>
          <a:bodyPr wrap="square" lIns="0" tIns="0" rIns="0" bIns="0" anchor="ctr"/>
          <a:lstStyle/>
          <a:p>
            <a:pPr algn="l"/>
            <a:r>
              <a:rPr sz="1350" b="0" i="0">
                <a:solidFill>
                  <a:srgbClr val="586B73"/>
                </a:solidFill>
                <a:latin typeface="Arial"/>
                <a:ea typeface="Arial"/>
                <a:cs typeface="Arial"/>
              </a:rPr>
              <a:t>Open, no maintainer reply</a:t>
            </a:r>
          </a:p>
        </p:txBody>
      </p:sp>
      <p:cxnSp>
        <p:nvCxnSpPr>
          <p:cNvPr id="37" name="Connector 36"/>
          <p:cNvCxnSpPr/>
          <p:nvPr/>
        </p:nvCxnSpPr>
        <p:spPr>
          <a:xfrm>
            <a:off x="731520" y="6254496"/>
            <a:ext cx="10744200" cy="0"/>
          </a:xfrm>
          <a:prstGeom prst="line">
            <a:avLst/>
          </a:prstGeom>
          <a:ln w="12700">
            <a:solidFill>
              <a:srgbClr val="D2DCDF"/>
            </a:solidFill>
          </a:ln>
        </p:spPr>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Box 1"/>
          <p:cNvSpPr txBox="1"/>
          <p:nvPr/>
        </p:nvSpPr>
        <p:spPr>
          <a:xfrm>
            <a:off x="594360" y="448056"/>
            <a:ext cx="11009376" cy="731520"/>
          </a:xfrm>
          <a:prstGeom prst="rect">
            <a:avLst/>
          </a:prstGeom>
          <a:noFill/>
        </p:spPr>
        <p:txBody>
          <a:bodyPr wrap="square" lIns="0" tIns="0" rIns="0" bIns="0" anchor="ctr"/>
          <a:lstStyle/>
          <a:p>
            <a:pPr algn="l"/>
            <a:r>
              <a:rPr sz="3000" b="1" i="0">
                <a:solidFill>
                  <a:srgbClr val="1B3A57"/>
                </a:solidFill>
                <a:latin typeface="Arial"/>
                <a:ea typeface="Arial"/>
                <a:cs typeface="Arial"/>
              </a:rPr>
              <a:t>One repository holds the code, harness and evidence</a:t>
            </a:r>
          </a:p>
        </p:txBody>
      </p:sp>
      <p:cxnSp>
        <p:nvCxnSpPr>
          <p:cNvPr id="3" name="Connector 2"/>
          <p:cNvCxnSpPr/>
          <p:nvPr/>
        </p:nvCxnSpPr>
        <p:spPr>
          <a:xfrm>
            <a:off x="594360" y="1325880"/>
            <a:ext cx="11009376" cy="0"/>
          </a:xfrm>
          <a:prstGeom prst="line">
            <a:avLst/>
          </a:prstGeom>
          <a:ln w="12700">
            <a:solidFill>
              <a:srgbClr val="D2DCDF"/>
            </a:solidFill>
          </a:ln>
        </p:spPr>
      </p:cxnSp>
      <p:sp>
        <p:nvSpPr>
          <p:cNvPr id="4" name="TextBox 3"/>
          <p:cNvSpPr txBox="1"/>
          <p:nvPr/>
        </p:nvSpPr>
        <p:spPr>
          <a:xfrm>
            <a:off x="594360" y="6455664"/>
            <a:ext cx="10424160" cy="192024"/>
          </a:xfrm>
          <a:prstGeom prst="rect">
            <a:avLst/>
          </a:prstGeom>
          <a:noFill/>
        </p:spPr>
        <p:txBody>
          <a:bodyPr wrap="square" lIns="0" tIns="0" rIns="0" bIns="0" anchor="t"/>
          <a:lstStyle/>
          <a:p>
            <a:pPr algn="l"/>
            <a:r>
              <a:rPr sz="1050" b="0" i="0">
                <a:solidFill>
                  <a:srgbClr val="586B73"/>
                </a:solidFill>
                <a:latin typeface="Arial"/>
                <a:ea typeface="Arial"/>
                <a:cs typeface="Arial"/>
              </a:rPr>
              <a:t>github.com/SamMausberg/verified-progress · README.md, bench/README.md, engine/sglang/README.md, RUNBOOK.md · paper Appendix F.2–F.3</a:t>
            </a:r>
          </a:p>
        </p:txBody>
      </p:sp>
      <p:sp>
        <p:nvSpPr>
          <p:cNvPr id="5" name="TextBox 4"/>
          <p:cNvSpPr txBox="1"/>
          <p:nvPr/>
        </p:nvSpPr>
        <p:spPr>
          <a:xfrm>
            <a:off x="11119104" y="6437376"/>
            <a:ext cx="475488" cy="219456"/>
          </a:xfrm>
          <a:prstGeom prst="rect">
            <a:avLst/>
          </a:prstGeom>
          <a:noFill/>
        </p:spPr>
        <p:txBody>
          <a:bodyPr wrap="square" lIns="0" tIns="0" rIns="0" bIns="0" anchor="t"/>
          <a:lstStyle/>
          <a:p>
            <a:pPr algn="r"/>
            <a:r>
              <a:rPr sz="1200" b="0" i="0">
                <a:solidFill>
                  <a:srgbClr val="586B73"/>
                </a:solidFill>
                <a:latin typeface="Arial"/>
                <a:ea typeface="Arial"/>
                <a:cs typeface="Arial"/>
              </a:rPr>
              <a:t>B28</a:t>
            </a:r>
          </a:p>
        </p:txBody>
      </p:sp>
      <p:sp>
        <p:nvSpPr>
          <p:cNvPr id="6" name="TextBox 5"/>
          <p:cNvSpPr txBox="1"/>
          <p:nvPr/>
        </p:nvSpPr>
        <p:spPr>
          <a:xfrm>
            <a:off x="731520" y="1737360"/>
            <a:ext cx="10744200" cy="777240"/>
          </a:xfrm>
          <a:prstGeom prst="rect">
            <a:avLst/>
          </a:prstGeom>
          <a:noFill/>
        </p:spPr>
        <p:txBody>
          <a:bodyPr wrap="square" lIns="0" tIns="0" rIns="0" bIns="0" anchor="t"/>
          <a:lstStyle/>
          <a:p>
            <a:pPr algn="l"/>
            <a:r>
              <a:rPr sz="1900" b="1" i="0">
                <a:solidFill>
                  <a:srgbClr val="1B3A57"/>
                </a:solidFill>
                <a:latin typeface="Arial"/>
                <a:ea typeface="Arial"/>
                <a:cs typeface="Arial"/>
              </a:rPr>
              <a:t>src/certified_head/</a:t>
            </a:r>
          </a:p>
          <a:p>
            <a:pPr algn="l"/>
            <a:r>
              <a:rPr sz="1700" b="0" i="0">
                <a:solidFill>
                  <a:srgbClr val="586B73"/>
                </a:solidFill>
                <a:latin typeface="Arial"/>
                <a:ea typeface="Arial"/>
                <a:cs typeface="Arial"/>
              </a:rPr>
              <a:t>the int8 head: Triton kernels, bounds, self-tests</a:t>
            </a:r>
          </a:p>
        </p:txBody>
      </p:sp>
      <p:sp>
        <p:nvSpPr>
          <p:cNvPr id="7" name="TextBox 6"/>
          <p:cNvSpPr txBox="1"/>
          <p:nvPr/>
        </p:nvSpPr>
        <p:spPr>
          <a:xfrm>
            <a:off x="731520" y="2578608"/>
            <a:ext cx="10744200" cy="777240"/>
          </a:xfrm>
          <a:prstGeom prst="rect">
            <a:avLst/>
          </a:prstGeom>
          <a:noFill/>
        </p:spPr>
        <p:txBody>
          <a:bodyPr wrap="square" lIns="0" tIns="0" rIns="0" bIns="0" anchor="t"/>
          <a:lstStyle/>
          <a:p>
            <a:pPr algn="l"/>
            <a:r>
              <a:rPr sz="1900" b="1" i="0">
                <a:solidFill>
                  <a:srgbClr val="1B3A57"/>
                </a:solidFill>
                <a:latin typeface="Arial"/>
                <a:ea typeface="Arial"/>
                <a:cs typeface="Arial"/>
              </a:rPr>
              <a:t>engine/sglang/patches/</a:t>
            </a:r>
          </a:p>
          <a:p>
            <a:pPr algn="l"/>
            <a:r>
              <a:rPr sz="1700" b="0" i="0">
                <a:solidFill>
                  <a:srgbClr val="586B73"/>
                </a:solidFill>
                <a:latin typeface="Arial"/>
                <a:ea typeface="Arial"/>
                <a:cs typeface="Arial"/>
              </a:rPr>
              <a:t>opt-in SGLang patch series, one per topic</a:t>
            </a:r>
          </a:p>
        </p:txBody>
      </p:sp>
      <p:sp>
        <p:nvSpPr>
          <p:cNvPr id="8" name="TextBox 7"/>
          <p:cNvSpPr txBox="1"/>
          <p:nvPr/>
        </p:nvSpPr>
        <p:spPr>
          <a:xfrm>
            <a:off x="731520" y="3419856"/>
            <a:ext cx="10744200" cy="777240"/>
          </a:xfrm>
          <a:prstGeom prst="rect">
            <a:avLst/>
          </a:prstGeom>
          <a:noFill/>
        </p:spPr>
        <p:txBody>
          <a:bodyPr wrap="square" lIns="0" tIns="0" rIns="0" bIns="0" anchor="t"/>
          <a:lstStyle/>
          <a:p>
            <a:pPr algn="l"/>
            <a:r>
              <a:rPr sz="1900" b="1" i="0">
                <a:solidFill>
                  <a:srgbClr val="1B3A57"/>
                </a:solidFill>
                <a:latin typeface="Arial"/>
                <a:ea typeface="Arial"/>
                <a:cs typeface="Arial"/>
              </a:rPr>
              <a:t>bench/</a:t>
            </a:r>
          </a:p>
          <a:p>
            <a:pPr algn="l"/>
            <a:r>
              <a:rPr sz="1700" b="0" i="0">
                <a:solidFill>
                  <a:srgbClr val="586B73"/>
                </a:solidFill>
                <a:latin typeface="Arial"/>
                <a:ea typeface="Arial"/>
                <a:cs typeface="Arial"/>
              </a:rPr>
              <a:t>serving harness: arms, launch checks, sweeps, Pareto</a:t>
            </a:r>
          </a:p>
        </p:txBody>
      </p:sp>
      <p:sp>
        <p:nvSpPr>
          <p:cNvPr id="9" name="TextBox 8"/>
          <p:cNvSpPr txBox="1"/>
          <p:nvPr/>
        </p:nvSpPr>
        <p:spPr>
          <a:xfrm>
            <a:off x="731520" y="4261104"/>
            <a:ext cx="10744200" cy="777240"/>
          </a:xfrm>
          <a:prstGeom prst="rect">
            <a:avLst/>
          </a:prstGeom>
          <a:noFill/>
        </p:spPr>
        <p:txBody>
          <a:bodyPr wrap="square" lIns="0" tIns="0" rIns="0" bIns="0" anchor="t"/>
          <a:lstStyle/>
          <a:p>
            <a:pPr algn="l"/>
            <a:r>
              <a:rPr sz="1900" b="1" i="0">
                <a:solidFill>
                  <a:srgbClr val="1B3A57"/>
                </a:solidFill>
                <a:latin typeface="Arial"/>
                <a:ea typeface="Arial"/>
                <a:cs typeface="Arial"/>
              </a:rPr>
              <a:t>experiments/, evidence/</a:t>
            </a:r>
          </a:p>
          <a:p>
            <a:pPr algn="l"/>
            <a:r>
              <a:rPr sz="1700" b="0" i="0">
                <a:solidFill>
                  <a:srgbClr val="586B73"/>
                </a:solidFill>
                <a:latin typeface="Arial"/>
                <a:ea typeface="Arial"/>
                <a:cs typeface="Arial"/>
              </a:rPr>
              <a:t>scripts; committed results, each README with its command</a:t>
            </a:r>
          </a:p>
        </p:txBody>
      </p:sp>
      <p:sp>
        <p:nvSpPr>
          <p:cNvPr id="10" name="TextBox 9"/>
          <p:cNvSpPr txBox="1"/>
          <p:nvPr/>
        </p:nvSpPr>
        <p:spPr>
          <a:xfrm>
            <a:off x="731520" y="5102352"/>
            <a:ext cx="10744200" cy="777240"/>
          </a:xfrm>
          <a:prstGeom prst="rect">
            <a:avLst/>
          </a:prstGeom>
          <a:noFill/>
        </p:spPr>
        <p:txBody>
          <a:bodyPr wrap="square" lIns="0" tIns="0" rIns="0" bIns="0" anchor="t"/>
          <a:lstStyle/>
          <a:p>
            <a:pPr algn="l"/>
            <a:r>
              <a:rPr sz="1900" b="1" i="0">
                <a:solidFill>
                  <a:srgbClr val="1B3A57"/>
                </a:solidFill>
                <a:latin typeface="Arial"/>
                <a:ea typeface="Arial"/>
                <a:cs typeface="Arial"/>
              </a:rPr>
              <a:t>tests/, formal/</a:t>
            </a:r>
          </a:p>
          <a:p>
            <a:pPr algn="l"/>
            <a:r>
              <a:rPr sz="1700" b="0" i="0">
                <a:solidFill>
                  <a:srgbClr val="586B73"/>
                </a:solidFill>
                <a:latin typeface="Arial"/>
                <a:ea typeface="Arial"/>
                <a:cs typeface="Arial"/>
              </a:rPr>
              <a:t>exact CPU references, pytest, Lean 4 lemmas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46</Slides>
  <Notes>46</Notes>
  <HiddenSlides>0</HiddenSlides>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Work a Verifier Needs</dc:title>
  <dc:subject>Talk on the paper The Work a Verifier Needs: Certified Int8 Output Heads That Match a Production Kernel’s Rounding</dc:subject>
  <dc:creator>Samuel Mausberg</dc:creator>
  <cp:lastModifiedBy>Samuel Mausberg</cp:lastModifiedBy>
  <cp:revision>1</cp:revision>
  <dcterms:created xsi:type="dcterms:W3CDTF">2026-10-03T12:00:00Z</dcterms:created>
  <dcterms:modified xsi:type="dcterms:W3CDTF">2026-10-03T12:00:00Z</dcterms:modified>
  <cp:keywords>speculative decoding, LLM inference, certified computation, floating point, SGLang</cp:keywords>
  <dc:description/>
  <cp:category/>
</cp:coreProperties>
</file>